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000" b="1">
                <a:solidFill>
                  <a:srgbClr val="FFFFFF"/>
                </a:solidFill>
              </a:defRPr>
            </a:pPr>
            <a:r>
              <a:t>B.Sc. Government Job Ultimate Strategy Guide</a:t>
            </a:r>
          </a:p>
          <a:p>
            <a:pPr>
              <a:defRPr sz="1600">
                <a:solidFill>
                  <a:srgbClr val="B4C8DC"/>
                </a:solidFill>
              </a:defRPr>
            </a:pPr>
            <a:r>
              <a:t>Comprehensive roadmap aligning academic strengths with public sector tracks, professional certifications, and realistic exit execution.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C6432"/>
                </a:solidFill>
              </a:defRPr>
            </a:pPr>
            <a:r>
              <a:t>B.SC. GOVERNMENT CAREER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A2240"/>
                </a:solidFill>
              </a:defRPr>
            </a:pPr>
            <a:r>
              <a:t>Comprehensive Exam Landscapes for B.Sc.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2461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1. Scientific &amp; Research Tracks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Capitalize directly on science majors to bypass general graduate competition.</a:t>
            </a:r>
            <a:br/>
            <a:r>
              <a:t>• UPSC IFS: Premier eco-administrative track exclusively for science/engineering majors.</a:t>
            </a:r>
            <a:br/>
            <a:r>
              <a:t>• ISRO, DRDO &amp; BARC: Scientific assistants, lab technicians, and crucial operational roles.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69587" y="1645920"/>
            <a:ext cx="32461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6747" y="178308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2. Administrative Staff Selection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Centralized bureaucratic recruitment focused on systemic oversight.</a:t>
            </a:r>
            <a:br/>
            <a:r>
              <a:t>• SSC CGL: Premier track for Income Tax, Customs, Excise Inspectors, and ASOs.</a:t>
            </a:r>
            <a:br/>
            <a:r>
              <a:t>• SSC Scientific Assistant: Specialized niche testing physics/CS expertise for the IMD.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54288" y="1645920"/>
            <a:ext cx="32461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1448" y="178308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3. Civil Services &amp; State Tiers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Top-tier administration commanding micro &amp; macro policy implementation.</a:t>
            </a:r>
            <a:br/>
            <a:r>
              <a:t>• UPSC CSE: Elite systemic leadership access points (IAS, IPS, IFS cadre structural posts).</a:t>
            </a:r>
            <a:br/>
            <a:r>
              <a:t>• State PSCs: Regional executive wings (Deputy Collectors, DSP administrative wings).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023360"/>
            <a:ext cx="32461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4. Banking &amp; Financial Portfolio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High-velocity corporate-style avenues with predictable, rapid recruitment cycles.</a:t>
            </a:r>
            <a:br/>
            <a:r>
              <a:t>• SBI &amp; IBPS PO/Clerk: Frontline financial tracking and operational management.</a:t>
            </a:r>
            <a:br/>
            <a:r>
              <a:t>• Regulatory Frameworks: Elite strategic tracks spanning RBI Grade B, SEBI, and NABARD.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9587" y="4023360"/>
            <a:ext cx="32461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6747" y="416052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5. Defense &amp; National Security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Field-intensive commissions emphasizing leadership, strategy, and physical rigor.</a:t>
            </a:r>
            <a:br/>
            <a:r>
              <a:t>• UPSC CDS &amp; AFCAT: Direct technical and flying officer commissions post-graduation.</a:t>
            </a:r>
            <a:br/>
            <a:r>
              <a:t>• SSC CPO Sub-Inspector: Law enforcement across Delhi Police and tactical CAPF wings.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54288" y="4023360"/>
            <a:ext cx="32461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1448" y="416052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2240"/>
                </a:solidFill>
              </a:defRPr>
            </a:pPr>
            <a:r>
              <a:t>6. Infrastructure &amp; Academia Tiers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Public utility domains and systemic knowledge dissemination pipelines.</a:t>
            </a:r>
            <a:br/>
            <a:r>
              <a:t>• Railway Boards (RRB NTPC): Widespread operations, supervisory control, and logistics management.</a:t>
            </a:r>
            <a:br/>
            <a:r>
              <a:t>• Teaching Foundations: Post-B.Ed. CTET pathways or advanced UGC NET higher education tracks.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C6432"/>
                </a:solidFill>
              </a:defRPr>
            </a:pPr>
            <a:r>
              <a:t>B.SC. GOVERNMENT CAREER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A2240"/>
                </a:solidFill>
              </a:defRPr>
            </a:pPr>
            <a:r>
              <a:t>Structural Hierarchy: Staff Selection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286000" cy="45720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EXAM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1645920"/>
            <a:ext cx="2286000" cy="45720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ELIGIBILITY 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1645920"/>
            <a:ext cx="6248095" cy="45720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1737360"/>
            <a:ext cx="6248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CORE PROFILE &amp; TARGET DESIGNATIONS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2240"/>
                </a:solidFill>
              </a:defRPr>
            </a:pPr>
            <a:r>
              <a:t>SSC CGL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210312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240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82828"/>
                </a:solidFill>
              </a:defRPr>
            </a:pPr>
            <a:r>
              <a:t>Graduate 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2103120"/>
            <a:ext cx="6248095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2240280"/>
            <a:ext cx="5973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Income Tax Inspector, Central Excise &amp; Customs Inspector, Assistant Section Officer (ASO) in Central Ministries, and Assistant Audit Officers.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20040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375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2240"/>
                </a:solidFill>
              </a:defRPr>
            </a:pPr>
            <a:r>
              <a:t>SSC CPO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320040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33375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82828"/>
                </a:solidFill>
              </a:defRPr>
            </a:pPr>
            <a:r>
              <a:t>Graduate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7800" y="3200400"/>
            <a:ext cx="6248095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337560"/>
            <a:ext cx="5973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Sub-Inspector (SI) positions commanding tactical field teams inside Delhi Police and Central Armed Police Forces (BSF, CRPF, CISF, ITBP).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29768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348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2240"/>
                </a:solidFill>
              </a:defRPr>
            </a:pPr>
            <a:r>
              <a:t>SSC CHSL / MTS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1800" y="429768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44348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82828"/>
                </a:solidFill>
              </a:defRPr>
            </a:pPr>
            <a:r>
              <a:t>12th / 10th 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4297680"/>
            <a:ext cx="6248095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4434840"/>
            <a:ext cx="5973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Lower Divisional Clerks (LDC), Data Entry Operators (DEO), and support-tier Multi-Tasking Staff navigating internal files within executive ministries.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C6432"/>
                </a:solidFill>
              </a:defRPr>
            </a:pPr>
            <a:r>
              <a:t>B.SC. GOVERNMENT CAREER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A2240"/>
                </a:solidFill>
              </a:defRPr>
            </a:pPr>
            <a:r>
              <a:t>Financial Institutional Sector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364992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3364992" cy="137160"/>
          </a:xfrm>
          <a:prstGeom prst="rect">
            <a:avLst/>
          </a:prstGeom>
          <a:solidFill>
            <a:srgbClr val="D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240"/>
                </a:solidFill>
              </a:defRPr>
            </a:pPr>
            <a:r>
              <a:t>Commercial Banking</a:t>
            </a:r>
          </a:p>
          <a:p>
            <a:pPr>
              <a:spcAft>
                <a:spcPts val="1400"/>
              </a:spcAft>
              <a:defRPr sz="1200" b="1">
                <a:solidFill>
                  <a:srgbClr val="DC6432"/>
                </a:solidFill>
              </a:defRPr>
            </a:pPr>
            <a:r>
              <a:t>SBI &amp; IBPS Tiers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High-velocity operational banking frameworks.</a:t>
            </a:r>
            <a:br/>
            <a:r>
              <a:t>• Target Roles: Probationary Officer (PO) management tracks &amp; regional clerical cadres.</a:t>
            </a:r>
            <a:br/>
            <a:r>
              <a:t>• Advantage: Absolute calendar reliability; execution from initial preliminary examination to deployment within 6–8 months.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645920"/>
            <a:ext cx="3364992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16552" y="1645920"/>
            <a:ext cx="3364992" cy="137160"/>
          </a:xfrm>
          <a:prstGeom prst="rect">
            <a:avLst/>
          </a:prstGeom>
          <a:solidFill>
            <a:srgbClr val="D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011680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240"/>
                </a:solidFill>
              </a:defRPr>
            </a:pPr>
            <a:r>
              <a:t>Regulatory Frameworks</a:t>
            </a:r>
          </a:p>
          <a:p>
            <a:pPr>
              <a:spcAft>
                <a:spcPts val="1400"/>
              </a:spcAft>
              <a:defRPr sz="1200" b="1">
                <a:solidFill>
                  <a:srgbClr val="DC6432"/>
                </a:solidFill>
              </a:defRPr>
            </a:pPr>
            <a:r>
              <a:t>RBI &amp; SEBI Portfolios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Macroeconomic governance and capital market oversight.</a:t>
            </a:r>
            <a:br/>
            <a:r>
              <a:t>• Target Roles: RBI Grade B Officer &amp; SEBI Grade A Assistant Manager.</a:t>
            </a:r>
            <a:br/>
            <a:r>
              <a:t>• Niche Rigor: Demands dense analytical mastery over finance, systemic economics, and multi-tier descriptive written papers.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47304" y="1645920"/>
            <a:ext cx="3364992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47304" y="1645920"/>
            <a:ext cx="3364992" cy="137160"/>
          </a:xfrm>
          <a:prstGeom prst="rect">
            <a:avLst/>
          </a:prstGeom>
          <a:solidFill>
            <a:srgbClr val="D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4" y="2011680"/>
            <a:ext cx="299923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240"/>
                </a:solidFill>
              </a:defRPr>
            </a:pPr>
            <a:r>
              <a:t>Developmental Banking</a:t>
            </a:r>
          </a:p>
          <a:p>
            <a:pPr>
              <a:spcAft>
                <a:spcPts val="1400"/>
              </a:spcAft>
              <a:defRPr sz="1200" b="1">
                <a:solidFill>
                  <a:srgbClr val="DC6432"/>
                </a:solidFill>
              </a:defRPr>
            </a:pPr>
            <a:r>
              <a:t>NABARD Ecosystem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Rural economy structuring, agricultural financing, and credit administration.</a:t>
            </a:r>
            <a:br/>
            <a:r>
              <a:t>• Natural Science Vector: Offers an explicit, high-yield specialization gateway for B.Sc. Agriculture or core allied Life Sciences graduates to step into specialized technical officer slots.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C6432"/>
                </a:solidFill>
              </a:defRPr>
            </a:pPr>
            <a:r>
              <a:t>B.SC. GOVERNMENT CAREER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A2240"/>
                </a:solidFill>
              </a:defRPr>
            </a:pPr>
            <a:r>
              <a:t>The Four Foundations: Core Testing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21208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2240"/>
                </a:solidFill>
              </a:defRPr>
            </a:pPr>
            <a:r>
              <a:t>Quantitative Aptitude (Mathematics)</a:t>
            </a:r>
          </a:p>
          <a:p>
            <a:pPr>
              <a:defRPr sz="1150">
                <a:solidFill>
                  <a:srgbClr val="282828"/>
                </a:solidFill>
              </a:defRPr>
            </a:pPr>
            <a:r>
              <a:t>Tests speed, accuracy, and numerical agility.</a:t>
            </a:r>
            <a:br/>
            <a:r>
              <a:t>• Core Focus: Commercial Arithmetic (Percentages, Profit &amp; Loss, Ratio, Time &amp; Work).</a:t>
            </a:r>
            <a:br/>
            <a:r>
              <a:t>• Advanced Matrix (SSC Only): Higher Geometry, Algebra, and Trigonometry fields.</a:t>
            </a:r>
            <a:br/>
            <a:r>
              <a:t>• Science Baseline: Use logical data tracking matrices to clear complex calculation bottlenecks.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93815" y="1645920"/>
            <a:ext cx="521208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6695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2240"/>
                </a:solidFill>
              </a:defRPr>
            </a:pPr>
            <a:r>
              <a:t>Logical Reasoning (Problem Solving)</a:t>
            </a:r>
          </a:p>
          <a:p>
            <a:pPr>
              <a:defRPr sz="1150">
                <a:solidFill>
                  <a:srgbClr val="282828"/>
                </a:solidFill>
              </a:defRPr>
            </a:pPr>
            <a:r>
              <a:t>Evaluates systematic decoding and spatial pattern detection.</a:t>
            </a:r>
            <a:br/>
            <a:r>
              <a:t>• Core Focus: Complex Puzzles, Seating Alignments, Syllogisms, Blood Relations, and Coding.</a:t>
            </a:r>
            <a:br/>
            <a:r>
              <a:t>• Tracking Tip: Not taught in academic curricula. Demands a clean ground-zero start via rigorous pattern-recognition practice.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114800"/>
            <a:ext cx="521208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519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2240"/>
                </a:solidFill>
              </a:defRPr>
            </a:pPr>
            <a:r>
              <a:t>English Language &amp; Verbal Ability</a:t>
            </a:r>
          </a:p>
          <a:p>
            <a:pPr>
              <a:defRPr sz="1150">
                <a:solidFill>
                  <a:srgbClr val="282828"/>
                </a:solidFill>
              </a:defRPr>
            </a:pPr>
            <a:r>
              <a:t>Measures core language comprehension and syntactic mechanics.</a:t>
            </a:r>
            <a:br/>
            <a:r>
              <a:t>• Core Focus: Structural Grammar Rules, Error Diagnosis, Cloze Tests, and Reading Comprehension.</a:t>
            </a:r>
            <a:br/>
            <a:r>
              <a:t>• Tracking Tip: Switch immediately to regular reading of premium national dailies to build intuitive contextual vocabulary patterns.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3815" y="4114800"/>
            <a:ext cx="521208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42519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2240"/>
                </a:solidFill>
              </a:defRPr>
            </a:pPr>
            <a:r>
              <a:t>General Awareness &amp; Environmental GK</a:t>
            </a:r>
          </a:p>
          <a:p>
            <a:pPr>
              <a:defRPr sz="1150">
                <a:solidFill>
                  <a:srgbClr val="282828"/>
                </a:solidFill>
              </a:defRPr>
            </a:pPr>
            <a:r>
              <a:t>Tests structural knowledge and environmental literacy.</a:t>
            </a:r>
            <a:br/>
            <a:r>
              <a:t>• Dynamic Field: High-yield daily Current Affairs (National, Economy, Global shifts).</a:t>
            </a:r>
            <a:br/>
            <a:r>
              <a:t>• Static Field: Multi-disciplinary History, Indian Polity framework, Geography, and General Science matrices where science majors command natural retention advantages.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C6432"/>
                </a:solidFill>
              </a:defRPr>
            </a:pPr>
            <a:r>
              <a:t>B.SC. GOVERNMENT CAREER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A2240"/>
                </a:solidFill>
              </a:defRPr>
            </a:pPr>
            <a:r>
              <a:t>Operational Roadmap: Dedicated Execution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4688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C6432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A2240"/>
                </a:solidFill>
              </a:defRPr>
            </a:pPr>
            <a:r>
              <a:t>Syllabus Decoupling &amp; PYQs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Isolate the exact line-item boundaries of your target exam. Audit 3–5 years of Previous Year Questions (PYQs) to map precisely out what to master vs. what to skip.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65576" y="1645920"/>
            <a:ext cx="24688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17373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C6432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736" y="25603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A2240"/>
                </a:solidFill>
              </a:defRPr>
            </a:pPr>
            <a:r>
              <a:t>Strategic Foundation (6–8 Mos)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Acquire core conceptual models. Utilize free structured digital channels (YouTube playlists) or targeted premium offline courses (~₹10,000 baseline) to assemble comprehensive notes.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645920"/>
            <a:ext cx="24688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373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C6432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5603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A2240"/>
                </a:solidFill>
              </a:defRPr>
            </a:pPr>
            <a:r>
              <a:t>Daily Practice Compounding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Establish continuous, non-negotiable question drilling. Transition from manual textbook practice to strict time-bound sectional quizzes to compress your per-question processing cycles.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25128" y="1645920"/>
            <a:ext cx="24688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2288" y="17373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C6432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5603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A2240"/>
                </a:solidFill>
              </a:defRPr>
            </a:pPr>
            <a:r>
              <a:t>Mock Diagnostics &amp; Error Logs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Deploy full-length simulated mock tests via reliable engines. Maintain a hard-bound error log tracking every mistake, calculation slip, or conceptual gap for structural revision.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C6432"/>
                </a:solidFill>
              </a:defRPr>
            </a:pPr>
            <a:r>
              <a:t>B.SC. GOVERNMENT CAREER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A2240"/>
                </a:solidFill>
              </a:defRPr>
            </a:pPr>
            <a:r>
              <a:t>Strategic Guardrails &amp; Professional Exit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20095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91440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543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A2240"/>
                </a:solidFill>
              </a:defRPr>
            </a:pPr>
            <a:r>
              <a:t>The Rule of Singular Focus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Bypass preparation fragmentation. Attempting to clear disconnected pipelines simultaneously divides focus and stalls momentum. Pick a singular, well-defined ecosystem (e.g., Banking vs. SSC) and master its specific structural syllabus boundaries completely before branching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880360"/>
            <a:ext cx="10820095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880360"/>
            <a:ext cx="91440" cy="1097280"/>
          </a:xfrm>
          <a:prstGeom prst="rect">
            <a:avLst/>
          </a:prstGeom>
          <a:solidFill>
            <a:srgbClr val="D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104543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A2240"/>
                </a:solidFill>
              </a:defRPr>
            </a:pPr>
            <a:r>
              <a:t>Engineering High-Overlap Backups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Construct an intelligent contingency matrix. If your prime objective is SSC CGL, your natural secondary backups should be RRB NTPC or state-level exams because they share a ~75%+ common curriculum overlay. This minimizes redundant preparation cycles and protects your time capital.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114800"/>
            <a:ext cx="10820095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114800"/>
            <a:ext cx="91440" cy="10972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104543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A2240"/>
                </a:solidFill>
              </a:defRPr>
            </a:pPr>
            <a:r>
              <a:t>The Strict 3-Year Exit Constraint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Establish a definitive timeline. Public sector selection rates realistically float around 2-3% against millions of applicants. Commit to a hard 3-year preparation bound. If selection isn't achieved within this window, pivot immediately out of full-time preparation into the corporate sector to avoid career gaps.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349240"/>
            <a:ext cx="10820095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5349240"/>
            <a:ext cx="91440" cy="1097280"/>
          </a:xfrm>
          <a:prstGeom prst="rect">
            <a:avLst/>
          </a:prstGeom>
          <a:solidFill>
            <a:srgbClr val="D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4543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A2240"/>
                </a:solidFill>
              </a:defRPr>
            </a:pPr>
            <a:r>
              <a:t>Professional Resiliency &amp; Upksilling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Insulate your long-term career. Pursue distance-mode Master's paths (M.Sc./MBA) or acquire job-ready, short-term professional certifications (Data Analytics, IT credentials, specialized diplomas) concurrently. This builds a resilient resume that ensures private sector entry if public sector avenues close.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