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8" r:id="rId3"/>
    <p:sldId id="262" r:id="rId4"/>
    <p:sldId id="264" r:id="rId5"/>
    <p:sldId id="265" r:id="rId6"/>
    <p:sldId id="259" r:id="rId7"/>
    <p:sldId id="260" r:id="rId8"/>
    <p:sldId id="261" r:id="rId9"/>
    <p:sldId id="263" r:id="rId10"/>
    <p:sldId id="268" r:id="rId11"/>
    <p:sldId id="269" r:id="rId12"/>
    <p:sldId id="267" r:id="rId13"/>
    <p:sldId id="270" r:id="rId14"/>
    <p:sldId id="271" r:id="rId15"/>
    <p:sldId id="272" r:id="rId16"/>
    <p:sldId id="298" r:id="rId17"/>
    <p:sldId id="273" r:id="rId18"/>
    <p:sldId id="274" r:id="rId19"/>
    <p:sldId id="275" r:id="rId20"/>
    <p:sldId id="276" r:id="rId21"/>
    <p:sldId id="277" r:id="rId22"/>
    <p:sldId id="278" r:id="rId23"/>
    <p:sldId id="280" r:id="rId24"/>
    <p:sldId id="279" r:id="rId25"/>
    <p:sldId id="281" r:id="rId26"/>
    <p:sldId id="282" r:id="rId27"/>
    <p:sldId id="283" r:id="rId28"/>
    <p:sldId id="284" r:id="rId29"/>
    <p:sldId id="285" r:id="rId30"/>
    <p:sldId id="288" r:id="rId31"/>
    <p:sldId id="289" r:id="rId32"/>
    <p:sldId id="290" r:id="rId33"/>
    <p:sldId id="291" r:id="rId34"/>
    <p:sldId id="286" r:id="rId35"/>
    <p:sldId id="292" r:id="rId36"/>
    <p:sldId id="293" r:id="rId37"/>
    <p:sldId id="294" r:id="rId38"/>
    <p:sldId id="295" r:id="rId39"/>
    <p:sldId id="296" r:id="rId40"/>
    <p:sldId id="287" r:id="rId41"/>
    <p:sldId id="297"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15" d="100"/>
          <a:sy n="115" d="100"/>
        </p:scale>
        <p:origin x="-1524"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67F95C05-C24C-4D62-A2B7-D3B81CC3B0D7}" type="datetimeFigureOut">
              <a:rPr lang="en-US" smtClean="0"/>
              <a:pPr/>
              <a:t>2/2/2026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5D87B1A-02E6-42B7-88F6-3E3962D63FA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67F95C05-C24C-4D62-A2B7-D3B81CC3B0D7}" type="datetimeFigureOut">
              <a:rPr lang="en-US" smtClean="0"/>
              <a:pPr/>
              <a:t>2/2/2026</a:t>
            </a:fld>
            <a:endParaRPr lang="en-US"/>
          </a:p>
        </p:txBody>
      </p:sp>
      <p:sp>
        <p:nvSpPr>
          <p:cNvPr id="9" name="Slide Number Placeholder 8"/>
          <p:cNvSpPr>
            <a:spLocks noGrp="1"/>
          </p:cNvSpPr>
          <p:nvPr>
            <p:ph type="sldNum" sz="quarter" idx="15"/>
          </p:nvPr>
        </p:nvSpPr>
        <p:spPr/>
        <p:txBody>
          <a:bodyPr rtlCol="0"/>
          <a:lstStyle/>
          <a:p>
            <a:fld id="{95D87B1A-02E6-42B7-88F6-3E3962D63FA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67F95C05-C24C-4D62-A2B7-D3B81CC3B0D7}" type="datetimeFigureOut">
              <a:rPr lang="en-US" smtClean="0"/>
              <a:pPr/>
              <a:t>2/2/2026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5D87B1A-02E6-42B7-88F6-3E3962D63FA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7F95C05-C24C-4D62-A2B7-D3B81CC3B0D7}"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D87B1A-02E6-42B7-88F6-3E3962D63FA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67F95C05-C24C-4D62-A2B7-D3B81CC3B0D7}" type="datetimeFigureOut">
              <a:rPr lang="en-US" smtClean="0"/>
              <a:pPr/>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D87B1A-02E6-42B7-88F6-3E3962D63FA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67F95C05-C24C-4D62-A2B7-D3B81CC3B0D7}" type="datetimeFigureOut">
              <a:rPr lang="en-US" smtClean="0"/>
              <a:pPr/>
              <a:t>2/2/2026</a:t>
            </a:fld>
            <a:endParaRPr lang="en-US"/>
          </a:p>
        </p:txBody>
      </p:sp>
      <p:sp>
        <p:nvSpPr>
          <p:cNvPr id="7" name="Slide Number Placeholder 6"/>
          <p:cNvSpPr>
            <a:spLocks noGrp="1"/>
          </p:cNvSpPr>
          <p:nvPr>
            <p:ph type="sldNum" sz="quarter" idx="11"/>
          </p:nvPr>
        </p:nvSpPr>
        <p:spPr/>
        <p:txBody>
          <a:bodyPr rtlCol="0"/>
          <a:lstStyle/>
          <a:p>
            <a:fld id="{95D87B1A-02E6-42B7-88F6-3E3962D63FA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95C05-C24C-4D62-A2B7-D3B81CC3B0D7}"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D87B1A-02E6-42B7-88F6-3E3962D63FA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67F95C05-C24C-4D62-A2B7-D3B81CC3B0D7}" type="datetimeFigureOut">
              <a:rPr lang="en-US" smtClean="0"/>
              <a:pPr/>
              <a:t>2/2/2026</a:t>
            </a:fld>
            <a:endParaRPr lang="en-US"/>
          </a:p>
        </p:txBody>
      </p:sp>
      <p:sp>
        <p:nvSpPr>
          <p:cNvPr id="22" name="Slide Number Placeholder 21"/>
          <p:cNvSpPr>
            <a:spLocks noGrp="1"/>
          </p:cNvSpPr>
          <p:nvPr>
            <p:ph type="sldNum" sz="quarter" idx="15"/>
          </p:nvPr>
        </p:nvSpPr>
        <p:spPr/>
        <p:txBody>
          <a:bodyPr rtlCol="0"/>
          <a:lstStyle/>
          <a:p>
            <a:fld id="{95D87B1A-02E6-42B7-88F6-3E3962D63FA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67F95C05-C24C-4D62-A2B7-D3B81CC3B0D7}" type="datetimeFigureOut">
              <a:rPr lang="en-US" smtClean="0"/>
              <a:pPr/>
              <a:t>2/2/2026</a:t>
            </a:fld>
            <a:endParaRPr lang="en-US"/>
          </a:p>
        </p:txBody>
      </p:sp>
      <p:sp>
        <p:nvSpPr>
          <p:cNvPr id="18" name="Slide Number Placeholder 17"/>
          <p:cNvSpPr>
            <a:spLocks noGrp="1"/>
          </p:cNvSpPr>
          <p:nvPr>
            <p:ph type="sldNum" sz="quarter" idx="11"/>
          </p:nvPr>
        </p:nvSpPr>
        <p:spPr/>
        <p:txBody>
          <a:bodyPr rtlCol="0"/>
          <a:lstStyle/>
          <a:p>
            <a:fld id="{95D87B1A-02E6-42B7-88F6-3E3962D63FA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7F95C05-C24C-4D62-A2B7-D3B81CC3B0D7}"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D87B1A-02E6-42B7-88F6-3E3962D63FA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7F95C05-C24C-4D62-A2B7-D3B81CC3B0D7}"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D87B1A-02E6-42B7-88F6-3E3962D63FA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7F95C05-C24C-4D62-A2B7-D3B81CC3B0D7}" type="datetimeFigureOut">
              <a:rPr lang="en-US" smtClean="0"/>
              <a:pPr/>
              <a:t>2/2/2026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5D87B1A-02E6-42B7-88F6-3E3962D63FA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5786" y="1500174"/>
            <a:ext cx="7772400" cy="2786082"/>
          </a:xfrm>
        </p:spPr>
        <p:txBody>
          <a:bodyPr>
            <a:normAutofit/>
          </a:bodyPr>
          <a:lstStyle/>
          <a:p>
            <a:r>
              <a:rPr lang="en-IN" sz="4000" dirty="0" smtClean="0"/>
              <a:t>Unit-3 Agile Development</a:t>
            </a:r>
            <a:br>
              <a:rPr lang="en-IN" sz="4000" dirty="0" smtClean="0"/>
            </a:br>
            <a:r>
              <a:rPr lang="en-IN" sz="4000" dirty="0"/>
              <a:t/>
            </a:r>
            <a:br>
              <a:rPr lang="en-IN" sz="4000" dirty="0"/>
            </a:br>
            <a:r>
              <a:rPr lang="en-IN" sz="4000" dirty="0" smtClean="0"/>
              <a:t>Software Engineering</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US" dirty="0" smtClean="0"/>
              <a:t>Agility</a:t>
            </a:r>
            <a:endParaRPr lang="en-US" dirty="0"/>
          </a:p>
        </p:txBody>
      </p:sp>
      <p:sp>
        <p:nvSpPr>
          <p:cNvPr id="3" name="Content Placeholder 2"/>
          <p:cNvSpPr>
            <a:spLocks noGrp="1"/>
          </p:cNvSpPr>
          <p:nvPr>
            <p:ph sz="quarter" idx="1"/>
          </p:nvPr>
        </p:nvSpPr>
        <p:spPr>
          <a:xfrm>
            <a:off x="0" y="1600200"/>
            <a:ext cx="8786842" cy="4829196"/>
          </a:xfrm>
        </p:spPr>
        <p:txBody>
          <a:bodyPr>
            <a:normAutofit/>
          </a:bodyPr>
          <a:lstStyle/>
          <a:p>
            <a:pPr>
              <a:buNone/>
            </a:pPr>
            <a:r>
              <a:rPr lang="en-IN" sz="2400" b="1" dirty="0" smtClean="0">
                <a:latin typeface="Inter" pitchFamily="34" charset="0"/>
                <a:ea typeface="Inter" pitchFamily="34" charset="0"/>
                <a:cs typeface="Times New Roman" pitchFamily="18" charset="0"/>
              </a:rPr>
              <a:t>What is Agile</a:t>
            </a:r>
            <a:r>
              <a:rPr lang="en-IN" sz="2400" b="1" dirty="0" smtClean="0">
                <a:latin typeface="Inter" pitchFamily="34" charset="0"/>
                <a:ea typeface="Inter" pitchFamily="34" charset="0"/>
                <a:cs typeface="Times New Roman" pitchFamily="18" charset="0"/>
              </a:rPr>
              <a:t>?</a:t>
            </a:r>
          </a:p>
          <a:p>
            <a:pPr>
              <a:buNone/>
            </a:pPr>
            <a:endParaRPr lang="en-IN" sz="2400" b="1" dirty="0" smtClean="0">
              <a:latin typeface="Inter" pitchFamily="34" charset="0"/>
              <a:ea typeface="Inter" pitchFamily="34" charset="0"/>
              <a:cs typeface="Times New Roman" pitchFamily="18" charset="0"/>
            </a:endParaRPr>
          </a:p>
          <a:p>
            <a:pPr>
              <a:buNone/>
            </a:pPr>
            <a:r>
              <a:rPr lang="en-US" sz="2000" dirty="0" smtClean="0">
                <a:latin typeface="Inter" pitchFamily="34" charset="0"/>
                <a:ea typeface="Inter" pitchFamily="34" charset="0"/>
                <a:cs typeface="Times New Roman" pitchFamily="18" charset="0"/>
              </a:rPr>
              <a:t>		</a:t>
            </a:r>
            <a:r>
              <a:rPr lang="en-US" dirty="0" smtClean="0">
                <a:latin typeface="Calibri" pitchFamily="34" charset="0"/>
                <a:ea typeface="Inter" pitchFamily="34" charset="0"/>
                <a:cs typeface="Calibri" pitchFamily="34" charset="0"/>
              </a:rPr>
              <a:t>Agile refers to something that is quick or adaptable. A software development approach based on iterative development is referred to as an “agile process model.” Agile approaches divide projects into smaller iterations or sections and avoid long-term planning. The scope and requirements of the project are defined at the start of the development phase. The number of iterations, duration, and scope of each iteration are all clearly determined ahead of time</a:t>
            </a:r>
            <a:r>
              <a:rPr lang="en-US" sz="2000" dirty="0" smtClean="0">
                <a:latin typeface="Inter" pitchFamily="34" charset="0"/>
                <a:ea typeface="Inter" pitchFamily="34" charset="0"/>
              </a:rPr>
              <a:t>.</a:t>
            </a:r>
            <a:endParaRPr lang="en-US" sz="2000" dirty="0">
              <a:latin typeface="Inter" pitchFamily="34" charset="0"/>
              <a:ea typeface="Inter"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Process</a:t>
            </a:r>
            <a:endParaRPr lang="en-US" dirty="0"/>
          </a:p>
        </p:txBody>
      </p:sp>
      <p:pic>
        <p:nvPicPr>
          <p:cNvPr id="4" name="Content Placeholder 3" descr="aagile.png"/>
          <p:cNvPicPr>
            <a:picLocks noGrp="1" noChangeAspect="1"/>
          </p:cNvPicPr>
          <p:nvPr>
            <p:ph sz="quarter" idx="1"/>
          </p:nvPr>
        </p:nvPicPr>
        <p:blipFill>
          <a:blip r:embed="rId2"/>
          <a:stretch>
            <a:fillRect/>
          </a:stretch>
        </p:blipFill>
        <p:spPr>
          <a:xfrm>
            <a:off x="660412" y="1600200"/>
            <a:ext cx="7061176" cy="4873625"/>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8604"/>
            <a:ext cx="8229600" cy="571504"/>
          </a:xfrm>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sz="3100" b="1" dirty="0" smtClean="0"/>
              <a:t>Phases </a:t>
            </a:r>
            <a:r>
              <a:rPr lang="en-US" sz="3100" b="1" dirty="0" smtClean="0"/>
              <a:t>of an agile process model</a:t>
            </a:r>
            <a:r>
              <a:rPr lang="en-US" b="1" dirty="0" smtClean="0"/>
              <a:t/>
            </a:r>
            <a:br>
              <a:rPr lang="en-US" b="1" dirty="0" smtClean="0"/>
            </a:br>
            <a:endParaRPr lang="en-US" dirty="0"/>
          </a:p>
        </p:txBody>
      </p:sp>
      <p:sp>
        <p:nvSpPr>
          <p:cNvPr id="3" name="Content Placeholder 2"/>
          <p:cNvSpPr>
            <a:spLocks noGrp="1"/>
          </p:cNvSpPr>
          <p:nvPr>
            <p:ph sz="quarter" idx="1"/>
          </p:nvPr>
        </p:nvSpPr>
        <p:spPr>
          <a:xfrm>
            <a:off x="457200" y="1214422"/>
            <a:ext cx="7829576" cy="5259530"/>
          </a:xfrm>
        </p:spPr>
        <p:txBody>
          <a:bodyPr>
            <a:normAutofit fontScale="92500" lnSpcReduction="10000"/>
          </a:bodyPr>
          <a:lstStyle/>
          <a:p>
            <a:pPr>
              <a:buNone/>
            </a:pPr>
            <a:r>
              <a:rPr lang="en-US" b="1" dirty="0" smtClean="0">
                <a:latin typeface="Calibri" pitchFamily="34" charset="0"/>
                <a:cs typeface="Calibri" pitchFamily="34" charset="0"/>
              </a:rPr>
              <a:t>1) Requirements gathering</a:t>
            </a:r>
            <a:endParaRPr lang="en-US" dirty="0" smtClean="0">
              <a:latin typeface="Calibri" pitchFamily="34" charset="0"/>
              <a:cs typeface="Calibri" pitchFamily="34" charset="0"/>
            </a:endParaRPr>
          </a:p>
          <a:p>
            <a:r>
              <a:rPr lang="en-US" dirty="0" smtClean="0">
                <a:latin typeface="Calibri" pitchFamily="34" charset="0"/>
                <a:cs typeface="Calibri" pitchFamily="34" charset="0"/>
              </a:rPr>
              <a:t>In this phase, requirements should be characterized. Different business opportunities are explained and for the building of the project efforts and time are planned.</a:t>
            </a:r>
          </a:p>
          <a:p>
            <a:pPr>
              <a:buNone/>
            </a:pPr>
            <a:r>
              <a:rPr lang="en-US" b="1" dirty="0" smtClean="0">
                <a:latin typeface="Calibri" pitchFamily="34" charset="0"/>
                <a:cs typeface="Calibri" pitchFamily="34" charset="0"/>
              </a:rPr>
              <a:t>2) Design the requirements</a:t>
            </a:r>
            <a:endParaRPr lang="en-US" dirty="0" smtClean="0">
              <a:latin typeface="Calibri" pitchFamily="34" charset="0"/>
              <a:cs typeface="Calibri" pitchFamily="34" charset="0"/>
            </a:endParaRPr>
          </a:p>
          <a:p>
            <a:r>
              <a:rPr lang="en-US" dirty="0" smtClean="0">
                <a:latin typeface="Calibri" pitchFamily="34" charset="0"/>
                <a:cs typeface="Calibri" pitchFamily="34" charset="0"/>
              </a:rPr>
              <a:t>At the point when you have distinguished the task, work with partners to define the requirements. You can utilize the client stream graph to show crafted new elements and show how they will apply to your current framework.</a:t>
            </a:r>
          </a:p>
          <a:p>
            <a:pPr>
              <a:buNone/>
            </a:pPr>
            <a:r>
              <a:rPr lang="en-US" b="1" dirty="0" smtClean="0">
                <a:latin typeface="Calibri" pitchFamily="34" charset="0"/>
                <a:cs typeface="Calibri" pitchFamily="34" charset="0"/>
              </a:rPr>
              <a:t>3) Construction/ iteration</a:t>
            </a:r>
            <a:endParaRPr lang="en-US" dirty="0" smtClean="0">
              <a:latin typeface="Calibri" pitchFamily="34" charset="0"/>
              <a:cs typeface="Calibri" pitchFamily="34" charset="0"/>
            </a:endParaRPr>
          </a:p>
          <a:p>
            <a:r>
              <a:rPr lang="en-US" dirty="0" smtClean="0">
                <a:latin typeface="Calibri" pitchFamily="34" charset="0"/>
                <a:cs typeface="Calibri" pitchFamily="34" charset="0"/>
              </a:rPr>
              <a:t>At the point when the group characterizes the requirements, the work starts. Creators and designers begin to work at their task, which means sending a functioning item. The item will go through different phases of progress, so it incorporates easy minimal functionality.</a:t>
            </a:r>
          </a:p>
          <a:p>
            <a:pPr>
              <a:buNone/>
            </a:pPr>
            <a:endParaRPr lang="en-US" dirty="0">
              <a:latin typeface="Calibri" pitchFamily="34" charset="0"/>
              <a:cs typeface="Calibri"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571504"/>
          </a:xfrm>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sz="3600" b="1" dirty="0" smtClean="0">
                <a:latin typeface="Calibri" pitchFamily="34" charset="0"/>
                <a:cs typeface="Calibri" pitchFamily="34" charset="0"/>
              </a:rPr>
              <a:t>Phases </a:t>
            </a:r>
            <a:r>
              <a:rPr lang="en-US" sz="3600" b="1" dirty="0" smtClean="0">
                <a:latin typeface="Calibri" pitchFamily="34" charset="0"/>
                <a:cs typeface="Calibri" pitchFamily="34" charset="0"/>
              </a:rPr>
              <a:t>of an agile process model</a:t>
            </a:r>
            <a:r>
              <a:rPr lang="en-US" b="1" dirty="0" smtClean="0"/>
              <a:t/>
            </a:r>
            <a:br>
              <a:rPr lang="en-US" b="1" dirty="0" smtClean="0"/>
            </a:br>
            <a:endParaRPr lang="en-US" dirty="0"/>
          </a:p>
        </p:txBody>
      </p:sp>
      <p:sp>
        <p:nvSpPr>
          <p:cNvPr id="3" name="Content Placeholder 2"/>
          <p:cNvSpPr>
            <a:spLocks noGrp="1"/>
          </p:cNvSpPr>
          <p:nvPr>
            <p:ph sz="quarter" idx="1"/>
          </p:nvPr>
        </p:nvSpPr>
        <p:spPr>
          <a:xfrm>
            <a:off x="457200" y="1357298"/>
            <a:ext cx="7829576" cy="5116654"/>
          </a:xfrm>
        </p:spPr>
        <p:txBody>
          <a:bodyPr>
            <a:normAutofit/>
          </a:bodyPr>
          <a:lstStyle/>
          <a:p>
            <a:pPr>
              <a:buNone/>
            </a:pPr>
            <a:r>
              <a:rPr lang="en-US" b="1" dirty="0" smtClean="0">
                <a:latin typeface="Calibri" pitchFamily="34" charset="0"/>
                <a:cs typeface="Calibri" pitchFamily="34" charset="0"/>
              </a:rPr>
              <a:t>4) Testing</a:t>
            </a:r>
            <a:endParaRPr lang="en-US" dirty="0" smtClean="0">
              <a:latin typeface="Calibri" pitchFamily="34" charset="0"/>
              <a:cs typeface="Calibri" pitchFamily="34" charset="0"/>
            </a:endParaRPr>
          </a:p>
          <a:p>
            <a:r>
              <a:rPr lang="en-US" dirty="0" smtClean="0">
                <a:latin typeface="Calibri" pitchFamily="34" charset="0"/>
                <a:cs typeface="Calibri" pitchFamily="34" charset="0"/>
              </a:rPr>
              <a:t>In this stage, the Quality Assurance group analyzes the item’s presentation and searches for the bug</a:t>
            </a:r>
            <a:r>
              <a:rPr lang="en-US" dirty="0" smtClean="0">
                <a:latin typeface="Calibri" pitchFamily="34" charset="0"/>
                <a:cs typeface="Calibri" pitchFamily="34" charset="0"/>
              </a:rPr>
              <a:t>.</a:t>
            </a:r>
          </a:p>
          <a:p>
            <a:pPr>
              <a:buNone/>
            </a:pPr>
            <a:endParaRPr lang="en-US" dirty="0" smtClean="0">
              <a:latin typeface="Calibri" pitchFamily="34" charset="0"/>
              <a:cs typeface="Calibri" pitchFamily="34" charset="0"/>
            </a:endParaRPr>
          </a:p>
          <a:p>
            <a:pPr>
              <a:buNone/>
            </a:pPr>
            <a:r>
              <a:rPr lang="en-US" b="1" dirty="0" smtClean="0">
                <a:latin typeface="Calibri" pitchFamily="34" charset="0"/>
                <a:cs typeface="Calibri" pitchFamily="34" charset="0"/>
              </a:rPr>
              <a:t>5) Deployment</a:t>
            </a:r>
            <a:endParaRPr lang="en-US" dirty="0" smtClean="0">
              <a:latin typeface="Calibri" pitchFamily="34" charset="0"/>
              <a:cs typeface="Calibri" pitchFamily="34" charset="0"/>
            </a:endParaRPr>
          </a:p>
          <a:p>
            <a:r>
              <a:rPr lang="en-US" dirty="0" smtClean="0">
                <a:latin typeface="Calibri" pitchFamily="34" charset="0"/>
                <a:cs typeface="Calibri" pitchFamily="34" charset="0"/>
              </a:rPr>
              <a:t>In this stage, the group gives an item for the client’s workplace</a:t>
            </a:r>
            <a:r>
              <a:rPr lang="en-US" dirty="0" smtClean="0">
                <a:latin typeface="Calibri" pitchFamily="34" charset="0"/>
                <a:cs typeface="Calibri" pitchFamily="34" charset="0"/>
              </a:rPr>
              <a:t>.</a:t>
            </a:r>
          </a:p>
          <a:p>
            <a:pPr>
              <a:buNone/>
            </a:pPr>
            <a:endParaRPr lang="en-US" dirty="0" smtClean="0">
              <a:latin typeface="Calibri" pitchFamily="34" charset="0"/>
              <a:cs typeface="Calibri" pitchFamily="34" charset="0"/>
            </a:endParaRPr>
          </a:p>
          <a:p>
            <a:pPr>
              <a:buNone/>
            </a:pPr>
            <a:r>
              <a:rPr lang="en-US" b="1" dirty="0" smtClean="0">
                <a:latin typeface="Calibri" pitchFamily="34" charset="0"/>
                <a:cs typeface="Calibri" pitchFamily="34" charset="0"/>
              </a:rPr>
              <a:t>6) Feedback</a:t>
            </a:r>
            <a:endParaRPr lang="en-US" dirty="0" smtClean="0">
              <a:latin typeface="Calibri" pitchFamily="34" charset="0"/>
              <a:cs typeface="Calibri" pitchFamily="34" charset="0"/>
            </a:endParaRPr>
          </a:p>
          <a:p>
            <a:r>
              <a:rPr lang="en-US" dirty="0" smtClean="0">
                <a:latin typeface="Calibri" pitchFamily="34" charset="0"/>
                <a:cs typeface="Calibri" pitchFamily="34" charset="0"/>
              </a:rPr>
              <a:t>When a product is released, feedback is the last step. Feedback is received regarding the product and manages the input.</a:t>
            </a:r>
          </a:p>
          <a:p>
            <a:pPr>
              <a:buNone/>
            </a:pPr>
            <a:endParaRPr lang="en-US" dirty="0">
              <a:latin typeface="Calibri" pitchFamily="34" charset="0"/>
              <a:cs typeface="Calibri"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smtClean="0"/>
              <a:t/>
            </a:r>
            <a:br>
              <a:rPr lang="en-US" b="1" dirty="0" smtClean="0"/>
            </a:br>
            <a:r>
              <a:rPr lang="en-US" sz="3600" b="1" dirty="0" smtClean="0">
                <a:latin typeface="Calibri" pitchFamily="34" charset="0"/>
                <a:cs typeface="Calibri" pitchFamily="34" charset="0"/>
              </a:rPr>
              <a:t>When to use an agile model?</a:t>
            </a:r>
            <a:r>
              <a:rPr lang="en-US" b="1" dirty="0" smtClean="0"/>
              <a:t/>
            </a:r>
            <a:br>
              <a:rPr lang="en-US" b="1" dirty="0" smtClean="0"/>
            </a:br>
            <a:endParaRPr lang="en-US" dirty="0"/>
          </a:p>
        </p:txBody>
      </p:sp>
      <p:sp>
        <p:nvSpPr>
          <p:cNvPr id="3" name="Content Placeholder 2"/>
          <p:cNvSpPr>
            <a:spLocks noGrp="1"/>
          </p:cNvSpPr>
          <p:nvPr>
            <p:ph sz="quarter" idx="1"/>
          </p:nvPr>
        </p:nvSpPr>
        <p:spPr>
          <a:xfrm>
            <a:off x="457200" y="1285860"/>
            <a:ext cx="8229600" cy="4857784"/>
          </a:xfrm>
        </p:spPr>
        <p:txBody>
          <a:bodyPr>
            <a:normAutofit/>
          </a:bodyPr>
          <a:lstStyle/>
          <a:p>
            <a:r>
              <a:rPr lang="en-US" sz="2200" dirty="0" smtClean="0">
                <a:latin typeface="Calibri" pitchFamily="34" charset="0"/>
                <a:cs typeface="Calibri" pitchFamily="34" charset="0"/>
              </a:rPr>
              <a:t>To execute a new feature, the developers need to lose just crafted by a couple of days, or even just hours, to move back and carry out it.</a:t>
            </a:r>
          </a:p>
          <a:p>
            <a:r>
              <a:rPr lang="en-US" sz="2200" dirty="0" smtClean="0">
                <a:latin typeface="Calibri" pitchFamily="34" charset="0"/>
                <a:cs typeface="Calibri" pitchFamily="34" charset="0"/>
              </a:rPr>
              <a:t>At the point when new changes are required to have been carried out. The freedom agile provides for change is vital. New changes can be carried out at almost no expense on account of the recurrence of new augmentations that are created.</a:t>
            </a:r>
          </a:p>
          <a:p>
            <a:r>
              <a:rPr lang="en-US" sz="2200" dirty="0" smtClean="0">
                <a:latin typeface="Calibri" pitchFamily="34" charset="0"/>
                <a:cs typeface="Calibri" pitchFamily="34" charset="0"/>
              </a:rPr>
              <a:t>End clients’ requirements are truly changing in a powerful business and IT world. Changes can be examined and elements can be affected. This really gives the client the completed framework they need or want.</a:t>
            </a:r>
          </a:p>
          <a:p>
            <a:pPr>
              <a:buNone/>
            </a:pPr>
            <a:endParaRPr lang="en-US" sz="2200" dirty="0">
              <a:latin typeface="Calibri" pitchFamily="34" charset="0"/>
              <a:cs typeface="Calibri"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US" b="1" dirty="0" smtClean="0"/>
              <a:t>Pros</a:t>
            </a:r>
            <a:endParaRPr lang="en-US" dirty="0"/>
          </a:p>
        </p:txBody>
      </p:sp>
      <p:sp>
        <p:nvSpPr>
          <p:cNvPr id="3" name="Content Placeholder 2"/>
          <p:cNvSpPr>
            <a:spLocks noGrp="1"/>
          </p:cNvSpPr>
          <p:nvPr>
            <p:ph sz="quarter" idx="1"/>
          </p:nvPr>
        </p:nvSpPr>
        <p:spPr/>
        <p:txBody>
          <a:bodyPr>
            <a:normAutofit/>
          </a:bodyPr>
          <a:lstStyle/>
          <a:p>
            <a:r>
              <a:rPr lang="en-US" sz="2800" dirty="0" smtClean="0">
                <a:latin typeface="Calibri" pitchFamily="34" charset="0"/>
                <a:cs typeface="Calibri" pitchFamily="34" charset="0"/>
              </a:rPr>
              <a:t>Advances teamwork and broadly educating.</a:t>
            </a:r>
          </a:p>
          <a:p>
            <a:r>
              <a:rPr lang="en-US" sz="2800" dirty="0" smtClean="0">
                <a:latin typeface="Calibri" pitchFamily="34" charset="0"/>
                <a:cs typeface="Calibri" pitchFamily="34" charset="0"/>
              </a:rPr>
              <a:t>Usefulness can be grown quickly and illustrated.</a:t>
            </a:r>
          </a:p>
          <a:p>
            <a:r>
              <a:rPr lang="en-US" sz="2800" dirty="0" smtClean="0">
                <a:latin typeface="Calibri" pitchFamily="34" charset="0"/>
                <a:cs typeface="Calibri" pitchFamily="34" charset="0"/>
              </a:rPr>
              <a:t>Conveys early fractional working arrangements.</a:t>
            </a:r>
          </a:p>
          <a:p>
            <a:r>
              <a:rPr lang="en-US" sz="2800" dirty="0" smtClean="0">
                <a:latin typeface="Calibri" pitchFamily="34" charset="0"/>
                <a:cs typeface="Calibri" pitchFamily="34" charset="0"/>
              </a:rPr>
              <a:t>A great model for conditions that change consistently.</a:t>
            </a:r>
          </a:p>
          <a:p>
            <a:r>
              <a:rPr lang="en-US" sz="2800" dirty="0" smtClean="0">
                <a:latin typeface="Calibri" pitchFamily="34" charset="0"/>
                <a:cs typeface="Calibri" pitchFamily="34" charset="0"/>
              </a:rPr>
              <a:t>Asset requirements are minimum.</a:t>
            </a:r>
          </a:p>
          <a:p>
            <a:pPr>
              <a:buNone/>
            </a:pPr>
            <a:endParaRPr lang="en-US" sz="2800" dirty="0">
              <a:latin typeface="Calibri" pitchFamily="34" charset="0"/>
              <a:cs typeface="Calibri"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smtClean="0"/>
              <a:t/>
            </a:r>
            <a:br>
              <a:rPr lang="en-US" b="1" dirty="0" smtClean="0"/>
            </a:br>
            <a:r>
              <a:rPr lang="en-US" b="1" dirty="0" smtClean="0"/>
              <a:t>Cons:</a:t>
            </a:r>
            <a:r>
              <a:rPr lang="en-US" dirty="0" smtClean="0"/>
              <a:t/>
            </a:r>
            <a:br>
              <a:rPr lang="en-US" dirty="0" smtClean="0"/>
            </a:br>
            <a:endParaRPr lang="en-US" dirty="0"/>
          </a:p>
        </p:txBody>
      </p:sp>
      <p:sp>
        <p:nvSpPr>
          <p:cNvPr id="3" name="Content Placeholder 2"/>
          <p:cNvSpPr>
            <a:spLocks noGrp="1"/>
          </p:cNvSpPr>
          <p:nvPr>
            <p:ph sz="quarter" idx="1"/>
          </p:nvPr>
        </p:nvSpPr>
        <p:spPr>
          <a:xfrm>
            <a:off x="457200" y="1600200"/>
            <a:ext cx="7901014" cy="4873752"/>
          </a:xfrm>
        </p:spPr>
        <p:txBody>
          <a:bodyPr>
            <a:normAutofit/>
          </a:bodyPr>
          <a:lstStyle/>
          <a:p>
            <a:r>
              <a:rPr lang="en-US" dirty="0" smtClean="0">
                <a:latin typeface="Calibri" pitchFamily="34" charset="0"/>
                <a:cs typeface="Calibri" pitchFamily="34" charset="0"/>
              </a:rPr>
              <a:t>Not appropriate for handling complex conditions.</a:t>
            </a:r>
          </a:p>
          <a:p>
            <a:r>
              <a:rPr lang="en-US" dirty="0" smtClean="0">
                <a:latin typeface="Calibri" pitchFamily="34" charset="0"/>
                <a:cs typeface="Calibri" pitchFamily="34" charset="0"/>
              </a:rPr>
              <a:t>There is an absence of emphasis on vital planning and documentation.</a:t>
            </a:r>
          </a:p>
          <a:p>
            <a:r>
              <a:rPr lang="en-US" dirty="0" smtClean="0">
                <a:latin typeface="Calibri" pitchFamily="34" charset="0"/>
                <a:cs typeface="Calibri" pitchFamily="34" charset="0"/>
              </a:rPr>
              <a:t>If the client requirement is not clear, chances are that project can easily get taken off track.</a:t>
            </a:r>
          </a:p>
          <a:p>
            <a:r>
              <a:rPr lang="en-US" dirty="0" smtClean="0">
                <a:latin typeface="Calibri" pitchFamily="34" charset="0"/>
                <a:cs typeface="Calibri" pitchFamily="34" charset="0"/>
              </a:rPr>
              <a:t>Just senior software engineers are fit for taking the sort of choices expected during the improvement cycle. So it has a bad situation for junior software engineers unless combined with experienced assets.</a:t>
            </a:r>
          </a:p>
          <a:p>
            <a:pPr>
              <a:buNone/>
            </a:pPr>
            <a:endParaRPr lang="en-US" dirty="0">
              <a:latin typeface="Calibri" pitchFamily="34" charset="0"/>
              <a:cs typeface="Calibri"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dirty="0" smtClean="0"/>
              <a:t/>
            </a:r>
            <a:br>
              <a:rPr lang="en-US" dirty="0" smtClean="0"/>
            </a:br>
            <a:r>
              <a:rPr lang="en-US" dirty="0" smtClean="0"/>
              <a:t>Agility Principles 	</a:t>
            </a:r>
            <a:br>
              <a:rPr lang="en-US" dirty="0" smtClean="0"/>
            </a:br>
            <a:endParaRPr lang="en-US" dirty="0"/>
          </a:p>
        </p:txBody>
      </p:sp>
      <p:pic>
        <p:nvPicPr>
          <p:cNvPr id="4" name="Content Placeholder 3" descr="prin.png"/>
          <p:cNvPicPr>
            <a:picLocks noGrp="1" noChangeAspect="1"/>
          </p:cNvPicPr>
          <p:nvPr>
            <p:ph sz="quarter" idx="1"/>
          </p:nvPr>
        </p:nvPicPr>
        <p:blipFill>
          <a:blip r:embed="rId2"/>
          <a:stretch>
            <a:fillRect/>
          </a:stretch>
        </p:blipFill>
        <p:spPr>
          <a:xfrm>
            <a:off x="500034" y="1071546"/>
            <a:ext cx="8286808" cy="4857784"/>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a:bodyPr>
          <a:lstStyle/>
          <a:p>
            <a:r>
              <a:rPr lang="en-US" dirty="0" smtClean="0"/>
              <a:t>Agility Principles</a:t>
            </a:r>
            <a:endParaRPr lang="en-US" dirty="0"/>
          </a:p>
        </p:txBody>
      </p:sp>
      <p:sp>
        <p:nvSpPr>
          <p:cNvPr id="3" name="Content Placeholder 2"/>
          <p:cNvSpPr>
            <a:spLocks noGrp="1"/>
          </p:cNvSpPr>
          <p:nvPr>
            <p:ph sz="quarter" idx="1"/>
          </p:nvPr>
        </p:nvSpPr>
        <p:spPr>
          <a:xfrm>
            <a:off x="500034" y="1071546"/>
            <a:ext cx="8229600" cy="5500726"/>
          </a:xfrm>
        </p:spPr>
        <p:txBody>
          <a:bodyPr>
            <a:noAutofit/>
          </a:bodyPr>
          <a:lstStyle/>
          <a:p>
            <a:pPr>
              <a:buFont typeface="+mj-lt"/>
              <a:buAutoNum type="arabicPeriod"/>
            </a:pPr>
            <a:r>
              <a:rPr lang="en-US" dirty="0" smtClean="0">
                <a:latin typeface="Calibri" pitchFamily="34" charset="0"/>
                <a:cs typeface="Calibri" pitchFamily="34" charset="0"/>
              </a:rPr>
              <a:t>early and continuous delivery of valuable software.</a:t>
            </a:r>
          </a:p>
          <a:p>
            <a:pPr>
              <a:buFont typeface="+mj-lt"/>
              <a:buAutoNum type="arabicPeriod"/>
            </a:pPr>
            <a:r>
              <a:rPr lang="en-US" dirty="0" smtClean="0">
                <a:latin typeface="Calibri" pitchFamily="34" charset="0"/>
                <a:cs typeface="Calibri" pitchFamily="34" charset="0"/>
              </a:rPr>
              <a:t>Being flexible about change at any point of development.</a:t>
            </a:r>
          </a:p>
          <a:p>
            <a:pPr>
              <a:buFont typeface="+mj-lt"/>
              <a:buAutoNum type="arabicPeriod"/>
            </a:pPr>
            <a:r>
              <a:rPr lang="en-US" dirty="0" smtClean="0">
                <a:latin typeface="Calibri" pitchFamily="34" charset="0"/>
                <a:cs typeface="Calibri" pitchFamily="34" charset="0"/>
              </a:rPr>
              <a:t>Working on frequent and short deliveries throughout the development process.</a:t>
            </a:r>
          </a:p>
          <a:p>
            <a:pPr>
              <a:buFont typeface="+mj-lt"/>
              <a:buAutoNum type="arabicPeriod"/>
            </a:pPr>
            <a:r>
              <a:rPr lang="en-US" dirty="0" smtClean="0">
                <a:latin typeface="Calibri" pitchFamily="34" charset="0"/>
                <a:cs typeface="Calibri" pitchFamily="34" charset="0"/>
              </a:rPr>
              <a:t>transparency between business people and developers and requires them to work together</a:t>
            </a:r>
          </a:p>
          <a:p>
            <a:pPr>
              <a:buFont typeface="+mj-lt"/>
              <a:buAutoNum type="arabicPeriod"/>
            </a:pPr>
            <a:r>
              <a:rPr lang="en-US" dirty="0" smtClean="0">
                <a:latin typeface="Calibri" pitchFamily="34" charset="0"/>
                <a:cs typeface="Calibri" pitchFamily="34" charset="0"/>
              </a:rPr>
              <a:t>motivating individuals in the team.</a:t>
            </a:r>
          </a:p>
          <a:p>
            <a:pPr>
              <a:buFont typeface="+mj-lt"/>
              <a:buAutoNum type="arabicPeriod"/>
            </a:pPr>
            <a:r>
              <a:rPr lang="en-US" dirty="0" smtClean="0">
                <a:latin typeface="Calibri" pitchFamily="34" charset="0"/>
                <a:cs typeface="Calibri" pitchFamily="34" charset="0"/>
              </a:rPr>
              <a:t>agile believes in face to face communication as the most effective way to communicate between and to development team.</a:t>
            </a:r>
          </a:p>
          <a:p>
            <a:pPr>
              <a:buNone/>
            </a:pP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dirty="0" smtClean="0"/>
              <a:t/>
            </a:r>
            <a:br>
              <a:rPr lang="en-US" dirty="0" smtClean="0"/>
            </a:br>
            <a:r>
              <a:rPr lang="en-US" dirty="0" smtClean="0"/>
              <a:t>Agility Principle</a:t>
            </a:r>
            <a:r>
              <a:rPr lang="en-US" dirty="0" smtClean="0"/>
              <a:t>	</a:t>
            </a:r>
            <a:br>
              <a:rPr lang="en-US" dirty="0" smtClean="0"/>
            </a:br>
            <a:endParaRPr lang="en-US" dirty="0"/>
          </a:p>
        </p:txBody>
      </p:sp>
      <p:sp>
        <p:nvSpPr>
          <p:cNvPr id="3" name="Content Placeholder 2"/>
          <p:cNvSpPr>
            <a:spLocks noGrp="1"/>
          </p:cNvSpPr>
          <p:nvPr>
            <p:ph sz="quarter" idx="1"/>
          </p:nvPr>
        </p:nvSpPr>
        <p:spPr>
          <a:xfrm>
            <a:off x="357158" y="1000108"/>
            <a:ext cx="8572560" cy="5715040"/>
          </a:xfrm>
        </p:spPr>
        <p:txBody>
          <a:bodyPr/>
          <a:lstStyle/>
          <a:p>
            <a:pPr marL="457200" indent="-457200">
              <a:buFont typeface="+mj-lt"/>
              <a:buAutoNum type="arabicPeriod"/>
            </a:pPr>
            <a:r>
              <a:rPr lang="en-US" dirty="0" smtClean="0">
                <a:latin typeface="Calibri" pitchFamily="34" charset="0"/>
                <a:cs typeface="Calibri" pitchFamily="34" charset="0"/>
              </a:rPr>
              <a:t>continuous attention towards effective designing and technical excellence</a:t>
            </a:r>
          </a:p>
          <a:p>
            <a:pPr marL="457200" indent="-457200">
              <a:buFont typeface="+mj-lt"/>
              <a:buAutoNum type="arabicPeriod"/>
            </a:pPr>
            <a:r>
              <a:rPr lang="en-US" dirty="0" smtClean="0">
                <a:latin typeface="Calibri" pitchFamily="34" charset="0"/>
                <a:cs typeface="Calibri" pitchFamily="34" charset="0"/>
              </a:rPr>
              <a:t>promotes </a:t>
            </a:r>
            <a:r>
              <a:rPr lang="en-US" dirty="0" smtClean="0">
                <a:latin typeface="Calibri" pitchFamily="34" charset="0"/>
                <a:cs typeface="Calibri" pitchFamily="34" charset="0"/>
              </a:rPr>
              <a:t>sustainable development. </a:t>
            </a:r>
            <a:endParaRPr lang="en-US" dirty="0" smtClean="0">
              <a:latin typeface="Calibri" pitchFamily="34" charset="0"/>
              <a:cs typeface="Calibri" pitchFamily="34" charset="0"/>
            </a:endParaRPr>
          </a:p>
          <a:p>
            <a:pPr marL="457200" indent="-457200">
              <a:buFont typeface="+mj-lt"/>
              <a:buAutoNum type="arabicPeriod"/>
            </a:pPr>
            <a:r>
              <a:rPr lang="en-US" dirty="0" smtClean="0">
                <a:latin typeface="Calibri" pitchFamily="34" charset="0"/>
                <a:cs typeface="Calibri" pitchFamily="34" charset="0"/>
              </a:rPr>
              <a:t>Working </a:t>
            </a:r>
            <a:r>
              <a:rPr lang="en-US" dirty="0" smtClean="0">
                <a:latin typeface="Calibri" pitchFamily="34" charset="0"/>
                <a:cs typeface="Calibri" pitchFamily="34" charset="0"/>
              </a:rPr>
              <a:t>software is the primary measure of </a:t>
            </a:r>
            <a:r>
              <a:rPr lang="en-US" dirty="0" smtClean="0">
                <a:latin typeface="Calibri" pitchFamily="34" charset="0"/>
                <a:cs typeface="Calibri" pitchFamily="34" charset="0"/>
              </a:rPr>
              <a:t>progress</a:t>
            </a:r>
          </a:p>
          <a:p>
            <a:pPr marL="457200" indent="-457200">
              <a:buFont typeface="+mj-lt"/>
              <a:buAutoNum type="arabicPeriod"/>
            </a:pPr>
            <a:r>
              <a:rPr lang="en-US" dirty="0" smtClean="0">
                <a:latin typeface="Calibri" pitchFamily="34" charset="0"/>
                <a:cs typeface="Calibri" pitchFamily="34" charset="0"/>
              </a:rPr>
              <a:t>Simplicity—the </a:t>
            </a:r>
            <a:r>
              <a:rPr lang="en-US" dirty="0" smtClean="0">
                <a:latin typeface="Calibri" pitchFamily="34" charset="0"/>
                <a:cs typeface="Calibri" pitchFamily="34" charset="0"/>
              </a:rPr>
              <a:t>art of maximizing the amount of work not done—is </a:t>
            </a:r>
            <a:r>
              <a:rPr lang="en-US" dirty="0" smtClean="0">
                <a:latin typeface="Calibri" pitchFamily="34" charset="0"/>
                <a:cs typeface="Calibri" pitchFamily="34" charset="0"/>
              </a:rPr>
              <a:t>essential.</a:t>
            </a:r>
          </a:p>
          <a:p>
            <a:pPr marL="457200" indent="-457200">
              <a:buFont typeface="+mj-lt"/>
              <a:buAutoNum type="arabicPeriod"/>
            </a:pPr>
            <a:r>
              <a:rPr lang="en-US" dirty="0" smtClean="0">
                <a:latin typeface="Calibri" pitchFamily="34" charset="0"/>
                <a:cs typeface="Calibri" pitchFamily="34" charset="0"/>
              </a:rPr>
              <a:t>The </a:t>
            </a:r>
            <a:r>
              <a:rPr lang="en-US" dirty="0" smtClean="0">
                <a:latin typeface="Calibri" pitchFamily="34" charset="0"/>
                <a:cs typeface="Calibri" pitchFamily="34" charset="0"/>
              </a:rPr>
              <a:t>best architectures, requirements, and designs emerge from self-organizing </a:t>
            </a:r>
            <a:r>
              <a:rPr lang="en-US" dirty="0" smtClean="0">
                <a:latin typeface="Calibri" pitchFamily="34" charset="0"/>
                <a:cs typeface="Calibri" pitchFamily="34" charset="0"/>
              </a:rPr>
              <a:t>teams.</a:t>
            </a:r>
          </a:p>
          <a:p>
            <a:pPr marL="457200" indent="-457200">
              <a:buFont typeface="+mj-lt"/>
              <a:buAutoNum type="arabicPeriod"/>
            </a:pPr>
            <a:r>
              <a:rPr lang="en-US" dirty="0" smtClean="0">
                <a:latin typeface="Calibri" pitchFamily="34" charset="0"/>
                <a:cs typeface="Calibri" pitchFamily="34" charset="0"/>
              </a:rPr>
              <a:t>the </a:t>
            </a:r>
            <a:r>
              <a:rPr lang="en-US" dirty="0" smtClean="0">
                <a:latin typeface="Calibri" pitchFamily="34" charset="0"/>
                <a:cs typeface="Calibri" pitchFamily="34" charset="0"/>
              </a:rPr>
              <a:t>team reflects on how to become more effective, then tunes and adjusts its behavior accordingly</a:t>
            </a:r>
            <a:endParaRPr lang="en-US" dirty="0">
              <a:latin typeface="Calibri" pitchFamily="34" charset="0"/>
              <a:cs typeface="Calibri"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58204" cy="511156"/>
          </a:xfrm>
        </p:spPr>
        <p:txBody>
          <a:bodyPr>
            <a:normAutofit fontScale="90000"/>
          </a:bodyPr>
          <a:lstStyle/>
          <a:p>
            <a:endParaRPr lang="en-US" dirty="0"/>
          </a:p>
        </p:txBody>
      </p:sp>
      <p:graphicFrame>
        <p:nvGraphicFramePr>
          <p:cNvPr id="4" name="Content Placeholder 3"/>
          <p:cNvGraphicFramePr>
            <a:graphicFrameLocks noGrp="1"/>
          </p:cNvGraphicFramePr>
          <p:nvPr>
            <p:ph sz="quarter" idx="1"/>
          </p:nvPr>
        </p:nvGraphicFramePr>
        <p:xfrm>
          <a:off x="357158" y="857232"/>
          <a:ext cx="8229600" cy="6097908"/>
        </p:xfrm>
        <a:graphic>
          <a:graphicData uri="http://schemas.openxmlformats.org/drawingml/2006/table">
            <a:tbl>
              <a:tblPr firstRow="1" bandRow="1">
                <a:tableStyleId>{5C22544A-7EE6-4342-B048-85BDC9FD1C3A}</a:tableStyleId>
              </a:tblPr>
              <a:tblGrid>
                <a:gridCol w="4114800"/>
                <a:gridCol w="4114800"/>
              </a:tblGrid>
              <a:tr h="671514">
                <a:tc>
                  <a:txBody>
                    <a:bodyPr/>
                    <a:lstStyle/>
                    <a:p>
                      <a:r>
                        <a:rPr lang="en-US" sz="1800" b="0" i="0" kern="1200" dirty="0" smtClean="0">
                          <a:solidFill>
                            <a:schemeClr val="lt1"/>
                          </a:solidFill>
                          <a:latin typeface="+mn-lt"/>
                          <a:ea typeface="+mn-ea"/>
                          <a:cs typeface="+mn-cs"/>
                        </a:rPr>
                        <a:t>Traditional SDLC Model</a:t>
                      </a:r>
                      <a:endParaRPr lang="en-US" dirty="0"/>
                    </a:p>
                  </a:txBody>
                  <a:tcPr/>
                </a:tc>
                <a:tc>
                  <a:txBody>
                    <a:bodyPr/>
                    <a:lstStyle/>
                    <a:p>
                      <a:r>
                        <a:rPr lang="en-US" sz="1800" b="0" i="0" kern="1200" dirty="0" smtClean="0">
                          <a:solidFill>
                            <a:schemeClr val="lt1"/>
                          </a:solidFill>
                          <a:latin typeface="+mn-lt"/>
                          <a:ea typeface="+mn-ea"/>
                          <a:cs typeface="+mn-cs"/>
                        </a:rPr>
                        <a:t>Agile Model</a:t>
                      </a:r>
                      <a:endParaRPr lang="en-US" dirty="0"/>
                    </a:p>
                  </a:txBody>
                  <a:tcPr/>
                </a:tc>
              </a:tr>
              <a:tr h="671514">
                <a:tc>
                  <a:txBody>
                    <a:bodyPr/>
                    <a:lstStyle/>
                    <a:p>
                      <a:r>
                        <a:rPr lang="en-US" sz="1800" b="0" i="0" kern="1200" dirty="0" smtClean="0">
                          <a:solidFill>
                            <a:schemeClr val="dk1"/>
                          </a:solidFill>
                          <a:latin typeface="+mn-lt"/>
                          <a:ea typeface="+mn-ea"/>
                          <a:cs typeface="+mn-cs"/>
                        </a:rPr>
                        <a:t>The traditional SDLC model is a linear and sequential approach to software development.</a:t>
                      </a:r>
                      <a:endParaRPr lang="en-US" dirty="0"/>
                    </a:p>
                  </a:txBody>
                  <a:tcPr/>
                </a:tc>
                <a:tc>
                  <a:txBody>
                    <a:bodyPr/>
                    <a:lstStyle/>
                    <a:p>
                      <a:r>
                        <a:rPr lang="en-US" sz="1800" b="0" i="0" kern="1200" dirty="0" smtClean="0">
                          <a:solidFill>
                            <a:schemeClr val="dk1"/>
                          </a:solidFill>
                          <a:latin typeface="+mn-lt"/>
                          <a:ea typeface="+mn-ea"/>
                          <a:cs typeface="+mn-cs"/>
                        </a:rPr>
                        <a:t>The agile model is an iterative and flexible approach to software development. </a:t>
                      </a:r>
                      <a:endParaRPr lang="en-US" dirty="0"/>
                    </a:p>
                  </a:txBody>
                  <a:tcPr/>
                </a:tc>
              </a:tr>
              <a:tr h="671514">
                <a:tc>
                  <a:txBody>
                    <a:bodyPr/>
                    <a:lstStyle/>
                    <a:p>
                      <a:r>
                        <a:rPr lang="en-US" sz="1800" b="0" i="0" kern="1200" dirty="0" smtClean="0">
                          <a:solidFill>
                            <a:schemeClr val="dk1"/>
                          </a:solidFill>
                          <a:latin typeface="+mn-lt"/>
                          <a:ea typeface="+mn-ea"/>
                          <a:cs typeface="+mn-cs"/>
                        </a:rPr>
                        <a:t>It doesn't provide a clear plan to incorporate changing requirements, which can lead to delays.  </a:t>
                      </a:r>
                      <a:endParaRPr lang="en-US" dirty="0"/>
                    </a:p>
                  </a:txBody>
                  <a:tcPr/>
                </a:tc>
                <a:tc>
                  <a:txBody>
                    <a:bodyPr/>
                    <a:lstStyle/>
                    <a:p>
                      <a:r>
                        <a:rPr lang="en-US" sz="1800" b="0" i="0" kern="1200" dirty="0" smtClean="0">
                          <a:solidFill>
                            <a:schemeClr val="dk1"/>
                          </a:solidFill>
                          <a:latin typeface="+mn-lt"/>
                          <a:ea typeface="+mn-ea"/>
                          <a:cs typeface="+mn-cs"/>
                        </a:rPr>
                        <a:t>It focuses on the working software, feedback, and adapting to new requirements. </a:t>
                      </a:r>
                      <a:endParaRPr lang="en-US" dirty="0"/>
                    </a:p>
                  </a:txBody>
                  <a:tcPr/>
                </a:tc>
              </a:tr>
              <a:tr h="671514">
                <a:tc>
                  <a:txBody>
                    <a:bodyPr/>
                    <a:lstStyle/>
                    <a:p>
                      <a:r>
                        <a:rPr lang="en-US" sz="1800" b="0" i="0" kern="1200" dirty="0" smtClean="0">
                          <a:solidFill>
                            <a:schemeClr val="dk1"/>
                          </a:solidFill>
                          <a:latin typeface="+mn-lt"/>
                          <a:ea typeface="+mn-ea"/>
                          <a:cs typeface="+mn-cs"/>
                        </a:rPr>
                        <a:t>It focuses on a structured plan, not the final product's delivery. </a:t>
                      </a:r>
                      <a:endParaRPr lang="en-US" dirty="0"/>
                    </a:p>
                  </a:txBody>
                  <a:tcPr/>
                </a:tc>
                <a:tc>
                  <a:txBody>
                    <a:bodyPr/>
                    <a:lstStyle/>
                    <a:p>
                      <a:r>
                        <a:rPr lang="en-US" sz="1800" b="0" i="0" kern="1200" dirty="0" smtClean="0">
                          <a:solidFill>
                            <a:schemeClr val="dk1"/>
                          </a:solidFill>
                          <a:latin typeface="+mn-lt"/>
                          <a:ea typeface="+mn-ea"/>
                          <a:cs typeface="+mn-cs"/>
                        </a:rPr>
                        <a:t>The Agile model aims to deliver the product quickly.  </a:t>
                      </a:r>
                      <a:endParaRPr lang="en-US" dirty="0"/>
                    </a:p>
                  </a:txBody>
                  <a:tcPr/>
                </a:tc>
              </a:tr>
              <a:tr h="671514">
                <a:tc>
                  <a:txBody>
                    <a:bodyPr/>
                    <a:lstStyle/>
                    <a:p>
                      <a:r>
                        <a:rPr lang="en-US" sz="1800" b="0" i="0" kern="1200" dirty="0" smtClean="0">
                          <a:solidFill>
                            <a:schemeClr val="dk1"/>
                          </a:solidFill>
                          <a:latin typeface="+mn-lt"/>
                          <a:ea typeface="+mn-ea"/>
                          <a:cs typeface="+mn-cs"/>
                        </a:rPr>
                        <a:t>It focuses on documentation, which helps track the progress and decisions made throughout the project.</a:t>
                      </a:r>
                      <a:endParaRPr lang="en-US" dirty="0"/>
                    </a:p>
                  </a:txBody>
                  <a:tcPr/>
                </a:tc>
                <a:tc>
                  <a:txBody>
                    <a:bodyPr/>
                    <a:lstStyle/>
                    <a:p>
                      <a:r>
                        <a:rPr lang="en-US" sz="1800" b="0" i="0" kern="1200" dirty="0" smtClean="0">
                          <a:solidFill>
                            <a:schemeClr val="dk1"/>
                          </a:solidFill>
                          <a:latin typeface="+mn-lt"/>
                          <a:ea typeface="+mn-ea"/>
                          <a:cs typeface="+mn-cs"/>
                        </a:rPr>
                        <a:t>The Agile model lacks documentation. </a:t>
                      </a:r>
                    </a:p>
                    <a:p>
                      <a:r>
                        <a:rPr lang="en-US" sz="1800" b="0" i="0" kern="1200" dirty="0" smtClean="0">
                          <a:solidFill>
                            <a:schemeClr val="dk1"/>
                          </a:solidFill>
                          <a:latin typeface="+mn-lt"/>
                          <a:ea typeface="+mn-ea"/>
                          <a:cs typeface="+mn-cs"/>
                        </a:rPr>
                        <a:t>It includes regular meetings, also known as sprint meetings, to track the development team's progress.</a:t>
                      </a:r>
                    </a:p>
                    <a:p>
                      <a:endParaRPr lang="en-US" dirty="0"/>
                    </a:p>
                  </a:txBody>
                  <a:tcPr/>
                </a:tc>
              </a:tr>
              <a:tr h="671514">
                <a:tc>
                  <a:txBody>
                    <a:bodyPr/>
                    <a:lstStyle/>
                    <a:p>
                      <a:r>
                        <a:rPr lang="en-US" sz="1800" b="0" i="0" kern="1200" dirty="0" smtClean="0">
                          <a:solidFill>
                            <a:schemeClr val="dk1"/>
                          </a:solidFill>
                          <a:latin typeface="+mn-lt"/>
                          <a:ea typeface="+mn-ea"/>
                          <a:cs typeface="+mn-cs"/>
                        </a:rPr>
                        <a:t>It is best suited for projects that require a structured approach and have well-defined requirements.</a:t>
                      </a:r>
                      <a:endParaRPr lang="en-US" dirty="0"/>
                    </a:p>
                  </a:txBody>
                  <a:tcPr/>
                </a:tc>
                <a:tc>
                  <a:txBody>
                    <a:bodyPr/>
                    <a:lstStyle/>
                    <a:p>
                      <a:r>
                        <a:rPr lang="en-US" sz="1800" b="0" i="0" kern="1200" dirty="0" smtClean="0">
                          <a:solidFill>
                            <a:schemeClr val="dk1"/>
                          </a:solidFill>
                          <a:latin typeface="+mn-lt"/>
                          <a:ea typeface="+mn-ea"/>
                          <a:cs typeface="+mn-cs"/>
                        </a:rPr>
                        <a:t>It is best suited for projects that require rapid development and have changing requirements based on user feedback. </a:t>
                      </a:r>
                      <a:endParaRPr lang="en-US" dirty="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dirty="0" smtClean="0"/>
              <a:t/>
            </a:r>
            <a:br>
              <a:rPr lang="en-US" dirty="0" smtClean="0"/>
            </a:br>
            <a:r>
              <a:rPr lang="en-US" dirty="0" smtClean="0"/>
              <a:t>Human Factors 	</a:t>
            </a:r>
            <a:br>
              <a:rPr lang="en-US" dirty="0" smtClean="0"/>
            </a:br>
            <a:endParaRPr lang="en-US" dirty="0"/>
          </a:p>
        </p:txBody>
      </p:sp>
      <p:sp>
        <p:nvSpPr>
          <p:cNvPr id="3" name="Content Placeholder 2"/>
          <p:cNvSpPr>
            <a:spLocks noGrp="1"/>
          </p:cNvSpPr>
          <p:nvPr>
            <p:ph sz="quarter" idx="1"/>
          </p:nvPr>
        </p:nvSpPr>
        <p:spPr>
          <a:xfrm>
            <a:off x="457200" y="1000108"/>
            <a:ext cx="8229600" cy="5500726"/>
          </a:xfrm>
        </p:spPr>
        <p:txBody>
          <a:bodyPr>
            <a:normAutofit/>
          </a:bodyPr>
          <a:lstStyle/>
          <a:p>
            <a:pPr>
              <a:buNone/>
            </a:pPr>
            <a:r>
              <a:rPr lang="en-US" sz="2000" b="1" dirty="0" smtClean="0">
                <a:latin typeface="Calibri" pitchFamily="34" charset="0"/>
                <a:cs typeface="Calibri" pitchFamily="34" charset="0"/>
              </a:rPr>
              <a:t>Teamwork and Collaboration</a:t>
            </a:r>
            <a:endParaRPr lang="en-US" sz="2000" dirty="0" smtClean="0">
              <a:latin typeface="Calibri" pitchFamily="34" charset="0"/>
              <a:cs typeface="Calibri" pitchFamily="34" charset="0"/>
            </a:endParaRPr>
          </a:p>
          <a:p>
            <a:r>
              <a:rPr lang="en-US" sz="2000" dirty="0" smtClean="0">
                <a:latin typeface="Calibri" pitchFamily="34" charset="0"/>
                <a:cs typeface="Calibri" pitchFamily="34" charset="0"/>
              </a:rPr>
              <a:t>Software development is usually a team effort.</a:t>
            </a:r>
          </a:p>
          <a:p>
            <a:r>
              <a:rPr lang="en-US" sz="2000" dirty="0" smtClean="0">
                <a:latin typeface="Calibri" pitchFamily="34" charset="0"/>
                <a:cs typeface="Calibri" pitchFamily="34" charset="0"/>
              </a:rPr>
              <a:t>Effective collaboration improves productivity, creativity, and problem-solving</a:t>
            </a:r>
            <a:r>
              <a:rPr lang="en-US" sz="2000" dirty="0" smtClean="0">
                <a:latin typeface="Calibri" pitchFamily="34" charset="0"/>
                <a:cs typeface="Calibri" pitchFamily="34" charset="0"/>
              </a:rPr>
              <a:t>.</a:t>
            </a:r>
          </a:p>
          <a:p>
            <a:pPr>
              <a:buNone/>
            </a:pPr>
            <a:endParaRPr lang="en-US" sz="2000" dirty="0" smtClean="0">
              <a:latin typeface="Calibri" pitchFamily="34" charset="0"/>
              <a:cs typeface="Calibri" pitchFamily="34" charset="0"/>
            </a:endParaRPr>
          </a:p>
          <a:p>
            <a:pPr>
              <a:buNone/>
            </a:pPr>
            <a:r>
              <a:rPr lang="en-US" sz="2000" b="1" dirty="0" smtClean="0">
                <a:latin typeface="Calibri" pitchFamily="34" charset="0"/>
                <a:cs typeface="Calibri" pitchFamily="34" charset="0"/>
              </a:rPr>
              <a:t>Skills and Competence</a:t>
            </a:r>
            <a:endParaRPr lang="en-US" sz="2000" dirty="0" smtClean="0">
              <a:latin typeface="Calibri" pitchFamily="34" charset="0"/>
              <a:cs typeface="Calibri" pitchFamily="34" charset="0"/>
            </a:endParaRPr>
          </a:p>
          <a:p>
            <a:r>
              <a:rPr lang="en-US" sz="2000" dirty="0" smtClean="0">
                <a:latin typeface="Calibri" pitchFamily="34" charset="0"/>
                <a:cs typeface="Calibri" pitchFamily="34" charset="0"/>
              </a:rPr>
              <a:t>Technical knowledge, experience, and continuous learning affect software quality.</a:t>
            </a:r>
          </a:p>
          <a:p>
            <a:r>
              <a:rPr lang="en-US" sz="2000" dirty="0" smtClean="0">
                <a:latin typeface="Calibri" pitchFamily="34" charset="0"/>
                <a:cs typeface="Calibri" pitchFamily="34" charset="0"/>
              </a:rPr>
              <a:t>Training and skill development are crucial for adapting to new technologies</a:t>
            </a:r>
            <a:r>
              <a:rPr lang="en-US" sz="2000" dirty="0" smtClean="0">
                <a:latin typeface="Calibri" pitchFamily="34" charset="0"/>
                <a:cs typeface="Calibri" pitchFamily="34" charset="0"/>
              </a:rPr>
              <a:t>.</a:t>
            </a:r>
          </a:p>
          <a:p>
            <a:pPr>
              <a:buNone/>
            </a:pPr>
            <a:endParaRPr lang="en-US" sz="2000" dirty="0" smtClean="0">
              <a:latin typeface="Calibri" pitchFamily="34" charset="0"/>
              <a:cs typeface="Calibri" pitchFamily="34" charset="0"/>
            </a:endParaRPr>
          </a:p>
          <a:p>
            <a:pPr>
              <a:buNone/>
            </a:pPr>
            <a:r>
              <a:rPr lang="en-US" sz="2000" b="1" dirty="0" smtClean="0">
                <a:latin typeface="Calibri" pitchFamily="34" charset="0"/>
                <a:cs typeface="Calibri" pitchFamily="34" charset="0"/>
              </a:rPr>
              <a:t>Decision Making</a:t>
            </a:r>
            <a:endParaRPr lang="en-US" sz="2000" dirty="0" smtClean="0">
              <a:latin typeface="Calibri" pitchFamily="34" charset="0"/>
              <a:cs typeface="Calibri" pitchFamily="34" charset="0"/>
            </a:endParaRPr>
          </a:p>
          <a:p>
            <a:r>
              <a:rPr lang="en-US" sz="2000" dirty="0" smtClean="0">
                <a:latin typeface="Calibri" pitchFamily="34" charset="0"/>
                <a:cs typeface="Calibri" pitchFamily="34" charset="0"/>
              </a:rPr>
              <a:t>Human judgment affects requirement analysis, design choices, and testing.</a:t>
            </a:r>
          </a:p>
          <a:p>
            <a:r>
              <a:rPr lang="en-US" sz="2000" dirty="0" smtClean="0">
                <a:latin typeface="Calibri" pitchFamily="34" charset="0"/>
                <a:cs typeface="Calibri" pitchFamily="34" charset="0"/>
              </a:rPr>
              <a:t>Biases and assumptions can lead to incorrect decisions.</a:t>
            </a:r>
          </a:p>
          <a:p>
            <a:pPr>
              <a:buNone/>
            </a:pPr>
            <a:endParaRPr lang="en-US" sz="2000" dirty="0">
              <a:latin typeface="Calibri" pitchFamily="34" charset="0"/>
              <a:cs typeface="Calibri"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428604"/>
          </a:xfrm>
        </p:spPr>
        <p:txBody>
          <a:bodyPr>
            <a:normAutofit fontScale="90000"/>
          </a:bodyPr>
          <a:lstStyle/>
          <a:p>
            <a:r>
              <a:rPr lang="en-IN" sz="3600" b="1" dirty="0" smtClean="0"/>
              <a:t>Human Factors</a:t>
            </a:r>
            <a:endParaRPr lang="en-US" sz="3600" b="1" dirty="0"/>
          </a:p>
        </p:txBody>
      </p:sp>
      <p:sp>
        <p:nvSpPr>
          <p:cNvPr id="3" name="Content Placeholder 2"/>
          <p:cNvSpPr>
            <a:spLocks noGrp="1"/>
          </p:cNvSpPr>
          <p:nvPr>
            <p:ph sz="quarter" idx="1"/>
          </p:nvPr>
        </p:nvSpPr>
        <p:spPr>
          <a:xfrm>
            <a:off x="285720" y="714356"/>
            <a:ext cx="8229600" cy="5572164"/>
          </a:xfrm>
        </p:spPr>
        <p:txBody>
          <a:bodyPr>
            <a:noAutofit/>
          </a:bodyPr>
          <a:lstStyle/>
          <a:p>
            <a:pPr>
              <a:buNone/>
            </a:pPr>
            <a:endParaRPr lang="en-US" sz="2000" b="1" dirty="0" smtClean="0">
              <a:latin typeface="Calibri" pitchFamily="34" charset="0"/>
              <a:cs typeface="Calibri" pitchFamily="34" charset="0"/>
            </a:endParaRPr>
          </a:p>
          <a:p>
            <a:pPr>
              <a:buNone/>
            </a:pPr>
            <a:r>
              <a:rPr lang="en-US" sz="2000" b="1" dirty="0" smtClean="0">
                <a:latin typeface="Calibri" pitchFamily="34" charset="0"/>
                <a:cs typeface="Calibri" pitchFamily="34" charset="0"/>
              </a:rPr>
              <a:t>Fuzzy </a:t>
            </a:r>
            <a:r>
              <a:rPr lang="en-US" sz="2000" b="1" dirty="0" smtClean="0">
                <a:latin typeface="Calibri" pitchFamily="34" charset="0"/>
                <a:cs typeface="Calibri" pitchFamily="34" charset="0"/>
              </a:rPr>
              <a:t>problem-solving ability:</a:t>
            </a:r>
          </a:p>
          <a:p>
            <a:r>
              <a:rPr lang="en-US" sz="2000" dirty="0" smtClean="0">
                <a:latin typeface="Calibri" pitchFamily="34" charset="0"/>
                <a:cs typeface="Calibri" pitchFamily="34" charset="0"/>
              </a:rPr>
              <a:t>Software managers should recognize that the agile team will continually have to deal with ambiguity and will continually be buffeted by change. </a:t>
            </a:r>
          </a:p>
          <a:p>
            <a:r>
              <a:rPr lang="en-US" sz="2000" dirty="0" smtClean="0">
                <a:latin typeface="Calibri" pitchFamily="34" charset="0"/>
                <a:cs typeface="Calibri" pitchFamily="34" charset="0"/>
              </a:rPr>
              <a:t>In some cases, the team must accept the fact that the problem they are solving today may not be the problem that needs to be solved tomorrow.</a:t>
            </a:r>
          </a:p>
          <a:p>
            <a:r>
              <a:rPr lang="en-US" sz="2000" dirty="0" smtClean="0">
                <a:latin typeface="Calibri" pitchFamily="34" charset="0"/>
                <a:cs typeface="Calibri" pitchFamily="34" charset="0"/>
              </a:rPr>
              <a:t>However, lessons learned from any problem solving activity (</a:t>
            </a:r>
            <a:r>
              <a:rPr lang="en-US" sz="2000" dirty="0" err="1" smtClean="0">
                <a:latin typeface="Calibri" pitchFamily="34" charset="0"/>
                <a:cs typeface="Calibri" pitchFamily="34" charset="0"/>
              </a:rPr>
              <a:t>includ</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ing</a:t>
            </a:r>
            <a:r>
              <a:rPr lang="en-US" sz="2000" dirty="0" smtClean="0">
                <a:latin typeface="Calibri" pitchFamily="34" charset="0"/>
                <a:cs typeface="Calibri" pitchFamily="34" charset="0"/>
              </a:rPr>
              <a:t> those that solve the wrong problem) may be of benefit to the team later in the project</a:t>
            </a:r>
            <a:r>
              <a:rPr lang="en-US" sz="2000" dirty="0" smtClean="0">
                <a:latin typeface="Calibri" pitchFamily="34" charset="0"/>
                <a:cs typeface="Calibri" pitchFamily="34" charset="0"/>
              </a:rPr>
              <a:t>.</a:t>
            </a:r>
          </a:p>
          <a:p>
            <a:pPr>
              <a:buNone/>
            </a:pPr>
            <a:endParaRPr lang="en-US" sz="2000" dirty="0" smtClean="0">
              <a:latin typeface="Calibri" pitchFamily="34" charset="0"/>
              <a:cs typeface="Calibri" pitchFamily="34" charset="0"/>
            </a:endParaRPr>
          </a:p>
          <a:p>
            <a:pPr>
              <a:buNone/>
            </a:pPr>
            <a:r>
              <a:rPr lang="en-US" sz="2000" b="1" dirty="0" smtClean="0">
                <a:latin typeface="Calibri" pitchFamily="34" charset="0"/>
                <a:cs typeface="Calibri" pitchFamily="34" charset="0"/>
              </a:rPr>
              <a:t>Mutual trust and respect:</a:t>
            </a:r>
          </a:p>
          <a:p>
            <a:r>
              <a:rPr lang="en-US" sz="2000" dirty="0" smtClean="0">
                <a:latin typeface="Calibri" pitchFamily="34" charset="0"/>
                <a:cs typeface="Calibri" pitchFamily="34" charset="0"/>
              </a:rPr>
              <a:t> A team exhibits the trust and respect that are necessary to make them so strongly knit that the whole is greater than the sum of the parts.</a:t>
            </a:r>
          </a:p>
          <a:p>
            <a:pPr>
              <a:buNone/>
            </a:pPr>
            <a:endParaRPr lang="en-US" sz="2000" dirty="0" smtClean="0">
              <a:latin typeface="Calibri" pitchFamily="34" charset="0"/>
              <a:cs typeface="Calibri" pitchFamily="34" charset="0"/>
            </a:endParaRPr>
          </a:p>
          <a:p>
            <a:pPr>
              <a:buNone/>
            </a:pPr>
            <a:endParaRPr lang="en-US" sz="2000" b="1" dirty="0" smtClean="0">
              <a:latin typeface="Calibri" pitchFamily="34" charset="0"/>
              <a:cs typeface="Calibri"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11156"/>
          </a:xfrm>
        </p:spPr>
        <p:txBody>
          <a:bodyPr>
            <a:normAutofit fontScale="90000"/>
          </a:bodyPr>
          <a:lstStyle/>
          <a:p>
            <a:r>
              <a:rPr lang="en-IN" dirty="0" smtClean="0"/>
              <a:t>Human Factors</a:t>
            </a:r>
            <a:endParaRPr lang="en-US" dirty="0"/>
          </a:p>
        </p:txBody>
      </p:sp>
      <p:sp>
        <p:nvSpPr>
          <p:cNvPr id="3" name="Content Placeholder 2"/>
          <p:cNvSpPr>
            <a:spLocks noGrp="1"/>
          </p:cNvSpPr>
          <p:nvPr>
            <p:ph sz="quarter" idx="1"/>
          </p:nvPr>
        </p:nvSpPr>
        <p:spPr>
          <a:xfrm>
            <a:off x="428596" y="1000108"/>
            <a:ext cx="8143932" cy="4873752"/>
          </a:xfrm>
        </p:spPr>
        <p:txBody>
          <a:bodyPr>
            <a:noAutofit/>
          </a:bodyPr>
          <a:lstStyle/>
          <a:p>
            <a:pPr>
              <a:buNone/>
            </a:pPr>
            <a:r>
              <a:rPr lang="en-IN" sz="2000" b="1" dirty="0" smtClean="0">
                <a:latin typeface="Calibri" pitchFamily="34" charset="0"/>
                <a:cs typeface="Calibri" pitchFamily="34" charset="0"/>
              </a:rPr>
              <a:t>Common Focus:</a:t>
            </a:r>
          </a:p>
          <a:p>
            <a:r>
              <a:rPr lang="en-US" sz="2000" dirty="0" smtClean="0">
                <a:latin typeface="Calibri" pitchFamily="34" charset="0"/>
                <a:cs typeface="Calibri" pitchFamily="34" charset="0"/>
              </a:rPr>
              <a:t>Although members of the agile team may perform different tasks and bring different skills to the project, all should be focused on one goal-to deliver a working software increment to the customer within the time promised. </a:t>
            </a:r>
          </a:p>
          <a:p>
            <a:r>
              <a:rPr lang="en-US" sz="2000" dirty="0" smtClean="0">
                <a:latin typeface="Calibri" pitchFamily="34" charset="0"/>
                <a:cs typeface="Calibri" pitchFamily="34" charset="0"/>
              </a:rPr>
              <a:t>To achieve this goal, the team will also focus on continual adaptations (small and large) that will make the process fit the needs of the team</a:t>
            </a:r>
            <a:r>
              <a:rPr lang="en-US" sz="2000" b="1" dirty="0" smtClean="0">
                <a:latin typeface="Calibri" pitchFamily="34" charset="0"/>
                <a:cs typeface="Calibri" pitchFamily="34" charset="0"/>
              </a:rPr>
              <a:t>.</a:t>
            </a:r>
          </a:p>
          <a:p>
            <a:pPr>
              <a:buNone/>
            </a:pPr>
            <a:endParaRPr lang="en-IN" sz="2000" b="1" dirty="0" smtClean="0">
              <a:latin typeface="Calibri" pitchFamily="34" charset="0"/>
              <a:cs typeface="Calibri" pitchFamily="34" charset="0"/>
            </a:endParaRPr>
          </a:p>
          <a:p>
            <a:endParaRPr lang="en-US" sz="2000" dirty="0">
              <a:latin typeface="Calibri" pitchFamily="34" charset="0"/>
              <a:cs typeface="Calibri"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11156"/>
          </a:xfrm>
        </p:spPr>
        <p:txBody>
          <a:bodyPr>
            <a:normAutofit fontScale="90000"/>
          </a:bodyPr>
          <a:lstStyle/>
          <a:p>
            <a:r>
              <a:rPr lang="en-IN" dirty="0" smtClean="0"/>
              <a:t>Human Factors</a:t>
            </a:r>
            <a:endParaRPr lang="en-US" dirty="0"/>
          </a:p>
        </p:txBody>
      </p:sp>
      <p:sp>
        <p:nvSpPr>
          <p:cNvPr id="3" name="Content Placeholder 2"/>
          <p:cNvSpPr>
            <a:spLocks noGrp="1"/>
          </p:cNvSpPr>
          <p:nvPr>
            <p:ph sz="quarter" idx="1"/>
          </p:nvPr>
        </p:nvSpPr>
        <p:spPr>
          <a:xfrm>
            <a:off x="457200" y="928670"/>
            <a:ext cx="7901014" cy="5545282"/>
          </a:xfrm>
        </p:spPr>
        <p:txBody>
          <a:bodyPr/>
          <a:lstStyle/>
          <a:p>
            <a:pPr>
              <a:buNone/>
            </a:pPr>
            <a:r>
              <a:rPr lang="en-IN" b="1" dirty="0" smtClean="0">
                <a:latin typeface="Calibri" pitchFamily="34" charset="0"/>
                <a:cs typeface="Calibri" pitchFamily="34" charset="0"/>
              </a:rPr>
              <a:t>Self-Organization:</a:t>
            </a:r>
          </a:p>
          <a:p>
            <a:r>
              <a:rPr lang="en-US" dirty="0" smtClean="0">
                <a:latin typeface="Calibri" pitchFamily="34" charset="0"/>
                <a:cs typeface="Calibri" pitchFamily="34" charset="0"/>
              </a:rPr>
              <a:t>In the context of agile development, self-organization implies three things: </a:t>
            </a:r>
            <a:endParaRPr lang="en-US" dirty="0" smtClean="0">
              <a:latin typeface="Calibri" pitchFamily="34" charset="0"/>
              <a:cs typeface="Calibri" pitchFamily="34" charset="0"/>
            </a:endParaRPr>
          </a:p>
          <a:p>
            <a:pPr>
              <a:buNone/>
            </a:pPr>
            <a:r>
              <a:rPr lang="en-US" dirty="0" smtClean="0">
                <a:latin typeface="Calibri" pitchFamily="34" charset="0"/>
                <a:cs typeface="Calibri" pitchFamily="34" charset="0"/>
              </a:rPr>
              <a:t>(</a:t>
            </a:r>
            <a:r>
              <a:rPr lang="en-US" dirty="0" smtClean="0">
                <a:latin typeface="Calibri" pitchFamily="34" charset="0"/>
                <a:cs typeface="Calibri" pitchFamily="34" charset="0"/>
              </a:rPr>
              <a:t>1) the agile team organizes itself for the work to be done; </a:t>
            </a:r>
          </a:p>
          <a:p>
            <a:pPr>
              <a:buNone/>
            </a:pPr>
            <a:r>
              <a:rPr lang="en-US" dirty="0" smtClean="0">
                <a:latin typeface="Calibri" pitchFamily="34" charset="0"/>
                <a:cs typeface="Calibri" pitchFamily="34" charset="0"/>
              </a:rPr>
              <a:t>(</a:t>
            </a:r>
            <a:r>
              <a:rPr lang="en-US" dirty="0" smtClean="0">
                <a:latin typeface="Calibri" pitchFamily="34" charset="0"/>
                <a:cs typeface="Calibri" pitchFamily="34" charset="0"/>
              </a:rPr>
              <a:t>2) the team organizes the process to best accommodate its local environment; </a:t>
            </a:r>
          </a:p>
          <a:p>
            <a:pPr>
              <a:buNone/>
            </a:pPr>
            <a:r>
              <a:rPr lang="en-US" dirty="0" smtClean="0">
                <a:latin typeface="Calibri" pitchFamily="34" charset="0"/>
                <a:cs typeface="Calibri" pitchFamily="34" charset="0"/>
              </a:rPr>
              <a:t>(</a:t>
            </a:r>
            <a:r>
              <a:rPr lang="en-US" dirty="0" smtClean="0">
                <a:latin typeface="Calibri" pitchFamily="34" charset="0"/>
                <a:cs typeface="Calibri" pitchFamily="34" charset="0"/>
              </a:rPr>
              <a:t>3) the team organizes the work schedule to best achieve delivery of the software </a:t>
            </a:r>
            <a:r>
              <a:rPr lang="en-US" dirty="0" err="1" smtClean="0">
                <a:latin typeface="Calibri" pitchFamily="34" charset="0"/>
                <a:cs typeface="Calibri" pitchFamily="34" charset="0"/>
              </a:rPr>
              <a:t>incre-ment</a:t>
            </a:r>
            <a:r>
              <a:rPr lang="en-US" dirty="0" smtClean="0">
                <a:latin typeface="Calibri" pitchFamily="34" charset="0"/>
                <a:cs typeface="Calibri" pitchFamily="34" charset="0"/>
              </a:rPr>
              <a:t>. </a:t>
            </a:r>
          </a:p>
          <a:p>
            <a:r>
              <a:rPr lang="en-US" dirty="0" smtClean="0">
                <a:latin typeface="Calibri" pitchFamily="34" charset="0"/>
                <a:cs typeface="Calibri" pitchFamily="34" charset="0"/>
              </a:rPr>
              <a:t>Self-organization has a number of technical benefits, but more importantly it serves to improve collaboration and boost team morale</a:t>
            </a:r>
          </a:p>
          <a:p>
            <a:endParaRPr lang="en-US" dirty="0">
              <a:latin typeface="Calibri" pitchFamily="34" charset="0"/>
              <a:cs typeface="Calibri"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714356"/>
            <a:ext cx="8229600" cy="582594"/>
          </a:xfrm>
        </p:spPr>
        <p:txBody>
          <a:bodyPr>
            <a:normAutofit fontScale="90000"/>
          </a:bodyPr>
          <a:lstStyle/>
          <a:p>
            <a:r>
              <a:rPr lang="en-US" dirty="0" smtClean="0"/>
              <a:t/>
            </a:r>
            <a:br>
              <a:rPr lang="en-US" dirty="0" smtClean="0"/>
            </a:br>
            <a:r>
              <a:rPr lang="en-US" b="1" dirty="0" smtClean="0"/>
              <a:t>Extreme Programming (XP) </a:t>
            </a:r>
            <a:r>
              <a:rPr lang="en-US" dirty="0" smtClean="0"/>
              <a:t>	</a:t>
            </a:r>
            <a:br>
              <a:rPr lang="en-US" dirty="0" smtClean="0"/>
            </a:br>
            <a:endParaRPr lang="en-US" dirty="0"/>
          </a:p>
        </p:txBody>
      </p:sp>
      <p:sp>
        <p:nvSpPr>
          <p:cNvPr id="3" name="Content Placeholder 2"/>
          <p:cNvSpPr>
            <a:spLocks noGrp="1"/>
          </p:cNvSpPr>
          <p:nvPr>
            <p:ph sz="quarter" idx="1"/>
          </p:nvPr>
        </p:nvSpPr>
        <p:spPr>
          <a:xfrm>
            <a:off x="457200" y="1600200"/>
            <a:ext cx="7829576" cy="4329130"/>
          </a:xfrm>
        </p:spPr>
        <p:txBody>
          <a:bodyPr>
            <a:normAutofit/>
          </a:bodyPr>
          <a:lstStyle/>
          <a:p>
            <a:r>
              <a:rPr lang="en-US" sz="2000" b="1" dirty="0" smtClean="0">
                <a:latin typeface="Calibri" pitchFamily="34" charset="0"/>
                <a:cs typeface="Calibri" pitchFamily="34" charset="0"/>
              </a:rPr>
              <a:t>Extreme Programming </a:t>
            </a:r>
            <a:r>
              <a:rPr lang="en-US" sz="2000" dirty="0" smtClean="0">
                <a:latin typeface="Calibri" pitchFamily="34" charset="0"/>
                <a:cs typeface="Calibri" pitchFamily="34" charset="0"/>
              </a:rPr>
              <a:t>(XP) is a software development methodology, one of the many agile methodologies. It focuses on small iterative releases and uses user stories as a requirements instead of formal software specifications</a:t>
            </a:r>
          </a:p>
          <a:p>
            <a:r>
              <a:rPr lang="en-US" sz="2000" dirty="0" smtClean="0">
                <a:latin typeface="Calibri" pitchFamily="34" charset="0"/>
                <a:cs typeface="Calibri" pitchFamily="34" charset="0"/>
              </a:rPr>
              <a:t> His goal was to find ways to produce high-quality code quickly while being flexible to users’ changing requirements.</a:t>
            </a:r>
            <a:endParaRPr lang="en-US" sz="2000" dirty="0">
              <a:latin typeface="Calibri" pitchFamily="34" charset="0"/>
              <a:cs typeface="Calibri"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Extreme Programming (XP)</a:t>
            </a:r>
            <a:endParaRPr lang="en-US" dirty="0"/>
          </a:p>
        </p:txBody>
      </p:sp>
      <p:pic>
        <p:nvPicPr>
          <p:cNvPr id="6" name="Content Placeholder 5" descr="11.png"/>
          <p:cNvPicPr>
            <a:picLocks noGrp="1" noChangeAspect="1"/>
          </p:cNvPicPr>
          <p:nvPr>
            <p:ph sz="quarter" idx="1"/>
          </p:nvPr>
        </p:nvPicPr>
        <p:blipFill>
          <a:blip r:embed="rId2"/>
          <a:stretch>
            <a:fillRect/>
          </a:stretch>
        </p:blipFill>
        <p:spPr>
          <a:xfrm>
            <a:off x="1147337" y="1822140"/>
            <a:ext cx="6853687" cy="503586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428604"/>
            <a:ext cx="8229600" cy="571504"/>
          </a:xfrm>
        </p:spPr>
        <p:txBody>
          <a:bodyPr>
            <a:normAutofit fontScale="90000"/>
          </a:bodyPr>
          <a:lstStyle/>
          <a:p>
            <a:r>
              <a:rPr lang="en-US" b="1" dirty="0" smtClean="0"/>
              <a:t/>
            </a:r>
            <a:br>
              <a:rPr lang="en-US" b="1" dirty="0" smtClean="0"/>
            </a:br>
            <a:r>
              <a:rPr lang="en-US" b="1" dirty="0" smtClean="0"/>
              <a:t>Process of XP</a:t>
            </a:r>
            <a:br>
              <a:rPr lang="en-US" b="1" dirty="0" smtClean="0"/>
            </a:br>
            <a:endParaRPr lang="en-US" dirty="0"/>
          </a:p>
        </p:txBody>
      </p:sp>
      <p:sp>
        <p:nvSpPr>
          <p:cNvPr id="3" name="Content Placeholder 2"/>
          <p:cNvSpPr>
            <a:spLocks noGrp="1"/>
          </p:cNvSpPr>
          <p:nvPr>
            <p:ph sz="quarter" idx="1"/>
          </p:nvPr>
        </p:nvSpPr>
        <p:spPr>
          <a:xfrm>
            <a:off x="457200" y="1000108"/>
            <a:ext cx="8043890" cy="5473844"/>
          </a:xfrm>
        </p:spPr>
        <p:txBody>
          <a:bodyPr>
            <a:normAutofit fontScale="70000" lnSpcReduction="20000"/>
          </a:bodyPr>
          <a:lstStyle/>
          <a:p>
            <a:r>
              <a:rPr lang="en-US" sz="2600" b="1" dirty="0" smtClean="0">
                <a:latin typeface="Calibri" pitchFamily="34" charset="0"/>
                <a:cs typeface="Calibri" pitchFamily="34" charset="0"/>
              </a:rPr>
              <a:t>Planning: </a:t>
            </a:r>
            <a:r>
              <a:rPr lang="en-US" sz="2600" dirty="0" smtClean="0">
                <a:latin typeface="Calibri" pitchFamily="34" charset="0"/>
                <a:cs typeface="Calibri" pitchFamily="34" charset="0"/>
              </a:rPr>
              <a:t>The first stage of Extreme Programming is planning. During this phase, clients define their needs in descriptions known as user stories. The team calculates the effort required for each story and schedules releases according to priority and effort</a:t>
            </a:r>
            <a:r>
              <a:rPr lang="en-US" sz="2600" dirty="0" smtClean="0">
                <a:latin typeface="Calibri" pitchFamily="34" charset="0"/>
                <a:cs typeface="Calibri" pitchFamily="34" charset="0"/>
              </a:rPr>
              <a:t>.</a:t>
            </a:r>
          </a:p>
          <a:p>
            <a:pPr>
              <a:buNone/>
            </a:pPr>
            <a:endParaRPr lang="en-US" sz="2600" dirty="0" smtClean="0">
              <a:latin typeface="Calibri" pitchFamily="34" charset="0"/>
              <a:cs typeface="Calibri" pitchFamily="34" charset="0"/>
            </a:endParaRPr>
          </a:p>
          <a:p>
            <a:r>
              <a:rPr lang="en-US" sz="2600" b="1" dirty="0" smtClean="0">
                <a:latin typeface="Calibri" pitchFamily="34" charset="0"/>
                <a:cs typeface="Calibri" pitchFamily="34" charset="0"/>
              </a:rPr>
              <a:t>Designing:</a:t>
            </a:r>
            <a:r>
              <a:rPr lang="en-US" sz="2600" dirty="0" smtClean="0">
                <a:latin typeface="Calibri" pitchFamily="34" charset="0"/>
                <a:cs typeface="Calibri" pitchFamily="34" charset="0"/>
              </a:rPr>
              <a:t> For effective software engineering, coding and testing alone are not enough. It is imperative to plan ahead and design an efficient system with simplicity at its core</a:t>
            </a:r>
            <a:r>
              <a:rPr lang="en-US" sz="2600" dirty="0" smtClean="0">
                <a:latin typeface="Calibri" pitchFamily="34" charset="0"/>
                <a:cs typeface="Calibri" pitchFamily="34" charset="0"/>
              </a:rPr>
              <a:t>.</a:t>
            </a:r>
          </a:p>
          <a:p>
            <a:pPr>
              <a:buNone/>
            </a:pPr>
            <a:endParaRPr lang="en-US" sz="2600" dirty="0" smtClean="0">
              <a:latin typeface="Calibri" pitchFamily="34" charset="0"/>
              <a:cs typeface="Calibri" pitchFamily="34" charset="0"/>
            </a:endParaRPr>
          </a:p>
          <a:p>
            <a:r>
              <a:rPr lang="en-US" sz="2600" b="1" dirty="0" smtClean="0">
                <a:latin typeface="Calibri" pitchFamily="34" charset="0"/>
                <a:cs typeface="Calibri" pitchFamily="34" charset="0"/>
              </a:rPr>
              <a:t>Coding:</a:t>
            </a:r>
            <a:r>
              <a:rPr lang="en-US" sz="2600" dirty="0" smtClean="0">
                <a:latin typeface="Calibri" pitchFamily="34" charset="0"/>
                <a:cs typeface="Calibri" pitchFamily="34" charset="0"/>
              </a:rPr>
              <a:t> One of the main activities in software engineering. Coding involves writing the actual code for a program or application following good coding practices</a:t>
            </a:r>
            <a:r>
              <a:rPr lang="en-US" sz="2600" dirty="0" smtClean="0">
                <a:latin typeface="Calibri" pitchFamily="34" charset="0"/>
                <a:cs typeface="Calibri" pitchFamily="34" charset="0"/>
              </a:rPr>
              <a:t>.</a:t>
            </a:r>
          </a:p>
          <a:p>
            <a:pPr>
              <a:buNone/>
            </a:pPr>
            <a:endParaRPr lang="en-US" sz="2600" dirty="0" smtClean="0">
              <a:latin typeface="Calibri" pitchFamily="34" charset="0"/>
              <a:cs typeface="Calibri" pitchFamily="34" charset="0"/>
            </a:endParaRPr>
          </a:p>
          <a:p>
            <a:r>
              <a:rPr lang="en-US" sz="2600" b="1" dirty="0" smtClean="0">
                <a:latin typeface="Calibri" pitchFamily="34" charset="0"/>
                <a:cs typeface="Calibri" pitchFamily="34" charset="0"/>
              </a:rPr>
              <a:t>Testing:</a:t>
            </a:r>
            <a:r>
              <a:rPr lang="en-US" sz="2600" dirty="0" smtClean="0">
                <a:latin typeface="Calibri" pitchFamily="34" charset="0"/>
                <a:cs typeface="Calibri" pitchFamily="34" charset="0"/>
              </a:rPr>
              <a:t> After completing a program component, it is important to test it individually as well as in coherence with the entire system (unit testing). After successful technical testing, acceptance testing must be carried out, which ensures that the end result is in line with the customer’s expectations and </a:t>
            </a:r>
            <a:r>
              <a:rPr lang="en-US" sz="2600" dirty="0" smtClean="0">
                <a:latin typeface="Calibri" pitchFamily="34" charset="0"/>
                <a:cs typeface="Calibri" pitchFamily="34" charset="0"/>
              </a:rPr>
              <a:t>needs.</a:t>
            </a:r>
          </a:p>
          <a:p>
            <a:pPr>
              <a:buNone/>
            </a:pPr>
            <a:endParaRPr lang="en-US" sz="2600" dirty="0" smtClean="0">
              <a:latin typeface="Calibri" pitchFamily="34" charset="0"/>
              <a:cs typeface="Calibri" pitchFamily="34" charset="0"/>
            </a:endParaRPr>
          </a:p>
          <a:p>
            <a:r>
              <a:rPr lang="en-US" sz="2600" b="1" dirty="0" smtClean="0">
                <a:latin typeface="Calibri" pitchFamily="34" charset="0"/>
                <a:cs typeface="Calibri" pitchFamily="34" charset="0"/>
              </a:rPr>
              <a:t>Listening:</a:t>
            </a:r>
            <a:r>
              <a:rPr lang="en-US" sz="2600" dirty="0" smtClean="0">
                <a:latin typeface="Calibri" pitchFamily="34" charset="0"/>
                <a:cs typeface="Calibri" pitchFamily="34" charset="0"/>
              </a:rPr>
              <a:t> Listening for feedback during the development process is a fundamental element of XP. User’s changing requirements must be expected, heard, and integrated into the existing system smoothly and quickly.</a:t>
            </a:r>
          </a:p>
          <a:p>
            <a:endParaRPr lang="en-US" dirty="0">
              <a:latin typeface="Calibri" pitchFamily="34" charset="0"/>
              <a:cs typeface="Calibri"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b="1" dirty="0" smtClean="0"/>
              <a:t>XP Values</a:t>
            </a:r>
            <a:r>
              <a:rPr lang="en-IN" dirty="0" smtClean="0"/>
              <a:t/>
            </a:r>
            <a:br>
              <a:rPr lang="en-IN" dirty="0" smtClean="0"/>
            </a:br>
            <a:endParaRPr lang="en-US" dirty="0"/>
          </a:p>
        </p:txBody>
      </p:sp>
      <p:sp>
        <p:nvSpPr>
          <p:cNvPr id="3" name="Content Placeholder 2"/>
          <p:cNvSpPr>
            <a:spLocks noGrp="1"/>
          </p:cNvSpPr>
          <p:nvPr>
            <p:ph sz="quarter" idx="1"/>
          </p:nvPr>
        </p:nvSpPr>
        <p:spPr>
          <a:xfrm>
            <a:off x="457200" y="1000108"/>
            <a:ext cx="8186766" cy="5500726"/>
          </a:xfrm>
        </p:spPr>
        <p:txBody>
          <a:bodyPr>
            <a:normAutofit fontScale="70000" lnSpcReduction="20000"/>
          </a:bodyPr>
          <a:lstStyle/>
          <a:p>
            <a:pPr>
              <a:buNone/>
            </a:pPr>
            <a:endParaRPr lang="en-US" b="1" dirty="0" smtClean="0">
              <a:latin typeface="Calibri" pitchFamily="34" charset="0"/>
              <a:cs typeface="Calibri" pitchFamily="34" charset="0"/>
            </a:endParaRPr>
          </a:p>
          <a:p>
            <a:r>
              <a:rPr lang="en-US" b="1" dirty="0" smtClean="0">
                <a:latin typeface="Calibri" pitchFamily="34" charset="0"/>
                <a:cs typeface="Calibri" pitchFamily="34" charset="0"/>
              </a:rPr>
              <a:t>Communication:</a:t>
            </a:r>
            <a:r>
              <a:rPr lang="en-US" dirty="0" smtClean="0">
                <a:latin typeface="Calibri" pitchFamily="34" charset="0"/>
                <a:cs typeface="Calibri" pitchFamily="34" charset="0"/>
              </a:rPr>
              <a:t> Knowledge is universally shared among the team through verbal communication, shared development, feedback, and so on. This allows the entire team to be on the same page as they have a comprehensive view of the entire project</a:t>
            </a:r>
            <a:r>
              <a:rPr lang="en-US" dirty="0" smtClean="0">
                <a:latin typeface="Calibri" pitchFamily="34" charset="0"/>
                <a:cs typeface="Calibri" pitchFamily="34" charset="0"/>
              </a:rPr>
              <a:t>.</a:t>
            </a:r>
          </a:p>
          <a:p>
            <a:pPr>
              <a:buNone/>
            </a:pPr>
            <a:endParaRPr lang="en-US" dirty="0" smtClean="0">
              <a:latin typeface="Calibri" pitchFamily="34" charset="0"/>
              <a:cs typeface="Calibri" pitchFamily="34" charset="0"/>
            </a:endParaRPr>
          </a:p>
          <a:p>
            <a:r>
              <a:rPr lang="en-US" b="1" dirty="0" smtClean="0">
                <a:latin typeface="Calibri" pitchFamily="34" charset="0"/>
                <a:cs typeface="Calibri" pitchFamily="34" charset="0"/>
              </a:rPr>
              <a:t>Simplicity:</a:t>
            </a:r>
            <a:r>
              <a:rPr lang="en-US" dirty="0" smtClean="0">
                <a:latin typeface="Calibri" pitchFamily="34" charset="0"/>
                <a:cs typeface="Calibri" pitchFamily="34" charset="0"/>
              </a:rPr>
              <a:t> Developers try to maintain simplicity in both the quality of the code as well as the features they implement. This is done to ensure that maximum output while saving time and effort instead of working on things that are too far ahead</a:t>
            </a:r>
            <a:r>
              <a:rPr lang="en-US" dirty="0" smtClean="0">
                <a:latin typeface="Calibri" pitchFamily="34" charset="0"/>
                <a:cs typeface="Calibri" pitchFamily="34" charset="0"/>
              </a:rPr>
              <a:t>.</a:t>
            </a:r>
          </a:p>
          <a:p>
            <a:pPr>
              <a:buNone/>
            </a:pPr>
            <a:endParaRPr lang="en-US" dirty="0" smtClean="0">
              <a:latin typeface="Calibri" pitchFamily="34" charset="0"/>
              <a:cs typeface="Calibri" pitchFamily="34" charset="0"/>
            </a:endParaRPr>
          </a:p>
          <a:p>
            <a:r>
              <a:rPr lang="en-US" b="1" dirty="0" smtClean="0">
                <a:latin typeface="Calibri" pitchFamily="34" charset="0"/>
                <a:cs typeface="Calibri" pitchFamily="34" charset="0"/>
              </a:rPr>
              <a:t>Feedback: </a:t>
            </a:r>
            <a:r>
              <a:rPr lang="en-US" dirty="0" smtClean="0">
                <a:latin typeface="Calibri" pitchFamily="34" charset="0"/>
                <a:cs typeface="Calibri" pitchFamily="34" charset="0"/>
              </a:rPr>
              <a:t>XP follows the rapid feedback principle, where feedback, when done frequently , is considered to be of paramount importance. By conducting frequent unit testing, appropriate feedback can be received, which then guides the project on the best trajectory</a:t>
            </a:r>
            <a:r>
              <a:rPr lang="en-US" dirty="0" smtClean="0">
                <a:latin typeface="Calibri" pitchFamily="34" charset="0"/>
                <a:cs typeface="Calibri" pitchFamily="34" charset="0"/>
              </a:rPr>
              <a:t>.</a:t>
            </a:r>
          </a:p>
          <a:p>
            <a:pPr>
              <a:buNone/>
            </a:pPr>
            <a:r>
              <a:rPr lang="en-US" dirty="0" smtClean="0">
                <a:latin typeface="Calibri" pitchFamily="34" charset="0"/>
                <a:cs typeface="Calibri" pitchFamily="34" charset="0"/>
              </a:rPr>
              <a:t> </a:t>
            </a:r>
          </a:p>
          <a:p>
            <a:r>
              <a:rPr lang="en-US" b="1" dirty="0" smtClean="0">
                <a:latin typeface="Calibri" pitchFamily="34" charset="0"/>
                <a:cs typeface="Calibri" pitchFamily="34" charset="0"/>
              </a:rPr>
              <a:t>Respect:</a:t>
            </a:r>
            <a:r>
              <a:rPr lang="en-US" dirty="0" smtClean="0">
                <a:latin typeface="Calibri" pitchFamily="34" charset="0"/>
                <a:cs typeface="Calibri" pitchFamily="34" charset="0"/>
              </a:rPr>
              <a:t> A project consists of individuals, and each individual has a common goal at heart. Therefore, every contribution by everyone is to be considered of value</a:t>
            </a:r>
            <a:r>
              <a:rPr lang="en-US" dirty="0" smtClean="0">
                <a:latin typeface="Calibri" pitchFamily="34" charset="0"/>
                <a:cs typeface="Calibri" pitchFamily="34" charset="0"/>
              </a:rPr>
              <a:t>.</a:t>
            </a:r>
          </a:p>
          <a:p>
            <a:pPr>
              <a:buNone/>
            </a:pPr>
            <a:endParaRPr lang="en-US" dirty="0" smtClean="0">
              <a:latin typeface="Calibri" pitchFamily="34" charset="0"/>
              <a:cs typeface="Calibri" pitchFamily="34" charset="0"/>
            </a:endParaRPr>
          </a:p>
          <a:p>
            <a:r>
              <a:rPr lang="en-US" b="1" dirty="0" smtClean="0">
                <a:latin typeface="Calibri" pitchFamily="34" charset="0"/>
                <a:cs typeface="Calibri" pitchFamily="34" charset="0"/>
              </a:rPr>
              <a:t>Courage:</a:t>
            </a:r>
            <a:r>
              <a:rPr lang="en-US" dirty="0" smtClean="0">
                <a:latin typeface="Calibri" pitchFamily="34" charset="0"/>
                <a:cs typeface="Calibri" pitchFamily="34" charset="0"/>
              </a:rPr>
              <a:t> Many aspects of the project involve courage, whether it is to stay persistent when faced with a difficult problem or to be able to change or remove code following a change in user requirements.</a:t>
            </a:r>
          </a:p>
          <a:p>
            <a:pPr>
              <a:buNone/>
            </a:pPr>
            <a:endParaRPr lang="en-US" dirty="0">
              <a:latin typeface="Calibri" pitchFamily="34" charset="0"/>
              <a:cs typeface="Calibri"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dirty="0" smtClean="0"/>
              <a:t/>
            </a:r>
            <a:br>
              <a:rPr lang="en-US" dirty="0" smtClean="0"/>
            </a:br>
            <a:r>
              <a:rPr lang="en-US" dirty="0" smtClean="0"/>
              <a:t/>
            </a:r>
            <a:br>
              <a:rPr lang="en-US" dirty="0" smtClean="0"/>
            </a:br>
            <a:r>
              <a:rPr lang="en-US" dirty="0" smtClean="0"/>
              <a:t>Adaptive Software Development (ASD) 	</a:t>
            </a:r>
            <a:br>
              <a:rPr lang="en-US" dirty="0" smtClean="0"/>
            </a:br>
            <a:endParaRPr lang="en-US" dirty="0"/>
          </a:p>
        </p:txBody>
      </p:sp>
      <p:sp>
        <p:nvSpPr>
          <p:cNvPr id="3" name="Content Placeholder 2"/>
          <p:cNvSpPr>
            <a:spLocks noGrp="1"/>
          </p:cNvSpPr>
          <p:nvPr>
            <p:ph sz="quarter" idx="1"/>
          </p:nvPr>
        </p:nvSpPr>
        <p:spPr>
          <a:xfrm>
            <a:off x="457200" y="714356"/>
            <a:ext cx="8229600" cy="5786478"/>
          </a:xfrm>
        </p:spPr>
        <p:txBody>
          <a:bodyPr>
            <a:normAutofit lnSpcReduction="10000"/>
          </a:bodyPr>
          <a:lstStyle/>
          <a:p>
            <a:r>
              <a:rPr lang="en-US" sz="2000" b="1" dirty="0" smtClean="0">
                <a:latin typeface="Calibri" pitchFamily="34" charset="0"/>
                <a:cs typeface="Calibri" pitchFamily="34" charset="0"/>
              </a:rPr>
              <a:t>Adaptive Software Development</a:t>
            </a:r>
            <a:r>
              <a:rPr lang="en-US" sz="2000" dirty="0" smtClean="0">
                <a:latin typeface="Calibri" pitchFamily="34" charset="0"/>
                <a:cs typeface="Calibri" pitchFamily="34" charset="0"/>
              </a:rPr>
              <a:t> is a method to build complex software and systems. ASD focuses on human collaboration and self-organization. Adaptive software development (ASD) is a software development process that grew out of the work by Jim </a:t>
            </a:r>
            <a:r>
              <a:rPr lang="en-US" sz="2000" dirty="0" err="1" smtClean="0">
                <a:latin typeface="Calibri" pitchFamily="34" charset="0"/>
                <a:cs typeface="Calibri" pitchFamily="34" charset="0"/>
              </a:rPr>
              <a:t>Highsmith</a:t>
            </a:r>
            <a:r>
              <a:rPr lang="en-US" sz="2000" dirty="0" smtClean="0">
                <a:latin typeface="Calibri" pitchFamily="34" charset="0"/>
                <a:cs typeface="Calibri" pitchFamily="34" charset="0"/>
              </a:rPr>
              <a:t> and Sam Bayer on rapid application development (RAD).</a:t>
            </a:r>
          </a:p>
          <a:p>
            <a:pPr fontAlgn="base"/>
            <a:r>
              <a:rPr lang="en-US" sz="2000" dirty="0" smtClean="0">
                <a:latin typeface="Calibri" pitchFamily="34" charset="0"/>
                <a:cs typeface="Calibri" pitchFamily="34" charset="0"/>
              </a:rPr>
              <a:t>It is a Software Development Methodology that emphasizes adaptability to respond to changing requirements and environments. It focuses on continuous learning and is considered a part of agile software development.</a:t>
            </a:r>
          </a:p>
          <a:p>
            <a:pPr fontAlgn="base"/>
            <a:r>
              <a:rPr lang="en-US" sz="2000" b="1" dirty="0" smtClean="0">
                <a:latin typeface="Calibri" pitchFamily="34" charset="0"/>
                <a:cs typeface="Calibri" pitchFamily="34" charset="0"/>
              </a:rPr>
              <a:t>Iterative Development: </a:t>
            </a:r>
            <a:r>
              <a:rPr lang="en-US" sz="2000" dirty="0" smtClean="0">
                <a:latin typeface="Calibri" pitchFamily="34" charset="0"/>
                <a:cs typeface="Calibri" pitchFamily="34" charset="0"/>
              </a:rPr>
              <a:t>ASD breaks down the project into small, manageable iterations, delivering incremental values.</a:t>
            </a:r>
          </a:p>
          <a:p>
            <a:pPr fontAlgn="base"/>
            <a:r>
              <a:rPr lang="en-US" sz="2000" b="1" dirty="0" smtClean="0">
                <a:latin typeface="Calibri" pitchFamily="34" charset="0"/>
                <a:cs typeface="Calibri" pitchFamily="34" charset="0"/>
              </a:rPr>
              <a:t>Risk Management: </a:t>
            </a:r>
            <a:r>
              <a:rPr lang="en-US" sz="2000" dirty="0" smtClean="0">
                <a:latin typeface="Calibri" pitchFamily="34" charset="0"/>
                <a:cs typeface="Calibri" pitchFamily="34" charset="0"/>
              </a:rPr>
              <a:t>ASD involves identifying and addressing risks early in the development process.</a:t>
            </a:r>
          </a:p>
          <a:p>
            <a:pPr fontAlgn="base"/>
            <a:r>
              <a:rPr lang="en-US" sz="2000" b="1" dirty="0" smtClean="0">
                <a:latin typeface="Calibri" pitchFamily="34" charset="0"/>
                <a:cs typeface="Calibri" pitchFamily="34" charset="0"/>
              </a:rPr>
              <a:t>Continuous Testing: </a:t>
            </a:r>
            <a:r>
              <a:rPr lang="en-US" sz="2000" dirty="0" smtClean="0">
                <a:latin typeface="Calibri" pitchFamily="34" charset="0"/>
                <a:cs typeface="Calibri" pitchFamily="34" charset="0"/>
              </a:rPr>
              <a:t>It integrates testing throughout the development process to ensure high-quality outcomes.</a:t>
            </a:r>
          </a:p>
          <a:p>
            <a:pPr fontAlgn="base"/>
            <a:r>
              <a:rPr lang="en-US" sz="2000" b="1" dirty="0" smtClean="0">
                <a:latin typeface="Calibri" pitchFamily="34" charset="0"/>
                <a:cs typeface="Calibri" pitchFamily="34" charset="0"/>
              </a:rPr>
              <a:t>Decentralized Control: </a:t>
            </a:r>
            <a:r>
              <a:rPr lang="en-US" sz="2000" dirty="0" smtClean="0">
                <a:latin typeface="Calibri" pitchFamily="34" charset="0"/>
                <a:cs typeface="Calibri" pitchFamily="34" charset="0"/>
              </a:rPr>
              <a:t>It encourages decision-making at the team level instead of relying on top-down directives.</a:t>
            </a:r>
          </a:p>
          <a:p>
            <a:pPr fontAlgn="base"/>
            <a:r>
              <a:rPr lang="en-US" sz="2000" b="1" dirty="0" smtClean="0">
                <a:latin typeface="Calibri" pitchFamily="34" charset="0"/>
                <a:cs typeface="Calibri" pitchFamily="34" charset="0"/>
              </a:rPr>
              <a:t>Customer Satisfaction: </a:t>
            </a:r>
            <a:r>
              <a:rPr lang="en-US" sz="2000" dirty="0" smtClean="0">
                <a:latin typeface="Calibri" pitchFamily="34" charset="0"/>
                <a:cs typeface="Calibri" pitchFamily="34" charset="0"/>
              </a:rPr>
              <a:t>It prioritizes customer satisfaction by delivering products that meet their needs and expectations.</a:t>
            </a:r>
          </a:p>
          <a:p>
            <a:endParaRPr lang="en-US" sz="2000" dirty="0">
              <a:latin typeface="Calibri" pitchFamily="34" charset="0"/>
              <a:cs typeface="Calibri"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b="1" dirty="0" smtClean="0"/>
              <a:t/>
            </a:r>
            <a:br>
              <a:rPr lang="en-US" b="1" dirty="0" smtClean="0"/>
            </a:br>
            <a:r>
              <a:rPr lang="en-US" b="1" dirty="0" smtClean="0"/>
              <a:t>Characteristics of ASD Process</a:t>
            </a:r>
            <a:br>
              <a:rPr lang="en-US" b="1" dirty="0" smtClean="0"/>
            </a:br>
            <a:endParaRPr lang="en-US" dirty="0"/>
          </a:p>
        </p:txBody>
      </p:sp>
      <p:sp>
        <p:nvSpPr>
          <p:cNvPr id="3" name="Content Placeholder 2"/>
          <p:cNvSpPr>
            <a:spLocks noGrp="1"/>
          </p:cNvSpPr>
          <p:nvPr>
            <p:ph sz="quarter" idx="1"/>
          </p:nvPr>
        </p:nvSpPr>
        <p:spPr>
          <a:xfrm>
            <a:off x="457200" y="714356"/>
            <a:ext cx="8229600" cy="5929354"/>
          </a:xfrm>
        </p:spPr>
        <p:txBody>
          <a:bodyPr>
            <a:normAutofit/>
          </a:bodyPr>
          <a:lstStyle/>
          <a:p>
            <a:pPr fontAlgn="base"/>
            <a:r>
              <a:rPr lang="en-US" sz="1800" b="1" dirty="0" smtClean="0">
                <a:latin typeface="Calibri" pitchFamily="34" charset="0"/>
                <a:cs typeface="Calibri" pitchFamily="34" charset="0"/>
              </a:rPr>
              <a:t>Adaptability: </a:t>
            </a:r>
            <a:r>
              <a:rPr lang="en-US" sz="1800" dirty="0" smtClean="0">
                <a:latin typeface="Calibri" pitchFamily="34" charset="0"/>
                <a:cs typeface="Calibri" pitchFamily="34" charset="0"/>
              </a:rPr>
              <a:t>ASD focuses on high-level adaptive planning instead of detailed, fixed plans.</a:t>
            </a:r>
          </a:p>
          <a:p>
            <a:pPr fontAlgn="base"/>
            <a:r>
              <a:rPr lang="en-US" sz="1800" b="1" dirty="0" smtClean="0">
                <a:latin typeface="Calibri" pitchFamily="34" charset="0"/>
                <a:cs typeface="Calibri" pitchFamily="34" charset="0"/>
              </a:rPr>
              <a:t>Collaborative Environment: </a:t>
            </a:r>
            <a:r>
              <a:rPr lang="en-US" sz="1800" dirty="0" smtClean="0">
                <a:latin typeface="Calibri" pitchFamily="34" charset="0"/>
                <a:cs typeface="Calibri" pitchFamily="34" charset="0"/>
              </a:rPr>
              <a:t>In ASD, a strong focus is on collaboration within the team, thus promoting a culture of open communication.</a:t>
            </a:r>
          </a:p>
          <a:p>
            <a:pPr fontAlgn="base"/>
            <a:r>
              <a:rPr lang="en-US" sz="1800" b="1" dirty="0" smtClean="0">
                <a:latin typeface="Calibri" pitchFamily="34" charset="0"/>
                <a:cs typeface="Calibri" pitchFamily="34" charset="0"/>
              </a:rPr>
              <a:t>Continuous Learning: </a:t>
            </a:r>
            <a:r>
              <a:rPr lang="en-US" sz="1800" dirty="0" smtClean="0">
                <a:latin typeface="Calibri" pitchFamily="34" charset="0"/>
                <a:cs typeface="Calibri" pitchFamily="34" charset="0"/>
              </a:rPr>
              <a:t>It emphasizes learning from each iteration and using feedback to improve the process and the product.</a:t>
            </a:r>
          </a:p>
          <a:p>
            <a:pPr fontAlgn="base"/>
            <a:r>
              <a:rPr lang="en-US" sz="1800" b="1" dirty="0" smtClean="0">
                <a:latin typeface="Calibri" pitchFamily="34" charset="0"/>
                <a:cs typeface="Calibri" pitchFamily="34" charset="0"/>
              </a:rPr>
              <a:t>Iterative Development: </a:t>
            </a:r>
            <a:r>
              <a:rPr lang="en-US" sz="1800" dirty="0" smtClean="0">
                <a:latin typeface="Calibri" pitchFamily="34" charset="0"/>
                <a:cs typeface="Calibri" pitchFamily="34" charset="0"/>
              </a:rPr>
              <a:t>In ASD, the development is broken into small, manageable increments. Each increment delivers a piece of functional software.</a:t>
            </a:r>
          </a:p>
          <a:p>
            <a:pPr fontAlgn="base"/>
            <a:r>
              <a:rPr lang="en-US" sz="1800" b="1" dirty="0" smtClean="0">
                <a:latin typeface="Calibri" pitchFamily="34" charset="0"/>
                <a:cs typeface="Calibri" pitchFamily="34" charset="0"/>
              </a:rPr>
              <a:t>Responsive to Change: </a:t>
            </a:r>
            <a:r>
              <a:rPr lang="en-US" sz="1800" dirty="0" smtClean="0">
                <a:latin typeface="Calibri" pitchFamily="34" charset="0"/>
                <a:cs typeface="Calibri" pitchFamily="34" charset="0"/>
              </a:rPr>
              <a:t>It allows the project to quickly adapt to the changes in requirements, technology, and market conditions.</a:t>
            </a:r>
          </a:p>
          <a:p>
            <a:pPr fontAlgn="base"/>
            <a:r>
              <a:rPr lang="en-US" sz="1800" b="1" dirty="0" smtClean="0">
                <a:latin typeface="Calibri" pitchFamily="34" charset="0"/>
                <a:cs typeface="Calibri" pitchFamily="34" charset="0"/>
              </a:rPr>
              <a:t>Risk Management: </a:t>
            </a:r>
            <a:r>
              <a:rPr lang="en-US" sz="1800" dirty="0" smtClean="0">
                <a:latin typeface="Calibri" pitchFamily="34" charset="0"/>
                <a:cs typeface="Calibri" pitchFamily="34" charset="0"/>
              </a:rPr>
              <a:t>Proactive identification and management of the risks with the flexibility to adapt as risks evolve.</a:t>
            </a:r>
          </a:p>
          <a:p>
            <a:pPr fontAlgn="base"/>
            <a:r>
              <a:rPr lang="en-US" sz="1800" b="1" dirty="0" smtClean="0">
                <a:latin typeface="Calibri" pitchFamily="34" charset="0"/>
                <a:cs typeface="Calibri" pitchFamily="34" charset="0"/>
              </a:rPr>
              <a:t>Emphasizes Quality: </a:t>
            </a:r>
            <a:r>
              <a:rPr lang="en-US" sz="1800" dirty="0" smtClean="0">
                <a:latin typeface="Calibri" pitchFamily="34" charset="0"/>
                <a:cs typeface="Calibri" pitchFamily="34" charset="0"/>
              </a:rPr>
              <a:t>Testing is integrated throughout the development process to ensure high quality and early detection of issues. Regularly improve the code to maintain quality and adaptability.</a:t>
            </a:r>
          </a:p>
          <a:p>
            <a:pPr fontAlgn="base"/>
            <a:r>
              <a:rPr lang="en-US" sz="1800" b="1" dirty="0" smtClean="0">
                <a:latin typeface="Calibri" pitchFamily="34" charset="0"/>
                <a:cs typeface="Calibri" pitchFamily="34" charset="0"/>
              </a:rPr>
              <a:t>Empowerment and Ownership: </a:t>
            </a:r>
            <a:r>
              <a:rPr lang="en-US" sz="1800" dirty="0" smtClean="0">
                <a:latin typeface="Calibri" pitchFamily="34" charset="0"/>
                <a:cs typeface="Calibri" pitchFamily="34" charset="0"/>
              </a:rPr>
              <a:t>It allows teams to make decisions and take ownership of their work. It also encourages decision-making at the team level to promote responsiveness and accountability.</a:t>
            </a:r>
          </a:p>
          <a:p>
            <a:pPr fontAlgn="base">
              <a:buNone/>
            </a:pPr>
            <a:endParaRPr lang="en-US" sz="1800" dirty="0" smtClean="0">
              <a:latin typeface="Calibri" pitchFamily="34" charset="0"/>
              <a:cs typeface="Calibri" pitchFamily="34" charset="0"/>
            </a:endParaRPr>
          </a:p>
          <a:p>
            <a:endParaRPr lang="en-US" sz="1800" dirty="0">
              <a:latin typeface="Calibri" pitchFamily="34" charset="0"/>
              <a:cs typeface="Calibri"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25470"/>
          </a:xfrm>
        </p:spPr>
        <p:txBody>
          <a:bodyPr/>
          <a:lstStyle/>
          <a:p>
            <a:r>
              <a:rPr lang="en-US" b="1" dirty="0" smtClean="0"/>
              <a:t>Phases of ASD Process</a:t>
            </a:r>
            <a:endParaRPr lang="en-US" dirty="0"/>
          </a:p>
        </p:txBody>
      </p:sp>
      <p:pic>
        <p:nvPicPr>
          <p:cNvPr id="4" name="Content Placeholder 3" descr="ASD.png"/>
          <p:cNvPicPr>
            <a:picLocks noGrp="1" noChangeAspect="1"/>
          </p:cNvPicPr>
          <p:nvPr>
            <p:ph sz="quarter" idx="1"/>
          </p:nvPr>
        </p:nvPicPr>
        <p:blipFill>
          <a:blip r:embed="rId2"/>
          <a:stretch>
            <a:fillRect/>
          </a:stretch>
        </p:blipFill>
        <p:spPr>
          <a:xfrm>
            <a:off x="714348" y="1214422"/>
            <a:ext cx="7643865" cy="5214974"/>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fontScale="90000"/>
          </a:bodyPr>
          <a:lstStyle/>
          <a:p>
            <a:r>
              <a:rPr lang="en-US" b="1" dirty="0" smtClean="0"/>
              <a:t/>
            </a:r>
            <a:br>
              <a:rPr lang="en-US" b="1" dirty="0" smtClean="0"/>
            </a:br>
            <a:r>
              <a:rPr lang="en-US" b="1" dirty="0" smtClean="0"/>
              <a:t>Phases of ASD Process</a:t>
            </a:r>
            <a:br>
              <a:rPr lang="en-US" b="1" dirty="0" smtClean="0"/>
            </a:br>
            <a:endParaRPr lang="en-US" dirty="0"/>
          </a:p>
        </p:txBody>
      </p:sp>
      <p:sp>
        <p:nvSpPr>
          <p:cNvPr id="3" name="Content Placeholder 2"/>
          <p:cNvSpPr>
            <a:spLocks noGrp="1"/>
          </p:cNvSpPr>
          <p:nvPr>
            <p:ph sz="quarter" idx="1"/>
          </p:nvPr>
        </p:nvSpPr>
        <p:spPr>
          <a:xfrm>
            <a:off x="457200" y="1071546"/>
            <a:ext cx="7972452" cy="5402406"/>
          </a:xfrm>
        </p:spPr>
        <p:txBody>
          <a:bodyPr>
            <a:normAutofit/>
          </a:bodyPr>
          <a:lstStyle/>
          <a:p>
            <a:pPr fontAlgn="base">
              <a:buNone/>
            </a:pPr>
            <a:r>
              <a:rPr lang="en-US" sz="2000" dirty="0" smtClean="0">
                <a:latin typeface="Calibri" pitchFamily="34" charset="0"/>
                <a:cs typeface="Calibri" pitchFamily="34" charset="0"/>
              </a:rPr>
              <a:t>ASD life cycle incorporates three phases namely: </a:t>
            </a:r>
          </a:p>
          <a:p>
            <a:pPr fontAlgn="base"/>
            <a:r>
              <a:rPr lang="en-US" sz="2000" dirty="0" smtClean="0">
                <a:latin typeface="Calibri" pitchFamily="34" charset="0"/>
                <a:cs typeface="Calibri" pitchFamily="34" charset="0"/>
              </a:rPr>
              <a:t>Speculation</a:t>
            </a:r>
          </a:p>
          <a:p>
            <a:pPr fontAlgn="base"/>
            <a:r>
              <a:rPr lang="en-US" sz="2000" dirty="0" smtClean="0">
                <a:latin typeface="Calibri" pitchFamily="34" charset="0"/>
                <a:cs typeface="Calibri" pitchFamily="34" charset="0"/>
              </a:rPr>
              <a:t>Collaboration</a:t>
            </a:r>
          </a:p>
          <a:p>
            <a:pPr fontAlgn="base"/>
            <a:r>
              <a:rPr lang="en-US" sz="2000" dirty="0" smtClean="0">
                <a:latin typeface="Calibri" pitchFamily="34" charset="0"/>
                <a:cs typeface="Calibri" pitchFamily="34" charset="0"/>
              </a:rPr>
              <a:t>Learning</a:t>
            </a:r>
          </a:p>
          <a:p>
            <a:pPr fontAlgn="base">
              <a:buNone/>
            </a:pPr>
            <a:endParaRPr lang="en-IN" sz="2000" dirty="0" smtClean="0">
              <a:latin typeface="Calibri" pitchFamily="34" charset="0"/>
              <a:cs typeface="Calibri" pitchFamily="34" charset="0"/>
            </a:endParaRPr>
          </a:p>
          <a:p>
            <a:pPr fontAlgn="base">
              <a:buNone/>
            </a:pPr>
            <a:r>
              <a:rPr lang="en-US" sz="2000" b="1" dirty="0" smtClean="0">
                <a:latin typeface="Calibri" pitchFamily="34" charset="0"/>
                <a:cs typeface="Calibri" pitchFamily="34" charset="0"/>
              </a:rPr>
              <a:t>1.Speculation :-</a:t>
            </a:r>
          </a:p>
          <a:p>
            <a:pPr fontAlgn="base"/>
            <a:r>
              <a:rPr lang="en-US" sz="2000" dirty="0" smtClean="0">
                <a:latin typeface="Calibri" pitchFamily="34" charset="0"/>
                <a:cs typeface="Calibri" pitchFamily="34" charset="0"/>
              </a:rPr>
              <a:t>During this phase project is initiated and planning is conducted. The project plan uses project initiation information like project requirements, user needs, customer mission statement, etc, to define a set of release cycles that the project wants.</a:t>
            </a:r>
          </a:p>
          <a:p>
            <a:pPr fontAlgn="base">
              <a:buNone/>
            </a:pPr>
            <a:endParaRPr lang="en-US" sz="2000" dirty="0" smtClean="0">
              <a:latin typeface="Calibri" pitchFamily="34" charset="0"/>
              <a:cs typeface="Calibri" pitchFamily="34" charset="0"/>
            </a:endParaRPr>
          </a:p>
          <a:p>
            <a:pPr>
              <a:buNone/>
            </a:pPr>
            <a:endParaRPr lang="en-US" sz="2000" dirty="0">
              <a:latin typeface="Calibri" pitchFamily="34" charset="0"/>
              <a:cs typeface="Calibri"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25470"/>
          </a:xfrm>
        </p:spPr>
        <p:txBody>
          <a:bodyPr/>
          <a:lstStyle/>
          <a:p>
            <a:r>
              <a:rPr lang="en-US" b="1" dirty="0" smtClean="0"/>
              <a:t>Phases of ASD Process</a:t>
            </a:r>
            <a:endParaRPr lang="en-US" dirty="0"/>
          </a:p>
        </p:txBody>
      </p:sp>
      <p:sp>
        <p:nvSpPr>
          <p:cNvPr id="3" name="Content Placeholder 2"/>
          <p:cNvSpPr>
            <a:spLocks noGrp="1"/>
          </p:cNvSpPr>
          <p:nvPr>
            <p:ph sz="quarter" idx="1"/>
          </p:nvPr>
        </p:nvSpPr>
        <p:spPr/>
        <p:txBody>
          <a:bodyPr>
            <a:noAutofit/>
          </a:bodyPr>
          <a:lstStyle/>
          <a:p>
            <a:pPr fontAlgn="base">
              <a:buNone/>
            </a:pPr>
            <a:r>
              <a:rPr lang="en-US" sz="2800" b="1" dirty="0" smtClean="0">
                <a:latin typeface="Calibri" pitchFamily="34" charset="0"/>
                <a:cs typeface="Calibri" pitchFamily="34" charset="0"/>
              </a:rPr>
              <a:t>2. Collaboration :-</a:t>
            </a:r>
          </a:p>
          <a:p>
            <a:pPr fontAlgn="base">
              <a:buNone/>
            </a:pPr>
            <a:r>
              <a:rPr lang="en-US" sz="2000" dirty="0" smtClean="0">
                <a:latin typeface="Calibri" pitchFamily="34" charset="0"/>
                <a:cs typeface="Calibri" pitchFamily="34" charset="0"/>
              </a:rPr>
              <a:t>	It is the difficult part of ASD as it needs the workers to be motivated. It collaborates communication and teamwork but emphasizes individualism as individual creativity plays a major role in creative thinking. People working together must trust each other to  </a:t>
            </a:r>
          </a:p>
          <a:p>
            <a:pPr fontAlgn="base"/>
            <a:r>
              <a:rPr lang="en-US" sz="2000" dirty="0" smtClean="0">
                <a:latin typeface="Calibri" pitchFamily="34" charset="0"/>
                <a:cs typeface="Calibri" pitchFamily="34" charset="0"/>
              </a:rPr>
              <a:t>Criticize without animosity,</a:t>
            </a:r>
          </a:p>
          <a:p>
            <a:pPr fontAlgn="base"/>
            <a:r>
              <a:rPr lang="en-US" sz="2000" dirty="0" smtClean="0">
                <a:latin typeface="Calibri" pitchFamily="34" charset="0"/>
                <a:cs typeface="Calibri" pitchFamily="34" charset="0"/>
              </a:rPr>
              <a:t>Assist without resentment,</a:t>
            </a:r>
          </a:p>
          <a:p>
            <a:pPr fontAlgn="base"/>
            <a:r>
              <a:rPr lang="en-US" sz="2000" dirty="0" smtClean="0">
                <a:latin typeface="Calibri" pitchFamily="34" charset="0"/>
                <a:cs typeface="Calibri" pitchFamily="34" charset="0"/>
              </a:rPr>
              <a:t>Work as hard as possible,</a:t>
            </a:r>
          </a:p>
          <a:p>
            <a:pPr fontAlgn="base"/>
            <a:r>
              <a:rPr lang="en-US" sz="2000" dirty="0" smtClean="0">
                <a:latin typeface="Calibri" pitchFamily="34" charset="0"/>
                <a:cs typeface="Calibri" pitchFamily="34" charset="0"/>
              </a:rPr>
              <a:t>Possession of skill set,</a:t>
            </a:r>
          </a:p>
          <a:p>
            <a:pPr fontAlgn="base"/>
            <a:r>
              <a:rPr lang="en-US" sz="2000" dirty="0" smtClean="0">
                <a:latin typeface="Calibri" pitchFamily="34" charset="0"/>
                <a:cs typeface="Calibri" pitchFamily="34" charset="0"/>
              </a:rPr>
              <a:t>Communicate problems to find effective solutions.</a:t>
            </a:r>
          </a:p>
          <a:p>
            <a:pPr>
              <a:buNone/>
            </a:pPr>
            <a:endParaRPr lang="en-IN" dirty="0" smtClean="0">
              <a:latin typeface="Calibri" pitchFamily="34" charset="0"/>
              <a:cs typeface="Calibri" pitchFamily="34" charset="0"/>
            </a:endParaRPr>
          </a:p>
          <a:p>
            <a:pPr fontAlgn="base">
              <a:buNone/>
            </a:pPr>
            <a:endParaRPr lang="en-US" dirty="0" smtClean="0">
              <a:latin typeface="Calibri" pitchFamily="34" charset="0"/>
              <a:cs typeface="Calibri" pitchFamily="34" charset="0"/>
            </a:endParaRPr>
          </a:p>
          <a:p>
            <a:pPr>
              <a:buNone/>
            </a:pPr>
            <a:endParaRPr lang="en-US" dirty="0">
              <a:latin typeface="Calibri" pitchFamily="34" charset="0"/>
              <a:cs typeface="Calibri"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82594"/>
          </a:xfrm>
        </p:spPr>
        <p:txBody>
          <a:bodyPr/>
          <a:lstStyle/>
          <a:p>
            <a:r>
              <a:rPr lang="en-US" b="1" dirty="0" smtClean="0"/>
              <a:t>Phases of ASD Process</a:t>
            </a:r>
            <a:endParaRPr lang="en-US" dirty="0"/>
          </a:p>
        </p:txBody>
      </p:sp>
      <p:sp>
        <p:nvSpPr>
          <p:cNvPr id="3" name="Content Placeholder 2"/>
          <p:cNvSpPr>
            <a:spLocks noGrp="1"/>
          </p:cNvSpPr>
          <p:nvPr>
            <p:ph sz="quarter" idx="1"/>
          </p:nvPr>
        </p:nvSpPr>
        <p:spPr>
          <a:xfrm>
            <a:off x="457200" y="1214422"/>
            <a:ext cx="7901014" cy="5259530"/>
          </a:xfrm>
        </p:spPr>
        <p:txBody>
          <a:bodyPr>
            <a:normAutofit/>
          </a:bodyPr>
          <a:lstStyle/>
          <a:p>
            <a:pPr fontAlgn="base">
              <a:buNone/>
            </a:pPr>
            <a:r>
              <a:rPr lang="en-US" b="1" dirty="0" smtClean="0">
                <a:latin typeface="Calibri" pitchFamily="34" charset="0"/>
                <a:cs typeface="Calibri" pitchFamily="34" charset="0"/>
              </a:rPr>
              <a:t>3.Learning</a:t>
            </a:r>
          </a:p>
          <a:p>
            <a:pPr fontAlgn="base"/>
            <a:r>
              <a:rPr lang="en-US" sz="2400" dirty="0" smtClean="0">
                <a:latin typeface="Calibri" pitchFamily="34" charset="0"/>
                <a:cs typeface="Calibri" pitchFamily="34" charset="0"/>
              </a:rPr>
              <a:t>The workers may have an overestimate of their understanding of the technology which may not lead to the desired result. Learning helps the workers to increase their level of understanding of the project. </a:t>
            </a:r>
          </a:p>
          <a:p>
            <a:pPr fontAlgn="base"/>
            <a:r>
              <a:rPr lang="en-US" sz="2400" dirty="0" smtClean="0">
                <a:latin typeface="Calibri" pitchFamily="34" charset="0"/>
                <a:cs typeface="Calibri" pitchFamily="34" charset="0"/>
              </a:rPr>
              <a:t>The learning process is in 3 ways: </a:t>
            </a:r>
          </a:p>
          <a:p>
            <a:pPr marL="457200" indent="-457200" fontAlgn="base">
              <a:buFont typeface="+mj-lt"/>
              <a:buAutoNum type="arabicPeriod"/>
            </a:pPr>
            <a:r>
              <a:rPr lang="en-US" sz="2400" dirty="0" smtClean="0">
                <a:latin typeface="Calibri" pitchFamily="34" charset="0"/>
                <a:cs typeface="Calibri" pitchFamily="34" charset="0"/>
              </a:rPr>
              <a:t>Focus groups</a:t>
            </a:r>
          </a:p>
          <a:p>
            <a:pPr marL="457200" indent="-457200" fontAlgn="base">
              <a:buFont typeface="+mj-lt"/>
              <a:buAutoNum type="arabicPeriod"/>
            </a:pPr>
            <a:r>
              <a:rPr lang="en-US" sz="2400" dirty="0" smtClean="0">
                <a:latin typeface="Calibri" pitchFamily="34" charset="0"/>
                <a:cs typeface="Calibri" pitchFamily="34" charset="0"/>
              </a:rPr>
              <a:t>Technical reviews</a:t>
            </a:r>
          </a:p>
          <a:p>
            <a:pPr marL="457200" indent="-457200" fontAlgn="base">
              <a:buFont typeface="+mj-lt"/>
              <a:buAutoNum type="arabicPeriod"/>
            </a:pPr>
            <a:r>
              <a:rPr lang="en-US" sz="2400" dirty="0" smtClean="0">
                <a:latin typeface="Calibri" pitchFamily="34" charset="0"/>
                <a:cs typeface="Calibri" pitchFamily="34" charset="0"/>
              </a:rPr>
              <a:t>Project postmortem</a:t>
            </a:r>
            <a:endParaRPr lang="en-US" sz="2400" dirty="0">
              <a:latin typeface="Calibri" pitchFamily="34" charset="0"/>
              <a:cs typeface="Calibri"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Advantages of ASD</a:t>
            </a:r>
            <a:br>
              <a:rPr lang="en-US" b="1" dirty="0" smtClean="0"/>
            </a:br>
            <a:endParaRPr lang="en-US" dirty="0"/>
          </a:p>
        </p:txBody>
      </p:sp>
      <p:sp>
        <p:nvSpPr>
          <p:cNvPr id="3" name="Content Placeholder 2"/>
          <p:cNvSpPr>
            <a:spLocks noGrp="1"/>
          </p:cNvSpPr>
          <p:nvPr>
            <p:ph sz="quarter" idx="1"/>
          </p:nvPr>
        </p:nvSpPr>
        <p:spPr>
          <a:xfrm>
            <a:off x="457200" y="1214422"/>
            <a:ext cx="8043890" cy="5259530"/>
          </a:xfrm>
        </p:spPr>
        <p:txBody>
          <a:bodyPr>
            <a:normAutofit fontScale="92500"/>
          </a:bodyPr>
          <a:lstStyle/>
          <a:p>
            <a:pPr fontAlgn="base"/>
            <a:r>
              <a:rPr lang="en-US" b="1" dirty="0" smtClean="0">
                <a:latin typeface="Calibri" pitchFamily="34" charset="0"/>
                <a:cs typeface="Calibri" pitchFamily="34" charset="0"/>
              </a:rPr>
              <a:t>Customer Focus: </a:t>
            </a:r>
            <a:r>
              <a:rPr lang="en-US" dirty="0" smtClean="0">
                <a:latin typeface="Calibri" pitchFamily="34" charset="0"/>
                <a:cs typeface="Calibri" pitchFamily="34" charset="0"/>
              </a:rPr>
              <a:t>Regular and active involvement of customers to make sure that the product meets their needs and expectations.</a:t>
            </a:r>
          </a:p>
          <a:p>
            <a:pPr fontAlgn="base"/>
            <a:r>
              <a:rPr lang="en-US" b="1" dirty="0" smtClean="0">
                <a:latin typeface="Calibri" pitchFamily="34" charset="0"/>
                <a:cs typeface="Calibri" pitchFamily="34" charset="0"/>
              </a:rPr>
              <a:t>Continuous Delivery: </a:t>
            </a:r>
            <a:r>
              <a:rPr lang="en-US" dirty="0" smtClean="0">
                <a:latin typeface="Calibri" pitchFamily="34" charset="0"/>
                <a:cs typeface="Calibri" pitchFamily="34" charset="0"/>
              </a:rPr>
              <a:t>Delivering functional software in small, manageable increments allows for early and continuous delivery of value.</a:t>
            </a:r>
          </a:p>
          <a:p>
            <a:pPr fontAlgn="base"/>
            <a:r>
              <a:rPr lang="en-US" b="1" dirty="0" smtClean="0">
                <a:latin typeface="Calibri" pitchFamily="34" charset="0"/>
                <a:cs typeface="Calibri" pitchFamily="34" charset="0"/>
              </a:rPr>
              <a:t>Early Problem Detection: </a:t>
            </a:r>
            <a:r>
              <a:rPr lang="en-US" dirty="0" smtClean="0">
                <a:latin typeface="Calibri" pitchFamily="34" charset="0"/>
                <a:cs typeface="Calibri" pitchFamily="34" charset="0"/>
              </a:rPr>
              <a:t>Regular testing and releases help to identify and resolve issues early in the development process.</a:t>
            </a:r>
          </a:p>
          <a:p>
            <a:pPr fontAlgn="base"/>
            <a:r>
              <a:rPr lang="en-US" b="1" dirty="0" smtClean="0">
                <a:latin typeface="Calibri" pitchFamily="34" charset="0"/>
                <a:cs typeface="Calibri" pitchFamily="34" charset="0"/>
              </a:rPr>
              <a:t>Strong Teamwork: </a:t>
            </a:r>
            <a:r>
              <a:rPr lang="en-US" dirty="0" smtClean="0">
                <a:latin typeface="Calibri" pitchFamily="34" charset="0"/>
                <a:cs typeface="Calibri" pitchFamily="34" charset="0"/>
              </a:rPr>
              <a:t>Emphasizes teamwork among the team members, thus fostering a supportive environment.</a:t>
            </a:r>
          </a:p>
          <a:p>
            <a:pPr fontAlgn="base"/>
            <a:r>
              <a:rPr lang="en-US" b="1" dirty="0" smtClean="0">
                <a:latin typeface="Calibri" pitchFamily="34" charset="0"/>
                <a:cs typeface="Calibri" pitchFamily="34" charset="0"/>
              </a:rPr>
              <a:t>Continuous Learning: </a:t>
            </a:r>
            <a:r>
              <a:rPr lang="en-US" dirty="0" smtClean="0">
                <a:latin typeface="Calibri" pitchFamily="34" charset="0"/>
                <a:cs typeface="Calibri" pitchFamily="34" charset="0"/>
              </a:rPr>
              <a:t>Continuous learning from each iteration helps to improve processes and products.</a:t>
            </a:r>
          </a:p>
          <a:p>
            <a:pPr fontAlgn="base"/>
            <a:r>
              <a:rPr lang="en-US" b="1" dirty="0" smtClean="0">
                <a:latin typeface="Calibri" pitchFamily="34" charset="0"/>
                <a:cs typeface="Calibri" pitchFamily="34" charset="0"/>
              </a:rPr>
              <a:t>Empowered Teams: </a:t>
            </a:r>
            <a:r>
              <a:rPr lang="en-US" dirty="0" smtClean="0">
                <a:latin typeface="Calibri" pitchFamily="34" charset="0"/>
                <a:cs typeface="Calibri" pitchFamily="34" charset="0"/>
              </a:rPr>
              <a:t>In ASD, teams are given the autonomy to make decisions, leading to higher motivation.</a:t>
            </a:r>
          </a:p>
          <a:p>
            <a:pPr>
              <a:buNone/>
            </a:pPr>
            <a:endParaRPr lang="en-US" dirty="0">
              <a:latin typeface="Calibri" pitchFamily="34" charset="0"/>
              <a:cs typeface="Calibri"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8604"/>
            <a:ext cx="7467600" cy="642942"/>
          </a:xfrm>
        </p:spPr>
        <p:txBody>
          <a:bodyPr>
            <a:normAutofit fontScale="90000"/>
          </a:bodyPr>
          <a:lstStyle/>
          <a:p>
            <a:r>
              <a:rPr lang="en-US" b="1" dirty="0" smtClean="0"/>
              <a:t/>
            </a:r>
            <a:br>
              <a:rPr lang="en-US" b="1" dirty="0" smtClean="0"/>
            </a:br>
            <a:r>
              <a:rPr lang="en-US" b="1" dirty="0" smtClean="0"/>
              <a:t>Disadvantages of ASD</a:t>
            </a:r>
            <a:br>
              <a:rPr lang="en-US" b="1" dirty="0" smtClean="0"/>
            </a:br>
            <a:endParaRPr lang="en-US" dirty="0"/>
          </a:p>
        </p:txBody>
      </p:sp>
      <p:sp>
        <p:nvSpPr>
          <p:cNvPr id="3" name="Content Placeholder 2"/>
          <p:cNvSpPr>
            <a:spLocks noGrp="1"/>
          </p:cNvSpPr>
          <p:nvPr>
            <p:ph sz="quarter" idx="1"/>
          </p:nvPr>
        </p:nvSpPr>
        <p:spPr>
          <a:xfrm>
            <a:off x="457200" y="785794"/>
            <a:ext cx="8229600" cy="5715040"/>
          </a:xfrm>
        </p:spPr>
        <p:txBody>
          <a:bodyPr>
            <a:normAutofit fontScale="92500" lnSpcReduction="20000"/>
          </a:bodyPr>
          <a:lstStyle/>
          <a:p>
            <a:pPr fontAlgn="base"/>
            <a:r>
              <a:rPr lang="en-US" b="1" dirty="0" smtClean="0">
                <a:latin typeface="Calibri" pitchFamily="34" charset="0"/>
                <a:cs typeface="Calibri" pitchFamily="34" charset="0"/>
              </a:rPr>
              <a:t>Requires High Level of Skill: </a:t>
            </a:r>
            <a:r>
              <a:rPr lang="en-US" dirty="0" smtClean="0">
                <a:latin typeface="Calibri" pitchFamily="34" charset="0"/>
                <a:cs typeface="Calibri" pitchFamily="34" charset="0"/>
              </a:rPr>
              <a:t>Successful implementation of ASD requires a team with a high-level of skill, experience, and familiarity with the agile principles.</a:t>
            </a:r>
          </a:p>
          <a:p>
            <a:pPr fontAlgn="base"/>
            <a:r>
              <a:rPr lang="en-US" b="1" dirty="0" smtClean="0">
                <a:latin typeface="Calibri" pitchFamily="34" charset="0"/>
                <a:cs typeface="Calibri" pitchFamily="34" charset="0"/>
              </a:rPr>
              <a:t>Changing Requirements: </a:t>
            </a:r>
            <a:r>
              <a:rPr lang="en-US" dirty="0" smtClean="0">
                <a:latin typeface="Calibri" pitchFamily="34" charset="0"/>
                <a:cs typeface="Calibri" pitchFamily="34" charset="0"/>
              </a:rPr>
              <a:t>The flexible nature of ASD may result in frequent changes of requirements, which might result in scope creep if it is not managed properly.</a:t>
            </a:r>
          </a:p>
          <a:p>
            <a:pPr fontAlgn="base"/>
            <a:r>
              <a:rPr lang="en-US" b="1" dirty="0" smtClean="0">
                <a:latin typeface="Calibri" pitchFamily="34" charset="0"/>
                <a:cs typeface="Calibri" pitchFamily="34" charset="0"/>
              </a:rPr>
              <a:t>Customer Availability:</a:t>
            </a:r>
            <a:r>
              <a:rPr lang="en-US" dirty="0" smtClean="0">
                <a:latin typeface="Calibri" pitchFamily="34" charset="0"/>
                <a:cs typeface="Calibri" pitchFamily="34" charset="0"/>
              </a:rPr>
              <a:t> ASD relies heavily on active and continuous customer participation, which can be difficult to achieve in cases when the customer is not fully engaged or not available.</a:t>
            </a:r>
          </a:p>
          <a:p>
            <a:pPr fontAlgn="base"/>
            <a:r>
              <a:rPr lang="en-US" b="1" dirty="0" smtClean="0">
                <a:latin typeface="Calibri" pitchFamily="34" charset="0"/>
                <a:cs typeface="Calibri" pitchFamily="34" charset="0"/>
              </a:rPr>
              <a:t>Uncertain Project Outcomes: </a:t>
            </a:r>
            <a:r>
              <a:rPr lang="en-US" dirty="0" smtClean="0">
                <a:latin typeface="Calibri" pitchFamily="34" charset="0"/>
                <a:cs typeface="Calibri" pitchFamily="34" charset="0"/>
              </a:rPr>
              <a:t>The iterative and adaptive nature of ASD makes it difficult to predict the outcome of the project.</a:t>
            </a:r>
          </a:p>
          <a:p>
            <a:pPr fontAlgn="base"/>
            <a:r>
              <a:rPr lang="en-US" b="1" dirty="0" smtClean="0">
                <a:latin typeface="Calibri" pitchFamily="34" charset="0"/>
                <a:cs typeface="Calibri" pitchFamily="34" charset="0"/>
              </a:rPr>
              <a:t>Cultural Shift: </a:t>
            </a:r>
            <a:r>
              <a:rPr lang="en-US" dirty="0" smtClean="0">
                <a:latin typeface="Calibri" pitchFamily="34" charset="0"/>
                <a:cs typeface="Calibri" pitchFamily="34" charset="0"/>
              </a:rPr>
              <a:t>Organizations may face resistance to the cultural shift needed to fully utilize the principles of ASD.</a:t>
            </a:r>
          </a:p>
          <a:p>
            <a:pPr fontAlgn="base"/>
            <a:r>
              <a:rPr lang="en-US" b="1" dirty="0" smtClean="0">
                <a:latin typeface="Calibri" pitchFamily="34" charset="0"/>
                <a:cs typeface="Calibri" pitchFamily="34" charset="0"/>
              </a:rPr>
              <a:t>Requires Specific Tools: </a:t>
            </a:r>
            <a:r>
              <a:rPr lang="en-US" dirty="0" smtClean="0">
                <a:latin typeface="Calibri" pitchFamily="34" charset="0"/>
                <a:cs typeface="Calibri" pitchFamily="34" charset="0"/>
              </a:rPr>
              <a:t>ASD may require specific tools and infrastructure for version control and automated testing, which might not be available in all organizations.</a:t>
            </a:r>
          </a:p>
          <a:p>
            <a:pPr fontAlgn="base"/>
            <a:r>
              <a:rPr lang="en-US" b="1" dirty="0" smtClean="0">
                <a:latin typeface="Calibri" pitchFamily="34" charset="0"/>
                <a:cs typeface="Calibri" pitchFamily="34" charset="0"/>
              </a:rPr>
              <a:t>Iteration Overhead: </a:t>
            </a:r>
            <a:r>
              <a:rPr lang="en-US" dirty="0" smtClean="0">
                <a:latin typeface="Calibri" pitchFamily="34" charset="0"/>
                <a:cs typeface="Calibri" pitchFamily="34" charset="0"/>
              </a:rPr>
              <a:t>Managing frequent iterations can introduce overhead, which may hamper productivity if not managed effectively.</a:t>
            </a:r>
          </a:p>
          <a:p>
            <a:pPr>
              <a:buNone/>
            </a:pPr>
            <a:endParaRPr lang="en-US" dirty="0">
              <a:latin typeface="Calibri" pitchFamily="34" charset="0"/>
              <a:cs typeface="Calibri"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642942"/>
          </a:xfrm>
        </p:spPr>
        <p:txBody>
          <a:bodyPr>
            <a:normAutofit/>
          </a:bodyPr>
          <a:lstStyle/>
          <a:p>
            <a:r>
              <a:rPr lang="en-IN" dirty="0" smtClean="0"/>
              <a:t>Scrum</a:t>
            </a:r>
            <a:endParaRPr lang="en-US" dirty="0"/>
          </a:p>
        </p:txBody>
      </p:sp>
      <p:sp>
        <p:nvSpPr>
          <p:cNvPr id="3" name="Content Placeholder 2"/>
          <p:cNvSpPr>
            <a:spLocks noGrp="1"/>
          </p:cNvSpPr>
          <p:nvPr>
            <p:ph sz="quarter" idx="1"/>
          </p:nvPr>
        </p:nvSpPr>
        <p:spPr>
          <a:xfrm>
            <a:off x="457200" y="1285860"/>
            <a:ext cx="7901014" cy="5188092"/>
          </a:xfrm>
        </p:spPr>
        <p:txBody>
          <a:bodyPr>
            <a:normAutofit/>
          </a:bodyPr>
          <a:lstStyle/>
          <a:p>
            <a:r>
              <a:rPr lang="en-US" sz="2000" dirty="0" smtClean="0">
                <a:latin typeface="Calibri" pitchFamily="34" charset="0"/>
                <a:cs typeface="Calibri" pitchFamily="34" charset="0"/>
              </a:rPr>
              <a:t>Scrum is a management framework that teams use to self-organize tasks and work towards a common goal. </a:t>
            </a:r>
          </a:p>
          <a:p>
            <a:r>
              <a:rPr lang="en-US" sz="2000" dirty="0" smtClean="0">
                <a:latin typeface="Calibri" pitchFamily="34" charset="0"/>
                <a:cs typeface="Calibri" pitchFamily="34" charset="0"/>
              </a:rPr>
              <a:t>It is a framework within which people can address complex adaptive problems while the productivity and creativity of delivering products are at the highest possible value.</a:t>
            </a:r>
          </a:p>
          <a:p>
            <a:pPr fontAlgn="base"/>
            <a:r>
              <a:rPr lang="en-US" sz="2000" dirty="0" smtClean="0">
                <a:latin typeface="Calibri" pitchFamily="34" charset="0"/>
                <a:cs typeface="Calibri" pitchFamily="34" charset="0"/>
              </a:rPr>
              <a:t>Scrum allows us to develop products of the highest value while making sure that we maintain creativity and productivity.</a:t>
            </a:r>
          </a:p>
          <a:p>
            <a:pPr fontAlgn="base"/>
            <a:r>
              <a:rPr lang="en-US" sz="2000" dirty="0" smtClean="0">
                <a:latin typeface="Calibri" pitchFamily="34" charset="0"/>
                <a:cs typeface="Calibri" pitchFamily="34" charset="0"/>
              </a:rPr>
              <a:t>The iterative and incremental approach used in scrum allows the teams to adapt to the changing requirements.</a:t>
            </a:r>
          </a:p>
          <a:p>
            <a:endParaRPr lang="en-US" sz="2000" dirty="0">
              <a:latin typeface="Calibri" pitchFamily="34" charset="0"/>
              <a:cs typeface="Calibri"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Scrum</a:t>
            </a:r>
            <a:endParaRPr lang="en-US" dirty="0"/>
          </a:p>
        </p:txBody>
      </p:sp>
      <p:pic>
        <p:nvPicPr>
          <p:cNvPr id="4" name="Content Placeholder 3" descr="scrum.jpg"/>
          <p:cNvPicPr>
            <a:picLocks noGrp="1" noChangeAspect="1"/>
          </p:cNvPicPr>
          <p:nvPr>
            <p:ph sz="quarter" idx="1"/>
          </p:nvPr>
        </p:nvPicPr>
        <p:blipFill>
          <a:blip r:embed="rId2"/>
          <a:stretch>
            <a:fillRect/>
          </a:stretch>
        </p:blipFill>
        <p:spPr>
          <a:xfrm>
            <a:off x="457200" y="1857364"/>
            <a:ext cx="7972452" cy="4143404"/>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lstStyle/>
          <a:p>
            <a:r>
              <a:rPr lang="en-IN" dirty="0" smtClean="0"/>
              <a:t>Scrum</a:t>
            </a:r>
            <a:endParaRPr lang="en-US" dirty="0"/>
          </a:p>
        </p:txBody>
      </p:sp>
      <p:sp>
        <p:nvSpPr>
          <p:cNvPr id="3" name="Content Placeholder 2"/>
          <p:cNvSpPr>
            <a:spLocks noGrp="1"/>
          </p:cNvSpPr>
          <p:nvPr>
            <p:ph sz="quarter" idx="1"/>
          </p:nvPr>
        </p:nvSpPr>
        <p:spPr>
          <a:xfrm>
            <a:off x="457200" y="1357298"/>
            <a:ext cx="7972452" cy="5116654"/>
          </a:xfrm>
        </p:spPr>
        <p:txBody>
          <a:bodyPr>
            <a:normAutofit fontScale="92500" lnSpcReduction="10000"/>
          </a:bodyPr>
          <a:lstStyle/>
          <a:p>
            <a:pPr fontAlgn="base">
              <a:buNone/>
            </a:pPr>
            <a:endParaRPr lang="en-US" dirty="0" smtClean="0">
              <a:latin typeface="Calibri" pitchFamily="34" charset="0"/>
              <a:cs typeface="Calibri" pitchFamily="34" charset="0"/>
            </a:endParaRPr>
          </a:p>
          <a:p>
            <a:pPr fontAlgn="base"/>
            <a:r>
              <a:rPr lang="en-US" b="1" dirty="0" smtClean="0">
                <a:latin typeface="Calibri" pitchFamily="34" charset="0"/>
                <a:cs typeface="Calibri" pitchFamily="34" charset="0"/>
              </a:rPr>
              <a:t>Sprint:</a:t>
            </a:r>
            <a:r>
              <a:rPr lang="en-US" dirty="0" smtClean="0">
                <a:latin typeface="Calibri" pitchFamily="34" charset="0"/>
                <a:cs typeface="Calibri" pitchFamily="34" charset="0"/>
              </a:rPr>
              <a:t> A Sprint is a time box of one month or less. A new Sprint starts immediately after the completion of the previous Sprint.</a:t>
            </a:r>
          </a:p>
          <a:p>
            <a:pPr fontAlgn="base"/>
            <a:r>
              <a:rPr lang="en-US" dirty="0" smtClean="0">
                <a:latin typeface="Calibri" pitchFamily="34" charset="0"/>
                <a:cs typeface="Calibri" pitchFamily="34" charset="0"/>
              </a:rPr>
              <a:t> </a:t>
            </a:r>
            <a:r>
              <a:rPr lang="en-US" b="1" dirty="0" smtClean="0">
                <a:latin typeface="Calibri" pitchFamily="34" charset="0"/>
                <a:cs typeface="Calibri" pitchFamily="34" charset="0"/>
              </a:rPr>
              <a:t>Release:</a:t>
            </a:r>
            <a:r>
              <a:rPr lang="en-US" dirty="0" smtClean="0">
                <a:latin typeface="Calibri" pitchFamily="34" charset="0"/>
                <a:cs typeface="Calibri" pitchFamily="34" charset="0"/>
              </a:rPr>
              <a:t> When the product is completed, it goes to the Release stage.</a:t>
            </a:r>
          </a:p>
          <a:p>
            <a:pPr fontAlgn="base"/>
            <a:r>
              <a:rPr lang="en-US" b="1" dirty="0" smtClean="0">
                <a:latin typeface="Calibri" pitchFamily="34" charset="0"/>
                <a:cs typeface="Calibri" pitchFamily="34" charset="0"/>
              </a:rPr>
              <a:t>Sprint Review:</a:t>
            </a:r>
            <a:r>
              <a:rPr lang="en-US" dirty="0" smtClean="0">
                <a:latin typeface="Calibri" pitchFamily="34" charset="0"/>
                <a:cs typeface="Calibri" pitchFamily="34" charset="0"/>
              </a:rPr>
              <a:t> If the product still has some non-achievable features, it will be checked in this stage and then passed to the Sprint Retrospective stage.</a:t>
            </a:r>
          </a:p>
          <a:p>
            <a:pPr fontAlgn="base"/>
            <a:r>
              <a:rPr lang="en-US" b="1" dirty="0" smtClean="0">
                <a:latin typeface="Calibri" pitchFamily="34" charset="0"/>
                <a:cs typeface="Calibri" pitchFamily="34" charset="0"/>
              </a:rPr>
              <a:t>Sprint Retrospective:</a:t>
            </a:r>
            <a:r>
              <a:rPr lang="en-US" dirty="0" smtClean="0">
                <a:latin typeface="Calibri" pitchFamily="34" charset="0"/>
                <a:cs typeface="Calibri" pitchFamily="34" charset="0"/>
              </a:rPr>
              <a:t> In this stage quality or status of the product is checked. </a:t>
            </a:r>
          </a:p>
          <a:p>
            <a:pPr fontAlgn="base"/>
            <a:r>
              <a:rPr lang="en-US" b="1" dirty="0" smtClean="0">
                <a:latin typeface="Calibri" pitchFamily="34" charset="0"/>
                <a:cs typeface="Calibri" pitchFamily="34" charset="0"/>
              </a:rPr>
              <a:t>Product Backlog:</a:t>
            </a:r>
            <a:r>
              <a:rPr lang="en-US" dirty="0" smtClean="0">
                <a:latin typeface="Calibri" pitchFamily="34" charset="0"/>
                <a:cs typeface="Calibri" pitchFamily="34" charset="0"/>
              </a:rPr>
              <a:t> According to the prioritize features the product is organized.</a:t>
            </a:r>
          </a:p>
          <a:p>
            <a:pPr fontAlgn="base"/>
            <a:r>
              <a:rPr lang="en-US" b="1" dirty="0" smtClean="0">
                <a:latin typeface="Calibri" pitchFamily="34" charset="0"/>
                <a:cs typeface="Calibri" pitchFamily="34" charset="0"/>
              </a:rPr>
              <a:t>Sprint Backlog:</a:t>
            </a:r>
            <a:r>
              <a:rPr lang="en-US" dirty="0" smtClean="0">
                <a:latin typeface="Calibri" pitchFamily="34" charset="0"/>
                <a:cs typeface="Calibri" pitchFamily="34" charset="0"/>
              </a:rPr>
              <a:t> Sprint Backlog is divided into two parts Product assigned features to sprint and Sprint planning meeting.</a:t>
            </a:r>
          </a:p>
          <a:p>
            <a:endParaRPr lang="en-US" dirty="0">
              <a:latin typeface="Calibri" pitchFamily="34" charset="0"/>
              <a:cs typeface="Calibri"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166"/>
            <a:ext cx="8229600" cy="642942"/>
          </a:xfrm>
        </p:spPr>
        <p:txBody>
          <a:bodyPr>
            <a:normAutofit fontScale="90000"/>
          </a:bodyPr>
          <a:lstStyle/>
          <a:p>
            <a:r>
              <a:rPr lang="en-US" b="1" dirty="0" smtClean="0"/>
              <a:t/>
            </a:r>
            <a:br>
              <a:rPr lang="en-US" b="1" dirty="0" smtClean="0"/>
            </a:br>
            <a:r>
              <a:rPr lang="en-US" b="1" dirty="0" smtClean="0"/>
              <a:t>Advantage of Scrum </a:t>
            </a:r>
            <a:br>
              <a:rPr lang="en-US" b="1" dirty="0" smtClean="0"/>
            </a:br>
            <a:endParaRPr lang="en-US" dirty="0"/>
          </a:p>
        </p:txBody>
      </p:sp>
      <p:sp>
        <p:nvSpPr>
          <p:cNvPr id="3" name="Content Placeholder 2"/>
          <p:cNvSpPr>
            <a:spLocks noGrp="1"/>
          </p:cNvSpPr>
          <p:nvPr>
            <p:ph sz="quarter" idx="1"/>
          </p:nvPr>
        </p:nvSpPr>
        <p:spPr>
          <a:xfrm>
            <a:off x="457200" y="1142984"/>
            <a:ext cx="7972452" cy="5330968"/>
          </a:xfrm>
        </p:spPr>
        <p:txBody>
          <a:bodyPr>
            <a:normAutofit/>
          </a:bodyPr>
          <a:lstStyle/>
          <a:p>
            <a:pPr fontAlgn="base"/>
            <a:r>
              <a:rPr lang="en-US" sz="2600" dirty="0" smtClean="0">
                <a:latin typeface="Calibri" pitchFamily="34" charset="0"/>
                <a:cs typeface="Calibri" pitchFamily="34" charset="0"/>
              </a:rPr>
              <a:t>Scrum framework is fast moving and money efficient.</a:t>
            </a:r>
          </a:p>
          <a:p>
            <a:pPr fontAlgn="base"/>
            <a:r>
              <a:rPr lang="en-US" sz="2600" dirty="0" smtClean="0">
                <a:latin typeface="Calibri" pitchFamily="34" charset="0"/>
                <a:cs typeface="Calibri" pitchFamily="34" charset="0"/>
              </a:rPr>
              <a:t>Scrum framework works by dividing the large product into small sub-products. It's like a divide and conquer strategy</a:t>
            </a:r>
          </a:p>
          <a:p>
            <a:pPr fontAlgn="base"/>
            <a:r>
              <a:rPr lang="en-US" sz="2600" dirty="0" smtClean="0">
                <a:latin typeface="Calibri" pitchFamily="34" charset="0"/>
                <a:cs typeface="Calibri" pitchFamily="34" charset="0"/>
              </a:rPr>
              <a:t>In Scrum customer satisfaction is very important.</a:t>
            </a:r>
          </a:p>
          <a:p>
            <a:pPr fontAlgn="base"/>
            <a:r>
              <a:rPr lang="en-US" sz="2600" dirty="0" smtClean="0">
                <a:latin typeface="Calibri" pitchFamily="34" charset="0"/>
                <a:cs typeface="Calibri" pitchFamily="34" charset="0"/>
              </a:rPr>
              <a:t>Scrum is adaptive in nature because it have short sprint.</a:t>
            </a:r>
          </a:p>
          <a:p>
            <a:pPr fontAlgn="base"/>
            <a:r>
              <a:rPr lang="en-US" sz="2600" dirty="0" smtClean="0">
                <a:latin typeface="Calibri" pitchFamily="34" charset="0"/>
                <a:cs typeface="Calibri" pitchFamily="34" charset="0"/>
              </a:rPr>
              <a:t>As Scrum framework rely on constant feedback therefore the quality of product increases in less amount of time</a:t>
            </a:r>
          </a:p>
          <a:p>
            <a:pPr>
              <a:buNone/>
            </a:pPr>
            <a:endParaRPr lang="en-US" dirty="0">
              <a:latin typeface="Calibri" pitchFamily="34" charset="0"/>
              <a:cs typeface="Calibri"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428628"/>
          </a:xfrm>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Disadvantage </a:t>
            </a:r>
            <a:r>
              <a:rPr lang="en-US" b="1" dirty="0" smtClean="0"/>
              <a:t>of Scrum </a:t>
            </a:r>
            <a:br>
              <a:rPr lang="en-US" b="1" dirty="0" smtClean="0"/>
            </a:br>
            <a:endParaRPr lang="en-US" dirty="0"/>
          </a:p>
        </p:txBody>
      </p:sp>
      <p:sp>
        <p:nvSpPr>
          <p:cNvPr id="3" name="Content Placeholder 2"/>
          <p:cNvSpPr>
            <a:spLocks noGrp="1"/>
          </p:cNvSpPr>
          <p:nvPr>
            <p:ph sz="quarter" idx="1"/>
          </p:nvPr>
        </p:nvSpPr>
        <p:spPr>
          <a:xfrm>
            <a:off x="457200" y="785794"/>
            <a:ext cx="8229600" cy="5715040"/>
          </a:xfrm>
        </p:spPr>
        <p:txBody>
          <a:bodyPr>
            <a:noAutofit/>
          </a:bodyPr>
          <a:lstStyle/>
          <a:p>
            <a:pPr fontAlgn="base"/>
            <a:r>
              <a:rPr lang="en-US" sz="2400" dirty="0" smtClean="0">
                <a:latin typeface="Calibri" pitchFamily="34" charset="0"/>
                <a:cs typeface="Calibri" pitchFamily="34" charset="0"/>
              </a:rPr>
              <a:t>Scrum framework do not allow changes into their sprint.</a:t>
            </a:r>
          </a:p>
          <a:p>
            <a:pPr fontAlgn="base"/>
            <a:r>
              <a:rPr lang="en-US" sz="2400" dirty="0" smtClean="0">
                <a:latin typeface="Calibri" pitchFamily="34" charset="0"/>
                <a:cs typeface="Calibri" pitchFamily="34" charset="0"/>
              </a:rPr>
              <a:t>Scrum framework is not fully described model. If you </a:t>
            </a:r>
            <a:r>
              <a:rPr lang="en-US" sz="2400" dirty="0" err="1" smtClean="0">
                <a:latin typeface="Calibri" pitchFamily="34" charset="0"/>
                <a:cs typeface="Calibri" pitchFamily="34" charset="0"/>
              </a:rPr>
              <a:t>wanna</a:t>
            </a:r>
            <a:r>
              <a:rPr lang="en-US" sz="2400" dirty="0" smtClean="0">
                <a:latin typeface="Calibri" pitchFamily="34" charset="0"/>
                <a:cs typeface="Calibri" pitchFamily="34" charset="0"/>
              </a:rPr>
              <a:t> adopt it you need to fill in the framework with your own details like Extreme Programming(XP),</a:t>
            </a:r>
            <a:r>
              <a:rPr lang="en-US" sz="2400" dirty="0" err="1" smtClean="0">
                <a:latin typeface="Calibri" pitchFamily="34" charset="0"/>
                <a:cs typeface="Calibri" pitchFamily="34" charset="0"/>
              </a:rPr>
              <a:t>Kanban</a:t>
            </a:r>
            <a:r>
              <a:rPr lang="en-US" sz="2400" dirty="0" smtClean="0">
                <a:latin typeface="Calibri" pitchFamily="34" charset="0"/>
                <a:cs typeface="Calibri" pitchFamily="34" charset="0"/>
              </a:rPr>
              <a:t>, Dynamic Systems Development Method(DSDM).</a:t>
            </a:r>
          </a:p>
          <a:p>
            <a:pPr fontAlgn="base"/>
            <a:r>
              <a:rPr lang="en-US" sz="2400" dirty="0" smtClean="0">
                <a:latin typeface="Calibri" pitchFamily="34" charset="0"/>
                <a:cs typeface="Calibri" pitchFamily="34" charset="0"/>
              </a:rPr>
              <a:t>It can be difficult for the Scrum to plan, structure and organize a project that lacks a clear definition.</a:t>
            </a:r>
          </a:p>
          <a:p>
            <a:pPr fontAlgn="base"/>
            <a:r>
              <a:rPr lang="en-US" sz="2400" dirty="0" smtClean="0">
                <a:latin typeface="Calibri" pitchFamily="34" charset="0"/>
                <a:cs typeface="Calibri" pitchFamily="34" charset="0"/>
              </a:rPr>
              <a:t>The daily Scrum meetings and frequent reviews require substantial resources.</a:t>
            </a:r>
          </a:p>
          <a:p>
            <a:pPr>
              <a:buNone/>
            </a:pPr>
            <a:endParaRPr lang="en-US" sz="2400" dirty="0">
              <a:latin typeface="Calibri" pitchFamily="34" charset="0"/>
              <a:cs typeface="Calibri"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857256"/>
          </a:xfrm>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Dynamic </a:t>
            </a:r>
            <a:r>
              <a:rPr lang="en-US" dirty="0" smtClean="0"/>
              <a:t>System Development Model (DSDM) 	</a:t>
            </a:r>
            <a:br>
              <a:rPr lang="en-US" dirty="0" smtClean="0"/>
            </a:br>
            <a:endParaRPr lang="en-US" dirty="0"/>
          </a:p>
        </p:txBody>
      </p:sp>
      <p:sp>
        <p:nvSpPr>
          <p:cNvPr id="3" name="Content Placeholder 2"/>
          <p:cNvSpPr>
            <a:spLocks noGrp="1"/>
          </p:cNvSpPr>
          <p:nvPr>
            <p:ph sz="quarter" idx="1"/>
          </p:nvPr>
        </p:nvSpPr>
        <p:spPr>
          <a:xfrm>
            <a:off x="457200" y="928670"/>
            <a:ext cx="7972452" cy="5545282"/>
          </a:xfrm>
        </p:spPr>
        <p:txBody>
          <a:bodyPr>
            <a:normAutofit/>
          </a:bodyPr>
          <a:lstStyle/>
          <a:p>
            <a:r>
              <a:rPr lang="en-US" dirty="0" smtClean="0">
                <a:latin typeface="Calibri" pitchFamily="34" charset="0"/>
                <a:cs typeface="Calibri" pitchFamily="34" charset="0"/>
              </a:rPr>
              <a:t>DSDM is an iterative Agile product development framework. </a:t>
            </a:r>
          </a:p>
          <a:p>
            <a:r>
              <a:rPr lang="en-US" dirty="0" smtClean="0">
                <a:latin typeface="Calibri" pitchFamily="34" charset="0"/>
                <a:cs typeface="Calibri" pitchFamily="34" charset="0"/>
              </a:rPr>
              <a:t>It aims to work efficiently, delineate stages of the development life cycle and provide tangible benefits to all parties involved with a project. </a:t>
            </a:r>
          </a:p>
          <a:p>
            <a:r>
              <a:rPr lang="en-US" dirty="0" smtClean="0">
                <a:latin typeface="Calibri" pitchFamily="34" charset="0"/>
                <a:cs typeface="Calibri" pitchFamily="34" charset="0"/>
              </a:rPr>
              <a:t>This method works throughout the entire project life cycle, offering guidance about the best practices for delivering products on time and within budget. </a:t>
            </a:r>
          </a:p>
          <a:p>
            <a:r>
              <a:rPr lang="en-US" dirty="0" smtClean="0">
                <a:latin typeface="Calibri" pitchFamily="34" charset="0"/>
                <a:cs typeface="Calibri" pitchFamily="34" charset="0"/>
              </a:rPr>
              <a:t>It also seeks to demonstrate scalability and to address the needs of all project sizes and for any industry or business sector.</a:t>
            </a:r>
            <a:endParaRPr lang="en-US" dirty="0">
              <a:latin typeface="Calibri" pitchFamily="34" charset="0"/>
              <a:cs typeface="Calibri"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54032"/>
          </a:xfrm>
        </p:spPr>
        <p:txBody>
          <a:bodyPr/>
          <a:lstStyle/>
          <a:p>
            <a:r>
              <a:rPr lang="en-US" b="1" dirty="0" smtClean="0"/>
              <a:t>Principles of DSDM</a:t>
            </a:r>
            <a:endParaRPr lang="en-US" b="1" dirty="0"/>
          </a:p>
        </p:txBody>
      </p:sp>
      <p:sp>
        <p:nvSpPr>
          <p:cNvPr id="3" name="Content Placeholder 2"/>
          <p:cNvSpPr>
            <a:spLocks noGrp="1"/>
          </p:cNvSpPr>
          <p:nvPr>
            <p:ph sz="quarter" idx="1"/>
          </p:nvPr>
        </p:nvSpPr>
        <p:spPr>
          <a:xfrm>
            <a:off x="457200" y="1000108"/>
            <a:ext cx="8401080" cy="5572164"/>
          </a:xfrm>
        </p:spPr>
        <p:txBody>
          <a:bodyPr>
            <a:noAutofit/>
          </a:bodyPr>
          <a:lstStyle/>
          <a:p>
            <a:r>
              <a:rPr lang="en-US" sz="2400" b="1" dirty="0" smtClean="0">
                <a:latin typeface="Calibri" pitchFamily="34" charset="0"/>
                <a:cs typeface="Calibri" pitchFamily="34" charset="0"/>
              </a:rPr>
              <a:t>Focus on the business need. </a:t>
            </a:r>
            <a:r>
              <a:rPr lang="en-US" sz="2400" dirty="0" smtClean="0">
                <a:latin typeface="Calibri" pitchFamily="34" charset="0"/>
                <a:cs typeface="Calibri" pitchFamily="34" charset="0"/>
              </a:rPr>
              <a:t>DSDM teams work towards achieving projects that align with greater business objectives and exist within parameters that make sense for the business.</a:t>
            </a:r>
          </a:p>
          <a:p>
            <a:r>
              <a:rPr lang="en-US" sz="2400" b="1" dirty="0" smtClean="0">
                <a:latin typeface="Calibri" pitchFamily="34" charset="0"/>
                <a:cs typeface="Calibri" pitchFamily="34" charset="0"/>
              </a:rPr>
              <a:t>Deliver on time. </a:t>
            </a:r>
            <a:r>
              <a:rPr lang="en-US" sz="2400" dirty="0" smtClean="0">
                <a:latin typeface="Calibri" pitchFamily="34" charset="0"/>
                <a:cs typeface="Calibri" pitchFamily="34" charset="0"/>
              </a:rPr>
              <a:t>Prompt delivery is a vital part of DSDM projects, as one of the method's goals is to reap benefits early.</a:t>
            </a:r>
          </a:p>
          <a:p>
            <a:r>
              <a:rPr lang="en-US" sz="2400" b="1" dirty="0" smtClean="0">
                <a:latin typeface="Calibri" pitchFamily="34" charset="0"/>
                <a:cs typeface="Calibri" pitchFamily="34" charset="0"/>
              </a:rPr>
              <a:t>Collaborate. </a:t>
            </a:r>
            <a:r>
              <a:rPr lang="en-US" sz="2400" dirty="0" smtClean="0">
                <a:latin typeface="Calibri" pitchFamily="34" charset="0"/>
                <a:cs typeface="Calibri" pitchFamily="34" charset="0"/>
              </a:rPr>
              <a:t>It's crucial that DSDM teams involve all relevant parties and grant each other the means to give feedback and make decisions.</a:t>
            </a:r>
          </a:p>
          <a:p>
            <a:r>
              <a:rPr lang="en-US" sz="2400" b="1" dirty="0" smtClean="0">
                <a:latin typeface="Calibri" pitchFamily="34" charset="0"/>
                <a:cs typeface="Calibri" pitchFamily="34" charset="0"/>
              </a:rPr>
              <a:t>Maintain high quality. </a:t>
            </a:r>
            <a:r>
              <a:rPr lang="en-US" sz="2400" dirty="0" smtClean="0">
                <a:latin typeface="Calibri" pitchFamily="34" charset="0"/>
                <a:cs typeface="Calibri" pitchFamily="34" charset="0"/>
              </a:rPr>
              <a:t>DSDM teams set clear standards before beginning work and evaluate their progress regularly to ensure they're meeting these standards.</a:t>
            </a:r>
          </a:p>
          <a:p>
            <a:pPr>
              <a:buNone/>
            </a:pPr>
            <a:endParaRPr lang="en-US" sz="2400" dirty="0">
              <a:latin typeface="Calibri" pitchFamily="34" charset="0"/>
              <a:cs typeface="Calibri"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54032"/>
          </a:xfrm>
        </p:spPr>
        <p:txBody>
          <a:bodyPr/>
          <a:lstStyle/>
          <a:p>
            <a:r>
              <a:rPr lang="en-US" b="1" dirty="0" smtClean="0"/>
              <a:t>Principles of DSDM</a:t>
            </a:r>
            <a:endParaRPr lang="en-US" dirty="0"/>
          </a:p>
        </p:txBody>
      </p:sp>
      <p:sp>
        <p:nvSpPr>
          <p:cNvPr id="3" name="Content Placeholder 2"/>
          <p:cNvSpPr>
            <a:spLocks noGrp="1"/>
          </p:cNvSpPr>
          <p:nvPr>
            <p:ph sz="quarter" idx="1"/>
          </p:nvPr>
        </p:nvSpPr>
        <p:spPr>
          <a:xfrm>
            <a:off x="457200" y="1071546"/>
            <a:ext cx="8229600" cy="5357850"/>
          </a:xfrm>
        </p:spPr>
        <p:txBody>
          <a:bodyPr>
            <a:noAutofit/>
          </a:bodyPr>
          <a:lstStyle/>
          <a:p>
            <a:r>
              <a:rPr lang="en-US" sz="2200" b="1" dirty="0" smtClean="0">
                <a:latin typeface="Calibri" pitchFamily="34" charset="0"/>
                <a:cs typeface="Calibri" pitchFamily="34" charset="0"/>
              </a:rPr>
              <a:t>Build incrementally from firm foundations. </a:t>
            </a:r>
            <a:r>
              <a:rPr lang="en-US" sz="2200" dirty="0" smtClean="0">
                <a:latin typeface="Calibri" pitchFamily="34" charset="0"/>
                <a:cs typeface="Calibri" pitchFamily="34" charset="0"/>
              </a:rPr>
              <a:t>Teams strive to produce the right amount of work at the right time to ensure they produce work that aligns with their plans.</a:t>
            </a:r>
          </a:p>
          <a:p>
            <a:r>
              <a:rPr lang="en-US" sz="2200" b="1" dirty="0" smtClean="0">
                <a:latin typeface="Calibri" pitchFamily="34" charset="0"/>
                <a:cs typeface="Calibri" pitchFamily="34" charset="0"/>
              </a:rPr>
              <a:t>Develop iteratively. </a:t>
            </a:r>
            <a:r>
              <a:rPr lang="en-US" sz="2200" dirty="0" smtClean="0">
                <a:latin typeface="Calibri" pitchFamily="34" charset="0"/>
                <a:cs typeface="Calibri" pitchFamily="34" charset="0"/>
              </a:rPr>
              <a:t>Teams implement feedback promptly and adapt to ongoing changes in a project's specifications and needs.</a:t>
            </a:r>
          </a:p>
          <a:p>
            <a:r>
              <a:rPr lang="en-US" sz="2200" b="1" dirty="0" smtClean="0">
                <a:latin typeface="Calibri" pitchFamily="34" charset="0"/>
                <a:cs typeface="Calibri" pitchFamily="34" charset="0"/>
              </a:rPr>
              <a:t>Communicate continuously and clearly. </a:t>
            </a:r>
            <a:r>
              <a:rPr lang="en-US" sz="2200" dirty="0" smtClean="0">
                <a:latin typeface="Calibri" pitchFamily="34" charset="0"/>
                <a:cs typeface="Calibri" pitchFamily="34" charset="0"/>
              </a:rPr>
              <a:t>DSDM teams can use a variety of tools to provide written, verbal and visual updates to teammates, other departments, managers and interested parties.</a:t>
            </a:r>
          </a:p>
          <a:p>
            <a:r>
              <a:rPr lang="en-US" sz="2200" b="1" dirty="0" smtClean="0">
                <a:latin typeface="Calibri" pitchFamily="34" charset="0"/>
                <a:cs typeface="Calibri" pitchFamily="34" charset="0"/>
              </a:rPr>
              <a:t>Demonstrate control. </a:t>
            </a:r>
            <a:r>
              <a:rPr lang="en-US" sz="2200" dirty="0" smtClean="0">
                <a:latin typeface="Calibri" pitchFamily="34" charset="0"/>
                <a:cs typeface="Calibri" pitchFamily="34" charset="0"/>
              </a:rPr>
              <a:t>A team leader or project manager practices transparency to make all team members aware of changes, plans, progress, updates and goals.</a:t>
            </a:r>
          </a:p>
          <a:p>
            <a:pPr>
              <a:buNone/>
            </a:pPr>
            <a:endParaRPr lang="en-US" sz="2000" dirty="0">
              <a:latin typeface="Calibri" pitchFamily="34" charset="0"/>
              <a:cs typeface="Calibri"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46"/>
          </a:xfrm>
        </p:spPr>
        <p:txBody>
          <a:bodyPr>
            <a:normAutofit fontScale="90000"/>
          </a:bodyPr>
          <a:lstStyle/>
          <a:p>
            <a:r>
              <a:rPr lang="en-US" b="1" dirty="0" smtClean="0"/>
              <a:t>Advantages of DSDM</a:t>
            </a:r>
            <a:br>
              <a:rPr lang="en-US" b="1" dirty="0" smtClean="0"/>
            </a:br>
            <a:endParaRPr lang="en-US" dirty="0"/>
          </a:p>
        </p:txBody>
      </p:sp>
      <p:sp>
        <p:nvSpPr>
          <p:cNvPr id="3" name="Content Placeholder 2"/>
          <p:cNvSpPr>
            <a:spLocks noGrp="1"/>
          </p:cNvSpPr>
          <p:nvPr>
            <p:ph sz="quarter" idx="1"/>
          </p:nvPr>
        </p:nvSpPr>
        <p:spPr>
          <a:xfrm>
            <a:off x="457200" y="1000108"/>
            <a:ext cx="8115328" cy="5473844"/>
          </a:xfrm>
        </p:spPr>
        <p:txBody>
          <a:bodyPr>
            <a:normAutofit/>
          </a:bodyPr>
          <a:lstStyle/>
          <a:p>
            <a:r>
              <a:rPr lang="en-US" b="1" dirty="0" smtClean="0">
                <a:latin typeface="Calibri" pitchFamily="34" charset="0"/>
                <a:cs typeface="Calibri" pitchFamily="34" charset="0"/>
              </a:rPr>
              <a:t>Improves collaboration: </a:t>
            </a:r>
            <a:r>
              <a:rPr lang="en-US" dirty="0" smtClean="0">
                <a:latin typeface="Calibri" pitchFamily="34" charset="0"/>
                <a:cs typeface="Calibri" pitchFamily="34" charset="0"/>
              </a:rPr>
              <a:t>DSDM can help to enhance communication efforts across various cross-functional teams and departments. This helps to minimize confusion since everyone remains updated on the latest developments that occur within the project.</a:t>
            </a:r>
          </a:p>
          <a:p>
            <a:r>
              <a:rPr lang="en-US" b="1" dirty="0" smtClean="0">
                <a:latin typeface="Calibri" pitchFamily="34" charset="0"/>
                <a:cs typeface="Calibri" pitchFamily="34" charset="0"/>
              </a:rPr>
              <a:t>Supports rapid deliverables: </a:t>
            </a:r>
            <a:r>
              <a:rPr lang="en-US" dirty="0" smtClean="0">
                <a:latin typeface="Calibri" pitchFamily="34" charset="0"/>
                <a:cs typeface="Calibri" pitchFamily="34" charset="0"/>
              </a:rPr>
              <a:t>DSDM allows product teams to release their deliverables rapidly, minimizing delays and attending to a reasonable timeline. This helps teams increase efficiency, meet client needs and achieve a launch sooner.</a:t>
            </a:r>
          </a:p>
          <a:p>
            <a:r>
              <a:rPr lang="en-US" b="1" dirty="0" smtClean="0">
                <a:latin typeface="Calibri" pitchFamily="34" charset="0"/>
                <a:cs typeface="Calibri" pitchFamily="34" charset="0"/>
              </a:rPr>
              <a:t>Promotes feedback: </a:t>
            </a:r>
            <a:r>
              <a:rPr lang="en-US" dirty="0" smtClean="0">
                <a:latin typeface="Calibri" pitchFamily="34" charset="0"/>
                <a:cs typeface="Calibri" pitchFamily="34" charset="0"/>
              </a:rPr>
              <a:t>The approach encourages teams to stay in close communication with interested parties to receive frequent feedback and suggestions. When a team can gather critical evaluations regularly, they may be able to adjust accordingly.</a:t>
            </a:r>
          </a:p>
          <a:p>
            <a:endParaRPr lang="en-US" dirty="0">
              <a:latin typeface="Calibri" pitchFamily="34" charset="0"/>
              <a:cs typeface="Calibri"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lstStyle/>
          <a:p>
            <a:r>
              <a:rPr lang="en-US" b="1" dirty="0" smtClean="0"/>
              <a:t>Advantages of DSDM</a:t>
            </a:r>
            <a:endParaRPr lang="en-US" dirty="0"/>
          </a:p>
        </p:txBody>
      </p:sp>
      <p:sp>
        <p:nvSpPr>
          <p:cNvPr id="3" name="Content Placeholder 2"/>
          <p:cNvSpPr>
            <a:spLocks noGrp="1"/>
          </p:cNvSpPr>
          <p:nvPr>
            <p:ph sz="quarter" idx="1"/>
          </p:nvPr>
        </p:nvSpPr>
        <p:spPr>
          <a:xfrm>
            <a:off x="457200" y="1428736"/>
            <a:ext cx="7901014" cy="5045216"/>
          </a:xfrm>
        </p:spPr>
        <p:txBody>
          <a:bodyPr>
            <a:normAutofit/>
          </a:bodyPr>
          <a:lstStyle/>
          <a:p>
            <a:r>
              <a:rPr lang="en-US" sz="2000" b="1" dirty="0" smtClean="0">
                <a:latin typeface="Calibri" pitchFamily="34" charset="0"/>
                <a:cs typeface="Calibri" pitchFamily="34" charset="0"/>
              </a:rPr>
              <a:t>Enhances project organization: </a:t>
            </a:r>
            <a:r>
              <a:rPr lang="en-US" sz="2000" dirty="0" smtClean="0">
                <a:latin typeface="Calibri" pitchFamily="34" charset="0"/>
                <a:cs typeface="Calibri" pitchFamily="34" charset="0"/>
              </a:rPr>
              <a:t>When a development team implements the DSDM method, there are a variety of tools and strategies they can use to help better manage the overall operation. Having more control over how the development process expands is essential for remaining organized and on schedule.</a:t>
            </a:r>
          </a:p>
          <a:p>
            <a:pPr>
              <a:buNone/>
            </a:pPr>
            <a:endParaRPr lang="en-US" sz="2000" dirty="0" smtClean="0">
              <a:latin typeface="Calibri" pitchFamily="34" charset="0"/>
              <a:cs typeface="Calibri" pitchFamily="34" charset="0"/>
            </a:endParaRPr>
          </a:p>
          <a:p>
            <a:r>
              <a:rPr lang="en-US" sz="2000" b="1" dirty="0" smtClean="0">
                <a:latin typeface="Calibri" pitchFamily="34" charset="0"/>
                <a:cs typeface="Calibri" pitchFamily="34" charset="0"/>
              </a:rPr>
              <a:t>Sets clear guidelines: </a:t>
            </a:r>
            <a:r>
              <a:rPr lang="en-US" sz="2000" dirty="0" smtClean="0">
                <a:latin typeface="Calibri" pitchFamily="34" charset="0"/>
                <a:cs typeface="Calibri" pitchFamily="34" charset="0"/>
              </a:rPr>
              <a:t>DSDM can help teams manage their efforts to ensure they meet deadlines and stay within the budget. This can promote organizational alignment, as teams meet the expectations set by management.</a:t>
            </a:r>
          </a:p>
          <a:p>
            <a:endParaRPr lang="en-US" sz="2000" dirty="0">
              <a:latin typeface="Calibri" pitchFamily="34" charset="0"/>
              <a:cs typeface="Calibri"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Disadvantages of DSDM</a:t>
            </a:r>
            <a:br>
              <a:rPr lang="en-US" b="1" dirty="0" smtClean="0"/>
            </a:br>
            <a:endParaRPr lang="en-US" dirty="0"/>
          </a:p>
        </p:txBody>
      </p:sp>
      <p:sp>
        <p:nvSpPr>
          <p:cNvPr id="3" name="Content Placeholder 2"/>
          <p:cNvSpPr>
            <a:spLocks noGrp="1"/>
          </p:cNvSpPr>
          <p:nvPr>
            <p:ph sz="quarter" idx="1"/>
          </p:nvPr>
        </p:nvSpPr>
        <p:spPr>
          <a:xfrm>
            <a:off x="457200" y="1357298"/>
            <a:ext cx="7758138" cy="5116654"/>
          </a:xfrm>
        </p:spPr>
        <p:txBody>
          <a:bodyPr>
            <a:noAutofit/>
          </a:bodyPr>
          <a:lstStyle/>
          <a:p>
            <a:r>
              <a:rPr lang="en-US" sz="1800" b="1" dirty="0" smtClean="0">
                <a:latin typeface="Calibri" pitchFamily="34" charset="0"/>
                <a:cs typeface="Calibri" pitchFamily="34" charset="0"/>
              </a:rPr>
              <a:t>Requires resources: </a:t>
            </a:r>
            <a:r>
              <a:rPr lang="en-US" sz="1800" dirty="0" smtClean="0">
                <a:latin typeface="Calibri" pitchFamily="34" charset="0"/>
                <a:cs typeface="Calibri" pitchFamily="34" charset="0"/>
              </a:rPr>
              <a:t>DSDM can be costly to implement. Although it requires an investment to implement, it may also save an organization money by encouraging teams to work efficiently and reducing time-to-market for products.</a:t>
            </a:r>
          </a:p>
          <a:p>
            <a:pPr>
              <a:buNone/>
            </a:pPr>
            <a:endParaRPr lang="en-US" sz="1800" dirty="0" smtClean="0">
              <a:latin typeface="Calibri" pitchFamily="34" charset="0"/>
              <a:cs typeface="Calibri" pitchFamily="34" charset="0"/>
            </a:endParaRPr>
          </a:p>
          <a:p>
            <a:r>
              <a:rPr lang="en-US" sz="1800" b="1" dirty="0" smtClean="0">
                <a:latin typeface="Calibri" pitchFamily="34" charset="0"/>
                <a:cs typeface="Calibri" pitchFamily="34" charset="0"/>
              </a:rPr>
              <a:t>Minimizes creativity: </a:t>
            </a:r>
            <a:r>
              <a:rPr lang="en-US" sz="1800" dirty="0" smtClean="0">
                <a:latin typeface="Calibri" pitchFamily="34" charset="0"/>
                <a:cs typeface="Calibri" pitchFamily="34" charset="0"/>
              </a:rPr>
              <a:t>Because it encourages developers to work quickly, it may limit risk-taking. The focus on iterative development may allow professionals to revisit their work to infuse more unique, creative elements later.</a:t>
            </a:r>
          </a:p>
          <a:p>
            <a:pPr>
              <a:buNone/>
            </a:pPr>
            <a:endParaRPr lang="en-US" sz="1800" dirty="0" smtClean="0">
              <a:latin typeface="Calibri" pitchFamily="34" charset="0"/>
              <a:cs typeface="Calibri" pitchFamily="34" charset="0"/>
            </a:endParaRPr>
          </a:p>
          <a:p>
            <a:r>
              <a:rPr lang="en-US" sz="1800" b="1" dirty="0" smtClean="0">
                <a:latin typeface="Calibri" pitchFamily="34" charset="0"/>
                <a:cs typeface="Calibri" pitchFamily="34" charset="0"/>
              </a:rPr>
              <a:t>Demands structure: </a:t>
            </a:r>
            <a:r>
              <a:rPr lang="en-US" sz="1800" dirty="0" smtClean="0">
                <a:latin typeface="Calibri" pitchFamily="34" charset="0"/>
                <a:cs typeface="Calibri" pitchFamily="34" charset="0"/>
              </a:rPr>
              <a:t>DSDM works best when teams have a reliable structure, full support from management and capable project managers to lead the project life cycle. You can implement more structure in your team before committing to DSDM to ensure its success.</a:t>
            </a:r>
          </a:p>
          <a:p>
            <a:pPr>
              <a:buNone/>
            </a:pPr>
            <a:endParaRPr lang="en-US" sz="1800" dirty="0">
              <a:latin typeface="Calibri" pitchFamily="34" charset="0"/>
              <a:cs typeface="Calibri"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71480"/>
            <a:ext cx="8229600" cy="582594"/>
          </a:xfrm>
        </p:spPr>
        <p:txBody>
          <a:bodyPr>
            <a:normAutofit fontScale="90000"/>
          </a:bodyPr>
          <a:lstStyle/>
          <a:p>
            <a:r>
              <a:rPr lang="en-US" dirty="0" smtClean="0"/>
              <a:t/>
            </a:r>
            <a:br>
              <a:rPr lang="en-US" dirty="0" smtClean="0"/>
            </a:br>
            <a:r>
              <a:rPr lang="en-US" dirty="0" smtClean="0"/>
              <a:t>Agile Unified Process (AUP) 	</a:t>
            </a:r>
            <a:br>
              <a:rPr lang="en-US" dirty="0" smtClean="0"/>
            </a:br>
            <a:endParaRPr lang="en-US" dirty="0"/>
          </a:p>
        </p:txBody>
      </p:sp>
      <p:sp>
        <p:nvSpPr>
          <p:cNvPr id="3" name="Content Placeholder 2"/>
          <p:cNvSpPr>
            <a:spLocks noGrp="1"/>
          </p:cNvSpPr>
          <p:nvPr>
            <p:ph sz="quarter" idx="1"/>
          </p:nvPr>
        </p:nvSpPr>
        <p:spPr>
          <a:xfrm>
            <a:off x="457200" y="1214422"/>
            <a:ext cx="8115328" cy="5259530"/>
          </a:xfrm>
        </p:spPr>
        <p:txBody>
          <a:bodyPr>
            <a:normAutofit/>
          </a:bodyPr>
          <a:lstStyle/>
          <a:p>
            <a:r>
              <a:rPr lang="en-US" sz="2000" dirty="0" smtClean="0">
                <a:latin typeface="Calibri" pitchFamily="34" charset="0"/>
                <a:cs typeface="Calibri" pitchFamily="34" charset="0"/>
              </a:rPr>
              <a:t>Agile Unified Process (AUP) is a lightweight, iterative, and adaptable software development methodology that combines the best practices of agile development with the disciplined approach of the Unified Process (UP). </a:t>
            </a:r>
          </a:p>
          <a:p>
            <a:r>
              <a:rPr lang="en-US" sz="2000" dirty="0" smtClean="0">
                <a:latin typeface="Calibri" pitchFamily="34" charset="0"/>
                <a:cs typeface="Calibri" pitchFamily="34" charset="0"/>
              </a:rPr>
              <a:t>AUP is designed to deliver high-quality  software that meets the changing needs of the stakeholders in an efficient and effective manner. </a:t>
            </a:r>
          </a:p>
          <a:p>
            <a:r>
              <a:rPr lang="en-US" sz="2000" dirty="0" smtClean="0">
                <a:latin typeface="Calibri" pitchFamily="34" charset="0"/>
                <a:cs typeface="Calibri" pitchFamily="34" charset="0"/>
              </a:rPr>
              <a:t>In this article, we will explore the key principles, phases, and practices of AUP, and highlight its benefits and limitations.</a:t>
            </a:r>
            <a:endParaRPr lang="en-US" sz="2000" dirty="0">
              <a:latin typeface="Calibri" pitchFamily="34" charset="0"/>
              <a:cs typeface="Calibri"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smtClean="0"/>
              <a:t/>
            </a:r>
            <a:br>
              <a:rPr lang="en-US" b="1" dirty="0" smtClean="0"/>
            </a:br>
            <a:r>
              <a:rPr lang="en-US" b="1" dirty="0" smtClean="0"/>
              <a:t>Phases of Agile Unified Process</a:t>
            </a:r>
            <a:br>
              <a:rPr lang="en-US" b="1" dirty="0" smtClean="0"/>
            </a:br>
            <a:endParaRPr lang="en-US" dirty="0"/>
          </a:p>
        </p:txBody>
      </p:sp>
      <p:sp>
        <p:nvSpPr>
          <p:cNvPr id="3" name="Content Placeholder 2"/>
          <p:cNvSpPr>
            <a:spLocks noGrp="1"/>
          </p:cNvSpPr>
          <p:nvPr>
            <p:ph sz="quarter" idx="1"/>
          </p:nvPr>
        </p:nvSpPr>
        <p:spPr>
          <a:xfrm>
            <a:off x="457200" y="1142984"/>
            <a:ext cx="7829576" cy="5330968"/>
          </a:xfrm>
        </p:spPr>
        <p:txBody>
          <a:bodyPr>
            <a:normAutofit/>
          </a:bodyPr>
          <a:lstStyle/>
          <a:p>
            <a:r>
              <a:rPr lang="en-US" sz="1800" b="1" dirty="0" smtClean="0">
                <a:latin typeface="Calibri" pitchFamily="34" charset="0"/>
                <a:cs typeface="Calibri" pitchFamily="34" charset="0"/>
              </a:rPr>
              <a:t>Inception Phase:</a:t>
            </a:r>
            <a:r>
              <a:rPr lang="en-US" sz="1800" dirty="0" smtClean="0">
                <a:latin typeface="Calibri" pitchFamily="34" charset="0"/>
                <a:cs typeface="Calibri" pitchFamily="34" charset="0"/>
              </a:rPr>
              <a:t> The Inception phase is the initial phase of the project, where the scope, objectives, and requirements of the project are defined. The key deliverables of this phase include the Project Vision, Business Case, Use-Case Model, and Risk List.</a:t>
            </a:r>
          </a:p>
          <a:p>
            <a:r>
              <a:rPr lang="en-US" sz="1800" b="1" dirty="0" smtClean="0">
                <a:latin typeface="Calibri" pitchFamily="34" charset="0"/>
                <a:cs typeface="Calibri" pitchFamily="34" charset="0"/>
              </a:rPr>
              <a:t>Elaboration Phase: </a:t>
            </a:r>
            <a:r>
              <a:rPr lang="en-US" sz="1800" dirty="0" smtClean="0">
                <a:latin typeface="Calibri" pitchFamily="34" charset="0"/>
                <a:cs typeface="Calibri" pitchFamily="34" charset="0"/>
              </a:rPr>
              <a:t>The Elaboration phase is the most critical phase of the project, where the requirements are analyzed, designed, and validated. The key deliverables of this phase include the System Architecture,  Software Requirements Specification, Software Architecture Document, and Test Plan.</a:t>
            </a:r>
          </a:p>
          <a:p>
            <a:r>
              <a:rPr lang="en-US" sz="1800" b="1" dirty="0" smtClean="0">
                <a:latin typeface="Calibri" pitchFamily="34" charset="0"/>
                <a:cs typeface="Calibri" pitchFamily="34" charset="0"/>
              </a:rPr>
              <a:t>Construction Phase: </a:t>
            </a:r>
            <a:r>
              <a:rPr lang="en-US" sz="1800" dirty="0" smtClean="0">
                <a:latin typeface="Calibri" pitchFamily="34" charset="0"/>
                <a:cs typeface="Calibri" pitchFamily="34" charset="0"/>
              </a:rPr>
              <a:t>The Construction phase is the phase where the actual coding, testing, and integration of the software take place. The key deliverables of this phase include the Source Code, Unit Test Cases, and User Documentation.</a:t>
            </a:r>
          </a:p>
          <a:p>
            <a:r>
              <a:rPr lang="en-US" sz="1800" b="1" dirty="0" smtClean="0">
                <a:latin typeface="Calibri" pitchFamily="34" charset="0"/>
                <a:cs typeface="Calibri" pitchFamily="34" charset="0"/>
              </a:rPr>
              <a:t>Transition Phase: </a:t>
            </a:r>
            <a:r>
              <a:rPr lang="en-US" sz="1800" dirty="0" smtClean="0">
                <a:latin typeface="Calibri" pitchFamily="34" charset="0"/>
                <a:cs typeface="Calibri" pitchFamily="34" charset="0"/>
              </a:rPr>
              <a:t>The Transition phase is the final phase of the project, where the software is deployed and delivered to the stakeholders. The key deliverables of this phase include the User Acceptance Test Report, Deployment Plan, and User Manual.</a:t>
            </a:r>
          </a:p>
          <a:p>
            <a:endParaRPr lang="en-US" sz="1800" dirty="0">
              <a:latin typeface="Calibri" pitchFamily="34" charset="0"/>
              <a:cs typeface="Calibri"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1264</TotalTime>
  <Words>1344</Words>
  <Application>Microsoft Office PowerPoint</Application>
  <PresentationFormat>On-screen Show (4:3)</PresentationFormat>
  <Paragraphs>242</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Oriel</vt:lpstr>
      <vt:lpstr>Unit-3 Agile Development  Software Engineering</vt:lpstr>
      <vt:lpstr>Agility</vt:lpstr>
      <vt:lpstr>Agile Process</vt:lpstr>
      <vt:lpstr>   Phases of an agile process model </vt:lpstr>
      <vt:lpstr>    Phases of an agile process model </vt:lpstr>
      <vt:lpstr> When to use an agile model? </vt:lpstr>
      <vt:lpstr>Pros</vt:lpstr>
      <vt:lpstr> Cons: </vt:lpstr>
      <vt:lpstr> Agility Principles   </vt:lpstr>
      <vt:lpstr>Agility Principles</vt:lpstr>
      <vt:lpstr> Agility Principle  </vt:lpstr>
      <vt:lpstr>Slide 12</vt:lpstr>
      <vt:lpstr> Human Factors   </vt:lpstr>
      <vt:lpstr>Human Factors</vt:lpstr>
      <vt:lpstr>Human Factors</vt:lpstr>
      <vt:lpstr>Human Factors</vt:lpstr>
      <vt:lpstr> Extreme Programming (XP)   </vt:lpstr>
      <vt:lpstr>Extreme Programming (XP)</vt:lpstr>
      <vt:lpstr> Process of XP </vt:lpstr>
      <vt:lpstr> XP Values </vt:lpstr>
      <vt:lpstr>  Adaptive Software Development (ASD)   </vt:lpstr>
      <vt:lpstr> Characteristics of ASD Process </vt:lpstr>
      <vt:lpstr>Phases of ASD Process</vt:lpstr>
      <vt:lpstr> Phases of ASD Process </vt:lpstr>
      <vt:lpstr>Phases of ASD Process</vt:lpstr>
      <vt:lpstr>Phases of ASD Process</vt:lpstr>
      <vt:lpstr> Advantages of ASD </vt:lpstr>
      <vt:lpstr> Disadvantages of ASD </vt:lpstr>
      <vt:lpstr>Scrum</vt:lpstr>
      <vt:lpstr>Scrum</vt:lpstr>
      <vt:lpstr>Scrum</vt:lpstr>
      <vt:lpstr> Advantage of Scrum  </vt:lpstr>
      <vt:lpstr>                 Disadvantage of Scrum  </vt:lpstr>
      <vt:lpstr>    Dynamic System Development Model (DSDM)   </vt:lpstr>
      <vt:lpstr>Principles of DSDM</vt:lpstr>
      <vt:lpstr>Principles of DSDM</vt:lpstr>
      <vt:lpstr>Advantages of DSDM </vt:lpstr>
      <vt:lpstr>Advantages of DSDM</vt:lpstr>
      <vt:lpstr>Disadvantages of DSDM </vt:lpstr>
      <vt:lpstr> Agile Unified Process (AUP)   </vt:lpstr>
      <vt:lpstr> Phases of Agile Unified Process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Unit-3 Agile Development  Software Engineering</dc:title>
  <dc:creator>Windows User</dc:creator>
  <cp:lastModifiedBy>Windows User</cp:lastModifiedBy>
  <cp:revision>119</cp:revision>
  <dcterms:created xsi:type="dcterms:W3CDTF">2025-11-26T10:52:21Z</dcterms:created>
  <dcterms:modified xsi:type="dcterms:W3CDTF">2026-02-02T09:25:02Z</dcterms:modified>
</cp:coreProperties>
</file>