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2" r:id="rId6"/>
    <p:sldId id="261" r:id="rId7"/>
    <p:sldId id="260" r:id="rId8"/>
    <p:sldId id="263" r:id="rId9"/>
    <p:sldId id="264" r:id="rId10"/>
    <p:sldId id="265" r:id="rId11"/>
    <p:sldId id="266" r:id="rId12"/>
    <p:sldId id="267" r:id="rId13"/>
    <p:sldId id="268" r:id="rId14"/>
    <p:sldId id="269" r:id="rId15"/>
    <p:sldId id="272" r:id="rId16"/>
    <p:sldId id="270" r:id="rId17"/>
    <p:sldId id="271" r:id="rId18"/>
    <p:sldId id="273" r:id="rId19"/>
    <p:sldId id="274" r:id="rId20"/>
    <p:sldId id="275" r:id="rId2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8" d="100"/>
          <a:sy n="108" d="100"/>
        </p:scale>
        <p:origin x="1704" y="10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C2CB17F9-F96E-4041-B7D4-6C00D6F248BF}" type="datetimeFigureOut">
              <a:rPr lang="en-US" smtClean="0"/>
              <a:pPr/>
              <a:t>3/30/2026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D363B4E-5983-4E33-9F0B-37341D6B832D}"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2CB17F9-F96E-4041-B7D4-6C00D6F248BF}" type="datetimeFigureOut">
              <a:rPr lang="en-US" smtClean="0"/>
              <a:pPr/>
              <a:t>3/30/2026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D363B4E-5983-4E33-9F0B-37341D6B832D}"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2CB17F9-F96E-4041-B7D4-6C00D6F248BF}" type="datetimeFigureOut">
              <a:rPr lang="en-US" smtClean="0"/>
              <a:pPr/>
              <a:t>3/30/2026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D363B4E-5983-4E33-9F0B-37341D6B832D}"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C2CB17F9-F96E-4041-B7D4-6C00D6F248BF}" type="datetimeFigureOut">
              <a:rPr lang="en-US" smtClean="0"/>
              <a:pPr/>
              <a:t>3/30/2026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D363B4E-5983-4E33-9F0B-37341D6B832D}"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C2CB17F9-F96E-4041-B7D4-6C00D6F248BF}" type="datetimeFigureOut">
              <a:rPr lang="en-US" smtClean="0"/>
              <a:pPr/>
              <a:t>3/30/2026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D363B4E-5983-4E33-9F0B-37341D6B832D}"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2CB17F9-F96E-4041-B7D4-6C00D6F248BF}" type="datetimeFigureOut">
              <a:rPr lang="en-US" smtClean="0"/>
              <a:pPr/>
              <a:t>3/30/2026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D363B4E-5983-4E33-9F0B-37341D6B832D}"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2CB17F9-F96E-4041-B7D4-6C00D6F248BF}" type="datetimeFigureOut">
              <a:rPr lang="en-US" smtClean="0"/>
              <a:pPr/>
              <a:t>3/30/2026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D363B4E-5983-4E33-9F0B-37341D6B832D}"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2CB17F9-F96E-4041-B7D4-6C00D6F248BF}" type="datetimeFigureOut">
              <a:rPr lang="en-US" smtClean="0"/>
              <a:pPr/>
              <a:t>3/30/2026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D363B4E-5983-4E33-9F0B-37341D6B832D}"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2CB17F9-F96E-4041-B7D4-6C00D6F248BF}" type="datetimeFigureOut">
              <a:rPr lang="en-US" smtClean="0"/>
              <a:pPr/>
              <a:t>3/30/2026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D363B4E-5983-4E33-9F0B-37341D6B832D}"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2CB17F9-F96E-4041-B7D4-6C00D6F248BF}" type="datetimeFigureOut">
              <a:rPr lang="en-US" smtClean="0"/>
              <a:pPr/>
              <a:t>3/30/2026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D363B4E-5983-4E33-9F0B-37341D6B832D}"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2CB17F9-F96E-4041-B7D4-6C00D6F248BF}" type="datetimeFigureOut">
              <a:rPr lang="en-US" smtClean="0"/>
              <a:pPr/>
              <a:t>3/30/2026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D363B4E-5983-4E33-9F0B-37341D6B832D}"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2CB17F9-F96E-4041-B7D4-6C00D6F248BF}" type="datetimeFigureOut">
              <a:rPr lang="en-US" smtClean="0"/>
              <a:pPr/>
              <a:t>3/30/2026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D363B4E-5983-4E33-9F0B-37341D6B832D}"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Autofit/>
          </a:bodyPr>
          <a:lstStyle/>
          <a:p>
            <a:r>
              <a:rPr lang="en-IN" sz="5400" b="1" dirty="0"/>
              <a:t>Unit-5</a:t>
            </a:r>
            <a:br>
              <a:rPr lang="en-IN" sz="5400" b="1" dirty="0"/>
            </a:br>
            <a:r>
              <a:rPr lang="en-US" sz="5400" b="1" dirty="0"/>
              <a:t> Software Testing </a:t>
            </a:r>
          </a:p>
        </p:txBody>
      </p:sp>
      <p:sp>
        <p:nvSpPr>
          <p:cNvPr id="3" name="Subtitle 2"/>
          <p:cNvSpPr>
            <a:spLocks noGrp="1"/>
          </p:cNvSpPr>
          <p:nvPr>
            <p:ph type="subTitle" idx="1"/>
          </p:nvPr>
        </p:nvSpPr>
        <p:spPr/>
        <p:txBody>
          <a:bodyPr/>
          <a:lstStyle/>
          <a:p>
            <a:r>
              <a:rPr lang="en-US" dirty="0"/>
              <a:t>	</a:t>
            </a:r>
          </a:p>
          <a:p>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dirty="0"/>
            </a:br>
            <a:r>
              <a:rPr lang="en-US" dirty="0"/>
              <a:t>Introduction to Software Testing 	</a:t>
            </a:r>
            <a:br>
              <a:rPr lang="en-US" dirty="0"/>
            </a:br>
            <a:endParaRPr lang="en-US" dirty="0"/>
          </a:p>
        </p:txBody>
      </p:sp>
      <p:sp>
        <p:nvSpPr>
          <p:cNvPr id="3" name="Content Placeholder 2"/>
          <p:cNvSpPr>
            <a:spLocks noGrp="1"/>
          </p:cNvSpPr>
          <p:nvPr>
            <p:ph idx="1"/>
          </p:nvPr>
        </p:nvSpPr>
        <p:spPr/>
        <p:txBody>
          <a:bodyPr>
            <a:normAutofit/>
          </a:bodyPr>
          <a:lstStyle/>
          <a:p>
            <a:r>
              <a:rPr lang="en-US" sz="2000" dirty="0"/>
              <a:t>Software testing is a process used to identify the correctness, completeness and quality of developed software”.</a:t>
            </a:r>
          </a:p>
          <a:p>
            <a:r>
              <a:rPr lang="en-US" sz="2000" dirty="0"/>
              <a:t>Testing is the process of exercising and evaluating a system or system component by manual or automated means to verify that it satisfies specified requirements.</a:t>
            </a:r>
          </a:p>
          <a:p>
            <a:r>
              <a:rPr lang="en-US" sz="2000" dirty="0"/>
              <a:t>Testing is concerned with errors, faults, failures and incidents. A test is the act of exercising software with an objective of:</a:t>
            </a:r>
          </a:p>
          <a:p>
            <a:pPr marL="457200" indent="-457200">
              <a:buNone/>
            </a:pPr>
            <a:r>
              <a:rPr lang="en-US" sz="2000" dirty="0"/>
              <a:t>              Finding failure</a:t>
            </a:r>
            <a:br>
              <a:rPr lang="en-US" sz="2000" dirty="0"/>
            </a:br>
            <a:r>
              <a:rPr lang="en-US" sz="2000" dirty="0"/>
              <a:t>      Demonstrate correct execution</a:t>
            </a:r>
          </a:p>
          <a:p>
            <a:pPr marL="457200" indent="-457200"/>
            <a:r>
              <a:rPr lang="en-US" sz="2000" dirty="0"/>
              <a:t>Software testing is a process used to identify the correctness, completeness, and quality of developed computer software. It includes a set of activities conducted with the intent of finding errors in software so that it could be corrected before the product is released to the end users.</a:t>
            </a:r>
          </a:p>
          <a:p>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Introduction to Software Testing</a:t>
            </a:r>
          </a:p>
        </p:txBody>
      </p:sp>
      <p:sp>
        <p:nvSpPr>
          <p:cNvPr id="3" name="Content Placeholder 2"/>
          <p:cNvSpPr>
            <a:spLocks noGrp="1"/>
          </p:cNvSpPr>
          <p:nvPr>
            <p:ph idx="1"/>
          </p:nvPr>
        </p:nvSpPr>
        <p:spPr/>
        <p:txBody>
          <a:bodyPr>
            <a:normAutofit/>
          </a:bodyPr>
          <a:lstStyle/>
          <a:p>
            <a:r>
              <a:rPr lang="en-US" sz="2400" dirty="0"/>
              <a:t>In simple words, software testing is an activity to check whether the actual results match the expected results and to ensure that the software system is defect free.</a:t>
            </a:r>
          </a:p>
          <a:p>
            <a:pPr>
              <a:buNone/>
            </a:pPr>
            <a:r>
              <a:rPr lang="en-US" sz="2400" b="1" dirty="0"/>
              <a:t>					OR</a:t>
            </a:r>
            <a:endParaRPr lang="en-US" sz="2400" dirty="0"/>
          </a:p>
          <a:p>
            <a:r>
              <a:rPr lang="en-US" sz="2400" dirty="0"/>
              <a:t>It can also be stated as the process of validating and verifying that a software program or application or product:</a:t>
            </a:r>
            <a:br>
              <a:rPr lang="en-US" sz="2400" dirty="0"/>
            </a:br>
            <a:r>
              <a:rPr lang="en-US" sz="2400" dirty="0"/>
              <a:t>	Meets the business and technical requirements that 	guided its design and development.</a:t>
            </a:r>
            <a:br>
              <a:rPr lang="en-US" sz="2400" dirty="0"/>
            </a:br>
            <a:r>
              <a:rPr lang="en-US" sz="2400" dirty="0"/>
              <a:t>	 Works as expected.</a:t>
            </a:r>
            <a:br>
              <a:rPr lang="en-US" sz="2400" dirty="0"/>
            </a:br>
            <a:r>
              <a:rPr lang="en-US" sz="2400" dirty="0"/>
              <a:t>	Can be implemented with the desired characteristics.</a:t>
            </a:r>
          </a:p>
          <a:p>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dirty="0"/>
            </a:br>
            <a:r>
              <a:rPr lang="en-US" dirty="0"/>
              <a:t>Software Testing Life Cycle (STLC) 	</a:t>
            </a:r>
            <a:br>
              <a:rPr lang="en-US" dirty="0"/>
            </a:br>
            <a:endParaRPr lang="en-US" dirty="0"/>
          </a:p>
        </p:txBody>
      </p:sp>
      <p:sp>
        <p:nvSpPr>
          <p:cNvPr id="3" name="Content Placeholder 2"/>
          <p:cNvSpPr>
            <a:spLocks noGrp="1"/>
          </p:cNvSpPr>
          <p:nvPr>
            <p:ph idx="1"/>
          </p:nvPr>
        </p:nvSpPr>
        <p:spPr/>
        <p:txBody>
          <a:bodyPr>
            <a:normAutofit lnSpcReduction="10000"/>
          </a:bodyPr>
          <a:lstStyle/>
          <a:p>
            <a:pPr marL="457200" indent="-457200">
              <a:buFont typeface="+mj-lt"/>
              <a:buAutoNum type="arabicPeriod"/>
            </a:pPr>
            <a:r>
              <a:rPr lang="en-US" sz="2000" dirty="0"/>
              <a:t>Once the project is confirmed to start, project development can be divided into following phases:</a:t>
            </a:r>
          </a:p>
          <a:p>
            <a:r>
              <a:rPr lang="en-US" sz="2000" dirty="0"/>
              <a:t> Software requirements phase</a:t>
            </a:r>
          </a:p>
          <a:p>
            <a:r>
              <a:rPr lang="en-US" sz="2000" dirty="0"/>
              <a:t>Software Design</a:t>
            </a:r>
          </a:p>
          <a:p>
            <a:r>
              <a:rPr lang="en-US" sz="2000" dirty="0"/>
              <a:t>Implementation</a:t>
            </a:r>
          </a:p>
          <a:p>
            <a:r>
              <a:rPr lang="en-US" sz="2000" dirty="0"/>
              <a:t>Testing</a:t>
            </a:r>
          </a:p>
          <a:p>
            <a:r>
              <a:rPr lang="en-US" sz="2000" dirty="0"/>
              <a:t>Maintenance</a:t>
            </a:r>
          </a:p>
          <a:p>
            <a:pPr marL="457200" indent="-457200">
              <a:buAutoNum type="arabicPeriod" startAt="2"/>
            </a:pPr>
            <a:r>
              <a:rPr lang="en-US" sz="2000" dirty="0"/>
              <a:t>These phases form a model called as a waterfall model, a linear sequential model or software development life cycle, which suggests a systematic, sequential approach to software development.</a:t>
            </a:r>
          </a:p>
          <a:p>
            <a:pPr marL="457200" indent="-457200">
              <a:buAutoNum type="arabicPeriod" startAt="2"/>
            </a:pPr>
            <a:r>
              <a:rPr lang="en-US" sz="2000" dirty="0"/>
              <a:t>Software Testing Life Cycle (STLC) model is basically developed to identify which testing activities needs to be carried and what’s the best time to perform them to accomplish those test activities. Even though testing differs between organizations, there is a testing life cycle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Software Testing Life Cycle (STLC)</a:t>
            </a:r>
          </a:p>
        </p:txBody>
      </p:sp>
      <p:pic>
        <p:nvPicPr>
          <p:cNvPr id="4" name="Content Placeholder 3" descr="image.png"/>
          <p:cNvPicPr>
            <a:picLocks noGrp="1" noChangeAspect="1"/>
          </p:cNvPicPr>
          <p:nvPr>
            <p:ph idx="1"/>
          </p:nvPr>
        </p:nvPicPr>
        <p:blipFill>
          <a:blip r:embed="rId2"/>
          <a:stretch>
            <a:fillRect/>
          </a:stretch>
        </p:blipFill>
        <p:spPr>
          <a:xfrm>
            <a:off x="869156" y="2131219"/>
            <a:ext cx="7620000" cy="3810000"/>
          </a:xfr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Software Testing Life Cycle (STLC)</a:t>
            </a:r>
          </a:p>
        </p:txBody>
      </p:sp>
      <p:sp>
        <p:nvSpPr>
          <p:cNvPr id="3" name="Content Placeholder 2"/>
          <p:cNvSpPr>
            <a:spLocks noGrp="1"/>
          </p:cNvSpPr>
          <p:nvPr>
            <p:ph idx="1"/>
          </p:nvPr>
        </p:nvSpPr>
        <p:spPr>
          <a:xfrm>
            <a:off x="457200" y="1600200"/>
            <a:ext cx="8472518" cy="4900634"/>
          </a:xfrm>
        </p:spPr>
        <p:txBody>
          <a:bodyPr>
            <a:normAutofit/>
          </a:bodyPr>
          <a:lstStyle/>
          <a:p>
            <a:pPr marL="457200" indent="-457200" fontAlgn="base">
              <a:buFont typeface="+mj-lt"/>
              <a:buAutoNum type="arabicPeriod"/>
            </a:pPr>
            <a:r>
              <a:rPr lang="en-US" sz="2000" b="1" dirty="0"/>
              <a:t>Requirement Analysis</a:t>
            </a:r>
          </a:p>
          <a:p>
            <a:pPr fontAlgn="base">
              <a:buNone/>
            </a:pPr>
            <a:r>
              <a:rPr lang="en-US" sz="2000" dirty="0"/>
              <a:t>	Requirement Analysis is the first phase where the QA/testing team understands what needs to be tested. The activities that take place during the Requirement Analysis stage include:</a:t>
            </a:r>
          </a:p>
          <a:p>
            <a:pPr fontAlgn="base"/>
            <a:r>
              <a:rPr lang="en-US" sz="2000" dirty="0"/>
              <a:t>Reviewing the software requirements document (SRD) and other related documents</a:t>
            </a:r>
          </a:p>
          <a:p>
            <a:pPr fontAlgn="base"/>
            <a:r>
              <a:rPr lang="en-US" sz="2000" dirty="0"/>
              <a:t>Interviewing stakeholders to gather additional information</a:t>
            </a:r>
          </a:p>
          <a:p>
            <a:pPr fontAlgn="base"/>
            <a:r>
              <a:rPr lang="en-US" sz="2000" dirty="0"/>
              <a:t>Identifying any ambiguities or inconsistencies in the requirements</a:t>
            </a:r>
          </a:p>
          <a:p>
            <a:pPr fontAlgn="base"/>
            <a:r>
              <a:rPr lang="en-US" sz="2000" dirty="0"/>
              <a:t>Identifying any missing or incomplete requirements</a:t>
            </a:r>
          </a:p>
          <a:p>
            <a:pPr fontAlgn="base"/>
            <a:r>
              <a:rPr lang="en-US" sz="2000" dirty="0"/>
              <a:t>Identifying any potential risks or issues that may impact the testing process</a:t>
            </a:r>
          </a:p>
          <a:p>
            <a:pPr algn="just">
              <a:buNone/>
            </a:pPr>
            <a:endParaRPr lang="en-US" sz="2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Software Testing Life Cycle (STLC)</a:t>
            </a:r>
          </a:p>
        </p:txBody>
      </p:sp>
      <p:sp>
        <p:nvSpPr>
          <p:cNvPr id="3" name="Content Placeholder 2"/>
          <p:cNvSpPr>
            <a:spLocks noGrp="1"/>
          </p:cNvSpPr>
          <p:nvPr>
            <p:ph idx="1"/>
          </p:nvPr>
        </p:nvSpPr>
        <p:spPr/>
        <p:txBody>
          <a:bodyPr>
            <a:normAutofit/>
          </a:bodyPr>
          <a:lstStyle/>
          <a:p>
            <a:pPr fontAlgn="base">
              <a:buNone/>
            </a:pPr>
            <a:r>
              <a:rPr lang="en-US" sz="1800" b="1" dirty="0"/>
              <a:t>2. Test Planning</a:t>
            </a:r>
          </a:p>
          <a:p>
            <a:pPr fontAlgn="base">
              <a:buNone/>
            </a:pPr>
            <a:r>
              <a:rPr lang="en-US" sz="1800" dirty="0"/>
              <a:t>	Test Planning is the most crucial phase where the overall test strategy and plan are created. The major activities carried out during the Test Planning phase include:</a:t>
            </a:r>
          </a:p>
          <a:p>
            <a:pPr fontAlgn="base"/>
            <a:r>
              <a:rPr lang="en-US" sz="1800" dirty="0"/>
              <a:t>Identifying the testing objectives and scope</a:t>
            </a:r>
          </a:p>
          <a:p>
            <a:pPr fontAlgn="base"/>
            <a:r>
              <a:rPr lang="en-US" sz="1800" dirty="0"/>
              <a:t>Developing a test strategy: selecting the testing methods and techniques that will be used</a:t>
            </a:r>
          </a:p>
          <a:p>
            <a:pPr fontAlgn="base"/>
            <a:r>
              <a:rPr lang="en-US" sz="1800" dirty="0"/>
              <a:t>Identifying the testing environment and resources needed</a:t>
            </a:r>
          </a:p>
          <a:p>
            <a:pPr fontAlgn="base"/>
            <a:r>
              <a:rPr lang="en-US" sz="1800" dirty="0"/>
              <a:t>Identifying the test cases that will be executed and the test data that will be used</a:t>
            </a:r>
          </a:p>
          <a:p>
            <a:pPr fontAlgn="base"/>
            <a:r>
              <a:rPr lang="en-US" sz="1800" dirty="0"/>
              <a:t>Estimating the time and cost required for testing</a:t>
            </a:r>
          </a:p>
          <a:p>
            <a:pPr fontAlgn="base"/>
            <a:r>
              <a:rPr lang="en-US" sz="1800" dirty="0"/>
              <a:t>Identifying the test deliverables and milestones</a:t>
            </a:r>
          </a:p>
          <a:p>
            <a:pPr fontAlgn="base"/>
            <a:r>
              <a:rPr lang="en-US" sz="1800" dirty="0"/>
              <a:t>Assigning roles and responsibilities to the testing team</a:t>
            </a:r>
          </a:p>
          <a:p>
            <a:pPr fontAlgn="base"/>
            <a:r>
              <a:rPr lang="en-US" sz="1800" dirty="0"/>
              <a:t>Reviewing and approving the test plan</a:t>
            </a:r>
          </a:p>
          <a:p>
            <a:pPr>
              <a:buNone/>
            </a:pPr>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Software Testing Life Cycle (STLC)</a:t>
            </a:r>
          </a:p>
        </p:txBody>
      </p:sp>
      <p:sp>
        <p:nvSpPr>
          <p:cNvPr id="3" name="Content Placeholder 2"/>
          <p:cNvSpPr>
            <a:spLocks noGrp="1"/>
          </p:cNvSpPr>
          <p:nvPr>
            <p:ph idx="1"/>
          </p:nvPr>
        </p:nvSpPr>
        <p:spPr/>
        <p:txBody>
          <a:bodyPr>
            <a:normAutofit/>
          </a:bodyPr>
          <a:lstStyle/>
          <a:p>
            <a:pPr fontAlgn="base">
              <a:buNone/>
            </a:pPr>
            <a:r>
              <a:rPr lang="en-US" b="1" dirty="0"/>
              <a:t>3</a:t>
            </a:r>
            <a:r>
              <a:rPr lang="en-US" sz="2000" b="1" dirty="0"/>
              <a:t>. Test Case Development</a:t>
            </a:r>
          </a:p>
          <a:p>
            <a:pPr fontAlgn="base">
              <a:buNone/>
            </a:pPr>
            <a:r>
              <a:rPr lang="en-US" sz="2000" dirty="0"/>
              <a:t>	The Test Case Development phase testers design detailed test cases and prepare the necessary test data. The main activities performed during the Test Case Development phase include:</a:t>
            </a:r>
          </a:p>
          <a:p>
            <a:pPr fontAlgn="base"/>
            <a:r>
              <a:rPr lang="en-US" sz="2000" dirty="0"/>
              <a:t>Identifying the test cases that will be developed</a:t>
            </a:r>
          </a:p>
          <a:p>
            <a:pPr fontAlgn="base"/>
            <a:r>
              <a:rPr lang="en-US" sz="2000" dirty="0"/>
              <a:t>Writing test cases that are clear, concise and easy to understand</a:t>
            </a:r>
          </a:p>
          <a:p>
            <a:pPr fontAlgn="base"/>
            <a:r>
              <a:rPr lang="en-US" sz="2000" dirty="0"/>
              <a:t>Creating test data and test scenarios that will be used in the test cases</a:t>
            </a:r>
          </a:p>
          <a:p>
            <a:pPr fontAlgn="base"/>
            <a:r>
              <a:rPr lang="en-US" sz="2000" dirty="0"/>
              <a:t>Identifying the expected results for each test case</a:t>
            </a:r>
          </a:p>
          <a:p>
            <a:pPr fontAlgn="base"/>
            <a:r>
              <a:rPr lang="en-US" sz="2000" dirty="0"/>
              <a:t>Reviewing and validating the test cases</a:t>
            </a:r>
          </a:p>
          <a:p>
            <a:pPr fontAlgn="base"/>
            <a:r>
              <a:rPr lang="en-US" sz="2000" dirty="0"/>
              <a:t>Updating the requirement traceability matrix (RTM) to map requirements to test cases</a:t>
            </a:r>
          </a:p>
          <a:p>
            <a:pPr>
              <a:buNone/>
            </a:pPr>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Software Testing Life Cycle (STLC)</a:t>
            </a:r>
          </a:p>
        </p:txBody>
      </p:sp>
      <p:sp>
        <p:nvSpPr>
          <p:cNvPr id="3" name="Content Placeholder 2"/>
          <p:cNvSpPr>
            <a:spLocks noGrp="1"/>
          </p:cNvSpPr>
          <p:nvPr>
            <p:ph idx="1"/>
          </p:nvPr>
        </p:nvSpPr>
        <p:spPr/>
        <p:txBody>
          <a:bodyPr>
            <a:normAutofit/>
          </a:bodyPr>
          <a:lstStyle/>
          <a:p>
            <a:pPr fontAlgn="base">
              <a:buNone/>
            </a:pPr>
            <a:r>
              <a:rPr lang="en-US" sz="2000" b="1" dirty="0"/>
              <a:t>4. Test Environment Setup</a:t>
            </a:r>
          </a:p>
          <a:p>
            <a:pPr fontAlgn="base">
              <a:buNone/>
            </a:pPr>
            <a:r>
              <a:rPr lang="en-US" sz="2000" dirty="0"/>
              <a:t>	Test Environment Setup defines the hardware, software and network conditions under which testing will be executed. The activities involved in the Test Environment Setup phase include:</a:t>
            </a:r>
          </a:p>
          <a:p>
            <a:pPr fontAlgn="base"/>
            <a:r>
              <a:rPr lang="en-US" sz="2000" dirty="0"/>
              <a:t>Install and configure required software, tools and databases.</a:t>
            </a:r>
          </a:p>
          <a:p>
            <a:pPr fontAlgn="base"/>
            <a:r>
              <a:rPr lang="en-US" sz="2000" dirty="0"/>
              <a:t>Set up servers, browsers, operating systems and devices.</a:t>
            </a:r>
          </a:p>
          <a:p>
            <a:pPr fontAlgn="base"/>
            <a:r>
              <a:rPr lang="en-US" sz="2000" dirty="0"/>
              <a:t>Prepare access credentials and permissions.</a:t>
            </a:r>
          </a:p>
          <a:p>
            <a:pPr fontAlgn="base"/>
            <a:r>
              <a:rPr lang="en-US" sz="2000" dirty="0"/>
              <a:t>Validate the environment before test execution</a:t>
            </a:r>
          </a:p>
          <a:p>
            <a:pPr>
              <a:buNone/>
            </a:pP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Software Testing Life Cycle (STLC)</a:t>
            </a:r>
          </a:p>
        </p:txBody>
      </p:sp>
      <p:sp>
        <p:nvSpPr>
          <p:cNvPr id="3" name="Content Placeholder 2"/>
          <p:cNvSpPr>
            <a:spLocks noGrp="1"/>
          </p:cNvSpPr>
          <p:nvPr>
            <p:ph idx="1"/>
          </p:nvPr>
        </p:nvSpPr>
        <p:spPr>
          <a:xfrm>
            <a:off x="457200" y="1600200"/>
            <a:ext cx="8229600" cy="4757758"/>
          </a:xfrm>
        </p:spPr>
        <p:txBody>
          <a:bodyPr>
            <a:normAutofit/>
          </a:bodyPr>
          <a:lstStyle/>
          <a:p>
            <a:pPr fontAlgn="base">
              <a:buNone/>
            </a:pPr>
            <a:r>
              <a:rPr lang="en-US" b="1" dirty="0"/>
              <a:t>5. </a:t>
            </a:r>
            <a:r>
              <a:rPr lang="en-US" sz="2800" b="1" dirty="0"/>
              <a:t>Test Execution</a:t>
            </a:r>
            <a:endParaRPr lang="en-US" b="1" dirty="0"/>
          </a:p>
          <a:p>
            <a:pPr fontAlgn="base"/>
            <a:r>
              <a:rPr lang="en-US" sz="2400" dirty="0"/>
              <a:t>In Test Execution phase prepared test cases are executed in the defined environment. The activities performed during the Test Execution phase include:</a:t>
            </a:r>
          </a:p>
          <a:p>
            <a:pPr fontAlgn="base"/>
            <a:r>
              <a:rPr lang="en-US" sz="2400" dirty="0"/>
              <a:t>Run manual or automated test cases.</a:t>
            </a:r>
          </a:p>
          <a:p>
            <a:pPr fontAlgn="base"/>
            <a:r>
              <a:rPr lang="en-US" sz="2400" dirty="0"/>
              <a:t>Re-test fixed defects (defect retesting).</a:t>
            </a:r>
          </a:p>
          <a:p>
            <a:pPr fontAlgn="base"/>
            <a:r>
              <a:rPr lang="en-US" sz="2400" dirty="0"/>
              <a:t>Perform regression testing if required.</a:t>
            </a:r>
          </a:p>
          <a:p>
            <a:pPr fontAlgn="base"/>
            <a:r>
              <a:rPr lang="en-US" sz="2400" dirty="0"/>
              <a:t>Collect and analyze test results.</a:t>
            </a:r>
          </a:p>
          <a:p>
            <a:pPr fontAlgn="base"/>
            <a:r>
              <a:rPr lang="en-US" sz="2400" dirty="0"/>
              <a:t>Document and share test reports.</a:t>
            </a:r>
          </a:p>
          <a:p>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Software Testing Life Cycle (STLC)</a:t>
            </a:r>
          </a:p>
        </p:txBody>
      </p:sp>
      <p:sp>
        <p:nvSpPr>
          <p:cNvPr id="3" name="Content Placeholder 2"/>
          <p:cNvSpPr>
            <a:spLocks noGrp="1"/>
          </p:cNvSpPr>
          <p:nvPr>
            <p:ph idx="1"/>
          </p:nvPr>
        </p:nvSpPr>
        <p:spPr/>
        <p:txBody>
          <a:bodyPr>
            <a:normAutofit/>
          </a:bodyPr>
          <a:lstStyle/>
          <a:p>
            <a:pPr fontAlgn="base">
              <a:buNone/>
            </a:pPr>
            <a:r>
              <a:rPr lang="en-US" sz="2000" b="1" dirty="0"/>
              <a:t>6. Test Closure</a:t>
            </a:r>
          </a:p>
          <a:p>
            <a:pPr fontAlgn="base"/>
            <a:r>
              <a:rPr lang="en-US" sz="2000" dirty="0"/>
              <a:t>Test Closure is the final phase where testing activities are completed and documented. The final activities carried out during the Test Closure phase include:</a:t>
            </a:r>
          </a:p>
          <a:p>
            <a:pPr fontAlgn="base"/>
            <a:r>
              <a:rPr lang="en-US" sz="2000" dirty="0"/>
              <a:t>Prepare a Test Summary Report (test cases executed, pass/fail count, defects found/resolved).</a:t>
            </a:r>
          </a:p>
          <a:p>
            <a:pPr fontAlgn="base"/>
            <a:r>
              <a:rPr lang="en-US" sz="2000" dirty="0"/>
              <a:t>Ensure all defects are tracked and closed.</a:t>
            </a:r>
          </a:p>
          <a:p>
            <a:pPr fontAlgn="base"/>
            <a:r>
              <a:rPr lang="en-US" sz="2000" dirty="0"/>
              <a:t>Clean up the test environment.</a:t>
            </a:r>
          </a:p>
          <a:p>
            <a:pPr fontAlgn="base"/>
            <a:r>
              <a:rPr lang="en-US" sz="2000" dirty="0"/>
              <a:t>Archive test cases, data and reports.</a:t>
            </a:r>
          </a:p>
          <a:p>
            <a:pPr fontAlgn="base"/>
            <a:r>
              <a:rPr lang="en-US" sz="2000" dirty="0"/>
              <a:t>Conduct a retrospective for lessons learned.</a:t>
            </a:r>
          </a:p>
          <a:p>
            <a:pPr fontAlgn="base"/>
            <a:r>
              <a:rPr lang="en-US" sz="2000" dirty="0"/>
              <a:t>Share knowledge with stakeholders.</a:t>
            </a:r>
          </a:p>
          <a:p>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sz="4000" dirty="0"/>
            </a:br>
            <a:br>
              <a:rPr lang="en-US" sz="4000" dirty="0"/>
            </a:br>
            <a:r>
              <a:rPr lang="en-US" sz="4000" dirty="0"/>
              <a:t>Software Testing Strategies &amp; Techniques 	</a:t>
            </a:r>
            <a:br>
              <a:rPr lang="en-US" dirty="0"/>
            </a:br>
            <a:endParaRPr lang="en-US" dirty="0"/>
          </a:p>
        </p:txBody>
      </p:sp>
      <p:sp>
        <p:nvSpPr>
          <p:cNvPr id="3" name="Content Placeholder 2"/>
          <p:cNvSpPr>
            <a:spLocks noGrp="1"/>
          </p:cNvSpPr>
          <p:nvPr>
            <p:ph idx="1"/>
          </p:nvPr>
        </p:nvSpPr>
        <p:spPr/>
        <p:txBody>
          <a:bodyPr>
            <a:normAutofit fontScale="85000" lnSpcReduction="20000"/>
          </a:bodyPr>
          <a:lstStyle/>
          <a:p>
            <a:pPr marL="514350" indent="-514350" fontAlgn="base">
              <a:buFont typeface="+mj-lt"/>
              <a:buAutoNum type="arabicPeriod"/>
            </a:pPr>
            <a:r>
              <a:rPr lang="en-US" sz="3100" b="1" dirty="0"/>
              <a:t>Black box testing</a:t>
            </a:r>
            <a:r>
              <a:rPr lang="en-US" sz="3100" dirty="0"/>
              <a:t>- Tests the functionality of the software without looking at the internal code structure.</a:t>
            </a:r>
          </a:p>
          <a:p>
            <a:pPr marL="514350" indent="-514350" fontAlgn="base">
              <a:buFont typeface="+mj-lt"/>
              <a:buAutoNum type="arabicPeriod"/>
            </a:pPr>
            <a:r>
              <a:rPr lang="en-US" sz="3100" b="1" dirty="0"/>
              <a:t>White box testing</a:t>
            </a:r>
            <a:r>
              <a:rPr lang="en-US" sz="3100" dirty="0"/>
              <a:t> - Tests the internal code structure and logic of the software.</a:t>
            </a:r>
          </a:p>
          <a:p>
            <a:pPr marL="514350" indent="-514350" fontAlgn="base">
              <a:buFont typeface="+mj-lt"/>
              <a:buAutoNum type="arabicPeriod"/>
            </a:pPr>
            <a:r>
              <a:rPr lang="en-US" sz="3100" b="1" dirty="0"/>
              <a:t>Unit testing</a:t>
            </a:r>
            <a:r>
              <a:rPr lang="en-US" sz="3100" b="1" u="sng" dirty="0"/>
              <a:t> </a:t>
            </a:r>
            <a:r>
              <a:rPr lang="en-US" sz="3100" dirty="0"/>
              <a:t>- Tests individual units or components of the software to ensure they are functioning as intended.</a:t>
            </a:r>
          </a:p>
          <a:p>
            <a:pPr marL="514350" indent="-514350" fontAlgn="base">
              <a:buFont typeface="+mj-lt"/>
              <a:buAutoNum type="arabicPeriod"/>
            </a:pPr>
            <a:r>
              <a:rPr lang="en-US" sz="3100" b="1" dirty="0"/>
              <a:t>Integration testing</a:t>
            </a:r>
            <a:r>
              <a:rPr lang="en-US" sz="3100" dirty="0"/>
              <a:t>- Tests the integration of different components of the software to ensure they work together as a system.</a:t>
            </a:r>
          </a:p>
          <a:p>
            <a:pPr marL="514350" indent="-514350" fontAlgn="base">
              <a:buFont typeface="+mj-lt"/>
              <a:buAutoNum type="arabicPeriod"/>
            </a:pPr>
            <a:r>
              <a:rPr lang="en-US" sz="3100" b="1" dirty="0"/>
              <a:t>Functional testing</a:t>
            </a:r>
            <a:r>
              <a:rPr lang="en-US" sz="3100" dirty="0"/>
              <a:t>- Tests the functional requirements of the software to ensure they are met.</a:t>
            </a:r>
          </a:p>
          <a:p>
            <a:pPr>
              <a:buNone/>
            </a:pPr>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t>Software Testing Strategies &amp; Techniques</a:t>
            </a:r>
          </a:p>
        </p:txBody>
      </p:sp>
      <p:sp>
        <p:nvSpPr>
          <p:cNvPr id="3" name="Content Placeholder 2"/>
          <p:cNvSpPr>
            <a:spLocks noGrp="1"/>
          </p:cNvSpPr>
          <p:nvPr>
            <p:ph idx="1"/>
          </p:nvPr>
        </p:nvSpPr>
        <p:spPr/>
        <p:txBody>
          <a:bodyPr>
            <a:normAutofit fontScale="77500" lnSpcReduction="20000"/>
          </a:bodyPr>
          <a:lstStyle/>
          <a:p>
            <a:pPr marL="514350" indent="-514350" fontAlgn="base">
              <a:buAutoNum type="arabicPeriod" startAt="6"/>
            </a:pPr>
            <a:r>
              <a:rPr lang="en-US" b="1" dirty="0"/>
              <a:t>System testing</a:t>
            </a:r>
            <a:r>
              <a:rPr lang="en-US" dirty="0"/>
              <a:t>- Tests the complete software system to ensure it meets the specified requirements.</a:t>
            </a:r>
          </a:p>
          <a:p>
            <a:pPr marL="514350" indent="-514350" fontAlgn="base">
              <a:buAutoNum type="arabicPeriod" startAt="6"/>
            </a:pPr>
            <a:r>
              <a:rPr lang="en-US" b="1" dirty="0"/>
              <a:t>Acceptance testing</a:t>
            </a:r>
            <a:r>
              <a:rPr lang="en-US" dirty="0"/>
              <a:t> - Tests the software to ensure it meets the customer's or end-user's expectations.</a:t>
            </a:r>
          </a:p>
          <a:p>
            <a:pPr marL="514350" indent="-514350" fontAlgn="base">
              <a:buAutoNum type="arabicPeriod" startAt="6"/>
            </a:pPr>
            <a:r>
              <a:rPr lang="en-US" b="1" dirty="0"/>
              <a:t>Regression testing</a:t>
            </a:r>
            <a:r>
              <a:rPr lang="en-US" dirty="0"/>
              <a:t> - Tests the software after changes or modifications have been made to ensure the changes have not introduced new defects.</a:t>
            </a:r>
          </a:p>
          <a:p>
            <a:pPr marL="514350" indent="-514350" fontAlgn="base">
              <a:buAutoNum type="arabicPeriod" startAt="6"/>
            </a:pPr>
            <a:r>
              <a:rPr lang="en-US" b="1" dirty="0"/>
              <a:t>Performance testing </a:t>
            </a:r>
            <a:r>
              <a:rPr lang="en-US" dirty="0"/>
              <a:t>- Tests the software to determine its performance characteristics such as speed, scalability, and stability.</a:t>
            </a:r>
          </a:p>
          <a:p>
            <a:pPr marL="514350" indent="-514350" fontAlgn="base">
              <a:buAutoNum type="arabicPeriod" startAt="6"/>
            </a:pPr>
            <a:r>
              <a:rPr lang="en-US" b="1" dirty="0"/>
              <a:t>Security testing</a:t>
            </a:r>
            <a:r>
              <a:rPr lang="en-US" dirty="0"/>
              <a:t>- Tests the software to identify vulnerabilities and ensure it meets security requirements.</a:t>
            </a:r>
          </a:p>
          <a:p>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dirty="0"/>
            </a:br>
            <a:r>
              <a:rPr lang="en-US" sz="5300" dirty="0"/>
              <a:t>Black Box Testing 	</a:t>
            </a:r>
            <a:br>
              <a:rPr lang="en-US" dirty="0"/>
            </a:br>
            <a:endParaRPr lang="en-US" dirty="0"/>
          </a:p>
        </p:txBody>
      </p:sp>
      <p:sp>
        <p:nvSpPr>
          <p:cNvPr id="3" name="Content Placeholder 2"/>
          <p:cNvSpPr>
            <a:spLocks noGrp="1"/>
          </p:cNvSpPr>
          <p:nvPr>
            <p:ph idx="1"/>
          </p:nvPr>
        </p:nvSpPr>
        <p:spPr/>
        <p:txBody>
          <a:bodyPr>
            <a:normAutofit fontScale="92500" lnSpcReduction="10000"/>
          </a:bodyPr>
          <a:lstStyle/>
          <a:p>
            <a:r>
              <a:rPr lang="en-US" sz="1800" dirty="0">
                <a:latin typeface="Times New Roman" panose="02020603050405020304" pitchFamily="18" charset="0"/>
                <a:cs typeface="Times New Roman" panose="02020603050405020304" pitchFamily="18" charset="0"/>
              </a:rPr>
              <a:t>Black Box Testing is a method of software testing in which a tester does not know the internal design/ implementation/ structure of the tested item.</a:t>
            </a:r>
          </a:p>
          <a:p>
            <a:r>
              <a:rPr lang="en-US" sz="1800" dirty="0">
                <a:latin typeface="Times New Roman" panose="02020603050405020304" pitchFamily="18" charset="0"/>
                <a:cs typeface="Times New Roman" panose="02020603050405020304" pitchFamily="18" charset="0"/>
              </a:rPr>
              <a:t>The Black Box only evaluates the external behavior of the system. </a:t>
            </a:r>
          </a:p>
          <a:p>
            <a:r>
              <a:rPr lang="en-US" sz="1800" dirty="0">
                <a:latin typeface="Times New Roman" panose="02020603050405020304" pitchFamily="18" charset="0"/>
                <a:cs typeface="Times New Roman" panose="02020603050405020304" pitchFamily="18" charset="0"/>
              </a:rPr>
              <a:t>The inputs received by the system and the outputs or responses it produces are tested.</a:t>
            </a:r>
          </a:p>
          <a:p>
            <a:pPr marL="0" indent="0">
              <a:buNone/>
            </a:pPr>
            <a:endParaRPr lang="en-US" sz="1800" b="1" dirty="0">
              <a:latin typeface="Times New Roman" panose="02020603050405020304" pitchFamily="18" charset="0"/>
              <a:cs typeface="Times New Roman" panose="02020603050405020304" pitchFamily="18" charset="0"/>
            </a:endParaRPr>
          </a:p>
          <a:p>
            <a:pPr marL="0" indent="0">
              <a:buNone/>
            </a:pPr>
            <a:endParaRPr lang="en-US" sz="1800" b="1"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1800" b="1" dirty="0">
                <a:latin typeface="Times New Roman" panose="02020603050405020304" pitchFamily="18" charset="0"/>
                <a:cs typeface="Times New Roman" panose="02020603050405020304" pitchFamily="18" charset="0"/>
              </a:rPr>
              <a:t>Advantages of Black Box Testing</a:t>
            </a:r>
          </a:p>
          <a:p>
            <a:pPr marL="514350" indent="-514350">
              <a:buFont typeface="+mj-lt"/>
              <a:buAutoNum type="arabicPeriod"/>
            </a:pPr>
            <a:r>
              <a:rPr lang="en-US" sz="1800" dirty="0">
                <a:latin typeface="Times New Roman" panose="02020603050405020304" pitchFamily="18" charset="0"/>
                <a:cs typeface="Times New Roman" panose="02020603050405020304" pitchFamily="18" charset="0"/>
              </a:rPr>
              <a:t>It can be implemented without the tester having functional knowledge or programming skills.</a:t>
            </a:r>
          </a:p>
          <a:p>
            <a:pPr marL="514350" indent="-514350">
              <a:buFont typeface="+mj-lt"/>
              <a:buAutoNum type="arabicPeriod"/>
            </a:pPr>
            <a:r>
              <a:rPr lang="en-US" sz="1800" dirty="0">
                <a:latin typeface="Times New Roman" panose="02020603050405020304" pitchFamily="18" charset="0"/>
                <a:cs typeface="Times New Roman" panose="02020603050405020304" pitchFamily="18" charset="0"/>
              </a:rPr>
              <a:t>It mirrors the user’s perspective and ensures that the software meets user expectations and requirements.</a:t>
            </a:r>
          </a:p>
          <a:p>
            <a:pPr marL="514350" indent="-514350">
              <a:buFont typeface="+mj-lt"/>
              <a:buAutoNum type="arabicPeriod"/>
            </a:pPr>
            <a:r>
              <a:rPr lang="en-US" sz="1800" dirty="0">
                <a:latin typeface="Times New Roman" panose="02020603050405020304" pitchFamily="18" charset="0"/>
                <a:cs typeface="Times New Roman" panose="02020603050405020304" pitchFamily="18" charset="0"/>
              </a:rPr>
              <a:t>Tester’s testing is unbiased and purely based on specifications because they are not aware of internal workings.</a:t>
            </a:r>
          </a:p>
          <a:p>
            <a:pPr marL="514350" indent="-514350">
              <a:buFont typeface="+mj-lt"/>
              <a:buAutoNum type="arabicPeriod"/>
            </a:pPr>
            <a:r>
              <a:rPr lang="en-US" sz="1800" dirty="0">
                <a:latin typeface="Times New Roman" panose="02020603050405020304" pitchFamily="18" charset="0"/>
                <a:cs typeface="Times New Roman" panose="02020603050405020304" pitchFamily="18" charset="0"/>
              </a:rPr>
              <a:t>It can be applied at all levels of software testing: unit testing, integration, system, etc.</a:t>
            </a:r>
          </a:p>
          <a:p>
            <a:pPr marL="0" indent="0">
              <a:buNone/>
            </a:pPr>
            <a:br>
              <a:rPr lang="en-US" sz="1800" dirty="0">
                <a:latin typeface="Times New Roman" panose="02020603050405020304" pitchFamily="18" charset="0"/>
                <a:cs typeface="Times New Roman" panose="02020603050405020304" pitchFamily="18" charset="0"/>
              </a:rPr>
            </a:br>
            <a:endParaRPr lang="en-US" sz="1800" dirty="0">
              <a:latin typeface="Times New Roman" panose="02020603050405020304" pitchFamily="18" charset="0"/>
              <a:cs typeface="Times New Roman" panose="02020603050405020304" pitchFamily="18" charset="0"/>
            </a:endParaRPr>
          </a:p>
        </p:txBody>
      </p:sp>
      <p:sp>
        <p:nvSpPr>
          <p:cNvPr id="6" name="AutoShape 4" descr="black-box-testing">
            <a:extLst>
              <a:ext uri="{FF2B5EF4-FFF2-40B4-BE49-F238E27FC236}">
                <a16:creationId xmlns:a16="http://schemas.microsoft.com/office/drawing/2014/main" id="{79741633-DB9B-4B41-B9F7-4FFFD0FA9D69}"/>
              </a:ext>
            </a:extLst>
          </p:cNvPr>
          <p:cNvSpPr>
            <a:spLocks noChangeAspect="1" noChangeArrowheads="1"/>
          </p:cNvSpPr>
          <p:nvPr/>
        </p:nvSpPr>
        <p:spPr bwMode="auto">
          <a:xfrm>
            <a:off x="4419600" y="3276600"/>
            <a:ext cx="304800" cy="159256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B461D5-A7CF-42F5-BA92-D2F03789E1C0}"/>
              </a:ext>
            </a:extLst>
          </p:cNvPr>
          <p:cNvSpPr>
            <a:spLocks noGrp="1"/>
          </p:cNvSpPr>
          <p:nvPr>
            <p:ph type="title"/>
          </p:nvPr>
        </p:nvSpPr>
        <p:spPr/>
        <p:txBody>
          <a:bodyPr/>
          <a:lstStyle/>
          <a:p>
            <a:r>
              <a:rPr lang="en-US" dirty="0"/>
              <a:t>Black Box Testing 	</a:t>
            </a:r>
            <a:endParaRPr lang="en-IN" dirty="0"/>
          </a:p>
        </p:txBody>
      </p:sp>
      <p:pic>
        <p:nvPicPr>
          <p:cNvPr id="4" name="Content Placeholder 3">
            <a:extLst>
              <a:ext uri="{FF2B5EF4-FFF2-40B4-BE49-F238E27FC236}">
                <a16:creationId xmlns:a16="http://schemas.microsoft.com/office/drawing/2014/main" id="{9F07A952-FD6D-4AD5-B02C-643772A50FDB}"/>
              </a:ext>
            </a:extLst>
          </p:cNvPr>
          <p:cNvPicPr>
            <a:picLocks noGrp="1" noChangeAspect="1"/>
          </p:cNvPicPr>
          <p:nvPr>
            <p:ph idx="1"/>
          </p:nvPr>
        </p:nvPicPr>
        <p:blipFill>
          <a:blip r:embed="rId2"/>
          <a:stretch>
            <a:fillRect/>
          </a:stretch>
        </p:blipFill>
        <p:spPr>
          <a:xfrm>
            <a:off x="683568" y="1916832"/>
            <a:ext cx="7336717" cy="3448257"/>
          </a:xfrm>
          <a:prstGeom prst="rect">
            <a:avLst/>
          </a:prstGeom>
        </p:spPr>
      </p:pic>
    </p:spTree>
    <p:extLst>
      <p:ext uri="{BB962C8B-B14F-4D97-AF65-F5344CB8AC3E}">
        <p14:creationId xmlns:p14="http://schemas.microsoft.com/office/powerpoint/2010/main" val="2288235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White Box Testing</a:t>
            </a:r>
            <a:endParaRPr lang="en-US" dirty="0"/>
          </a:p>
        </p:txBody>
      </p:sp>
      <p:sp>
        <p:nvSpPr>
          <p:cNvPr id="3" name="Content Placeholder 2"/>
          <p:cNvSpPr>
            <a:spLocks noGrp="1"/>
          </p:cNvSpPr>
          <p:nvPr>
            <p:ph idx="1"/>
          </p:nvPr>
        </p:nvSpPr>
        <p:spPr/>
        <p:txBody>
          <a:bodyPr/>
          <a:lstStyle/>
          <a:p>
            <a:r>
              <a:rPr lang="en-US" sz="2400" dirty="0"/>
              <a:t>White Box Testing is a method of software testing in which the user knows the internal design/ implementation/ structure of the tested item.</a:t>
            </a:r>
          </a:p>
          <a:p>
            <a:r>
              <a:rPr lang="en-US" sz="2400" dirty="0"/>
              <a:t>The tester has access to the source code and uses this knowledge to design test cases that can verify the correctness of the software at the code level.</a:t>
            </a:r>
          </a:p>
          <a:p>
            <a:r>
              <a:rPr lang="en-US" dirty="0"/>
              <a:t> This method requires the tester to have in-depth knowledge of a software’s structure and programming language.</a:t>
            </a:r>
            <a:endParaRPr lang="en-US" sz="2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a:t>White Box Testing</a:t>
            </a:r>
            <a:endParaRPr lang="en-US" dirty="0"/>
          </a:p>
        </p:txBody>
      </p:sp>
      <p:pic>
        <p:nvPicPr>
          <p:cNvPr id="5" name="Content Placeholder 4" descr="Capture.PNG"/>
          <p:cNvPicPr>
            <a:picLocks noGrp="1" noChangeAspect="1"/>
          </p:cNvPicPr>
          <p:nvPr>
            <p:ph idx="1"/>
          </p:nvPr>
        </p:nvPicPr>
        <p:blipFill>
          <a:blip r:embed="rId2"/>
          <a:stretch>
            <a:fillRect/>
          </a:stretch>
        </p:blipFill>
        <p:spPr>
          <a:xfrm>
            <a:off x="939555" y="1600200"/>
            <a:ext cx="7264890" cy="4525963"/>
          </a:xfr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EEA530-507D-4EF3-BF69-0164DBB86DC6}"/>
              </a:ext>
            </a:extLst>
          </p:cNvPr>
          <p:cNvSpPr>
            <a:spLocks noGrp="1"/>
          </p:cNvSpPr>
          <p:nvPr>
            <p:ph type="title"/>
          </p:nvPr>
        </p:nvSpPr>
        <p:spPr/>
        <p:txBody>
          <a:bodyPr>
            <a:normAutofit fontScale="90000"/>
          </a:bodyPr>
          <a:lstStyle/>
          <a:p>
            <a:br>
              <a:rPr lang="en-IN" dirty="0"/>
            </a:br>
            <a:r>
              <a:rPr lang="en-IN" dirty="0"/>
              <a:t>Level of Testing 	</a:t>
            </a:r>
            <a:br>
              <a:rPr lang="en-IN" dirty="0"/>
            </a:br>
            <a:endParaRPr lang="en-IN" dirty="0"/>
          </a:p>
        </p:txBody>
      </p:sp>
      <p:sp>
        <p:nvSpPr>
          <p:cNvPr id="3" name="Content Placeholder 2">
            <a:extLst>
              <a:ext uri="{FF2B5EF4-FFF2-40B4-BE49-F238E27FC236}">
                <a16:creationId xmlns:a16="http://schemas.microsoft.com/office/drawing/2014/main" id="{8015B75B-65E1-4E5D-87B9-DDC562EBE32A}"/>
              </a:ext>
            </a:extLst>
          </p:cNvPr>
          <p:cNvSpPr>
            <a:spLocks noGrp="1"/>
          </p:cNvSpPr>
          <p:nvPr>
            <p:ph idx="1"/>
          </p:nvPr>
        </p:nvSpPr>
        <p:spPr>
          <a:xfrm>
            <a:off x="457200" y="1600200"/>
            <a:ext cx="8229600" cy="4853136"/>
          </a:xfrm>
        </p:spPr>
        <p:txBody>
          <a:bodyPr>
            <a:normAutofit/>
          </a:bodyPr>
          <a:lstStyle/>
          <a:p>
            <a:pPr>
              <a:buFont typeface="Wingdings" panose="05000000000000000000" pitchFamily="2" charset="2"/>
              <a:buChar char="Ø"/>
            </a:pPr>
            <a:r>
              <a:rPr lang="en-IN" dirty="0"/>
              <a:t>Unit Testing :-	</a:t>
            </a:r>
          </a:p>
          <a:p>
            <a:r>
              <a:rPr lang="en-US" sz="2400" dirty="0"/>
              <a:t>Unit testing is a software testing technique which allows developers to test small, individual parts, or units, of an application by themselves.</a:t>
            </a:r>
          </a:p>
          <a:p>
            <a:r>
              <a:rPr lang="en-US" sz="2400" dirty="0"/>
              <a:t>A unit might be a function, a method, or an object in object-orientated code.</a:t>
            </a:r>
          </a:p>
          <a:p>
            <a:r>
              <a:rPr lang="en-US" sz="2400" dirty="0"/>
              <a:t>The purpose of unit testing is to ensure that each unit functions as planned before developing larger units around it.</a:t>
            </a:r>
          </a:p>
          <a:p>
            <a:pPr marL="0" indent="0">
              <a:buNone/>
            </a:pPr>
            <a:endParaRPr lang="en-IN" dirty="0"/>
          </a:p>
        </p:txBody>
      </p:sp>
    </p:spTree>
    <p:extLst>
      <p:ext uri="{BB962C8B-B14F-4D97-AF65-F5344CB8AC3E}">
        <p14:creationId xmlns:p14="http://schemas.microsoft.com/office/powerpoint/2010/main" val="184196800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5D469B-2818-4BA7-8103-1116B802E691}"/>
              </a:ext>
            </a:extLst>
          </p:cNvPr>
          <p:cNvSpPr>
            <a:spLocks noGrp="1"/>
          </p:cNvSpPr>
          <p:nvPr>
            <p:ph type="title"/>
          </p:nvPr>
        </p:nvSpPr>
        <p:spPr/>
        <p:txBody>
          <a:bodyPr/>
          <a:lstStyle/>
          <a:p>
            <a:r>
              <a:rPr lang="en-IN" dirty="0"/>
              <a:t>Level of Testing</a:t>
            </a:r>
          </a:p>
        </p:txBody>
      </p:sp>
      <p:sp>
        <p:nvSpPr>
          <p:cNvPr id="3" name="Content Placeholder 2">
            <a:extLst>
              <a:ext uri="{FF2B5EF4-FFF2-40B4-BE49-F238E27FC236}">
                <a16:creationId xmlns:a16="http://schemas.microsoft.com/office/drawing/2014/main" id="{BA6A67AA-4AB5-4461-8A47-4B00F9A6AFE5}"/>
              </a:ext>
            </a:extLst>
          </p:cNvPr>
          <p:cNvSpPr>
            <a:spLocks noGrp="1"/>
          </p:cNvSpPr>
          <p:nvPr>
            <p:ph idx="1"/>
          </p:nvPr>
        </p:nvSpPr>
        <p:spPr/>
        <p:txBody>
          <a:bodyPr>
            <a:normAutofit fontScale="70000" lnSpcReduction="20000"/>
          </a:bodyPr>
          <a:lstStyle/>
          <a:p>
            <a:pPr>
              <a:buFont typeface="Wingdings" panose="05000000000000000000" pitchFamily="2" charset="2"/>
              <a:buChar char="Ø"/>
            </a:pPr>
            <a:r>
              <a:rPr lang="en-IN" dirty="0"/>
              <a:t>Integration Testing :-</a:t>
            </a:r>
          </a:p>
          <a:p>
            <a:pPr fontAlgn="base"/>
            <a:r>
              <a:rPr lang="en-US" dirty="0"/>
              <a:t>The goal of Integration Testing</a:t>
            </a:r>
            <a:r>
              <a:rPr lang="en-US" b="1" u="sng" dirty="0"/>
              <a:t> </a:t>
            </a:r>
            <a:r>
              <a:rPr lang="en-US" dirty="0"/>
              <a:t>is to identify any problems or bugs that arise when different components are combined and interact with each other.</a:t>
            </a:r>
          </a:p>
          <a:p>
            <a:pPr fontAlgn="base"/>
            <a:r>
              <a:rPr lang="en-US" dirty="0"/>
              <a:t>It mainly tests interface between two software units or modules. </a:t>
            </a:r>
          </a:p>
          <a:p>
            <a:pPr fontAlgn="base"/>
            <a:r>
              <a:rPr lang="en-US" dirty="0"/>
              <a:t>It focuses on determining the correctness of the interface. </a:t>
            </a:r>
          </a:p>
          <a:p>
            <a:pPr fontAlgn="base"/>
            <a:r>
              <a:rPr lang="en-US" dirty="0"/>
              <a:t>Once all the modules have been unit-tested, integration testing is performed.</a:t>
            </a:r>
          </a:p>
          <a:p>
            <a:pPr fontAlgn="base"/>
            <a:r>
              <a:rPr lang="en-US" dirty="0"/>
              <a:t>Integration testing can be done by picking module by module. </a:t>
            </a:r>
          </a:p>
          <a:p>
            <a:pPr fontAlgn="base"/>
            <a:r>
              <a:rPr lang="en-US" dirty="0"/>
              <a:t>This can be done so that there is a proper sequence to be followed.</a:t>
            </a:r>
          </a:p>
          <a:p>
            <a:pPr fontAlgn="base"/>
            <a:r>
              <a:rPr lang="en-US" dirty="0"/>
              <a:t>Exposing the defects is the major focus of the integration testing and the time of interaction between the integrated units.</a:t>
            </a:r>
          </a:p>
          <a:p>
            <a:pPr marL="0" indent="0">
              <a:buNone/>
            </a:pPr>
            <a:endParaRPr lang="en-IN" dirty="0"/>
          </a:p>
        </p:txBody>
      </p:sp>
    </p:spTree>
    <p:extLst>
      <p:ext uri="{BB962C8B-B14F-4D97-AF65-F5344CB8AC3E}">
        <p14:creationId xmlns:p14="http://schemas.microsoft.com/office/powerpoint/2010/main" val="239308176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41E273-4307-4B61-8D18-ABC803F0FFDE}"/>
              </a:ext>
            </a:extLst>
          </p:cNvPr>
          <p:cNvSpPr>
            <a:spLocks noGrp="1"/>
          </p:cNvSpPr>
          <p:nvPr>
            <p:ph type="title"/>
          </p:nvPr>
        </p:nvSpPr>
        <p:spPr/>
        <p:txBody>
          <a:bodyPr/>
          <a:lstStyle/>
          <a:p>
            <a:r>
              <a:rPr lang="en-IN" dirty="0"/>
              <a:t>Level of Testing</a:t>
            </a:r>
          </a:p>
        </p:txBody>
      </p:sp>
      <p:sp>
        <p:nvSpPr>
          <p:cNvPr id="3" name="Content Placeholder 2">
            <a:extLst>
              <a:ext uri="{FF2B5EF4-FFF2-40B4-BE49-F238E27FC236}">
                <a16:creationId xmlns:a16="http://schemas.microsoft.com/office/drawing/2014/main" id="{B56A7475-1A1D-4467-9170-6B55D83DABA2}"/>
              </a:ext>
            </a:extLst>
          </p:cNvPr>
          <p:cNvSpPr>
            <a:spLocks noGrp="1"/>
          </p:cNvSpPr>
          <p:nvPr>
            <p:ph idx="1"/>
          </p:nvPr>
        </p:nvSpPr>
        <p:spPr>
          <a:xfrm>
            <a:off x="457200" y="1268760"/>
            <a:ext cx="8229600" cy="5589240"/>
          </a:xfrm>
        </p:spPr>
        <p:txBody>
          <a:bodyPr>
            <a:normAutofit fontScale="70000" lnSpcReduction="20000"/>
          </a:bodyPr>
          <a:lstStyle/>
          <a:p>
            <a:pPr>
              <a:buFont typeface="Wingdings" panose="05000000000000000000" pitchFamily="2" charset="2"/>
              <a:buChar char="Ø"/>
            </a:pPr>
            <a:r>
              <a:rPr lang="en-IN" dirty="0"/>
              <a:t>System Testing :-</a:t>
            </a:r>
          </a:p>
          <a:p>
            <a:pPr fontAlgn="base"/>
            <a:r>
              <a:rPr lang="en-US" dirty="0"/>
              <a:t>The goal of integration testing is to detect any irregularity between the units that are integrated. </a:t>
            </a:r>
          </a:p>
          <a:p>
            <a:pPr fontAlgn="base"/>
            <a:r>
              <a:rPr lang="en-US" dirty="0"/>
              <a:t>System testing detects defects within both the integrated units and the whole system. </a:t>
            </a:r>
          </a:p>
          <a:p>
            <a:pPr fontAlgn="base"/>
            <a:r>
              <a:rPr lang="en-US" dirty="0"/>
              <a:t>The result of system testing is the observed behavior of a component or a system when it is tested.</a:t>
            </a:r>
          </a:p>
          <a:p>
            <a:pPr fontAlgn="base"/>
            <a:r>
              <a:rPr lang="en-US" dirty="0"/>
              <a:t>System Testing is carried out on the whole system in the context of either system requirement specifications or functional requirement specifications or the context of both. </a:t>
            </a:r>
          </a:p>
          <a:p>
            <a:pPr fontAlgn="base"/>
            <a:r>
              <a:rPr lang="en-US" dirty="0"/>
              <a:t>System testing tests the design and behavior of the system and also the expectations of the customer.</a:t>
            </a:r>
          </a:p>
          <a:p>
            <a:pPr fontAlgn="base"/>
            <a:r>
              <a:rPr lang="en-US" dirty="0"/>
              <a:t>It is performed to test the system beyond the bounds mentioned in the software requirements specification (SRS). </a:t>
            </a:r>
          </a:p>
          <a:p>
            <a:pPr fontAlgn="base"/>
            <a:r>
              <a:rPr lang="en-US" dirty="0"/>
              <a:t>System Testing is performed by a testing team that is independent of the development team and helps to test the quality of the system impartial.</a:t>
            </a:r>
          </a:p>
          <a:p>
            <a:pPr marL="0" indent="0">
              <a:buNone/>
            </a:pPr>
            <a:endParaRPr lang="en-IN" dirty="0"/>
          </a:p>
        </p:txBody>
      </p:sp>
    </p:spTree>
    <p:extLst>
      <p:ext uri="{BB962C8B-B14F-4D97-AF65-F5344CB8AC3E}">
        <p14:creationId xmlns:p14="http://schemas.microsoft.com/office/powerpoint/2010/main" val="322779364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972</TotalTime>
  <Words>1648</Words>
  <Application>Microsoft Office PowerPoint</Application>
  <PresentationFormat>On-screen Show (4:3)</PresentationFormat>
  <Paragraphs>127</Paragraphs>
  <Slides>20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Arial</vt:lpstr>
      <vt:lpstr>Calibri</vt:lpstr>
      <vt:lpstr>Times New Roman</vt:lpstr>
      <vt:lpstr>Wingdings</vt:lpstr>
      <vt:lpstr>Office Theme</vt:lpstr>
      <vt:lpstr>Unit-5  Software Testing </vt:lpstr>
      <vt:lpstr> Introduction to Software Testing   </vt:lpstr>
      <vt:lpstr>Introduction to Software Testing</vt:lpstr>
      <vt:lpstr> Software Testing Life Cycle (STLC)   </vt:lpstr>
      <vt:lpstr>Software Testing Life Cycle (STLC)</vt:lpstr>
      <vt:lpstr>Software Testing Life Cycle (STLC)</vt:lpstr>
      <vt:lpstr>Software Testing Life Cycle (STLC)</vt:lpstr>
      <vt:lpstr>Software Testing Life Cycle (STLC)</vt:lpstr>
      <vt:lpstr>Software Testing Life Cycle (STLC)</vt:lpstr>
      <vt:lpstr>Software Testing Life Cycle (STLC)</vt:lpstr>
      <vt:lpstr>Software Testing Life Cycle (STLC)</vt:lpstr>
      <vt:lpstr>  Software Testing Strategies &amp; Techniques   </vt:lpstr>
      <vt:lpstr>Software Testing Strategies &amp; Techniques</vt:lpstr>
      <vt:lpstr> Black Box Testing   </vt:lpstr>
      <vt:lpstr>Black Box Testing  </vt:lpstr>
      <vt:lpstr>White Box Testing</vt:lpstr>
      <vt:lpstr>White Box Testing</vt:lpstr>
      <vt:lpstr> Level of Testing   </vt:lpstr>
      <vt:lpstr>Level of Testing</vt:lpstr>
      <vt:lpstr>Level of Testing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Unit-5  Software Testing </dc:title>
  <dc:creator>Windows User</dc:creator>
  <cp:lastModifiedBy>Windows User</cp:lastModifiedBy>
  <cp:revision>96</cp:revision>
  <dcterms:created xsi:type="dcterms:W3CDTF">2026-02-16T05:41:12Z</dcterms:created>
  <dcterms:modified xsi:type="dcterms:W3CDTF">2026-03-30T09:09:11Z</dcterms:modified>
</cp:coreProperties>
</file>