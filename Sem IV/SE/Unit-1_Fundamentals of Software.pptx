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65" r:id="rId5"/>
    <p:sldId id="259" r:id="rId6"/>
    <p:sldId id="267" r:id="rId7"/>
    <p:sldId id="260" r:id="rId8"/>
    <p:sldId id="268" r:id="rId9"/>
    <p:sldId id="261" r:id="rId10"/>
    <p:sldId id="276" r:id="rId11"/>
    <p:sldId id="262" r:id="rId12"/>
    <p:sldId id="269" r:id="rId13"/>
    <p:sldId id="270" r:id="rId14"/>
    <p:sldId id="271" r:id="rId15"/>
    <p:sldId id="263" r:id="rId16"/>
    <p:sldId id="272" r:id="rId17"/>
    <p:sldId id="273" r:id="rId18"/>
    <p:sldId id="274" r:id="rId19"/>
    <p:sldId id="275" r:id="rId20"/>
    <p:sldId id="26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F332BAC1-9F71-4F7F-B01B-BB246F0190D3}" type="datetimeFigureOut">
              <a:rPr lang="en-US" smtClean="0"/>
              <a:pPr/>
              <a:t>11/18/2025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1993BF7-525C-4D16-9908-3F95F4DDD6B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1993BF7-525C-4D16-9908-3F95F4DDD6BE}"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1993BF7-525C-4D16-9908-3F95F4DDD6BE}"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1993BF7-525C-4D16-9908-3F95F4DDD6BE}"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1993BF7-525C-4D16-9908-3F95F4DDD6B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1993BF7-525C-4D16-9908-3F95F4DDD6BE}"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1993BF7-525C-4D16-9908-3F95F4DDD6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F332BAC1-9F71-4F7F-B01B-BB246F0190D3}" type="datetimeFigureOut">
              <a:rPr lang="en-US" smtClean="0"/>
              <a:pPr/>
              <a:t>11/18/2025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1993BF7-525C-4D16-9908-3F95F4DDD6B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F332BAC1-9F71-4F7F-B01B-BB246F0190D3}" type="datetimeFigureOut">
              <a:rPr lang="en-US" smtClean="0"/>
              <a:pPr/>
              <a:t>11/18/2025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1993BF7-525C-4D16-9908-3F95F4DDD6BE}"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1993BF7-525C-4D16-9908-3F95F4DDD6B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332BAC1-9F71-4F7F-B01B-BB246F0190D3}" type="datetimeFigureOut">
              <a:rPr lang="en-US" smtClean="0"/>
              <a:pPr/>
              <a:t>11/18/2025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1993BF7-525C-4D16-9908-3F95F4DDD6B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F332BAC1-9F71-4F7F-B01B-BB246F0190D3}" type="datetimeFigureOut">
              <a:rPr lang="en-US" smtClean="0"/>
              <a:pPr/>
              <a:t>11/18/2025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1993BF7-525C-4D16-9908-3F95F4DDD6B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5400" dirty="0" smtClean="0"/>
              <a:t>Software Engineering</a:t>
            </a:r>
            <a:endParaRPr lang="en-US" sz="5400" dirty="0"/>
          </a:p>
        </p:txBody>
      </p:sp>
      <p:sp>
        <p:nvSpPr>
          <p:cNvPr id="3" name="Subtitle 2"/>
          <p:cNvSpPr>
            <a:spLocks noGrp="1"/>
          </p:cNvSpPr>
          <p:nvPr>
            <p:ph type="subTitle" idx="1"/>
          </p:nvPr>
        </p:nvSpPr>
        <p:spPr/>
        <p:txBody>
          <a:bodyPr>
            <a:normAutofit fontScale="92500" lnSpcReduction="20000"/>
          </a:bodyPr>
          <a:lstStyle/>
          <a:p>
            <a:r>
              <a:rPr lang="en-US" sz="4400" dirty="0" smtClean="0">
                <a:solidFill>
                  <a:srgbClr val="7030A0"/>
                </a:solidFill>
              </a:rPr>
              <a:t>Unit-1 Software Engineering Fundamentals </a:t>
            </a:r>
            <a:r>
              <a:rPr lang="en-US" sz="4400" dirty="0" smtClean="0"/>
              <a:t>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000108"/>
            <a:ext cx="8229600" cy="4525963"/>
          </a:xfrm>
        </p:spPr>
        <p:txBody>
          <a:bodyPr>
            <a:noAutofit/>
          </a:bodyPr>
          <a:lstStyle/>
          <a:p>
            <a:pPr algn="just"/>
            <a:r>
              <a:rPr lang="en-US" sz="2400" dirty="0" smtClean="0">
                <a:latin typeface="Calibri" pitchFamily="34" charset="0"/>
                <a:cs typeface="Calibri" pitchFamily="34" charset="0"/>
              </a:rPr>
              <a:t>Software </a:t>
            </a:r>
            <a:r>
              <a:rPr lang="en-US" sz="2400" dirty="0">
                <a:latin typeface="Calibri" pitchFamily="34" charset="0"/>
                <a:cs typeface="Calibri" pitchFamily="34" charset="0"/>
              </a:rPr>
              <a:t>is a set of instructions, programs, </a:t>
            </a:r>
            <a:r>
              <a:rPr lang="en-US" sz="2400" dirty="0" smtClean="0">
                <a:latin typeface="Calibri" pitchFamily="34" charset="0"/>
                <a:cs typeface="Calibri" pitchFamily="34" charset="0"/>
              </a:rPr>
              <a:t>and data </a:t>
            </a:r>
            <a:r>
              <a:rPr lang="en-US" sz="2400" dirty="0">
                <a:latin typeface="Calibri" pitchFamily="34" charset="0"/>
                <a:cs typeface="Calibri" pitchFamily="34" charset="0"/>
              </a:rPr>
              <a:t>that tells </a:t>
            </a:r>
            <a:r>
              <a:rPr lang="en-US" sz="2400" dirty="0" smtClean="0">
                <a:latin typeface="Calibri" pitchFamily="34" charset="0"/>
                <a:cs typeface="Calibri" pitchFamily="34" charset="0"/>
              </a:rPr>
              <a:t>a computer </a:t>
            </a:r>
            <a:r>
              <a:rPr lang="en-US" sz="2400" dirty="0">
                <a:latin typeface="Calibri" pitchFamily="34" charset="0"/>
                <a:cs typeface="Calibri" pitchFamily="34" charset="0"/>
              </a:rPr>
              <a:t>what to do, while software engineering is the disciplined process of designing, developing, testing, and maintaining these </a:t>
            </a:r>
            <a:r>
              <a:rPr lang="en-US" sz="2400" dirty="0" smtClean="0">
                <a:latin typeface="Calibri" pitchFamily="34" charset="0"/>
                <a:cs typeface="Calibri" pitchFamily="34" charset="0"/>
              </a:rPr>
              <a:t>systems</a:t>
            </a:r>
          </a:p>
          <a:p>
            <a:pPr algn="just"/>
            <a:r>
              <a:rPr lang="en-US" sz="2400" dirty="0">
                <a:latin typeface="Calibri" pitchFamily="34" charset="0"/>
                <a:cs typeface="Calibri" pitchFamily="34" charset="0"/>
              </a:rPr>
              <a:t>Software is a program or set of programs containing instructions that provide the desired functionality. Engineering is the process of designing and building something that serves a particular purpose and finds a cost-effective solution to problems. </a:t>
            </a:r>
            <a:endParaRPr lang="en-US" sz="2400" dirty="0" smtClean="0">
              <a:latin typeface="Calibri" pitchFamily="34" charset="0"/>
              <a:cs typeface="Calibri" pitchFamily="34" charset="0"/>
            </a:endParaRPr>
          </a:p>
          <a:p>
            <a:pPr algn="just"/>
            <a:r>
              <a:rPr lang="en-IN" sz="2400" dirty="0" smtClean="0">
                <a:latin typeface="Calibri" pitchFamily="34" charset="0"/>
                <a:cs typeface="Calibri" pitchFamily="34" charset="0"/>
              </a:rPr>
              <a:t>It is a systematic disciplined, cost effective techniques for software development engineering approach to develop a software.</a:t>
            </a:r>
            <a:endParaRPr lang="en-US" sz="2400" dirty="0">
              <a:latin typeface="Calibri" pitchFamily="34" charset="0"/>
              <a:cs typeface="Calibri" pitchFamily="34" charset="0"/>
            </a:endParaRPr>
          </a:p>
        </p:txBody>
      </p:sp>
      <p:sp>
        <p:nvSpPr>
          <p:cNvPr id="2" name="Title 1"/>
          <p:cNvSpPr>
            <a:spLocks noGrp="1"/>
          </p:cNvSpPr>
          <p:nvPr>
            <p:ph type="title"/>
          </p:nvPr>
        </p:nvSpPr>
        <p:spPr>
          <a:xfrm>
            <a:off x="457200" y="274638"/>
            <a:ext cx="8229600" cy="654032"/>
          </a:xfrm>
        </p:spPr>
        <p:txBody>
          <a:bodyPr>
            <a:normAutofit fontScale="90000"/>
          </a:bodyPr>
          <a:lstStyle/>
          <a:p>
            <a:r>
              <a:rPr lang="en-US" dirty="0" smtClean="0"/>
              <a:t/>
            </a:r>
            <a:br>
              <a:rPr lang="en-US" dirty="0" smtClean="0"/>
            </a:br>
            <a:r>
              <a:rPr lang="en-US" dirty="0" smtClean="0">
                <a:solidFill>
                  <a:srgbClr val="7030A0"/>
                </a:solidFill>
                <a:latin typeface="Calibri" pitchFamily="34" charset="0"/>
                <a:cs typeface="Calibri" pitchFamily="34" charset="0"/>
              </a:rPr>
              <a:t>Definition </a:t>
            </a:r>
            <a:r>
              <a:rPr lang="en-US" dirty="0">
                <a:solidFill>
                  <a:srgbClr val="7030A0"/>
                </a:solidFill>
                <a:latin typeface="Calibri" pitchFamily="34" charset="0"/>
                <a:cs typeface="Calibri" pitchFamily="34" charset="0"/>
              </a:rPr>
              <a:t>of Software </a:t>
            </a:r>
            <a:r>
              <a:rPr lang="en-US" dirty="0"/>
              <a:t>	</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472518" cy="3471874"/>
          </a:xfrm>
        </p:spPr>
        <p:txBody>
          <a:bodyPr>
            <a:normAutofit/>
          </a:bodyPr>
          <a:lstStyle/>
          <a:p>
            <a:pPr fontAlgn="base"/>
            <a:r>
              <a:rPr lang="en-US" sz="2400" b="1" dirty="0">
                <a:latin typeface="Calibri" pitchFamily="34" charset="0"/>
                <a:cs typeface="Calibri" pitchFamily="34" charset="0"/>
              </a:rPr>
              <a:t>Dual Role of </a:t>
            </a:r>
            <a:r>
              <a:rPr lang="en-US" sz="2400" b="1" dirty="0" smtClean="0">
                <a:latin typeface="Calibri" pitchFamily="34" charset="0"/>
                <a:cs typeface="Calibri" pitchFamily="34" charset="0"/>
              </a:rPr>
              <a:t>Software:</a:t>
            </a:r>
          </a:p>
          <a:p>
            <a:pPr algn="just" fontAlgn="base">
              <a:buNone/>
            </a:pPr>
            <a:r>
              <a:rPr lang="en-US" sz="2400" dirty="0" smtClean="0">
                <a:latin typeface="Calibri" pitchFamily="34" charset="0"/>
                <a:cs typeface="Calibri" pitchFamily="34" charset="0"/>
              </a:rPr>
              <a:t>	There </a:t>
            </a:r>
            <a:r>
              <a:rPr lang="en-US" sz="2400" dirty="0">
                <a:latin typeface="Calibri" pitchFamily="34" charset="0"/>
                <a:cs typeface="Calibri" pitchFamily="34" charset="0"/>
              </a:rPr>
              <a:t>is a dual role of software in the </a:t>
            </a:r>
            <a:r>
              <a:rPr lang="en-US" sz="2400" dirty="0" smtClean="0">
                <a:latin typeface="Calibri" pitchFamily="34" charset="0"/>
                <a:cs typeface="Calibri" pitchFamily="34" charset="0"/>
              </a:rPr>
              <a:t>industry. The </a:t>
            </a:r>
            <a:r>
              <a:rPr lang="en-US" sz="2400" dirty="0">
                <a:latin typeface="Calibri" pitchFamily="34" charset="0"/>
                <a:cs typeface="Calibri" pitchFamily="34" charset="0"/>
              </a:rPr>
              <a:t>first one is as </a:t>
            </a:r>
            <a:r>
              <a:rPr lang="en-US" sz="2400" dirty="0" smtClean="0">
                <a:latin typeface="Calibri" pitchFamily="34" charset="0"/>
                <a:cs typeface="Calibri" pitchFamily="34" charset="0"/>
              </a:rPr>
              <a:t>a product </a:t>
            </a:r>
            <a:r>
              <a:rPr lang="en-US" sz="2400" dirty="0">
                <a:latin typeface="Calibri" pitchFamily="34" charset="0"/>
                <a:cs typeface="Calibri" pitchFamily="34" charset="0"/>
              </a:rPr>
              <a:t>and the other one is as a vehicle for delivering the product</a:t>
            </a:r>
            <a:r>
              <a:rPr lang="en-US" sz="2400" dirty="0" smtClean="0">
                <a:latin typeface="Calibri" pitchFamily="34" charset="0"/>
                <a:cs typeface="Calibri" pitchFamily="34" charset="0"/>
              </a:rPr>
              <a:t>.</a:t>
            </a:r>
          </a:p>
          <a:p>
            <a:pPr algn="just" fontAlgn="base">
              <a:buNone/>
            </a:pPr>
            <a:endParaRPr lang="en-US" sz="2400" dirty="0">
              <a:latin typeface="Calibri" pitchFamily="34" charset="0"/>
              <a:cs typeface="Calibri" pitchFamily="34" charset="0"/>
            </a:endParaRPr>
          </a:p>
          <a:p>
            <a:pPr marL="514350" indent="-514350">
              <a:buAutoNum type="arabicPeriod"/>
            </a:pPr>
            <a:r>
              <a:rPr lang="en-US" sz="2400" dirty="0" smtClean="0">
                <a:latin typeface="Calibri" pitchFamily="34" charset="0"/>
                <a:cs typeface="Calibri" pitchFamily="34" charset="0"/>
              </a:rPr>
              <a:t>As </a:t>
            </a:r>
            <a:r>
              <a:rPr lang="en-US" sz="2400" dirty="0">
                <a:latin typeface="Calibri" pitchFamily="34" charset="0"/>
                <a:cs typeface="Calibri" pitchFamily="34" charset="0"/>
              </a:rPr>
              <a:t>a </a:t>
            </a:r>
            <a:r>
              <a:rPr lang="en-US" sz="2400" dirty="0" smtClean="0">
                <a:latin typeface="Calibri" pitchFamily="34" charset="0"/>
                <a:cs typeface="Calibri" pitchFamily="34" charset="0"/>
              </a:rPr>
              <a:t>Product</a:t>
            </a:r>
          </a:p>
          <a:p>
            <a:pPr marL="514350" indent="-514350">
              <a:buAutoNum type="arabicPeriod"/>
            </a:pPr>
            <a:r>
              <a:rPr lang="en-US" sz="2400" dirty="0" smtClean="0">
                <a:latin typeface="Calibri" pitchFamily="34" charset="0"/>
                <a:cs typeface="Calibri" pitchFamily="34" charset="0"/>
              </a:rPr>
              <a:t>As </a:t>
            </a:r>
            <a:r>
              <a:rPr lang="en-US" sz="2400" dirty="0">
                <a:latin typeface="Calibri" pitchFamily="34" charset="0"/>
                <a:cs typeface="Calibri" pitchFamily="34" charset="0"/>
              </a:rPr>
              <a:t>a Vehicle for Delivering a Product</a:t>
            </a:r>
          </a:p>
          <a:p>
            <a:pPr marL="514350" indent="-514350">
              <a:buNone/>
            </a:pPr>
            <a:endParaRPr lang="en-US" sz="2400" b="1" dirty="0">
              <a:latin typeface="Calibri" pitchFamily="34" charset="0"/>
              <a:cs typeface="Calibri" pitchFamily="34" charset="0"/>
            </a:endParaRPr>
          </a:p>
          <a:p>
            <a:pPr>
              <a:buNone/>
            </a:pPr>
            <a:endParaRPr lang="en-US" sz="2400" dirty="0">
              <a:latin typeface="Calibri" pitchFamily="34" charset="0"/>
              <a:cs typeface="Calibri" pitchFamily="34" charset="0"/>
            </a:endParaRPr>
          </a:p>
        </p:txBody>
      </p:sp>
      <p:sp>
        <p:nvSpPr>
          <p:cNvPr id="2" name="Title 1"/>
          <p:cNvSpPr>
            <a:spLocks noGrp="1"/>
          </p:cNvSpPr>
          <p:nvPr>
            <p:ph type="title"/>
          </p:nvPr>
        </p:nvSpPr>
        <p:spPr>
          <a:xfrm>
            <a:off x="457200" y="428604"/>
            <a:ext cx="6043626" cy="714380"/>
          </a:xfrm>
        </p:spPr>
        <p:txBody>
          <a:bodyPr>
            <a:normAutofit/>
          </a:bodyPr>
          <a:lstStyle/>
          <a:p>
            <a:r>
              <a:rPr lang="en-US" sz="3700" dirty="0" smtClean="0">
                <a:solidFill>
                  <a:srgbClr val="7030A0"/>
                </a:solidFill>
                <a:latin typeface="Calibri" pitchFamily="34" charset="0"/>
                <a:cs typeface="Calibri" pitchFamily="34" charset="0"/>
              </a:rPr>
              <a:t>The evolving role of software</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US" sz="2400" b="1" dirty="0">
                <a:latin typeface="Calibri" pitchFamily="34" charset="0"/>
                <a:cs typeface="Calibri" pitchFamily="34" charset="0"/>
              </a:rPr>
              <a:t>1. As a Product</a:t>
            </a:r>
          </a:p>
          <a:p>
            <a:pPr fontAlgn="base"/>
            <a:r>
              <a:rPr lang="en-US" sz="2400" dirty="0">
                <a:latin typeface="Calibri" pitchFamily="34" charset="0"/>
                <a:cs typeface="Calibri" pitchFamily="34" charset="0"/>
              </a:rPr>
              <a:t>It delivers computing potential across networks of Hardware.</a:t>
            </a:r>
          </a:p>
          <a:p>
            <a:pPr fontAlgn="base"/>
            <a:r>
              <a:rPr lang="en-US" sz="2400" dirty="0">
                <a:latin typeface="Calibri" pitchFamily="34" charset="0"/>
                <a:cs typeface="Calibri" pitchFamily="34" charset="0"/>
              </a:rPr>
              <a:t>It enables the Hardware to deliver the expected functionality.</a:t>
            </a:r>
          </a:p>
          <a:p>
            <a:pPr fontAlgn="base"/>
            <a:r>
              <a:rPr lang="en-US" sz="2400" dirty="0">
                <a:latin typeface="Calibri" pitchFamily="34" charset="0"/>
                <a:cs typeface="Calibri" pitchFamily="34" charset="0"/>
              </a:rPr>
              <a:t>It acts as an information transformer because it produces, manages, acquires, modifies, displays, or transmits information</a:t>
            </a:r>
            <a:r>
              <a:rPr lang="en-US" sz="2400" dirty="0" smtClean="0">
                <a:latin typeface="Calibri" pitchFamily="34" charset="0"/>
                <a:cs typeface="Calibri" pitchFamily="34" charset="0"/>
              </a:rPr>
              <a:t>.</a:t>
            </a:r>
          </a:p>
          <a:p>
            <a:pPr fontAlgn="base">
              <a:buNone/>
            </a:pPr>
            <a:endParaRPr lang="en-IN" sz="2400" dirty="0" smtClean="0">
              <a:latin typeface="Calibri" pitchFamily="34" charset="0"/>
              <a:cs typeface="Calibri" pitchFamily="34" charset="0"/>
            </a:endParaRPr>
          </a:p>
          <a:p>
            <a:pPr fontAlgn="base">
              <a:buNone/>
            </a:pPr>
            <a:r>
              <a:rPr lang="en-US" sz="2400" b="1" dirty="0" smtClean="0">
                <a:latin typeface="Calibri" pitchFamily="34" charset="0"/>
                <a:cs typeface="Calibri" pitchFamily="34" charset="0"/>
              </a:rPr>
              <a:t>2. As a Vehicle for Delivering a Product</a:t>
            </a:r>
          </a:p>
          <a:p>
            <a:pPr fontAlgn="base"/>
            <a:r>
              <a:rPr lang="en-US" sz="2400" dirty="0" smtClean="0">
                <a:latin typeface="Calibri" pitchFamily="34" charset="0"/>
                <a:cs typeface="Calibri" pitchFamily="34" charset="0"/>
              </a:rPr>
              <a:t>It provides system functionality (e.g., payroll system).</a:t>
            </a:r>
          </a:p>
          <a:p>
            <a:pPr fontAlgn="base"/>
            <a:r>
              <a:rPr lang="en-US" sz="2400" dirty="0" smtClean="0">
                <a:latin typeface="Calibri" pitchFamily="34" charset="0"/>
                <a:cs typeface="Calibri" pitchFamily="34" charset="0"/>
              </a:rPr>
              <a:t>It controls other software (e.g., an operating system).</a:t>
            </a:r>
          </a:p>
          <a:p>
            <a:pPr fontAlgn="base"/>
            <a:r>
              <a:rPr lang="en-US" sz="2400" dirty="0" smtClean="0">
                <a:latin typeface="Calibri" pitchFamily="34" charset="0"/>
                <a:cs typeface="Calibri" pitchFamily="34" charset="0"/>
              </a:rPr>
              <a:t>It helps build other software (e.g., software tools).</a:t>
            </a:r>
          </a:p>
          <a:p>
            <a:pPr fontAlgn="base">
              <a:buNone/>
            </a:pPr>
            <a:endParaRPr lang="en-US" sz="2400" dirty="0">
              <a:latin typeface="Calibri" pitchFamily="34" charset="0"/>
              <a:cs typeface="Calibri" pitchFamily="34" charset="0"/>
            </a:endParaRPr>
          </a:p>
          <a:p>
            <a:endParaRPr lang="en-US" sz="2400" dirty="0">
              <a:latin typeface="Calibri" pitchFamily="34" charset="0"/>
              <a:cs typeface="Calibri" pitchFamily="34" charset="0"/>
            </a:endParaRPr>
          </a:p>
        </p:txBody>
      </p:sp>
      <p:sp>
        <p:nvSpPr>
          <p:cNvPr id="2" name="Title 1"/>
          <p:cNvSpPr>
            <a:spLocks noGrp="1"/>
          </p:cNvSpPr>
          <p:nvPr>
            <p:ph type="title"/>
          </p:nvPr>
        </p:nvSpPr>
        <p:spPr/>
        <p:txBody>
          <a:bodyPr>
            <a:normAutofit/>
          </a:bodyPr>
          <a:lstStyle/>
          <a:p>
            <a:r>
              <a:rPr lang="en-US" sz="3700" dirty="0" smtClean="0">
                <a:solidFill>
                  <a:srgbClr val="7030A0"/>
                </a:solidFill>
                <a:latin typeface="Calibri" pitchFamily="34" charset="0"/>
                <a:cs typeface="Calibri" pitchFamily="34" charset="0"/>
              </a:rPr>
              <a:t>The evolving role of software</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857232"/>
            <a:ext cx="8229600" cy="5286412"/>
          </a:xfrm>
        </p:spPr>
        <p:txBody>
          <a:bodyPr>
            <a:noAutofit/>
          </a:bodyPr>
          <a:lstStyle/>
          <a:p>
            <a:pPr marL="514350" indent="-514350">
              <a:buFont typeface="+mj-lt"/>
              <a:buAutoNum type="arabicPeriod"/>
            </a:pPr>
            <a:r>
              <a:rPr lang="en-IN" sz="2400" b="1" dirty="0" smtClean="0">
                <a:latin typeface="Calibri" pitchFamily="34" charset="0"/>
                <a:cs typeface="Calibri" pitchFamily="34" charset="0"/>
              </a:rPr>
              <a:t>System software:</a:t>
            </a:r>
          </a:p>
          <a:p>
            <a:pPr marL="514350" indent="-514350">
              <a:buNone/>
            </a:pPr>
            <a:r>
              <a:rPr lang="en-IN" sz="2400" dirty="0">
                <a:latin typeface="Calibri" pitchFamily="34" charset="0"/>
                <a:cs typeface="Calibri" pitchFamily="34" charset="0"/>
              </a:rPr>
              <a:t>	</a:t>
            </a:r>
            <a:r>
              <a:rPr lang="en-IN" sz="2400" dirty="0" smtClean="0">
                <a:latin typeface="Calibri" pitchFamily="34" charset="0"/>
                <a:cs typeface="Calibri" pitchFamily="34" charset="0"/>
              </a:rPr>
              <a:t>Collection of </a:t>
            </a:r>
            <a:r>
              <a:rPr lang="en-IN" sz="2400" dirty="0" err="1" smtClean="0">
                <a:latin typeface="Calibri" pitchFamily="34" charset="0"/>
                <a:cs typeface="Calibri" pitchFamily="34" charset="0"/>
              </a:rPr>
              <a:t>progrms</a:t>
            </a:r>
            <a:r>
              <a:rPr lang="en-IN" sz="2400" dirty="0" smtClean="0">
                <a:latin typeface="Calibri" pitchFamily="34" charset="0"/>
                <a:cs typeface="Calibri" pitchFamily="34" charset="0"/>
              </a:rPr>
              <a:t> written to provide service for other </a:t>
            </a:r>
            <a:r>
              <a:rPr lang="en-IN" sz="2400" dirty="0" err="1" smtClean="0">
                <a:latin typeface="Calibri" pitchFamily="34" charset="0"/>
                <a:cs typeface="Calibri" pitchFamily="34" charset="0"/>
              </a:rPr>
              <a:t>progrmas</a:t>
            </a:r>
            <a:endParaRPr lang="en-IN" sz="2400" dirty="0" smtClean="0">
              <a:latin typeface="Calibri" pitchFamily="34" charset="0"/>
              <a:cs typeface="Calibri" pitchFamily="34" charset="0"/>
            </a:endParaRPr>
          </a:p>
          <a:p>
            <a:pPr marL="514350" indent="-514350">
              <a:buNone/>
            </a:pPr>
            <a:r>
              <a:rPr lang="en-IN" sz="2400" dirty="0" err="1" smtClean="0">
                <a:latin typeface="Calibri" pitchFamily="34" charset="0"/>
                <a:cs typeface="Calibri" pitchFamily="34" charset="0"/>
              </a:rPr>
              <a:t>Ex.compilers</a:t>
            </a:r>
            <a:r>
              <a:rPr lang="en-IN" sz="2400" dirty="0" smtClean="0">
                <a:latin typeface="Calibri" pitchFamily="34" charset="0"/>
                <a:cs typeface="Calibri" pitchFamily="34" charset="0"/>
              </a:rPr>
              <a:t>, file management</a:t>
            </a:r>
          </a:p>
          <a:p>
            <a:pPr marL="514350" indent="-514350">
              <a:buNone/>
            </a:pPr>
            <a:endParaRPr lang="en-IN" sz="2400" dirty="0">
              <a:latin typeface="Calibri" pitchFamily="34" charset="0"/>
              <a:cs typeface="Calibri" pitchFamily="34" charset="0"/>
            </a:endParaRPr>
          </a:p>
          <a:p>
            <a:pPr marL="514350" indent="-514350">
              <a:buNone/>
            </a:pPr>
            <a:r>
              <a:rPr lang="en-IN" sz="2400" dirty="0" smtClean="0">
                <a:latin typeface="Calibri" pitchFamily="34" charset="0"/>
                <a:cs typeface="Calibri" pitchFamily="34" charset="0"/>
              </a:rPr>
              <a:t>2. </a:t>
            </a:r>
            <a:r>
              <a:rPr lang="en-IN" sz="2400" b="1" dirty="0" smtClean="0">
                <a:latin typeface="Calibri" pitchFamily="34" charset="0"/>
                <a:cs typeface="Calibri" pitchFamily="34" charset="0"/>
              </a:rPr>
              <a:t>Application Software:</a:t>
            </a:r>
          </a:p>
          <a:p>
            <a:pPr marL="514350" indent="-514350">
              <a:buNone/>
            </a:pPr>
            <a:r>
              <a:rPr lang="en-IN" sz="2400" dirty="0">
                <a:latin typeface="Calibri" pitchFamily="34" charset="0"/>
                <a:cs typeface="Calibri" pitchFamily="34" charset="0"/>
              </a:rPr>
              <a:t>	</a:t>
            </a:r>
            <a:r>
              <a:rPr lang="en-IN" sz="2400" dirty="0" smtClean="0">
                <a:latin typeface="Calibri" pitchFamily="34" charset="0"/>
                <a:cs typeface="Calibri" pitchFamily="34" charset="0"/>
              </a:rPr>
              <a:t>designed to help users to perform specific task</a:t>
            </a:r>
          </a:p>
          <a:p>
            <a:pPr marL="514350" indent="-514350">
              <a:buNone/>
            </a:pPr>
            <a:r>
              <a:rPr lang="en-IN" sz="2400" dirty="0" smtClean="0">
                <a:latin typeface="Calibri" pitchFamily="34" charset="0"/>
                <a:cs typeface="Calibri" pitchFamily="34" charset="0"/>
              </a:rPr>
              <a:t>Ex. C, Java</a:t>
            </a:r>
          </a:p>
          <a:p>
            <a:pPr marL="514350" indent="-514350">
              <a:buNone/>
            </a:pPr>
            <a:endParaRPr lang="en-IN" sz="2400" dirty="0">
              <a:latin typeface="Calibri" pitchFamily="34" charset="0"/>
              <a:cs typeface="Calibri" pitchFamily="34" charset="0"/>
            </a:endParaRPr>
          </a:p>
          <a:p>
            <a:pPr marL="514350" indent="-514350">
              <a:buNone/>
            </a:pPr>
            <a:r>
              <a:rPr lang="en-IN" sz="2400" dirty="0" smtClean="0">
                <a:latin typeface="Calibri" pitchFamily="34" charset="0"/>
                <a:cs typeface="Calibri" pitchFamily="34" charset="0"/>
              </a:rPr>
              <a:t>3. </a:t>
            </a:r>
            <a:r>
              <a:rPr lang="en-IN" sz="2400" b="1" dirty="0" smtClean="0">
                <a:latin typeface="Calibri" pitchFamily="34" charset="0"/>
                <a:cs typeface="Calibri" pitchFamily="34" charset="0"/>
              </a:rPr>
              <a:t>Engineering and Scientific Software:</a:t>
            </a:r>
          </a:p>
          <a:p>
            <a:pPr marL="514350" indent="-514350">
              <a:buNone/>
            </a:pPr>
            <a:r>
              <a:rPr lang="en-IN" sz="2400" dirty="0">
                <a:latin typeface="Calibri" pitchFamily="34" charset="0"/>
                <a:cs typeface="Calibri" pitchFamily="34" charset="0"/>
              </a:rPr>
              <a:t>	</a:t>
            </a:r>
            <a:r>
              <a:rPr lang="en-IN" sz="2400" dirty="0" smtClean="0">
                <a:latin typeface="Calibri" pitchFamily="34" charset="0"/>
                <a:cs typeface="Calibri" pitchFamily="34" charset="0"/>
              </a:rPr>
              <a:t>for complicated numeric calculations</a:t>
            </a:r>
          </a:p>
          <a:p>
            <a:pPr marL="514350" indent="-514350">
              <a:buNone/>
            </a:pPr>
            <a:r>
              <a:rPr lang="en-IN" sz="2400" dirty="0" smtClean="0">
                <a:latin typeface="Calibri" pitchFamily="34" charset="0"/>
                <a:cs typeface="Calibri" pitchFamily="34" charset="0"/>
              </a:rPr>
              <a:t>Ex. Statistics</a:t>
            </a:r>
          </a:p>
          <a:p>
            <a:pPr marL="514350" indent="-514350">
              <a:buNone/>
            </a:pPr>
            <a:endParaRPr lang="en-IN" sz="2400" dirty="0">
              <a:latin typeface="Calibri" pitchFamily="34" charset="0"/>
              <a:cs typeface="Calibri" pitchFamily="34" charset="0"/>
            </a:endParaRPr>
          </a:p>
          <a:p>
            <a:pPr marL="514350" indent="-514350">
              <a:buNone/>
            </a:pPr>
            <a:endParaRPr lang="en-IN" sz="2400" dirty="0">
              <a:latin typeface="Calibri" pitchFamily="34" charset="0"/>
              <a:cs typeface="Calibri" pitchFamily="34" charset="0"/>
            </a:endParaRPr>
          </a:p>
          <a:p>
            <a:pPr marL="514350" indent="-514350">
              <a:buNone/>
            </a:pPr>
            <a:endParaRPr lang="en-IN" sz="2400" dirty="0" smtClean="0">
              <a:latin typeface="Calibri" pitchFamily="34" charset="0"/>
              <a:cs typeface="Calibri" pitchFamily="34" charset="0"/>
            </a:endParaRPr>
          </a:p>
          <a:p>
            <a:pPr marL="514350" indent="-514350">
              <a:buNone/>
            </a:pPr>
            <a:r>
              <a:rPr lang="en-IN" sz="2400" dirty="0">
                <a:latin typeface="Calibri" pitchFamily="34" charset="0"/>
                <a:cs typeface="Calibri" pitchFamily="34" charset="0"/>
              </a:rPr>
              <a:t>	</a:t>
            </a:r>
            <a:endParaRPr lang="en-US" sz="2400" dirty="0">
              <a:latin typeface="Calibri" pitchFamily="34" charset="0"/>
              <a:cs typeface="Calibri" pitchFamily="34" charset="0"/>
            </a:endParaRPr>
          </a:p>
        </p:txBody>
      </p:sp>
      <p:sp>
        <p:nvSpPr>
          <p:cNvPr id="2" name="Title 1"/>
          <p:cNvSpPr>
            <a:spLocks noGrp="1"/>
          </p:cNvSpPr>
          <p:nvPr>
            <p:ph type="title"/>
          </p:nvPr>
        </p:nvSpPr>
        <p:spPr>
          <a:xfrm>
            <a:off x="500034" y="0"/>
            <a:ext cx="8229600" cy="868346"/>
          </a:xfrm>
        </p:spPr>
        <p:txBody>
          <a:bodyPr>
            <a:normAutofit fontScale="90000"/>
          </a:bodyPr>
          <a:lstStyle/>
          <a:p>
            <a:r>
              <a:rPr lang="en-US" dirty="0" smtClean="0">
                <a:latin typeface="+mn-lt"/>
              </a:rPr>
              <a:t/>
            </a:r>
            <a:br>
              <a:rPr lang="en-US" dirty="0" smtClean="0">
                <a:latin typeface="+mn-lt"/>
              </a:rPr>
            </a:br>
            <a:r>
              <a:rPr lang="en-US" dirty="0" smtClean="0">
                <a:solidFill>
                  <a:srgbClr val="7030A0"/>
                </a:solidFill>
                <a:latin typeface="Calibri" pitchFamily="34" charset="0"/>
                <a:cs typeface="Calibri" pitchFamily="34" charset="0"/>
              </a:rPr>
              <a:t>Changing </a:t>
            </a:r>
            <a:r>
              <a:rPr lang="en-US" dirty="0">
                <a:solidFill>
                  <a:srgbClr val="7030A0"/>
                </a:solidFill>
                <a:latin typeface="Calibri" pitchFamily="34" charset="0"/>
                <a:cs typeface="Calibri" pitchFamily="34" charset="0"/>
              </a:rPr>
              <a:t>nature of software </a:t>
            </a:r>
            <a:r>
              <a:rPr lang="en-US" dirty="0"/>
              <a:t>	</a:t>
            </a:r>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785794"/>
            <a:ext cx="8229600" cy="5572164"/>
          </a:xfrm>
        </p:spPr>
        <p:txBody>
          <a:bodyPr>
            <a:noAutofit/>
          </a:bodyPr>
          <a:lstStyle/>
          <a:p>
            <a:pPr marL="514350" indent="-514350">
              <a:buNone/>
            </a:pPr>
            <a:r>
              <a:rPr lang="en-IN" sz="2000" dirty="0" smtClean="0">
                <a:latin typeface="Calibri" pitchFamily="34" charset="0"/>
                <a:cs typeface="Calibri" pitchFamily="34" charset="0"/>
              </a:rPr>
              <a:t>4. </a:t>
            </a:r>
            <a:r>
              <a:rPr lang="en-IN" sz="2000" b="1" dirty="0" smtClean="0">
                <a:latin typeface="Calibri" pitchFamily="34" charset="0"/>
                <a:cs typeface="Calibri" pitchFamily="34" charset="0"/>
              </a:rPr>
              <a:t>Embedded Software:</a:t>
            </a:r>
          </a:p>
          <a:p>
            <a:pPr marL="514350" indent="-514350">
              <a:buNone/>
            </a:pPr>
            <a:r>
              <a:rPr lang="en-IN" sz="2000" dirty="0" smtClean="0">
                <a:latin typeface="Calibri" pitchFamily="34" charset="0"/>
                <a:cs typeface="Calibri" pitchFamily="34" charset="0"/>
              </a:rPr>
              <a:t>	It lies in hardware of system and used for control functions.</a:t>
            </a:r>
          </a:p>
          <a:p>
            <a:pPr marL="514350" indent="-514350">
              <a:buNone/>
            </a:pPr>
            <a:r>
              <a:rPr lang="en-IN" sz="2000" dirty="0" smtClean="0">
                <a:latin typeface="Calibri" pitchFamily="34" charset="0"/>
                <a:cs typeface="Calibri" pitchFamily="34" charset="0"/>
              </a:rPr>
              <a:t>Ex. Microwave oven controls</a:t>
            </a:r>
          </a:p>
          <a:p>
            <a:pPr marL="514350" indent="-514350">
              <a:buNone/>
            </a:pPr>
            <a:endParaRPr lang="en-IN" sz="2000" dirty="0" smtClean="0">
              <a:latin typeface="Calibri" pitchFamily="34" charset="0"/>
              <a:cs typeface="Calibri" pitchFamily="34" charset="0"/>
            </a:endParaRPr>
          </a:p>
          <a:p>
            <a:pPr marL="514350" indent="-514350">
              <a:buNone/>
            </a:pPr>
            <a:r>
              <a:rPr lang="en-IN" sz="2000" dirty="0" smtClean="0">
                <a:latin typeface="Calibri" pitchFamily="34" charset="0"/>
                <a:cs typeface="Calibri" pitchFamily="34" charset="0"/>
              </a:rPr>
              <a:t>5. </a:t>
            </a:r>
            <a:r>
              <a:rPr lang="en-IN" sz="2000" b="1" dirty="0" smtClean="0">
                <a:latin typeface="Calibri" pitchFamily="34" charset="0"/>
                <a:cs typeface="Calibri" pitchFamily="34" charset="0"/>
              </a:rPr>
              <a:t>Product Line Software:</a:t>
            </a:r>
          </a:p>
          <a:p>
            <a:pPr marL="514350" indent="-514350">
              <a:buNone/>
            </a:pPr>
            <a:r>
              <a:rPr lang="en-IN" sz="2000" dirty="0" smtClean="0">
                <a:latin typeface="Calibri" pitchFamily="34" charset="0"/>
                <a:cs typeface="Calibri" pitchFamily="34" charset="0"/>
              </a:rPr>
              <a:t>	It provides specific capabilities for SE</a:t>
            </a:r>
          </a:p>
          <a:p>
            <a:pPr marL="514350" indent="-514350">
              <a:buNone/>
            </a:pPr>
            <a:r>
              <a:rPr lang="en-IN" sz="2000" dirty="0" smtClean="0">
                <a:latin typeface="Calibri" pitchFamily="34" charset="0"/>
                <a:cs typeface="Calibri" pitchFamily="34" charset="0"/>
              </a:rPr>
              <a:t>Ex. Computer Graphics , DBMS</a:t>
            </a:r>
          </a:p>
          <a:p>
            <a:pPr marL="514350" indent="-514350">
              <a:buNone/>
            </a:pPr>
            <a:endParaRPr lang="en-IN" sz="2000" dirty="0" smtClean="0">
              <a:latin typeface="Calibri" pitchFamily="34" charset="0"/>
              <a:cs typeface="Calibri" pitchFamily="34" charset="0"/>
            </a:endParaRPr>
          </a:p>
          <a:p>
            <a:pPr marL="514350" indent="-514350">
              <a:buNone/>
            </a:pPr>
            <a:r>
              <a:rPr lang="en-IN" sz="2000" dirty="0" smtClean="0">
                <a:latin typeface="Calibri" pitchFamily="34" charset="0"/>
                <a:cs typeface="Calibri" pitchFamily="34" charset="0"/>
              </a:rPr>
              <a:t>6. </a:t>
            </a:r>
            <a:r>
              <a:rPr lang="en-IN" sz="2000" b="1" dirty="0" smtClean="0">
                <a:latin typeface="Calibri" pitchFamily="34" charset="0"/>
                <a:cs typeface="Calibri" pitchFamily="34" charset="0"/>
              </a:rPr>
              <a:t>Web Application Software:</a:t>
            </a:r>
          </a:p>
          <a:p>
            <a:pPr marL="514350" indent="-514350">
              <a:buNone/>
            </a:pPr>
            <a:r>
              <a:rPr lang="en-IN" sz="2000" dirty="0" smtClean="0">
                <a:latin typeface="Calibri" pitchFamily="34" charset="0"/>
                <a:cs typeface="Calibri" pitchFamily="34" charset="0"/>
              </a:rPr>
              <a:t>	These are used over a network</a:t>
            </a:r>
          </a:p>
          <a:p>
            <a:pPr marL="514350" indent="-514350">
              <a:buNone/>
            </a:pPr>
            <a:r>
              <a:rPr lang="en-IN" sz="2000" dirty="0" smtClean="0">
                <a:latin typeface="Calibri" pitchFamily="34" charset="0"/>
                <a:cs typeface="Calibri" pitchFamily="34" charset="0"/>
              </a:rPr>
              <a:t>Ex. Websites</a:t>
            </a:r>
          </a:p>
          <a:p>
            <a:pPr marL="514350" indent="-514350">
              <a:buNone/>
            </a:pPr>
            <a:endParaRPr lang="en-IN" sz="2000" dirty="0" smtClean="0">
              <a:latin typeface="Calibri" pitchFamily="34" charset="0"/>
              <a:cs typeface="Calibri" pitchFamily="34" charset="0"/>
            </a:endParaRPr>
          </a:p>
          <a:p>
            <a:pPr marL="514350" indent="-514350">
              <a:buNone/>
            </a:pPr>
            <a:r>
              <a:rPr lang="en-IN" sz="2000" dirty="0" smtClean="0">
                <a:latin typeface="Calibri" pitchFamily="34" charset="0"/>
                <a:cs typeface="Calibri" pitchFamily="34" charset="0"/>
              </a:rPr>
              <a:t>7. </a:t>
            </a:r>
            <a:r>
              <a:rPr lang="en-IN" sz="2000" b="1" dirty="0" smtClean="0">
                <a:latin typeface="Calibri" pitchFamily="34" charset="0"/>
                <a:cs typeface="Calibri" pitchFamily="34" charset="0"/>
              </a:rPr>
              <a:t>Artificial </a:t>
            </a:r>
            <a:r>
              <a:rPr lang="en-IN" sz="2000" b="1" dirty="0" err="1" smtClean="0">
                <a:latin typeface="Calibri" pitchFamily="34" charset="0"/>
                <a:cs typeface="Calibri" pitchFamily="34" charset="0"/>
              </a:rPr>
              <a:t>Intellignece</a:t>
            </a:r>
            <a:r>
              <a:rPr lang="en-IN" sz="2000" b="1" dirty="0" smtClean="0">
                <a:latin typeface="Calibri" pitchFamily="34" charset="0"/>
                <a:cs typeface="Calibri" pitchFamily="34" charset="0"/>
              </a:rPr>
              <a:t> Software:</a:t>
            </a:r>
          </a:p>
          <a:p>
            <a:pPr marL="514350" indent="-514350">
              <a:buNone/>
            </a:pPr>
            <a:r>
              <a:rPr lang="en-IN" sz="2000" dirty="0" smtClean="0">
                <a:latin typeface="Calibri" pitchFamily="34" charset="0"/>
                <a:cs typeface="Calibri" pitchFamily="34" charset="0"/>
              </a:rPr>
              <a:t>	Non-numeric algorithms to solve complex problems</a:t>
            </a:r>
          </a:p>
          <a:p>
            <a:pPr marL="514350" indent="-514350">
              <a:buNone/>
            </a:pPr>
            <a:r>
              <a:rPr lang="en-IN" sz="2000" dirty="0" smtClean="0">
                <a:latin typeface="Calibri" pitchFamily="34" charset="0"/>
                <a:cs typeface="Calibri" pitchFamily="34" charset="0"/>
              </a:rPr>
              <a:t>Ex. Robotics, Gaming </a:t>
            </a:r>
          </a:p>
          <a:p>
            <a:pPr>
              <a:buNone/>
            </a:pPr>
            <a:endParaRPr lang="en-US" sz="2000" dirty="0">
              <a:latin typeface="Calibri" pitchFamily="34" charset="0"/>
              <a:cs typeface="Calibri" pitchFamily="34" charset="0"/>
            </a:endParaRPr>
          </a:p>
        </p:txBody>
      </p:sp>
      <p:sp>
        <p:nvSpPr>
          <p:cNvPr id="2" name="Title 1"/>
          <p:cNvSpPr>
            <a:spLocks noGrp="1"/>
          </p:cNvSpPr>
          <p:nvPr>
            <p:ph type="title"/>
          </p:nvPr>
        </p:nvSpPr>
        <p:spPr>
          <a:xfrm>
            <a:off x="428596" y="142852"/>
            <a:ext cx="8229600" cy="725470"/>
          </a:xfrm>
        </p:spPr>
        <p:txBody>
          <a:bodyPr>
            <a:normAutofit/>
          </a:bodyPr>
          <a:lstStyle/>
          <a:p>
            <a:r>
              <a:rPr lang="en-US" sz="3700" dirty="0" smtClean="0">
                <a:solidFill>
                  <a:srgbClr val="7030A0"/>
                </a:solidFill>
                <a:latin typeface="Calibri" pitchFamily="34" charset="0"/>
                <a:cs typeface="Calibri" pitchFamily="34" charset="0"/>
              </a:rPr>
              <a:t>Changing nature of software</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785794"/>
            <a:ext cx="8715436" cy="5786478"/>
          </a:xfrm>
        </p:spPr>
        <p:txBody>
          <a:bodyPr>
            <a:noAutofit/>
          </a:bodyPr>
          <a:lstStyle/>
          <a:p>
            <a:pPr algn="just"/>
            <a:r>
              <a:rPr lang="en-US" sz="2200" dirty="0" smtClean="0">
                <a:latin typeface="Calibri" pitchFamily="34" charset="0"/>
                <a:cs typeface="Calibri" pitchFamily="34" charset="0"/>
              </a:rPr>
              <a:t>Software myths are misconceptions or false beliefs about various aspects of software development, including management, engineering processes, and end-user expectations. </a:t>
            </a:r>
          </a:p>
          <a:p>
            <a:pPr algn="just"/>
            <a:r>
              <a:rPr lang="en-US" sz="2200" dirty="0" smtClean="0">
                <a:latin typeface="Calibri" pitchFamily="34" charset="0"/>
                <a:cs typeface="Calibri" pitchFamily="34" charset="0"/>
              </a:rPr>
              <a:t>They can affect different stakeholders, such as clients, managers, and developers, leading to unrealistic expectations, poor decision-making, and inefficient workflows.</a:t>
            </a:r>
          </a:p>
          <a:p>
            <a:pPr marL="457200" indent="-457200" algn="just">
              <a:buFont typeface="+mj-lt"/>
              <a:buAutoNum type="arabicPeriod"/>
            </a:pPr>
            <a:r>
              <a:rPr lang="en-US" sz="2200" b="1" dirty="0" smtClean="0">
                <a:latin typeface="Calibri" pitchFamily="34" charset="0"/>
                <a:cs typeface="Calibri" pitchFamily="34" charset="0"/>
              </a:rPr>
              <a:t>Management Myths :</a:t>
            </a:r>
          </a:p>
          <a:p>
            <a:pPr algn="just">
              <a:buNone/>
            </a:pPr>
            <a:r>
              <a:rPr lang="en-US" sz="2200" b="1" dirty="0" smtClean="0">
                <a:latin typeface="Calibri" pitchFamily="34" charset="0"/>
                <a:cs typeface="Calibri" pitchFamily="34" charset="0"/>
              </a:rPr>
              <a:t>Myth 1: </a:t>
            </a:r>
            <a:r>
              <a:rPr lang="en-US" sz="2200" dirty="0" smtClean="0">
                <a:latin typeface="Calibri" pitchFamily="34" charset="0"/>
                <a:cs typeface="Calibri" pitchFamily="34" charset="0"/>
              </a:rPr>
              <a:t>We already have a book that’s full of standards and procedures for building software.</a:t>
            </a:r>
          </a:p>
          <a:p>
            <a:pPr algn="just">
              <a:buNone/>
            </a:pPr>
            <a:endParaRPr lang="en-US" sz="2200" dirty="0" smtClean="0">
              <a:latin typeface="Calibri" pitchFamily="34" charset="0"/>
              <a:cs typeface="Calibri" pitchFamily="34" charset="0"/>
            </a:endParaRPr>
          </a:p>
          <a:p>
            <a:pPr algn="just">
              <a:buNone/>
            </a:pPr>
            <a:r>
              <a:rPr lang="en-US" sz="2200" b="1" dirty="0" smtClean="0">
                <a:latin typeface="Calibri" pitchFamily="34" charset="0"/>
                <a:cs typeface="Calibri" pitchFamily="34" charset="0"/>
              </a:rPr>
              <a:t>Myth 2:</a:t>
            </a:r>
            <a:r>
              <a:rPr lang="en-US" sz="2200" dirty="0" smtClean="0">
                <a:latin typeface="Calibri" pitchFamily="34" charset="0"/>
                <a:cs typeface="Calibri" pitchFamily="34" charset="0"/>
              </a:rPr>
              <a:t> If we get behind schedule, we can add more programmers and catch up</a:t>
            </a:r>
          </a:p>
          <a:p>
            <a:pPr algn="just">
              <a:buNone/>
            </a:pPr>
            <a:r>
              <a:rPr lang="en-US" sz="2200" b="1" dirty="0" smtClean="0">
                <a:latin typeface="Calibri" pitchFamily="34" charset="0"/>
                <a:cs typeface="Calibri" pitchFamily="34" charset="0"/>
              </a:rPr>
              <a:t>REALITY:</a:t>
            </a:r>
            <a:r>
              <a:rPr lang="en-US" sz="2200" dirty="0" smtClean="0">
                <a:latin typeface="Calibri" pitchFamily="34" charset="0"/>
                <a:cs typeface="Calibri" pitchFamily="34" charset="0"/>
              </a:rPr>
              <a:t> Software development is not a mechanical process like manufacturing; adding people to a late software project makes it later.</a:t>
            </a:r>
          </a:p>
          <a:p>
            <a:pPr algn="just">
              <a:buNone/>
            </a:pPr>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8229600" cy="654032"/>
          </a:xfrm>
        </p:spPr>
        <p:txBody>
          <a:bodyPr>
            <a:normAutofit fontScale="90000"/>
          </a:bodyPr>
          <a:lstStyle/>
          <a:p>
            <a:r>
              <a:rPr lang="en-US" dirty="0" smtClean="0">
                <a:latin typeface="+mn-lt"/>
              </a:rPr>
              <a:t/>
            </a:r>
            <a:br>
              <a:rPr lang="en-US" dirty="0" smtClean="0">
                <a:latin typeface="+mn-lt"/>
              </a:rPr>
            </a:br>
            <a:r>
              <a:rPr lang="en-US" dirty="0" smtClean="0">
                <a:solidFill>
                  <a:srgbClr val="7030A0"/>
                </a:solidFill>
                <a:latin typeface="Calibri" pitchFamily="34" charset="0"/>
                <a:cs typeface="Calibri" pitchFamily="34" charset="0"/>
              </a:rPr>
              <a:t>Software myths</a:t>
            </a:r>
            <a:r>
              <a:rPr lang="en-US" dirty="0"/>
              <a:t/>
            </a:r>
            <a:br>
              <a:rPr lang="en-US" dirty="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5000660"/>
          </a:xfrm>
        </p:spPr>
        <p:txBody>
          <a:bodyPr>
            <a:normAutofit/>
          </a:bodyPr>
          <a:lstStyle/>
          <a:p>
            <a:pPr algn="just">
              <a:buNone/>
            </a:pPr>
            <a:r>
              <a:rPr lang="en-US" sz="1800" b="1" dirty="0" smtClean="0">
                <a:latin typeface="Calibri" pitchFamily="34" charset="0"/>
                <a:cs typeface="Calibri" pitchFamily="34" charset="0"/>
              </a:rPr>
              <a:t>Myth 3:</a:t>
            </a:r>
            <a:r>
              <a:rPr lang="en-US" sz="1800" dirty="0" smtClean="0">
                <a:latin typeface="Calibri" pitchFamily="34" charset="0"/>
                <a:cs typeface="Calibri" pitchFamily="34" charset="0"/>
              </a:rPr>
              <a:t> If I decide to outsource the software project to a third party, I can just relax and let that firm build it.</a:t>
            </a:r>
          </a:p>
          <a:p>
            <a:pPr algn="just">
              <a:buNone/>
            </a:pPr>
            <a:r>
              <a:rPr lang="en-US" sz="1800" b="1" dirty="0" smtClean="0">
                <a:latin typeface="Calibri" pitchFamily="34" charset="0"/>
                <a:cs typeface="Calibri" pitchFamily="34" charset="0"/>
              </a:rPr>
              <a:t>REALITY:</a:t>
            </a:r>
            <a:r>
              <a:rPr lang="en-US" sz="1800" dirty="0" smtClean="0">
                <a:latin typeface="Calibri" pitchFamily="34" charset="0"/>
                <a:cs typeface="Calibri" pitchFamily="34" charset="0"/>
              </a:rPr>
              <a:t> If an organization does not understand how to manage and control software projects internally, it will invariably struggle when it outsources software projects.</a:t>
            </a:r>
          </a:p>
          <a:p>
            <a:pPr algn="just">
              <a:buNone/>
            </a:pPr>
            <a:endParaRPr lang="en-IN" sz="1800" dirty="0" smtClean="0">
              <a:latin typeface="Calibri" pitchFamily="34" charset="0"/>
              <a:cs typeface="Calibri" pitchFamily="34" charset="0"/>
            </a:endParaRPr>
          </a:p>
          <a:p>
            <a:pPr algn="just">
              <a:buNone/>
            </a:pPr>
            <a:r>
              <a:rPr lang="en-IN" sz="1800" b="1" dirty="0" smtClean="0">
                <a:latin typeface="Calibri" pitchFamily="34" charset="0"/>
                <a:cs typeface="Calibri" pitchFamily="34" charset="0"/>
              </a:rPr>
              <a:t>2. Customers Myths :</a:t>
            </a:r>
          </a:p>
          <a:p>
            <a:pPr>
              <a:buNone/>
            </a:pPr>
            <a:r>
              <a:rPr lang="en-US" sz="2000" b="1" dirty="0" smtClean="0">
                <a:latin typeface="Calibri" pitchFamily="34" charset="0"/>
                <a:cs typeface="Calibri" pitchFamily="34" charset="0"/>
              </a:rPr>
              <a:t>Myth 1:</a:t>
            </a:r>
            <a:r>
              <a:rPr lang="en-US" sz="2000" dirty="0" smtClean="0">
                <a:latin typeface="Calibri" pitchFamily="34" charset="0"/>
                <a:cs typeface="Calibri" pitchFamily="34" charset="0"/>
              </a:rPr>
              <a:t> A general statement of objectives is sufficient to begin writing programs — we can fill in the details later.</a:t>
            </a:r>
          </a:p>
          <a:p>
            <a:pPr>
              <a:buNone/>
            </a:pPr>
            <a:r>
              <a:rPr lang="en-US" sz="2000" b="1" dirty="0" smtClean="0">
                <a:latin typeface="Calibri" pitchFamily="34" charset="0"/>
                <a:cs typeface="Calibri" pitchFamily="34" charset="0"/>
              </a:rPr>
              <a:t>Reality:</a:t>
            </a:r>
            <a:r>
              <a:rPr lang="en-US" sz="2000" dirty="0" smtClean="0">
                <a:latin typeface="Calibri" pitchFamily="34" charset="0"/>
                <a:cs typeface="Calibri" pitchFamily="34" charset="0"/>
              </a:rPr>
              <a:t> A poor up-front definition is the major cause of failed software efforts. A formal and detailed description of the information domain, function, behavior, performance, interfaces, design constraints, and validation criteria is essential. These characteristics can be determined only after thorough communication between customer and developer.</a:t>
            </a:r>
          </a:p>
          <a:p>
            <a:pPr algn="just">
              <a:buNone/>
            </a:pPr>
            <a:endParaRPr lang="en-US" sz="1800" b="1" dirty="0" smtClean="0">
              <a:latin typeface="Calibri" pitchFamily="34" charset="0"/>
              <a:cs typeface="Calibri" pitchFamily="34" charset="0"/>
            </a:endParaRPr>
          </a:p>
        </p:txBody>
      </p:sp>
      <p:sp>
        <p:nvSpPr>
          <p:cNvPr id="2" name="Title 1"/>
          <p:cNvSpPr>
            <a:spLocks noGrp="1"/>
          </p:cNvSpPr>
          <p:nvPr>
            <p:ph type="title"/>
          </p:nvPr>
        </p:nvSpPr>
        <p:spPr/>
        <p:txBody>
          <a:bodyPr/>
          <a:lstStyle/>
          <a:p>
            <a:r>
              <a:rPr lang="en-US" b="1" dirty="0" smtClean="0">
                <a:solidFill>
                  <a:srgbClr val="7030A0"/>
                </a:solidFill>
                <a:latin typeface="Calibri" pitchFamily="34" charset="0"/>
                <a:cs typeface="Calibri" pitchFamily="34" charset="0"/>
              </a:rPr>
              <a:t>Software myths</a:t>
            </a:r>
            <a:endParaRPr lang="en-US" b="1" dirty="0">
              <a:solidFill>
                <a:srgbClr val="7030A0"/>
              </a:solidFill>
              <a:latin typeface="Calibri" pitchFamily="34" charset="0"/>
              <a:cs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071546"/>
            <a:ext cx="8229600" cy="4525963"/>
          </a:xfrm>
        </p:spPr>
        <p:txBody>
          <a:bodyPr>
            <a:normAutofit lnSpcReduction="10000"/>
          </a:bodyPr>
          <a:lstStyle/>
          <a:p>
            <a:pPr>
              <a:buNone/>
            </a:pPr>
            <a:r>
              <a:rPr lang="en-US" sz="2200" b="1" dirty="0" smtClean="0">
                <a:latin typeface="Calibri" pitchFamily="34" charset="0"/>
                <a:cs typeface="Calibri" pitchFamily="34" charset="0"/>
              </a:rPr>
              <a:t>Myth 2:</a:t>
            </a:r>
            <a:r>
              <a:rPr lang="en-US" sz="2200" dirty="0" smtClean="0">
                <a:latin typeface="Calibri" pitchFamily="34" charset="0"/>
                <a:cs typeface="Calibri" pitchFamily="34" charset="0"/>
              </a:rPr>
              <a:t> Project requirements continually change, but change can be easily accommodated because software is flexible.</a:t>
            </a:r>
          </a:p>
          <a:p>
            <a:pPr>
              <a:buNone/>
            </a:pPr>
            <a:r>
              <a:rPr lang="en-US" sz="2200" b="1" dirty="0" smtClean="0">
                <a:latin typeface="Calibri" pitchFamily="34" charset="0"/>
                <a:cs typeface="Calibri" pitchFamily="34" charset="0"/>
              </a:rPr>
              <a:t>Reality:</a:t>
            </a:r>
            <a:r>
              <a:rPr lang="en-US" sz="2200" dirty="0" smtClean="0">
                <a:latin typeface="Calibri" pitchFamily="34" charset="0"/>
                <a:cs typeface="Calibri" pitchFamily="34" charset="0"/>
              </a:rPr>
              <a:t> It is true that software requirements change, but the impact of change varies with the time at which it is introduced.</a:t>
            </a:r>
          </a:p>
          <a:p>
            <a:pPr>
              <a:buNone/>
            </a:pPr>
            <a:endParaRPr lang="en-IN" sz="2200" dirty="0" smtClean="0">
              <a:latin typeface="Calibri" pitchFamily="34" charset="0"/>
              <a:cs typeface="Calibri" pitchFamily="34" charset="0"/>
            </a:endParaRPr>
          </a:p>
          <a:p>
            <a:pPr>
              <a:buNone/>
            </a:pPr>
            <a:r>
              <a:rPr lang="en-IN" sz="2200" b="1" dirty="0" smtClean="0">
                <a:latin typeface="Calibri" pitchFamily="34" charset="0"/>
                <a:cs typeface="Calibri" pitchFamily="34" charset="0"/>
              </a:rPr>
              <a:t>3. Practitioner’s Myths :</a:t>
            </a:r>
          </a:p>
          <a:p>
            <a:pPr>
              <a:buNone/>
            </a:pPr>
            <a:r>
              <a:rPr lang="en-US" sz="2400" b="1" dirty="0" smtClean="0">
                <a:latin typeface="Calibri" pitchFamily="34" charset="0"/>
                <a:cs typeface="Calibri" pitchFamily="34" charset="0"/>
              </a:rPr>
              <a:t>Myth 1:</a:t>
            </a:r>
            <a:r>
              <a:rPr lang="en-US" sz="2400" dirty="0" smtClean="0">
                <a:latin typeface="Calibri" pitchFamily="34" charset="0"/>
                <a:cs typeface="Calibri" pitchFamily="34" charset="0"/>
              </a:rPr>
              <a:t> Once we write the program and get it to work, our job is done.</a:t>
            </a:r>
          </a:p>
          <a:p>
            <a:pPr>
              <a:buNone/>
            </a:pPr>
            <a:r>
              <a:rPr lang="en-US" sz="2400" b="1" dirty="0" smtClean="0">
                <a:latin typeface="Calibri" pitchFamily="34" charset="0"/>
                <a:cs typeface="Calibri" pitchFamily="34" charset="0"/>
              </a:rPr>
              <a:t>Reality:</a:t>
            </a:r>
            <a:r>
              <a:rPr lang="en-US" sz="2400" dirty="0" smtClean="0">
                <a:latin typeface="Calibri" pitchFamily="34" charset="0"/>
                <a:cs typeface="Calibri" pitchFamily="34" charset="0"/>
              </a:rPr>
              <a:t> Someone once said that “the sooner you begin ‘writing code’, the longer it’ll take you to get done.” Industry data indicate that between 60 and 80 percent of all effort expended on software will be expended after it is delivered to the customer for the first time.</a:t>
            </a:r>
            <a:endParaRPr lang="en-IN" sz="2200" b="1" dirty="0" smtClean="0">
              <a:latin typeface="Calibri" pitchFamily="34" charset="0"/>
              <a:cs typeface="Calibri" pitchFamily="34" charset="0"/>
            </a:endParaRPr>
          </a:p>
        </p:txBody>
      </p:sp>
      <p:sp>
        <p:nvSpPr>
          <p:cNvPr id="2" name="Title 1"/>
          <p:cNvSpPr>
            <a:spLocks noGrp="1"/>
          </p:cNvSpPr>
          <p:nvPr>
            <p:ph type="title"/>
          </p:nvPr>
        </p:nvSpPr>
        <p:spPr>
          <a:xfrm>
            <a:off x="457200" y="274638"/>
            <a:ext cx="3829048" cy="654032"/>
          </a:xfrm>
        </p:spPr>
        <p:txBody>
          <a:bodyPr>
            <a:normAutofit fontScale="90000"/>
          </a:bodyPr>
          <a:lstStyle/>
          <a:p>
            <a:r>
              <a:rPr lang="en-US" b="1" dirty="0" smtClean="0"/>
              <a:t/>
            </a:r>
            <a:br>
              <a:rPr lang="en-US" b="1" dirty="0" smtClean="0"/>
            </a:br>
            <a:r>
              <a:rPr lang="en-US" b="1" dirty="0" smtClean="0">
                <a:solidFill>
                  <a:srgbClr val="7030A0"/>
                </a:solidFill>
                <a:latin typeface="Calibri" pitchFamily="34" charset="0"/>
                <a:cs typeface="Calibri" pitchFamily="34" charset="0"/>
              </a:rPr>
              <a:t>Software </a:t>
            </a:r>
            <a:r>
              <a:rPr lang="en-US" b="1" dirty="0">
                <a:solidFill>
                  <a:srgbClr val="7030A0"/>
                </a:solidFill>
                <a:latin typeface="Calibri" pitchFamily="34" charset="0"/>
                <a:cs typeface="Calibri" pitchFamily="34" charset="0"/>
              </a:rPr>
              <a:t>Process </a:t>
            </a:r>
            <a:r>
              <a:rPr lang="en-US" dirty="0"/>
              <a:t>	</a:t>
            </a:r>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214422"/>
            <a:ext cx="8229600" cy="4525963"/>
          </a:xfrm>
        </p:spPr>
        <p:txBody>
          <a:bodyPr>
            <a:noAutofit/>
          </a:bodyPr>
          <a:lstStyle/>
          <a:p>
            <a:pPr>
              <a:buNone/>
            </a:pPr>
            <a:r>
              <a:rPr lang="en-US" sz="2200" b="1" dirty="0" smtClean="0">
                <a:latin typeface="Calibri" pitchFamily="34" charset="0"/>
                <a:cs typeface="Calibri" pitchFamily="34" charset="0"/>
              </a:rPr>
              <a:t>Myth 2:</a:t>
            </a:r>
            <a:r>
              <a:rPr lang="en-US" sz="2200" dirty="0" smtClean="0">
                <a:latin typeface="Calibri" pitchFamily="34" charset="0"/>
                <a:cs typeface="Calibri" pitchFamily="34" charset="0"/>
              </a:rPr>
              <a:t> Until I get the program “running”, I have no way of assessing its quality.</a:t>
            </a:r>
          </a:p>
          <a:p>
            <a:pPr>
              <a:buNone/>
            </a:pPr>
            <a:r>
              <a:rPr lang="en-US" sz="2200" b="1" dirty="0" smtClean="0">
                <a:latin typeface="Calibri" pitchFamily="34" charset="0"/>
                <a:cs typeface="Calibri" pitchFamily="34" charset="0"/>
              </a:rPr>
              <a:t>Reality:</a:t>
            </a:r>
            <a:r>
              <a:rPr lang="en-US" sz="2200" dirty="0" smtClean="0">
                <a:latin typeface="Calibri" pitchFamily="34" charset="0"/>
                <a:cs typeface="Calibri" pitchFamily="34" charset="0"/>
              </a:rPr>
              <a:t> One of the most effective software quality assurance mechanisms can be applied from the inception of a project — the formal technical review. Software reviews are a “quality filter” that have been found to be more effective than testing for finding certain classes of software defects.</a:t>
            </a:r>
          </a:p>
          <a:p>
            <a:pPr>
              <a:buNone/>
            </a:pPr>
            <a:endParaRPr lang="en-US" sz="2200" dirty="0" smtClean="0">
              <a:latin typeface="Calibri" pitchFamily="34" charset="0"/>
              <a:cs typeface="Calibri" pitchFamily="34" charset="0"/>
            </a:endParaRPr>
          </a:p>
          <a:p>
            <a:pPr>
              <a:buNone/>
            </a:pPr>
            <a:r>
              <a:rPr lang="en-US" sz="2200" b="1" dirty="0" smtClean="0">
                <a:latin typeface="Calibri" pitchFamily="34" charset="0"/>
                <a:cs typeface="Calibri" pitchFamily="34" charset="0"/>
              </a:rPr>
              <a:t>Myth 3:</a:t>
            </a:r>
            <a:r>
              <a:rPr lang="en-US" sz="2200" dirty="0" smtClean="0">
                <a:latin typeface="Calibri" pitchFamily="34" charset="0"/>
                <a:cs typeface="Calibri" pitchFamily="34" charset="0"/>
              </a:rPr>
              <a:t> The only deliverable work product for a successful project is the working program.</a:t>
            </a:r>
          </a:p>
          <a:p>
            <a:pPr>
              <a:buNone/>
            </a:pPr>
            <a:r>
              <a:rPr lang="en-US" sz="2200" b="1" dirty="0" smtClean="0">
                <a:latin typeface="Calibri" pitchFamily="34" charset="0"/>
                <a:cs typeface="Calibri" pitchFamily="34" charset="0"/>
              </a:rPr>
              <a:t>Reality :</a:t>
            </a:r>
            <a:r>
              <a:rPr lang="en-US" sz="2200" dirty="0" smtClean="0">
                <a:latin typeface="Calibri" pitchFamily="34" charset="0"/>
                <a:cs typeface="Calibri" pitchFamily="34" charset="0"/>
              </a:rPr>
              <a:t> A working program is only one part of a software configuration that includes many elements. Documentation provides a foundation for successful engineering and, more important, guidance for software support.</a:t>
            </a:r>
          </a:p>
          <a:p>
            <a:pPr>
              <a:buNone/>
            </a:pPr>
            <a:endParaRPr lang="en-US" sz="220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3700" b="1" dirty="0" smtClean="0">
                <a:solidFill>
                  <a:srgbClr val="7030A0"/>
                </a:solidFill>
                <a:effectLst/>
                <a:latin typeface="Calibri" pitchFamily="34" charset="0"/>
                <a:cs typeface="Calibri" pitchFamily="34" charset="0"/>
              </a:rPr>
              <a:t>Software</a:t>
            </a:r>
            <a:r>
              <a:rPr lang="en-US" b="1" dirty="0" smtClean="0">
                <a:solidFill>
                  <a:srgbClr val="7030A0"/>
                </a:solidFill>
                <a:effectLst/>
                <a:latin typeface="Calibri" pitchFamily="34" charset="0"/>
                <a:cs typeface="Calibri" pitchFamily="34" charset="0"/>
              </a:rPr>
              <a:t> Process</a:t>
            </a:r>
            <a:endParaRPr lang="en-US" dirty="0">
              <a:solidFill>
                <a:srgbClr val="7030A0"/>
              </a:solidFill>
              <a:effectLst/>
              <a:latin typeface="Calibri" pitchFamily="34" charset="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72518" cy="4525963"/>
          </a:xfrm>
        </p:spPr>
        <p:txBody>
          <a:bodyPr>
            <a:normAutofit/>
          </a:bodyPr>
          <a:lstStyle/>
          <a:p>
            <a:r>
              <a:rPr lang="en-US" sz="2200" dirty="0" smtClean="0">
                <a:latin typeface="Calibri" pitchFamily="34" charset="0"/>
                <a:cs typeface="Calibri" pitchFamily="34" charset="0"/>
              </a:rPr>
              <a:t>Process framework plays a major role in every software development activity as it forms a base in initiating the development process. It is used to estimate certain framework activities which are applied in very developmental activity, irrespective of its size. The process framework includes several umbrella activities, which are useful throughout the software development process</a:t>
            </a:r>
          </a:p>
          <a:p>
            <a:endParaRPr lang="en-IN" sz="2200" dirty="0" smtClean="0">
              <a:latin typeface="Calibri" pitchFamily="34" charset="0"/>
              <a:cs typeface="Calibri" pitchFamily="34" charset="0"/>
            </a:endParaRPr>
          </a:p>
          <a:p>
            <a:r>
              <a:rPr lang="en-IN" sz="2200" b="1" dirty="0" smtClean="0">
                <a:latin typeface="Calibri" pitchFamily="34" charset="0"/>
                <a:cs typeface="Calibri" pitchFamily="34" charset="0"/>
              </a:rPr>
              <a:t>Activity</a:t>
            </a:r>
            <a:r>
              <a:rPr lang="en-IN" sz="2200" dirty="0" smtClean="0">
                <a:latin typeface="Calibri" pitchFamily="34" charset="0"/>
                <a:cs typeface="Calibri" pitchFamily="34" charset="0"/>
              </a:rPr>
              <a:t> :</a:t>
            </a:r>
            <a:r>
              <a:rPr lang="en-US" sz="2200" dirty="0" smtClean="0">
                <a:latin typeface="Calibri" pitchFamily="34" charset="0"/>
                <a:cs typeface="Calibri" pitchFamily="34" charset="0"/>
              </a:rPr>
              <a:t> Activities are groups of related tasks and actions for a major objective.</a:t>
            </a:r>
            <a:endParaRPr lang="en-IN" sz="2200" dirty="0" smtClean="0">
              <a:latin typeface="Calibri" pitchFamily="34" charset="0"/>
              <a:cs typeface="Calibri" pitchFamily="34" charset="0"/>
            </a:endParaRPr>
          </a:p>
          <a:p>
            <a:r>
              <a:rPr lang="en-IN" sz="2200" b="1" dirty="0" smtClean="0">
                <a:latin typeface="Calibri" pitchFamily="34" charset="0"/>
                <a:cs typeface="Calibri" pitchFamily="34" charset="0"/>
              </a:rPr>
              <a:t>Action</a:t>
            </a:r>
            <a:r>
              <a:rPr lang="en-IN" sz="2200" dirty="0" smtClean="0">
                <a:latin typeface="Calibri" pitchFamily="34" charset="0"/>
                <a:cs typeface="Calibri" pitchFamily="34" charset="0"/>
              </a:rPr>
              <a:t> : </a:t>
            </a:r>
            <a:r>
              <a:rPr lang="en-US" sz="2200" dirty="0" smtClean="0">
                <a:latin typeface="Calibri" pitchFamily="34" charset="0"/>
                <a:cs typeface="Calibri" pitchFamily="34" charset="0"/>
              </a:rPr>
              <a:t>It is a set of tasks that produce a major work product.</a:t>
            </a:r>
            <a:endParaRPr lang="en-IN" sz="2200" dirty="0" smtClean="0">
              <a:latin typeface="Calibri" pitchFamily="34" charset="0"/>
              <a:cs typeface="Calibri" pitchFamily="34" charset="0"/>
            </a:endParaRPr>
          </a:p>
          <a:p>
            <a:r>
              <a:rPr lang="en-IN" sz="2200" b="1" dirty="0" smtClean="0">
                <a:latin typeface="Calibri" pitchFamily="34" charset="0"/>
                <a:cs typeface="Calibri" pitchFamily="34" charset="0"/>
              </a:rPr>
              <a:t>Task</a:t>
            </a:r>
            <a:r>
              <a:rPr lang="en-IN" sz="2200" dirty="0" smtClean="0">
                <a:latin typeface="Calibri" pitchFamily="34" charset="0"/>
                <a:cs typeface="Calibri" pitchFamily="34" charset="0"/>
              </a:rPr>
              <a:t>: </a:t>
            </a:r>
            <a:r>
              <a:rPr lang="en-US" sz="2200" dirty="0" smtClean="0">
                <a:latin typeface="Calibri" pitchFamily="34" charset="0"/>
                <a:cs typeface="Calibri" pitchFamily="34" charset="0"/>
              </a:rPr>
              <a:t>They focus on a small, specific objective.</a:t>
            </a:r>
          </a:p>
          <a:p>
            <a:pPr fontAlgn="base"/>
            <a:endParaRPr lang="en-US" sz="2200" dirty="0" smtClean="0">
              <a:latin typeface="Calibri" pitchFamily="34" charset="0"/>
              <a:cs typeface="Calibri" pitchFamily="34" charset="0"/>
            </a:endParaRPr>
          </a:p>
          <a:p>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8229600" cy="725470"/>
          </a:xfrm>
        </p:spPr>
        <p:txBody>
          <a:bodyPr>
            <a:normAutofit fontScale="90000"/>
          </a:bodyPr>
          <a:lstStyle/>
          <a:p>
            <a:r>
              <a:rPr lang="en-US" dirty="0" smtClean="0"/>
              <a:t/>
            </a:r>
            <a:br>
              <a:rPr lang="en-US" dirty="0" smtClean="0"/>
            </a:br>
            <a:r>
              <a:rPr lang="en-US" dirty="0" smtClean="0">
                <a:solidFill>
                  <a:srgbClr val="7030A0"/>
                </a:solidFill>
                <a:latin typeface="Calibri" pitchFamily="34" charset="0"/>
                <a:cs typeface="Calibri" pitchFamily="34" charset="0"/>
              </a:rPr>
              <a:t>The </a:t>
            </a:r>
            <a:r>
              <a:rPr lang="en-US" dirty="0">
                <a:solidFill>
                  <a:srgbClr val="7030A0"/>
                </a:solidFill>
                <a:latin typeface="Calibri" pitchFamily="34" charset="0"/>
                <a:cs typeface="Calibri" pitchFamily="34" charset="0"/>
              </a:rPr>
              <a:t>Process Framework </a:t>
            </a:r>
            <a:r>
              <a:rPr lang="en-US" dirty="0"/>
              <a:t>	</a:t>
            </a:r>
            <a:br>
              <a:rPr lang="en-US" dirty="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ownloads\se.png"/>
          <p:cNvPicPr>
            <a:picLocks noGrp="1" noChangeAspect="1" noChangeArrowheads="1"/>
          </p:cNvPicPr>
          <p:nvPr>
            <p:ph idx="1"/>
          </p:nvPr>
        </p:nvPicPr>
        <p:blipFill>
          <a:blip r:embed="rId2"/>
          <a:stretch>
            <a:fillRect/>
          </a:stretch>
        </p:blipFill>
        <p:spPr bwMode="auto">
          <a:xfrm>
            <a:off x="2003559" y="1481138"/>
            <a:ext cx="5136881" cy="4662506"/>
          </a:xfrm>
          <a:prstGeom prst="rect">
            <a:avLst/>
          </a:prstGeom>
          <a:noFill/>
        </p:spPr>
      </p:pic>
      <p:sp>
        <p:nvSpPr>
          <p:cNvPr id="2" name="Title 1"/>
          <p:cNvSpPr>
            <a:spLocks noGrp="1"/>
          </p:cNvSpPr>
          <p:nvPr>
            <p:ph type="title"/>
          </p:nvPr>
        </p:nvSpPr>
        <p:spPr>
          <a:xfrm>
            <a:off x="457200" y="274638"/>
            <a:ext cx="5257808" cy="796908"/>
          </a:xfrm>
        </p:spPr>
        <p:txBody>
          <a:bodyPr>
            <a:normAutofit/>
          </a:bodyPr>
          <a:lstStyle/>
          <a:p>
            <a:r>
              <a:rPr lang="en-US" sz="3700" dirty="0" smtClean="0">
                <a:solidFill>
                  <a:srgbClr val="7030A0"/>
                </a:solidFill>
                <a:latin typeface="Calibri" pitchFamily="34" charset="0"/>
                <a:cs typeface="Calibri" pitchFamily="34" charset="0"/>
              </a:rPr>
              <a:t>The Process Framework</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US" sz="2200" b="1" dirty="0" smtClean="0">
                <a:latin typeface="Calibri" pitchFamily="34" charset="0"/>
                <a:cs typeface="Calibri" pitchFamily="34" charset="0"/>
              </a:rPr>
              <a:t>1. Communication</a:t>
            </a:r>
          </a:p>
          <a:p>
            <a:pPr fontAlgn="base">
              <a:buNone/>
            </a:pPr>
            <a:r>
              <a:rPr lang="en-US" sz="2200" dirty="0" smtClean="0">
                <a:latin typeface="Calibri" pitchFamily="34" charset="0"/>
                <a:cs typeface="Calibri" pitchFamily="34" charset="0"/>
              </a:rPr>
              <a:t>	This refers to a framework activity where, usually the end users (say customers) are communicated and their views related to the project are analyzed. Here, reports related to customer requirement specifications are developed.</a:t>
            </a:r>
          </a:p>
          <a:p>
            <a:pPr fontAlgn="base">
              <a:buNone/>
            </a:pPr>
            <a:r>
              <a:rPr lang="en-US" sz="2200" b="1" dirty="0" smtClean="0">
                <a:latin typeface="Calibri" pitchFamily="34" charset="0"/>
                <a:cs typeface="Calibri" pitchFamily="34" charset="0"/>
              </a:rPr>
              <a:t>2. Planning</a:t>
            </a:r>
          </a:p>
          <a:p>
            <a:pPr fontAlgn="base">
              <a:buNone/>
            </a:pPr>
            <a:r>
              <a:rPr lang="en-US" sz="2200" dirty="0" smtClean="0">
                <a:latin typeface="Calibri" pitchFamily="34" charset="0"/>
                <a:cs typeface="Calibri" pitchFamily="34" charset="0"/>
              </a:rPr>
              <a:t>	In this framework activity, usually the entire work schedule which is going to be implemented in further stages is prepared. Hence, various issues to be addressed during this framework are risks, requirement of resources, software schedules, important products to be developed etc.</a:t>
            </a:r>
          </a:p>
          <a:p>
            <a:endParaRPr lang="en-US" sz="2200" dirty="0">
              <a:latin typeface="Calibri" pitchFamily="34" charset="0"/>
              <a:cs typeface="Calibri" pitchFamily="34" charset="0"/>
            </a:endParaRPr>
          </a:p>
        </p:txBody>
      </p:sp>
      <p:sp>
        <p:nvSpPr>
          <p:cNvPr id="2" name="Title 1"/>
          <p:cNvSpPr>
            <a:spLocks noGrp="1"/>
          </p:cNvSpPr>
          <p:nvPr>
            <p:ph type="title"/>
          </p:nvPr>
        </p:nvSpPr>
        <p:spPr/>
        <p:txBody>
          <a:bodyPr>
            <a:normAutofit/>
          </a:bodyPr>
          <a:lstStyle/>
          <a:p>
            <a:r>
              <a:rPr lang="en-US" sz="3700" dirty="0" smtClean="0">
                <a:solidFill>
                  <a:srgbClr val="7030A0"/>
                </a:solidFill>
                <a:latin typeface="Calibri" pitchFamily="34" charset="0"/>
                <a:cs typeface="Calibri" pitchFamily="34" charset="0"/>
              </a:rPr>
              <a:t>The Process Framework</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285860"/>
            <a:ext cx="8229600" cy="4900634"/>
          </a:xfrm>
        </p:spPr>
        <p:txBody>
          <a:bodyPr>
            <a:normAutofit fontScale="92500" lnSpcReduction="10000"/>
          </a:bodyPr>
          <a:lstStyle/>
          <a:p>
            <a:pPr fontAlgn="base">
              <a:buNone/>
            </a:pPr>
            <a:r>
              <a:rPr lang="en-US" sz="2400" b="1" dirty="0" smtClean="0">
                <a:latin typeface="Calibri" pitchFamily="34" charset="0"/>
                <a:cs typeface="Calibri" pitchFamily="34" charset="0"/>
              </a:rPr>
              <a:t>3. </a:t>
            </a:r>
            <a:r>
              <a:rPr lang="en-US" sz="2400" b="1" dirty="0" err="1" smtClean="0">
                <a:latin typeface="Calibri" pitchFamily="34" charset="0"/>
                <a:cs typeface="Calibri" pitchFamily="34" charset="0"/>
              </a:rPr>
              <a:t>Modelling</a:t>
            </a:r>
            <a:endParaRPr lang="en-US" sz="2400" b="1" dirty="0" smtClean="0">
              <a:latin typeface="Calibri" pitchFamily="34" charset="0"/>
              <a:cs typeface="Calibri" pitchFamily="34" charset="0"/>
            </a:endParaRPr>
          </a:p>
          <a:p>
            <a:pPr fontAlgn="base">
              <a:buNone/>
            </a:pPr>
            <a:r>
              <a:rPr lang="en-US" sz="2400" dirty="0" smtClean="0">
                <a:latin typeface="Calibri" pitchFamily="34" charset="0"/>
                <a:cs typeface="Calibri" pitchFamily="34" charset="0"/>
              </a:rPr>
              <a:t>	Once the developer is done with analyzing the customer requirement specifications, the third framework activity will be modeling. Here, usually UML diagrams are used to represent the project in the form of architecture. This helps developers and the customer to gain an insight of the end product.</a:t>
            </a:r>
          </a:p>
          <a:p>
            <a:pPr fontAlgn="base">
              <a:buNone/>
            </a:pPr>
            <a:endParaRPr lang="en-US" sz="2400" dirty="0" smtClean="0">
              <a:latin typeface="Calibri" pitchFamily="34" charset="0"/>
              <a:cs typeface="Calibri" pitchFamily="34" charset="0"/>
            </a:endParaRPr>
          </a:p>
          <a:p>
            <a:pPr fontAlgn="base">
              <a:buNone/>
            </a:pPr>
            <a:r>
              <a:rPr lang="en-US" sz="2400" b="1" dirty="0" smtClean="0">
                <a:latin typeface="Calibri" pitchFamily="34" charset="0"/>
                <a:cs typeface="Calibri" pitchFamily="34" charset="0"/>
              </a:rPr>
              <a:t>4. Construction</a:t>
            </a:r>
          </a:p>
          <a:p>
            <a:pPr fontAlgn="base">
              <a:buNone/>
            </a:pPr>
            <a:r>
              <a:rPr lang="en-US" sz="2400" dirty="0" smtClean="0">
                <a:latin typeface="Calibri" pitchFamily="34" charset="0"/>
                <a:cs typeface="Calibri" pitchFamily="34" charset="0"/>
              </a:rPr>
              <a:t>It is a combination of code generation and testing.</a:t>
            </a:r>
          </a:p>
          <a:p>
            <a:pPr fontAlgn="base">
              <a:buNone/>
            </a:pPr>
            <a:endParaRPr lang="en-US" sz="2400" dirty="0" smtClean="0">
              <a:latin typeface="Calibri" pitchFamily="34" charset="0"/>
              <a:cs typeface="Calibri" pitchFamily="34" charset="0"/>
            </a:endParaRPr>
          </a:p>
          <a:p>
            <a:pPr fontAlgn="base">
              <a:buNone/>
            </a:pPr>
            <a:r>
              <a:rPr lang="en-US" sz="2400" b="1" dirty="0" smtClean="0">
                <a:latin typeface="Calibri" pitchFamily="34" charset="0"/>
                <a:cs typeface="Calibri" pitchFamily="34" charset="0"/>
              </a:rPr>
              <a:t>5. Deployment</a:t>
            </a:r>
          </a:p>
          <a:p>
            <a:pPr fontAlgn="base">
              <a:buNone/>
            </a:pPr>
            <a:r>
              <a:rPr lang="en-US" sz="2400" dirty="0" smtClean="0">
                <a:latin typeface="Calibri" pitchFamily="34" charset="0"/>
                <a:cs typeface="Calibri" pitchFamily="34" charset="0"/>
              </a:rPr>
              <a:t>	In this framework activity, usually the developed project is delivered to the end users. They deploy the project and give relative feedbacks to the developers.</a:t>
            </a:r>
          </a:p>
          <a:p>
            <a:pPr fontAlgn="base">
              <a:buNone/>
            </a:pPr>
            <a:endParaRPr lang="en-US" sz="2400" dirty="0" smtClean="0">
              <a:latin typeface="Calibri" pitchFamily="34" charset="0"/>
              <a:cs typeface="Calibri" pitchFamily="34" charset="0"/>
            </a:endParaRPr>
          </a:p>
          <a:p>
            <a:pPr>
              <a:buNone/>
            </a:pPr>
            <a:endParaRPr lang="en-US" sz="2400" dirty="0">
              <a:latin typeface="Calibri" pitchFamily="34" charset="0"/>
              <a:cs typeface="Calibri" pitchFamily="34" charset="0"/>
            </a:endParaRPr>
          </a:p>
        </p:txBody>
      </p:sp>
      <p:sp>
        <p:nvSpPr>
          <p:cNvPr id="2" name="Title 1"/>
          <p:cNvSpPr>
            <a:spLocks noGrp="1"/>
          </p:cNvSpPr>
          <p:nvPr>
            <p:ph type="title"/>
          </p:nvPr>
        </p:nvSpPr>
        <p:spPr/>
        <p:txBody>
          <a:bodyPr>
            <a:normAutofit/>
          </a:bodyPr>
          <a:lstStyle/>
          <a:p>
            <a:r>
              <a:rPr lang="en-US" sz="3700" dirty="0" smtClean="0">
                <a:solidFill>
                  <a:srgbClr val="7030A0"/>
                </a:solidFill>
              </a:rPr>
              <a:t>The Process Framework</a:t>
            </a:r>
            <a:endParaRPr lang="en-US" sz="3700" dirty="0">
              <a:solidFill>
                <a:srgbClr val="7030A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buNone/>
            </a:pPr>
            <a:r>
              <a:rPr lang="en-US" sz="2200" dirty="0" smtClean="0">
                <a:latin typeface="Calibri" pitchFamily="34" charset="0"/>
                <a:cs typeface="Calibri" pitchFamily="34" charset="0"/>
              </a:rPr>
              <a:t>There are eight umbrella activities of a software process framework. They are:</a:t>
            </a:r>
          </a:p>
          <a:p>
            <a:pPr marL="457200" indent="-457200" fontAlgn="base">
              <a:buFont typeface="+mj-lt"/>
              <a:buAutoNum type="arabicPeriod"/>
            </a:pPr>
            <a:r>
              <a:rPr lang="en-US" sz="2200" dirty="0" smtClean="0">
                <a:latin typeface="Calibri" pitchFamily="34" charset="0"/>
                <a:cs typeface="Calibri" pitchFamily="34" charset="0"/>
              </a:rPr>
              <a:t>Tracking and controlling software project</a:t>
            </a:r>
          </a:p>
          <a:p>
            <a:pPr marL="457200" indent="-457200" fontAlgn="base">
              <a:buFont typeface="+mj-lt"/>
              <a:buAutoNum type="arabicPeriod"/>
            </a:pPr>
            <a:r>
              <a:rPr lang="en-US" sz="2200" dirty="0" smtClean="0">
                <a:latin typeface="Calibri" pitchFamily="34" charset="0"/>
                <a:cs typeface="Calibri" pitchFamily="34" charset="0"/>
              </a:rPr>
              <a:t>Managing risks</a:t>
            </a:r>
          </a:p>
          <a:p>
            <a:pPr marL="457200" indent="-457200" fontAlgn="base">
              <a:buFont typeface="+mj-lt"/>
              <a:buAutoNum type="arabicPeriod"/>
            </a:pPr>
            <a:r>
              <a:rPr lang="en-US" sz="2200" dirty="0" smtClean="0">
                <a:latin typeface="Calibri" pitchFamily="34" charset="0"/>
                <a:cs typeface="Calibri" pitchFamily="34" charset="0"/>
              </a:rPr>
              <a:t>Software Quality Assurance (SQA)</a:t>
            </a:r>
          </a:p>
          <a:p>
            <a:pPr marL="457200" indent="-457200" fontAlgn="base">
              <a:buFont typeface="+mj-lt"/>
              <a:buAutoNum type="arabicPeriod"/>
            </a:pPr>
            <a:r>
              <a:rPr lang="en-US" sz="2200" dirty="0" smtClean="0">
                <a:latin typeface="Calibri" pitchFamily="34" charset="0"/>
                <a:cs typeface="Calibri" pitchFamily="34" charset="0"/>
              </a:rPr>
              <a:t>Formal technical reviews</a:t>
            </a:r>
          </a:p>
          <a:p>
            <a:pPr marL="457200" indent="-457200" fontAlgn="base">
              <a:buFont typeface="+mj-lt"/>
              <a:buAutoNum type="arabicPeriod"/>
            </a:pPr>
            <a:r>
              <a:rPr lang="en-US" sz="2200" dirty="0" smtClean="0">
                <a:latin typeface="Calibri" pitchFamily="34" charset="0"/>
                <a:cs typeface="Calibri" pitchFamily="34" charset="0"/>
              </a:rPr>
              <a:t>Software measurements</a:t>
            </a:r>
          </a:p>
          <a:p>
            <a:pPr marL="457200" indent="-457200" fontAlgn="base">
              <a:buFont typeface="+mj-lt"/>
              <a:buAutoNum type="arabicPeriod"/>
            </a:pPr>
            <a:r>
              <a:rPr lang="en-US" sz="2200" dirty="0" smtClean="0">
                <a:latin typeface="Calibri" pitchFamily="34" charset="0"/>
                <a:cs typeface="Calibri" pitchFamily="34" charset="0"/>
              </a:rPr>
              <a:t>Software Configuration Management (SCM)</a:t>
            </a:r>
          </a:p>
          <a:p>
            <a:pPr marL="457200" indent="-457200" fontAlgn="base">
              <a:buFont typeface="+mj-lt"/>
              <a:buAutoNum type="arabicPeriod"/>
            </a:pPr>
            <a:r>
              <a:rPr lang="en-US" sz="2200" dirty="0" smtClean="0">
                <a:latin typeface="Calibri" pitchFamily="34" charset="0"/>
                <a:cs typeface="Calibri" pitchFamily="34" charset="0"/>
              </a:rPr>
              <a:t>Managing reusability factor</a:t>
            </a:r>
          </a:p>
          <a:p>
            <a:pPr marL="457200" indent="-457200" fontAlgn="base">
              <a:buFont typeface="+mj-lt"/>
              <a:buAutoNum type="arabicPeriod"/>
            </a:pPr>
            <a:r>
              <a:rPr lang="en-US" sz="2200" dirty="0" smtClean="0">
                <a:latin typeface="Calibri" pitchFamily="34" charset="0"/>
                <a:cs typeface="Calibri" pitchFamily="34" charset="0"/>
              </a:rPr>
              <a:t>Preparing and producing software work products</a:t>
            </a:r>
          </a:p>
          <a:p>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5114932" cy="725470"/>
          </a:xfrm>
        </p:spPr>
        <p:txBody>
          <a:bodyPr>
            <a:normAutofit fontScale="90000"/>
          </a:bodyPr>
          <a:lstStyle/>
          <a:p>
            <a:r>
              <a:rPr lang="en-IN" dirty="0" smtClean="0"/>
              <a:t/>
            </a:r>
            <a:br>
              <a:rPr lang="en-IN" dirty="0" smtClean="0"/>
            </a:br>
            <a:r>
              <a:rPr lang="en-US" dirty="0" smtClean="0">
                <a:solidFill>
                  <a:srgbClr val="7030A0"/>
                </a:solidFill>
                <a:latin typeface="Calibri" pitchFamily="34" charset="0"/>
                <a:cs typeface="Calibri" pitchFamily="34" charset="0"/>
              </a:rPr>
              <a:t>Umbrella </a:t>
            </a:r>
            <a:r>
              <a:rPr lang="en-US" dirty="0">
                <a:solidFill>
                  <a:srgbClr val="7030A0"/>
                </a:solidFill>
                <a:latin typeface="Calibri" pitchFamily="34" charset="0"/>
                <a:cs typeface="Calibri" pitchFamily="34" charset="0"/>
              </a:rPr>
              <a:t>Activities </a:t>
            </a:r>
            <a:r>
              <a:rPr lang="en-US" dirty="0"/>
              <a:t>	</a:t>
            </a:r>
            <a:br>
              <a:rPr lang="en-US" dirty="0"/>
            </a:b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22"/>
            <a:ext cx="8229600" cy="4929222"/>
          </a:xfrm>
        </p:spPr>
        <p:txBody>
          <a:bodyPr>
            <a:normAutofit/>
          </a:bodyPr>
          <a:lstStyle/>
          <a:p>
            <a:pPr marL="514350" indent="-514350" fontAlgn="base">
              <a:buNone/>
            </a:pPr>
            <a:r>
              <a:rPr lang="en-US" sz="2200" b="1" dirty="0" smtClean="0">
                <a:latin typeface="Calibri" pitchFamily="34" charset="0"/>
                <a:cs typeface="Calibri" pitchFamily="34" charset="0"/>
              </a:rPr>
              <a:t>1. Tracking </a:t>
            </a:r>
            <a:r>
              <a:rPr lang="en-US" sz="2200" b="1" dirty="0" smtClean="0">
                <a:latin typeface="Calibri" pitchFamily="34" charset="0"/>
                <a:cs typeface="Calibri" pitchFamily="34" charset="0"/>
              </a:rPr>
              <a:t>and controlling software project</a:t>
            </a:r>
          </a:p>
          <a:p>
            <a:pPr fontAlgn="base"/>
            <a:r>
              <a:rPr lang="en-US" sz="2200" dirty="0" smtClean="0">
                <a:latin typeface="Calibri" pitchFamily="34" charset="0"/>
                <a:cs typeface="Calibri" pitchFamily="34" charset="0"/>
              </a:rPr>
              <a:t>The first umbrella activity is tracking and controlling the software project. This activity allows the software team to perform the following tasks:</a:t>
            </a:r>
          </a:p>
          <a:p>
            <a:pPr fontAlgn="base"/>
            <a:r>
              <a:rPr lang="en-US" sz="2200" dirty="0" smtClean="0">
                <a:latin typeface="Calibri" pitchFamily="34" charset="0"/>
                <a:cs typeface="Calibri" pitchFamily="34" charset="0"/>
              </a:rPr>
              <a:t>Assessing of progress of the project against the plan of the project</a:t>
            </a:r>
          </a:p>
          <a:p>
            <a:pPr fontAlgn="base"/>
            <a:r>
              <a:rPr lang="en-US" sz="2200" dirty="0" smtClean="0">
                <a:latin typeface="Calibri" pitchFamily="34" charset="0"/>
                <a:cs typeface="Calibri" pitchFamily="34" charset="0"/>
              </a:rPr>
              <a:t>Maintaining the schedule of the project by taking appropriate action based on above assessment</a:t>
            </a:r>
          </a:p>
          <a:p>
            <a:pPr fontAlgn="base">
              <a:buNone/>
            </a:pPr>
            <a:endParaRPr lang="en-US" sz="2200" dirty="0" smtClean="0">
              <a:latin typeface="Calibri" pitchFamily="34" charset="0"/>
              <a:cs typeface="Calibri" pitchFamily="34" charset="0"/>
            </a:endParaRPr>
          </a:p>
          <a:p>
            <a:pPr marL="457200" indent="-457200" fontAlgn="base">
              <a:buNone/>
            </a:pPr>
            <a:r>
              <a:rPr lang="en-US" sz="2200" b="1" dirty="0" smtClean="0">
                <a:latin typeface="Calibri" pitchFamily="34" charset="0"/>
                <a:cs typeface="Calibri" pitchFamily="34" charset="0"/>
              </a:rPr>
              <a:t>2. Managing </a:t>
            </a:r>
            <a:r>
              <a:rPr lang="en-US" sz="2200" b="1" dirty="0" smtClean="0">
                <a:latin typeface="Calibri" pitchFamily="34" charset="0"/>
                <a:cs typeface="Calibri" pitchFamily="34" charset="0"/>
              </a:rPr>
              <a:t>risks</a:t>
            </a:r>
          </a:p>
          <a:p>
            <a:pPr fontAlgn="base"/>
            <a:r>
              <a:rPr lang="en-US" sz="2200" dirty="0" smtClean="0">
                <a:latin typeface="Calibri" pitchFamily="34" charset="0"/>
                <a:cs typeface="Calibri" pitchFamily="34" charset="0"/>
              </a:rPr>
              <a:t>Evaluation of those risks that can have a serious impact on the final result of the project</a:t>
            </a:r>
          </a:p>
          <a:p>
            <a:pPr fontAlgn="base"/>
            <a:r>
              <a:rPr lang="en-US" sz="2200" dirty="0" smtClean="0">
                <a:latin typeface="Calibri" pitchFamily="34" charset="0"/>
                <a:cs typeface="Calibri" pitchFamily="34" charset="0"/>
              </a:rPr>
              <a:t>Assessment of those risks that are likely to affect the product’s quality</a:t>
            </a:r>
          </a:p>
          <a:p>
            <a:pPr marL="457200" indent="-457200" fontAlgn="base">
              <a:buNone/>
            </a:pPr>
            <a:endParaRPr lang="en-US" sz="2200" b="1" dirty="0" smtClean="0">
              <a:latin typeface="Calibri" pitchFamily="34" charset="0"/>
              <a:cs typeface="Calibri" pitchFamily="34" charset="0"/>
            </a:endParaRPr>
          </a:p>
          <a:p>
            <a:pPr fontAlgn="base">
              <a:buNone/>
            </a:pPr>
            <a:endParaRPr lang="en-US" sz="2200" dirty="0" smtClean="0">
              <a:latin typeface="Calibri" pitchFamily="34" charset="0"/>
              <a:cs typeface="Calibri" pitchFamily="34" charset="0"/>
            </a:endParaRPr>
          </a:p>
          <a:p>
            <a:endParaRPr lang="en-US" sz="2200" dirty="0">
              <a:latin typeface="Calibri" pitchFamily="34" charset="0"/>
              <a:cs typeface="Calibri" pitchFamily="34" charset="0"/>
            </a:endParaRPr>
          </a:p>
        </p:txBody>
      </p:sp>
      <p:sp>
        <p:nvSpPr>
          <p:cNvPr id="2" name="Title 1"/>
          <p:cNvSpPr>
            <a:spLocks noGrp="1"/>
          </p:cNvSpPr>
          <p:nvPr>
            <p:ph type="title"/>
          </p:nvPr>
        </p:nvSpPr>
        <p:spPr/>
        <p:txBody>
          <a:bodyPr/>
          <a:lstStyle/>
          <a:p>
            <a:r>
              <a:rPr lang="en-US" sz="3700" dirty="0" smtClean="0">
                <a:solidFill>
                  <a:srgbClr val="7030A0"/>
                </a:solidFill>
                <a:latin typeface="Calibri" pitchFamily="34" charset="0"/>
                <a:cs typeface="Calibri" pitchFamily="34" charset="0"/>
              </a:rPr>
              <a:t>Umbrella Activities </a:t>
            </a:r>
            <a:r>
              <a:rPr lang="en-US" dirty="0" smtClean="0"/>
              <a:t>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22"/>
            <a:ext cx="8229600" cy="4792869"/>
          </a:xfrm>
        </p:spPr>
        <p:txBody>
          <a:bodyPr>
            <a:normAutofit lnSpcReduction="10000"/>
          </a:bodyPr>
          <a:lstStyle/>
          <a:p>
            <a:pPr fontAlgn="base">
              <a:buNone/>
            </a:pPr>
            <a:r>
              <a:rPr lang="en-US" sz="2200" b="1" dirty="0" smtClean="0">
                <a:latin typeface="Calibri" pitchFamily="34" charset="0"/>
                <a:cs typeface="Calibri" pitchFamily="34" charset="0"/>
              </a:rPr>
              <a:t>3.	Software Quality Assurance (SQA)</a:t>
            </a:r>
          </a:p>
          <a:p>
            <a:pPr fontAlgn="base"/>
            <a:r>
              <a:rPr lang="en-US" sz="2200" dirty="0" smtClean="0">
                <a:latin typeface="Calibri" pitchFamily="34" charset="0"/>
                <a:cs typeface="Calibri" pitchFamily="34" charset="0"/>
              </a:rPr>
              <a:t>This activity ensures the software quality by defining and organizing the activities needed to assure quality of software.</a:t>
            </a:r>
          </a:p>
          <a:p>
            <a:pPr fontAlgn="base">
              <a:buNone/>
            </a:pPr>
            <a:endParaRPr lang="en-US" sz="2200" dirty="0" smtClean="0">
              <a:latin typeface="Calibri" pitchFamily="34" charset="0"/>
              <a:cs typeface="Calibri" pitchFamily="34" charset="0"/>
            </a:endParaRPr>
          </a:p>
          <a:p>
            <a:pPr fontAlgn="base">
              <a:buNone/>
            </a:pPr>
            <a:r>
              <a:rPr lang="en-US" sz="2200" b="1" dirty="0" smtClean="0">
                <a:latin typeface="Calibri" pitchFamily="34" charset="0"/>
                <a:cs typeface="Calibri" pitchFamily="34" charset="0"/>
              </a:rPr>
              <a:t>4.	Formal technical reviews</a:t>
            </a:r>
          </a:p>
          <a:p>
            <a:pPr fontAlgn="base"/>
            <a:r>
              <a:rPr lang="en-US" sz="2200" dirty="0" smtClean="0">
                <a:latin typeface="Calibri" pitchFamily="34" charset="0"/>
                <a:cs typeface="Calibri" pitchFamily="34" charset="0"/>
              </a:rPr>
              <a:t>This activity tries to eliminate errors as quickly as possible so that they don’t affect the other activities. It is done by evaluation of work products of software engineering.</a:t>
            </a:r>
          </a:p>
          <a:p>
            <a:pPr fontAlgn="base">
              <a:buNone/>
            </a:pPr>
            <a:endParaRPr lang="en-US" sz="2200" dirty="0" smtClean="0">
              <a:latin typeface="Calibri" pitchFamily="34" charset="0"/>
              <a:cs typeface="Calibri" pitchFamily="34" charset="0"/>
            </a:endParaRPr>
          </a:p>
          <a:p>
            <a:pPr fontAlgn="base">
              <a:buNone/>
            </a:pPr>
            <a:r>
              <a:rPr lang="en-US" sz="2200" b="1" dirty="0" smtClean="0">
                <a:latin typeface="Calibri" pitchFamily="34" charset="0"/>
                <a:cs typeface="Calibri" pitchFamily="34" charset="0"/>
              </a:rPr>
              <a:t>5.	Software measurements</a:t>
            </a:r>
          </a:p>
          <a:p>
            <a:pPr fontAlgn="base"/>
            <a:r>
              <a:rPr lang="en-US" sz="2200" dirty="0" smtClean="0">
                <a:latin typeface="Calibri" pitchFamily="34" charset="0"/>
                <a:cs typeface="Calibri" pitchFamily="34" charset="0"/>
              </a:rPr>
              <a:t>This activity describes as well as gathers measures of process, product, and project through which software team can deliver a software that fulfills the needs of the customer.</a:t>
            </a:r>
          </a:p>
          <a:p>
            <a:pPr>
              <a:buNone/>
            </a:pPr>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5114932" cy="868346"/>
          </a:xfrm>
        </p:spPr>
        <p:txBody>
          <a:bodyPr/>
          <a:lstStyle/>
          <a:p>
            <a:r>
              <a:rPr lang="en-US" sz="3700" dirty="0" smtClean="0">
                <a:solidFill>
                  <a:srgbClr val="7030A0"/>
                </a:solidFill>
                <a:latin typeface="Calibri" pitchFamily="34" charset="0"/>
                <a:cs typeface="Calibri" pitchFamily="34" charset="0"/>
              </a:rPr>
              <a:t>Umbrella Activities </a:t>
            </a:r>
            <a:r>
              <a:rPr lang="en-US" dirty="0" smtClean="0"/>
              <a:t>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buNone/>
            </a:pPr>
            <a:r>
              <a:rPr lang="en-US" sz="2200" b="1" dirty="0" smtClean="0">
                <a:latin typeface="Calibri" pitchFamily="34" charset="0"/>
                <a:cs typeface="Calibri" pitchFamily="34" charset="0"/>
              </a:rPr>
              <a:t>6.	Software Configuration Management (SCM)</a:t>
            </a:r>
          </a:p>
          <a:p>
            <a:pPr fontAlgn="base"/>
            <a:r>
              <a:rPr lang="en-US" sz="2200" dirty="0" smtClean="0">
                <a:latin typeface="Calibri" pitchFamily="34" charset="0"/>
                <a:cs typeface="Calibri" pitchFamily="34" charset="0"/>
              </a:rPr>
              <a:t>SCM is also referred to as Change Management (CM). During the software engineering process, SCM defines a set of activities for managing the changes made to the software components.</a:t>
            </a:r>
          </a:p>
          <a:p>
            <a:pPr fontAlgn="base">
              <a:buNone/>
            </a:pPr>
            <a:endParaRPr lang="en-US" sz="2200" dirty="0" smtClean="0">
              <a:latin typeface="Calibri" pitchFamily="34" charset="0"/>
              <a:cs typeface="Calibri" pitchFamily="34" charset="0"/>
            </a:endParaRPr>
          </a:p>
          <a:p>
            <a:pPr marL="514350" indent="-514350" fontAlgn="base">
              <a:buNone/>
            </a:pPr>
            <a:r>
              <a:rPr lang="en-US" sz="2200" b="1" dirty="0" smtClean="0">
                <a:latin typeface="Calibri" pitchFamily="34" charset="0"/>
                <a:cs typeface="Calibri" pitchFamily="34" charset="0"/>
              </a:rPr>
              <a:t> 7. Managing reusability factor</a:t>
            </a:r>
          </a:p>
          <a:p>
            <a:pPr marL="514350" indent="-514350" fontAlgn="base">
              <a:buFont typeface="Wingdings" pitchFamily="2" charset="2"/>
              <a:buChar char="Ø"/>
            </a:pPr>
            <a:r>
              <a:rPr lang="en-US" sz="2200" dirty="0" smtClean="0">
                <a:latin typeface="Calibri" pitchFamily="34" charset="0"/>
                <a:cs typeface="Calibri" pitchFamily="34" charset="0"/>
              </a:rPr>
              <a:t>It defines the basic criteria for reusing a work product. Other than this, it also defines a criteria for software components reuse.</a:t>
            </a:r>
          </a:p>
          <a:p>
            <a:pPr marL="514350" indent="-514350" fontAlgn="base">
              <a:buFont typeface="Wingdings" pitchFamily="2" charset="2"/>
              <a:buChar char="Ø"/>
            </a:pPr>
            <a:r>
              <a:rPr lang="en-US" sz="2200" dirty="0" smtClean="0">
                <a:latin typeface="Calibri" pitchFamily="34" charset="0"/>
                <a:cs typeface="Calibri" pitchFamily="34" charset="0"/>
              </a:rPr>
              <a:t>It also obtains reusable components by developing the desired methods</a:t>
            </a:r>
          </a:p>
          <a:p>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4543428" cy="1143000"/>
          </a:xfrm>
        </p:spPr>
        <p:txBody>
          <a:bodyPr>
            <a:normAutofit/>
          </a:bodyPr>
          <a:lstStyle/>
          <a:p>
            <a:r>
              <a:rPr lang="en-US" sz="3700" dirty="0" smtClean="0">
                <a:solidFill>
                  <a:srgbClr val="7030A0"/>
                </a:solidFill>
                <a:latin typeface="Calibri" pitchFamily="34" charset="0"/>
                <a:cs typeface="Calibri" pitchFamily="34" charset="0"/>
              </a:rPr>
              <a:t>Umbrella Activities</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IN" sz="2200" b="1" dirty="0" smtClean="0">
                <a:latin typeface="Calibri" pitchFamily="34" charset="0"/>
                <a:cs typeface="Calibri" pitchFamily="34" charset="0"/>
              </a:rPr>
              <a:t>8.</a:t>
            </a:r>
            <a:r>
              <a:rPr lang="en-US" sz="2200" b="1" dirty="0" smtClean="0">
                <a:latin typeface="Calibri" pitchFamily="34" charset="0"/>
                <a:cs typeface="Calibri" pitchFamily="34" charset="0"/>
              </a:rPr>
              <a:t> Preparing and producing software work products</a:t>
            </a:r>
          </a:p>
          <a:p>
            <a:pPr fontAlgn="base"/>
            <a:r>
              <a:rPr lang="en-US" sz="2200" dirty="0" smtClean="0">
                <a:latin typeface="Calibri" pitchFamily="34" charset="0"/>
                <a:cs typeface="Calibri" pitchFamily="34" charset="0"/>
              </a:rPr>
              <a:t>The last and final activity is the preparation and production of work products. It includes certain activities that are needed for the creation of the following work products:</a:t>
            </a:r>
          </a:p>
          <a:p>
            <a:pPr fontAlgn="base"/>
            <a:r>
              <a:rPr lang="en-US" sz="2200" dirty="0" smtClean="0">
                <a:latin typeface="Calibri" pitchFamily="34" charset="0"/>
                <a:cs typeface="Calibri" pitchFamily="34" charset="0"/>
              </a:rPr>
              <a:t>Models</a:t>
            </a:r>
          </a:p>
          <a:p>
            <a:pPr fontAlgn="base"/>
            <a:r>
              <a:rPr lang="en-US" sz="2200" dirty="0" smtClean="0">
                <a:latin typeface="Calibri" pitchFamily="34" charset="0"/>
                <a:cs typeface="Calibri" pitchFamily="34" charset="0"/>
              </a:rPr>
              <a:t>Logs</a:t>
            </a:r>
          </a:p>
          <a:p>
            <a:pPr fontAlgn="base"/>
            <a:r>
              <a:rPr lang="en-US" sz="2200" dirty="0" smtClean="0">
                <a:latin typeface="Calibri" pitchFamily="34" charset="0"/>
                <a:cs typeface="Calibri" pitchFamily="34" charset="0"/>
              </a:rPr>
              <a:t>Documents</a:t>
            </a:r>
          </a:p>
          <a:p>
            <a:pPr fontAlgn="base"/>
            <a:r>
              <a:rPr lang="en-US" sz="2200" dirty="0" smtClean="0">
                <a:latin typeface="Calibri" pitchFamily="34" charset="0"/>
                <a:cs typeface="Calibri" pitchFamily="34" charset="0"/>
              </a:rPr>
              <a:t>Lists and forms</a:t>
            </a:r>
          </a:p>
          <a:p>
            <a:pPr>
              <a:buNone/>
            </a:pPr>
            <a:endParaRPr lang="en-US" sz="2200" dirty="0">
              <a:latin typeface="Calibri" pitchFamily="34" charset="0"/>
              <a:cs typeface="Calibri" pitchFamily="34" charset="0"/>
            </a:endParaRPr>
          </a:p>
        </p:txBody>
      </p:sp>
      <p:sp>
        <p:nvSpPr>
          <p:cNvPr id="2" name="Title 1"/>
          <p:cNvSpPr>
            <a:spLocks noGrp="1"/>
          </p:cNvSpPr>
          <p:nvPr>
            <p:ph type="title"/>
          </p:nvPr>
        </p:nvSpPr>
        <p:spPr/>
        <p:txBody>
          <a:bodyPr>
            <a:normAutofit/>
          </a:bodyPr>
          <a:lstStyle/>
          <a:p>
            <a:r>
              <a:rPr lang="en-US" sz="3700" dirty="0" smtClean="0">
                <a:solidFill>
                  <a:srgbClr val="7030A0"/>
                </a:solidFill>
                <a:latin typeface="Calibri" pitchFamily="34" charset="0"/>
                <a:cs typeface="Calibri" pitchFamily="34" charset="0"/>
              </a:rPr>
              <a:t>Umbrella </a:t>
            </a:r>
            <a:r>
              <a:rPr lang="en-US" sz="3700" dirty="0" smtClean="0">
                <a:solidFill>
                  <a:srgbClr val="7030A0"/>
                </a:solidFill>
                <a:latin typeface="Calibri" pitchFamily="34" charset="0"/>
                <a:cs typeface="Calibri" pitchFamily="34" charset="0"/>
              </a:rPr>
              <a:t>Activities</a:t>
            </a:r>
            <a:endParaRPr lang="en-US" sz="3700" dirty="0">
              <a:solidFill>
                <a:srgbClr val="7030A0"/>
              </a:solidFill>
              <a:latin typeface="Calibri" pitchFamily="34" charset="0"/>
              <a:cs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200" dirty="0" smtClean="0">
                <a:latin typeface="Calibri" pitchFamily="34" charset="0"/>
                <a:cs typeface="Calibri" pitchFamily="34" charset="0"/>
              </a:rPr>
              <a:t>Process adaptation refers to the ability of a process to change or adjust itself in response to changes in its environment or context. This concept is commonly used in fields such as business process management, software engineering, and manufacturing.</a:t>
            </a:r>
          </a:p>
          <a:p>
            <a:r>
              <a:rPr lang="en-US" sz="2200" b="1" dirty="0" smtClean="0">
                <a:latin typeface="Calibri" pitchFamily="34" charset="0"/>
                <a:cs typeface="Calibri" pitchFamily="34" charset="0"/>
              </a:rPr>
              <a:t>Definition:</a:t>
            </a:r>
            <a:r>
              <a:rPr lang="en-US" sz="2200" dirty="0" smtClean="0">
                <a:latin typeface="Calibri" pitchFamily="34" charset="0"/>
                <a:cs typeface="Calibri" pitchFamily="34" charset="0"/>
              </a:rPr>
              <a:t> Process adaptation is the modification of a process's behavior or structure to better suit new conditions or requirements.</a:t>
            </a:r>
          </a:p>
          <a:p>
            <a:r>
              <a:rPr lang="en-US" sz="2200" b="1" dirty="0" smtClean="0">
                <a:latin typeface="Calibri" pitchFamily="34" charset="0"/>
                <a:cs typeface="Calibri" pitchFamily="34" charset="0"/>
              </a:rPr>
              <a:t>Purpose:</a:t>
            </a:r>
            <a:r>
              <a:rPr lang="en-US" sz="2200" dirty="0" smtClean="0">
                <a:latin typeface="Calibri" pitchFamily="34" charset="0"/>
                <a:cs typeface="Calibri" pitchFamily="34" charset="0"/>
              </a:rPr>
              <a:t> To maintain or improve the effectiveness and efficiency of the process when external or internal factors change.</a:t>
            </a:r>
          </a:p>
          <a:p>
            <a:pPr>
              <a:buNone/>
            </a:pPr>
            <a:endParaRPr lang="en-US" sz="2200" dirty="0">
              <a:latin typeface="Calibri" pitchFamily="34" charset="0"/>
              <a:cs typeface="Calibri" pitchFamily="34" charset="0"/>
            </a:endParaRPr>
          </a:p>
        </p:txBody>
      </p:sp>
      <p:sp>
        <p:nvSpPr>
          <p:cNvPr id="2" name="Title 1"/>
          <p:cNvSpPr>
            <a:spLocks noGrp="1"/>
          </p:cNvSpPr>
          <p:nvPr>
            <p:ph type="title"/>
          </p:nvPr>
        </p:nvSpPr>
        <p:spPr>
          <a:xfrm>
            <a:off x="457200" y="274638"/>
            <a:ext cx="8229600" cy="654032"/>
          </a:xfrm>
        </p:spPr>
        <p:txBody>
          <a:bodyPr>
            <a:normAutofit fontScale="90000"/>
          </a:bodyPr>
          <a:lstStyle/>
          <a:p>
            <a:r>
              <a:rPr lang="en-IN" dirty="0" smtClean="0"/>
              <a:t/>
            </a:r>
            <a:br>
              <a:rPr lang="en-IN" dirty="0" smtClean="0"/>
            </a:br>
            <a:r>
              <a:rPr lang="en-US" dirty="0" smtClean="0">
                <a:solidFill>
                  <a:srgbClr val="7030A0"/>
                </a:solidFill>
                <a:latin typeface="Calibri" pitchFamily="34" charset="0"/>
                <a:cs typeface="Calibri" pitchFamily="34" charset="0"/>
              </a:rPr>
              <a:t>Process </a:t>
            </a:r>
            <a:r>
              <a:rPr lang="en-US" dirty="0">
                <a:solidFill>
                  <a:srgbClr val="7030A0"/>
                </a:solidFill>
                <a:latin typeface="Calibri" pitchFamily="34" charset="0"/>
                <a:cs typeface="Calibri" pitchFamily="34" charset="0"/>
              </a:rPr>
              <a:t>Adaptation </a:t>
            </a:r>
            <a:r>
              <a:rPr lang="en-US" dirty="0"/>
              <a:t>	</a:t>
            </a:r>
            <a:br>
              <a:rPr lang="en-US" dirty="0"/>
            </a:b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378</TotalTime>
  <Words>923</Words>
  <Application>Microsoft Office PowerPoint</Application>
  <PresentationFormat>On-screen Show (4:3)</PresentationFormat>
  <Paragraphs>150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Concourse</vt:lpstr>
      <vt:lpstr>Software Engineering</vt:lpstr>
      <vt:lpstr> Definition of Software   </vt:lpstr>
      <vt:lpstr>The evolving role of software</vt:lpstr>
      <vt:lpstr>The evolving role of software</vt:lpstr>
      <vt:lpstr> Changing nature of software   </vt:lpstr>
      <vt:lpstr>Changing nature of software</vt:lpstr>
      <vt:lpstr> Software myths </vt:lpstr>
      <vt:lpstr>Software myths</vt:lpstr>
      <vt:lpstr> Software Process   </vt:lpstr>
      <vt:lpstr>Software Process</vt:lpstr>
      <vt:lpstr> The Process Framework   </vt:lpstr>
      <vt:lpstr>The Process Framework</vt:lpstr>
      <vt:lpstr>The Process Framework</vt:lpstr>
      <vt:lpstr>The Process Framework</vt:lpstr>
      <vt:lpstr> Umbrella Activities   </vt:lpstr>
      <vt:lpstr>Umbrella Activities  </vt:lpstr>
      <vt:lpstr>Umbrella Activities  </vt:lpstr>
      <vt:lpstr>Umbrella Activities</vt:lpstr>
      <vt:lpstr>Umbrella Activities</vt:lpstr>
      <vt:lpstr> Process Adaptation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Windows User</dc:creator>
  <cp:lastModifiedBy>Windows User</cp:lastModifiedBy>
  <cp:revision>100</cp:revision>
  <dcterms:created xsi:type="dcterms:W3CDTF">2025-11-06T04:53:54Z</dcterms:created>
  <dcterms:modified xsi:type="dcterms:W3CDTF">2025-11-18T11:00:48Z</dcterms:modified>
</cp:coreProperties>
</file>