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6" r:id="rId9"/>
    <p:sldId id="263" r:id="rId10"/>
    <p:sldId id="264" r:id="rId11"/>
    <p:sldId id="265" r:id="rId12"/>
    <p:sldId id="267" r:id="rId13"/>
    <p:sldId id="268" r:id="rId14"/>
    <p:sldId id="274" r:id="rId15"/>
    <p:sldId id="270" r:id="rId16"/>
    <p:sldId id="271" r:id="rId17"/>
    <p:sldId id="272" r:id="rId18"/>
    <p:sldId id="276" r:id="rId19"/>
    <p:sldId id="277" r:id="rId20"/>
    <p:sldId id="278" r:id="rId21"/>
    <p:sldId id="269" r:id="rId22"/>
    <p:sldId id="281" r:id="rId23"/>
    <p:sldId id="279" r:id="rId24"/>
    <p:sldId id="280" r:id="rId25"/>
    <p:sldId id="282" r:id="rId26"/>
    <p:sldId id="283" r:id="rId27"/>
    <p:sldId id="284" r:id="rId28"/>
    <p:sldId id="285" r:id="rId29"/>
    <p:sldId id="286" r:id="rId30"/>
    <p:sldId id="289" r:id="rId31"/>
    <p:sldId id="287" r:id="rId32"/>
    <p:sldId id="288" r:id="rId33"/>
    <p:sldId id="290"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D330E0C3-51D8-43FB-AF26-C79084E3828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0E0C3-51D8-43FB-AF26-C79084E3828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0E0C3-51D8-43FB-AF26-C79084E3828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0E0C3-51D8-43FB-AF26-C79084E3828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30E0C3-51D8-43FB-AF26-C79084E3828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30E0C3-51D8-43FB-AF26-C79084E3828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30E0C3-51D8-43FB-AF26-C79084E3828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0E0C3-51D8-43FB-AF26-C79084E3828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D330E0C3-51D8-43FB-AF26-C79084E3828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0E0C3-51D8-43FB-AF26-C79084E3828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16843FC-EA1F-43B0-AE0B-B5FC97D77777}"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0E0C3-51D8-43FB-AF26-C79084E3828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16843FC-EA1F-43B0-AE0B-B5FC97D77777}" type="datetimeFigureOut">
              <a:rPr lang="en-US" smtClean="0"/>
              <a:pPr/>
              <a:t>11/18/2025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330E0C3-51D8-43FB-AF26-C79084E3828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642918"/>
            <a:ext cx="7772400" cy="1470025"/>
          </a:xfrm>
        </p:spPr>
        <p:txBody>
          <a:bodyPr/>
          <a:lstStyle/>
          <a:p>
            <a:r>
              <a:rPr lang="en-IN" dirty="0" smtClean="0"/>
              <a:t>Software Engineering</a:t>
            </a:r>
            <a:endParaRPr lang="en-US" dirty="0"/>
          </a:p>
        </p:txBody>
      </p:sp>
      <p:sp>
        <p:nvSpPr>
          <p:cNvPr id="3" name="Subtitle 2"/>
          <p:cNvSpPr>
            <a:spLocks noGrp="1"/>
          </p:cNvSpPr>
          <p:nvPr>
            <p:ph type="subTitle" idx="1"/>
          </p:nvPr>
        </p:nvSpPr>
        <p:spPr>
          <a:xfrm>
            <a:off x="1214414" y="2500306"/>
            <a:ext cx="6400800" cy="2209800"/>
          </a:xfrm>
        </p:spPr>
        <p:txBody>
          <a:bodyPr>
            <a:normAutofit fontScale="70000" lnSpcReduction="20000"/>
          </a:bodyPr>
          <a:lstStyle/>
          <a:p>
            <a:r>
              <a:rPr lang="en-IN" sz="6400" dirty="0" smtClean="0">
                <a:solidFill>
                  <a:srgbClr val="7030A0"/>
                </a:solidFill>
              </a:rPr>
              <a:t>Unit-2</a:t>
            </a:r>
          </a:p>
          <a:p>
            <a:r>
              <a:rPr lang="en-US" sz="6400" b="1" dirty="0">
                <a:solidFill>
                  <a:srgbClr val="7030A0"/>
                </a:solidFill>
              </a:rPr>
              <a:t>Software Development Life Cycle (SDLC) </a:t>
            </a:r>
            <a:r>
              <a:rPr lang="en-US" b="1" dirty="0"/>
              <a:t>	</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500042"/>
            <a:ext cx="8229600" cy="725470"/>
          </a:xfrm>
        </p:spPr>
        <p:txBody>
          <a:bodyPr>
            <a:noAutofit/>
          </a:bodyPr>
          <a:lstStyle/>
          <a:p>
            <a:r>
              <a:rPr lang="en-US" sz="3200" b="1" dirty="0"/>
              <a:t>Generic Process Model </a:t>
            </a:r>
            <a:r>
              <a:rPr lang="en-US" sz="3000" b="1" dirty="0"/>
              <a:t>	</a:t>
            </a:r>
            <a:br>
              <a:rPr lang="en-US" sz="3000" b="1" dirty="0"/>
            </a:br>
            <a:endParaRPr lang="en-US" sz="3000" b="1" dirty="0"/>
          </a:p>
        </p:txBody>
      </p:sp>
      <p:sp>
        <p:nvSpPr>
          <p:cNvPr id="3" name="Content Placeholder 2"/>
          <p:cNvSpPr>
            <a:spLocks noGrp="1"/>
          </p:cNvSpPr>
          <p:nvPr>
            <p:ph idx="1"/>
          </p:nvPr>
        </p:nvSpPr>
        <p:spPr>
          <a:xfrm>
            <a:off x="457200" y="1142984"/>
            <a:ext cx="8229600" cy="5181616"/>
          </a:xfrm>
        </p:spPr>
        <p:txBody>
          <a:bodyPr>
            <a:noAutofit/>
          </a:bodyPr>
          <a:lstStyle/>
          <a:p>
            <a:r>
              <a:rPr lang="en-US" sz="2400" dirty="0"/>
              <a:t>The </a:t>
            </a:r>
            <a:r>
              <a:rPr lang="en-US" sz="2400" b="1" dirty="0"/>
              <a:t>generic process model</a:t>
            </a:r>
            <a:r>
              <a:rPr lang="en-US" sz="2400" dirty="0"/>
              <a:t> is an abstraction of the software development process. It is used in most software since it provides a base for them.</a:t>
            </a:r>
          </a:p>
          <a:p>
            <a:r>
              <a:rPr lang="en-US" sz="2400" dirty="0"/>
              <a:t>The generic process model encompasses the following five steps:</a:t>
            </a:r>
          </a:p>
          <a:p>
            <a:pPr marL="514350" indent="-514350">
              <a:buFont typeface="+mj-lt"/>
              <a:buAutoNum type="arabicPeriod"/>
            </a:pPr>
            <a:r>
              <a:rPr lang="en-US" sz="2400" dirty="0" smtClean="0"/>
              <a:t>Communication</a:t>
            </a:r>
          </a:p>
          <a:p>
            <a:pPr marL="514350" indent="-514350">
              <a:buFont typeface="+mj-lt"/>
              <a:buAutoNum type="arabicPeriod"/>
            </a:pPr>
            <a:r>
              <a:rPr lang="en-US" sz="2400" dirty="0" smtClean="0"/>
              <a:t>Planning</a:t>
            </a:r>
          </a:p>
          <a:p>
            <a:pPr marL="514350" indent="-514350">
              <a:buFont typeface="+mj-lt"/>
              <a:buAutoNum type="arabicPeriod"/>
            </a:pPr>
            <a:r>
              <a:rPr lang="en-US" sz="2400" dirty="0" err="1" smtClean="0"/>
              <a:t>Modelling</a:t>
            </a:r>
            <a:endParaRPr lang="en-US" sz="2400" dirty="0" smtClean="0"/>
          </a:p>
          <a:p>
            <a:pPr marL="514350" indent="-514350">
              <a:buFont typeface="+mj-lt"/>
              <a:buAutoNum type="arabicPeriod"/>
            </a:pPr>
            <a:r>
              <a:rPr lang="en-US" sz="2400" dirty="0" smtClean="0"/>
              <a:t>Construction</a:t>
            </a:r>
          </a:p>
          <a:p>
            <a:pPr marL="514350" indent="-514350">
              <a:buFont typeface="+mj-lt"/>
              <a:buAutoNum type="arabicPeriod"/>
            </a:pPr>
            <a:r>
              <a:rPr lang="en-US" sz="2400" dirty="0" smtClean="0"/>
              <a:t>Deployment</a:t>
            </a:r>
            <a:endParaRPr lang="en-US" sz="2400" dirty="0"/>
          </a:p>
          <a:p>
            <a:pPr>
              <a:buNone/>
            </a:pP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642918"/>
            <a:ext cx="8229600" cy="775542"/>
          </a:xfrm>
        </p:spPr>
        <p:txBody>
          <a:bodyPr>
            <a:normAutofit fontScale="90000"/>
          </a:bodyPr>
          <a:lstStyle/>
          <a:p>
            <a:r>
              <a:rPr lang="en-US" b="1" dirty="0" smtClean="0"/>
              <a:t>Generic Process Model</a:t>
            </a:r>
            <a:endParaRPr lang="en-US" dirty="0"/>
          </a:p>
        </p:txBody>
      </p:sp>
      <p:pic>
        <p:nvPicPr>
          <p:cNvPr id="6" name="Content Placeholder 5" descr="Untitled.png"/>
          <p:cNvPicPr>
            <a:picLocks noGrp="1" noChangeAspect="1"/>
          </p:cNvPicPr>
          <p:nvPr>
            <p:ph idx="1"/>
          </p:nvPr>
        </p:nvPicPr>
        <p:blipFill>
          <a:blip r:embed="rId2"/>
          <a:stretch>
            <a:fillRect/>
          </a:stretch>
        </p:blipFill>
        <p:spPr>
          <a:xfrm>
            <a:off x="1643042" y="1714488"/>
            <a:ext cx="5500726" cy="4786346"/>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976" y="714356"/>
            <a:ext cx="4143404" cy="489790"/>
          </a:xfrm>
        </p:spPr>
        <p:txBody>
          <a:bodyPr>
            <a:normAutofit fontScale="90000"/>
          </a:bodyPr>
          <a:lstStyle/>
          <a:p>
            <a:r>
              <a:rPr lang="en-US" sz="3200" b="1" dirty="0" smtClean="0"/>
              <a:t>Generic Process Model</a:t>
            </a:r>
            <a:endParaRPr lang="en-US" sz="3200" dirty="0"/>
          </a:p>
        </p:txBody>
      </p:sp>
      <p:sp>
        <p:nvSpPr>
          <p:cNvPr id="3" name="Content Placeholder 2"/>
          <p:cNvSpPr>
            <a:spLocks noGrp="1"/>
          </p:cNvSpPr>
          <p:nvPr>
            <p:ph idx="1"/>
          </p:nvPr>
        </p:nvSpPr>
        <p:spPr>
          <a:xfrm>
            <a:off x="428596" y="1285860"/>
            <a:ext cx="8229600" cy="5000660"/>
          </a:xfrm>
        </p:spPr>
        <p:txBody>
          <a:bodyPr>
            <a:normAutofit fontScale="92500"/>
          </a:bodyPr>
          <a:lstStyle/>
          <a:p>
            <a:pPr marL="514350" indent="-514350">
              <a:buFont typeface="+mj-lt"/>
              <a:buAutoNum type="arabicPeriod"/>
            </a:pPr>
            <a:r>
              <a:rPr lang="en-US" b="1" dirty="0">
                <a:latin typeface="+mj-lt"/>
              </a:rPr>
              <a:t>Communication</a:t>
            </a:r>
          </a:p>
          <a:p>
            <a:r>
              <a:rPr lang="en-US" dirty="0" smtClean="0">
                <a:latin typeface="+mj-lt"/>
              </a:rPr>
              <a:t>In </a:t>
            </a:r>
            <a:r>
              <a:rPr lang="en-US" dirty="0">
                <a:latin typeface="+mj-lt"/>
              </a:rPr>
              <a:t>this step, we communicate with the clients and end-users.</a:t>
            </a:r>
          </a:p>
          <a:p>
            <a:r>
              <a:rPr lang="en-US" dirty="0">
                <a:latin typeface="+mj-lt"/>
              </a:rPr>
              <a:t>We discuss the requirements of the project with the users.</a:t>
            </a:r>
          </a:p>
          <a:p>
            <a:r>
              <a:rPr lang="en-US" dirty="0">
                <a:latin typeface="+mj-lt"/>
              </a:rPr>
              <a:t>The users give suggestions on the project. If any changes are difficult to implement, we work on alternative ideas</a:t>
            </a:r>
            <a:r>
              <a:rPr lang="en-US" dirty="0" smtClean="0">
                <a:latin typeface="+mj-lt"/>
              </a:rPr>
              <a:t>.</a:t>
            </a:r>
          </a:p>
          <a:p>
            <a:pPr>
              <a:buNone/>
            </a:pPr>
            <a:endParaRPr lang="en-US" dirty="0">
              <a:latin typeface="+mj-lt"/>
            </a:endParaRPr>
          </a:p>
          <a:p>
            <a:pPr>
              <a:buNone/>
            </a:pPr>
            <a:r>
              <a:rPr lang="en-US" b="1" dirty="0" smtClean="0">
                <a:latin typeface="+mj-lt"/>
              </a:rPr>
              <a:t>2.	    Planning</a:t>
            </a:r>
            <a:endParaRPr lang="en-US" b="1" dirty="0">
              <a:latin typeface="+mj-lt"/>
            </a:endParaRPr>
          </a:p>
          <a:p>
            <a:r>
              <a:rPr lang="en-US" dirty="0">
                <a:latin typeface="+mj-lt"/>
              </a:rPr>
              <a:t>In this step, we plan the steps for project development. After completing the final discussion, we report on the project.</a:t>
            </a:r>
          </a:p>
          <a:p>
            <a:r>
              <a:rPr lang="en-US" dirty="0">
                <a:latin typeface="+mj-lt"/>
              </a:rPr>
              <a:t>Planning plays a key role in the software development process.</a:t>
            </a:r>
          </a:p>
          <a:p>
            <a:r>
              <a:rPr lang="en-US" dirty="0">
                <a:latin typeface="+mj-lt"/>
              </a:rPr>
              <a:t>We discuss the risks involved in the project.</a:t>
            </a:r>
          </a:p>
          <a:p>
            <a:pPr>
              <a:buNone/>
            </a:pPr>
            <a:endParaRPr lang="en-US"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4329114" cy="785794"/>
          </a:xfrm>
        </p:spPr>
        <p:txBody>
          <a:bodyPr>
            <a:noAutofit/>
          </a:bodyPr>
          <a:lstStyle/>
          <a:p>
            <a:r>
              <a:rPr lang="en-US" sz="3200" b="1" dirty="0" smtClean="0"/>
              <a:t>Generic Process Model</a:t>
            </a:r>
            <a:endParaRPr lang="en-US" sz="3200" dirty="0"/>
          </a:p>
        </p:txBody>
      </p:sp>
      <p:sp>
        <p:nvSpPr>
          <p:cNvPr id="3" name="Content Placeholder 2"/>
          <p:cNvSpPr>
            <a:spLocks noGrp="1"/>
          </p:cNvSpPr>
          <p:nvPr>
            <p:ph idx="1"/>
          </p:nvPr>
        </p:nvSpPr>
        <p:spPr>
          <a:xfrm>
            <a:off x="457200" y="928670"/>
            <a:ext cx="8229600" cy="5715040"/>
          </a:xfrm>
        </p:spPr>
        <p:txBody>
          <a:bodyPr>
            <a:noAutofit/>
          </a:bodyPr>
          <a:lstStyle/>
          <a:p>
            <a:pPr>
              <a:buNone/>
            </a:pPr>
            <a:r>
              <a:rPr lang="en-US" sz="1800" b="1" dirty="0" smtClean="0">
                <a:latin typeface="+mj-lt"/>
              </a:rPr>
              <a:t>3.	</a:t>
            </a:r>
            <a:r>
              <a:rPr lang="en-US" sz="1800" b="1" dirty="0" err="1" smtClean="0">
                <a:latin typeface="+mj-lt"/>
              </a:rPr>
              <a:t>Modelling</a:t>
            </a:r>
            <a:endParaRPr lang="en-US" sz="1800" b="1" dirty="0">
              <a:latin typeface="+mj-lt"/>
            </a:endParaRPr>
          </a:p>
          <a:p>
            <a:r>
              <a:rPr lang="en-US" sz="1800" dirty="0">
                <a:latin typeface="+mj-lt"/>
              </a:rPr>
              <a:t>In this step, we create a model to understand the project in the real world. We showcase the model to all the developers. If changes are required, we implement them in this step.</a:t>
            </a:r>
          </a:p>
          <a:p>
            <a:r>
              <a:rPr lang="en-US" sz="1800" dirty="0">
                <a:latin typeface="+mj-lt"/>
              </a:rPr>
              <a:t>We develop a practical model to get a better understanding of the project</a:t>
            </a:r>
            <a:r>
              <a:rPr lang="en-US" sz="1800" dirty="0" smtClean="0">
                <a:latin typeface="+mj-lt"/>
              </a:rPr>
              <a:t>.</a:t>
            </a:r>
          </a:p>
          <a:p>
            <a:pPr>
              <a:buNone/>
            </a:pPr>
            <a:endParaRPr lang="en-US" sz="1800" dirty="0">
              <a:latin typeface="+mj-lt"/>
            </a:endParaRPr>
          </a:p>
          <a:p>
            <a:pPr>
              <a:buNone/>
            </a:pPr>
            <a:r>
              <a:rPr lang="en-US" sz="1800" b="1" dirty="0" smtClean="0">
                <a:latin typeface="+mj-lt"/>
              </a:rPr>
              <a:t>4.	Construction</a:t>
            </a:r>
            <a:endParaRPr lang="en-US" sz="1800" b="1" dirty="0">
              <a:latin typeface="+mj-lt"/>
            </a:endParaRPr>
          </a:p>
          <a:p>
            <a:r>
              <a:rPr lang="en-US" sz="1800" dirty="0">
                <a:latin typeface="+mj-lt"/>
              </a:rPr>
              <a:t>In this step, we follow a procedure to develop the final product.</a:t>
            </a:r>
          </a:p>
          <a:p>
            <a:r>
              <a:rPr lang="en-US" sz="1800" dirty="0">
                <a:latin typeface="+mj-lt"/>
              </a:rPr>
              <a:t>If any code is required for the project development, we implement it in this phase.</a:t>
            </a:r>
          </a:p>
          <a:p>
            <a:r>
              <a:rPr lang="en-US" sz="1800" dirty="0">
                <a:latin typeface="+mj-lt"/>
              </a:rPr>
              <a:t>We also test the project in this phase</a:t>
            </a:r>
            <a:r>
              <a:rPr lang="en-US" sz="1800" dirty="0" smtClean="0">
                <a:latin typeface="+mj-lt"/>
              </a:rPr>
              <a:t>.</a:t>
            </a:r>
          </a:p>
          <a:p>
            <a:pPr>
              <a:buNone/>
            </a:pPr>
            <a:endParaRPr lang="en-IN" sz="1800" dirty="0">
              <a:latin typeface="+mj-lt"/>
            </a:endParaRPr>
          </a:p>
          <a:p>
            <a:pPr>
              <a:buNone/>
            </a:pPr>
            <a:r>
              <a:rPr lang="en-US" sz="1800" b="1" dirty="0" smtClean="0">
                <a:latin typeface="+mj-lt"/>
              </a:rPr>
              <a:t>5.	Deployment</a:t>
            </a:r>
            <a:endParaRPr lang="en-US" sz="1800" b="1" dirty="0">
              <a:latin typeface="+mj-lt"/>
            </a:endParaRPr>
          </a:p>
          <a:p>
            <a:r>
              <a:rPr lang="en-US" sz="1800" dirty="0">
                <a:latin typeface="+mj-lt"/>
              </a:rPr>
              <a:t>In this phase, we submit the project to the clients for their feedback and add any missing requirements.</a:t>
            </a:r>
          </a:p>
          <a:p>
            <a:r>
              <a:rPr lang="en-US" sz="1800" dirty="0">
                <a:latin typeface="+mj-lt"/>
              </a:rPr>
              <a:t>We get the client feedback.</a:t>
            </a:r>
          </a:p>
          <a:p>
            <a:r>
              <a:rPr lang="en-US" sz="1800" dirty="0">
                <a:latin typeface="+mj-lt"/>
              </a:rPr>
              <a:t>Depending on the feedback form, we make the appropriate changes.</a:t>
            </a:r>
          </a:p>
          <a:p>
            <a:pPr>
              <a:buNone/>
            </a:pPr>
            <a:endParaRPr lang="en-US" sz="1800" dirty="0">
              <a:latin typeface="+mj-lt"/>
            </a:endParaRPr>
          </a:p>
          <a:p>
            <a:pPr>
              <a:buNone/>
            </a:pPr>
            <a:endParaRPr lang="en-US" sz="1800" dirty="0">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IN" sz="3200" b="1" dirty="0" smtClean="0"/>
              <a:t>Prescriptive Process Models</a:t>
            </a:r>
            <a:endParaRPr lang="en-US" sz="3200" dirty="0"/>
          </a:p>
        </p:txBody>
      </p:sp>
      <p:sp>
        <p:nvSpPr>
          <p:cNvPr id="3" name="Content Placeholder 2"/>
          <p:cNvSpPr>
            <a:spLocks noGrp="1"/>
          </p:cNvSpPr>
          <p:nvPr>
            <p:ph idx="1"/>
          </p:nvPr>
        </p:nvSpPr>
        <p:spPr>
          <a:xfrm>
            <a:off x="214282" y="1071546"/>
            <a:ext cx="8715436" cy="5429288"/>
          </a:xfrm>
        </p:spPr>
        <p:txBody>
          <a:bodyPr>
            <a:noAutofit/>
          </a:bodyPr>
          <a:lstStyle/>
          <a:p>
            <a:pPr algn="just">
              <a:buNone/>
            </a:pPr>
            <a:r>
              <a:rPr lang="en-US" sz="2200" dirty="0" smtClean="0">
                <a:latin typeface="+mj-lt"/>
              </a:rPr>
              <a:t>Prescriptive process models are traditional software development models that follow a structured and well-defined sequence of steps. They prescribe a strict approach to software development, ensuring predictability, discipline, and organization in the development process. These models are useful for projects that require well-documented and sequential progress.</a:t>
            </a:r>
          </a:p>
          <a:p>
            <a:pPr algn="just">
              <a:buNone/>
            </a:pPr>
            <a:endParaRPr lang="en-US" sz="2200" dirty="0" smtClean="0">
              <a:latin typeface="+mj-lt"/>
            </a:endParaRPr>
          </a:p>
          <a:p>
            <a:r>
              <a:rPr lang="en-US" sz="2200" b="1" dirty="0" smtClean="0">
                <a:latin typeface="+mj-lt"/>
              </a:rPr>
              <a:t>Key Characteristics of Prescriptive Models</a:t>
            </a:r>
          </a:p>
          <a:p>
            <a:pPr marL="457200" indent="-457200">
              <a:buFont typeface="+mj-lt"/>
              <a:buAutoNum type="arabicPeriod"/>
            </a:pPr>
            <a:r>
              <a:rPr lang="en-US" sz="2200" dirty="0" smtClean="0">
                <a:latin typeface="+mj-lt"/>
              </a:rPr>
              <a:t>Linear and sequential approach (Step-by-step execution)</a:t>
            </a:r>
          </a:p>
          <a:p>
            <a:pPr marL="457200" indent="-457200">
              <a:buFont typeface="+mj-lt"/>
              <a:buAutoNum type="arabicPeriod"/>
            </a:pPr>
            <a:r>
              <a:rPr lang="en-US" sz="2200" dirty="0" smtClean="0">
                <a:latin typeface="+mj-lt"/>
              </a:rPr>
              <a:t>Well-defined phases (Planning, design, development, testing, deployment)</a:t>
            </a:r>
          </a:p>
          <a:p>
            <a:pPr marL="457200" indent="-457200">
              <a:buFont typeface="+mj-lt"/>
              <a:buAutoNum type="arabicPeriod"/>
            </a:pPr>
            <a:r>
              <a:rPr lang="en-US" sz="2200" dirty="0" smtClean="0">
                <a:latin typeface="+mj-lt"/>
              </a:rPr>
              <a:t>Strict documentation and planning</a:t>
            </a:r>
          </a:p>
          <a:p>
            <a:pPr marL="457200" indent="-457200">
              <a:buFont typeface="+mj-lt"/>
              <a:buAutoNum type="arabicPeriod"/>
            </a:pPr>
            <a:r>
              <a:rPr lang="en-US" sz="2200" dirty="0" smtClean="0">
                <a:latin typeface="+mj-lt"/>
              </a:rPr>
              <a:t>Less flexibility to changes</a:t>
            </a:r>
          </a:p>
          <a:p>
            <a:pPr marL="457200" indent="-457200">
              <a:buFont typeface="+mj-lt"/>
              <a:buAutoNum type="arabicPeriod"/>
            </a:pPr>
            <a:r>
              <a:rPr lang="en-US" sz="2200" dirty="0" smtClean="0">
                <a:latin typeface="+mj-lt"/>
              </a:rPr>
              <a:t>Best suited for well-understood projects with clear requirements</a:t>
            </a:r>
          </a:p>
          <a:p>
            <a:pPr algn="just">
              <a:buNone/>
            </a:pP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r>
              <a:rPr lang="en-IN" sz="3200" b="1" dirty="0" smtClean="0"/>
              <a:t>The Waterfall Model</a:t>
            </a:r>
            <a:endParaRPr lang="en-US" sz="3200" dirty="0"/>
          </a:p>
        </p:txBody>
      </p:sp>
      <p:sp>
        <p:nvSpPr>
          <p:cNvPr id="3" name="Content Placeholder 2"/>
          <p:cNvSpPr>
            <a:spLocks noGrp="1"/>
          </p:cNvSpPr>
          <p:nvPr>
            <p:ph idx="1"/>
          </p:nvPr>
        </p:nvSpPr>
        <p:spPr>
          <a:xfrm>
            <a:off x="214282" y="1000108"/>
            <a:ext cx="8715436" cy="5500726"/>
          </a:xfrm>
        </p:spPr>
        <p:txBody>
          <a:bodyPr>
            <a:normAutofit lnSpcReduction="10000"/>
          </a:bodyPr>
          <a:lstStyle/>
          <a:p>
            <a:pPr>
              <a:buNone/>
            </a:pPr>
            <a:r>
              <a:rPr lang="en-US" sz="2400" dirty="0" smtClean="0">
                <a:latin typeface="+mj-lt"/>
              </a:rPr>
              <a:t>Waterfall approach was first SDLC Model to be used widely in Software Engineering to ensure success of the project. In "The Waterfall" approach, the whole process of software development is divided into separate phases. In this Waterfall model, typically, the outcome of one phase acts as the input for the next phase sequentially.</a:t>
            </a:r>
          </a:p>
          <a:p>
            <a:pPr>
              <a:buNone/>
            </a:pPr>
            <a:endParaRPr lang="en-IN" sz="2400" dirty="0" smtClean="0">
              <a:latin typeface="+mj-lt"/>
            </a:endParaRPr>
          </a:p>
          <a:p>
            <a:pPr marL="0" indent="0">
              <a:buNone/>
            </a:pPr>
            <a:r>
              <a:rPr lang="en-US" sz="2400" dirty="0" smtClean="0">
                <a:latin typeface="+mj-lt"/>
              </a:rPr>
              <a:t>The sequential phases in Waterfall model are −</a:t>
            </a:r>
          </a:p>
          <a:p>
            <a:pPr marL="0" indent="0">
              <a:buNone/>
            </a:pPr>
            <a:r>
              <a:rPr lang="en-US" sz="2400" dirty="0" smtClean="0">
                <a:latin typeface="+mj-lt"/>
              </a:rPr>
              <a:t> </a:t>
            </a:r>
          </a:p>
          <a:p>
            <a:r>
              <a:rPr lang="en-US" sz="2400" b="1" dirty="0" smtClean="0">
                <a:latin typeface="+mj-lt"/>
              </a:rPr>
              <a:t>Requirement Gathering and analysis</a:t>
            </a:r>
            <a:r>
              <a:rPr lang="en-US" sz="2400" dirty="0" smtClean="0">
                <a:latin typeface="+mj-lt"/>
              </a:rPr>
              <a:t> − This is the first phase where all project requirements are gathered from the client or stakeholders. The objective is to correctly define the software’s features, functions, and user needs. A solid foundation is created by this phase for the entire project. </a:t>
            </a:r>
          </a:p>
          <a:p>
            <a:pPr>
              <a:buNone/>
            </a:pP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642918"/>
            <a:ext cx="8229600" cy="582594"/>
          </a:xfrm>
        </p:spPr>
        <p:txBody>
          <a:bodyPr>
            <a:normAutofit fontScale="90000"/>
          </a:bodyPr>
          <a:lstStyle/>
          <a:p>
            <a:r>
              <a:rPr lang="en-IN" b="1" dirty="0" smtClean="0"/>
              <a:t>The Waterfall Model</a:t>
            </a:r>
            <a:endParaRPr lang="en-US" dirty="0"/>
          </a:p>
        </p:txBody>
      </p:sp>
      <p:pic>
        <p:nvPicPr>
          <p:cNvPr id="4" name="Content Placeholder 3" descr="1.png"/>
          <p:cNvPicPr>
            <a:picLocks noGrp="1" noChangeAspect="1"/>
          </p:cNvPicPr>
          <p:nvPr>
            <p:ph idx="1"/>
          </p:nvPr>
        </p:nvPicPr>
        <p:blipFill>
          <a:blip r:embed="rId2"/>
          <a:stretch>
            <a:fillRect/>
          </a:stretch>
        </p:blipFill>
        <p:spPr>
          <a:xfrm>
            <a:off x="714348" y="1214422"/>
            <a:ext cx="7786742" cy="5286412"/>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a:bodyPr>
          <a:lstStyle/>
          <a:p>
            <a:r>
              <a:rPr lang="en-IN" sz="3200" b="1" dirty="0" smtClean="0"/>
              <a:t>The Waterfall Model</a:t>
            </a:r>
            <a:endParaRPr lang="en-US" sz="3200" dirty="0"/>
          </a:p>
        </p:txBody>
      </p:sp>
      <p:sp>
        <p:nvSpPr>
          <p:cNvPr id="3" name="Content Placeholder 2"/>
          <p:cNvSpPr>
            <a:spLocks noGrp="1"/>
          </p:cNvSpPr>
          <p:nvPr>
            <p:ph idx="1"/>
          </p:nvPr>
        </p:nvSpPr>
        <p:spPr>
          <a:xfrm>
            <a:off x="285720" y="1000108"/>
            <a:ext cx="8572560" cy="5572164"/>
          </a:xfrm>
        </p:spPr>
        <p:txBody>
          <a:bodyPr>
            <a:normAutofit/>
          </a:bodyPr>
          <a:lstStyle/>
          <a:p>
            <a:pPr>
              <a:buNone/>
            </a:pPr>
            <a:r>
              <a:rPr lang="en-US" sz="2400" b="1" dirty="0" smtClean="0">
                <a:latin typeface="+mj-lt"/>
              </a:rPr>
              <a:t>2. System Design</a:t>
            </a:r>
            <a:r>
              <a:rPr lang="en-US" sz="2400" dirty="0" smtClean="0">
                <a:latin typeface="+mj-lt"/>
              </a:rPr>
              <a:t> − Here, the software architecture and design are planned according to requirements. Designers create detailed models, user interfaces, and system structures, laying out how the software will work technically.</a:t>
            </a:r>
          </a:p>
          <a:p>
            <a:pPr>
              <a:buNone/>
            </a:pPr>
            <a:r>
              <a:rPr lang="en-US" sz="2400" b="1" dirty="0" smtClean="0">
                <a:latin typeface="+mj-lt"/>
              </a:rPr>
              <a:t>3. Implementation</a:t>
            </a:r>
            <a:r>
              <a:rPr lang="en-US" sz="2400" dirty="0" smtClean="0">
                <a:latin typeface="+mj-lt"/>
              </a:rPr>
              <a:t> − In this phase, the developers start with writing the actual code. They leverage the designs and specifications from the previous phase to build the software system and align it with the defined requirements.</a:t>
            </a:r>
          </a:p>
          <a:p>
            <a:pPr marL="0" indent="0">
              <a:buNone/>
            </a:pPr>
            <a:r>
              <a:rPr lang="en-IN" sz="2400" b="1" dirty="0" smtClean="0">
                <a:latin typeface="+mj-lt"/>
              </a:rPr>
              <a:t>4. Integration and Testing -</a:t>
            </a:r>
          </a:p>
          <a:p>
            <a:pPr marL="0" indent="0">
              <a:buNone/>
            </a:pPr>
            <a:r>
              <a:rPr lang="en-US" sz="2400" dirty="0" smtClean="0">
                <a:latin typeface="+mj-lt"/>
              </a:rPr>
              <a:t>After coding, the software is integrated, and testing is conducted to detect bugs and issues. This ensures that the software works correctly and meets the original requirements. This phase includes unit testing, system testing  and acceptance testing.</a:t>
            </a:r>
          </a:p>
          <a:p>
            <a:endParaRPr lang="en-US" sz="2400"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a:bodyPr>
          <a:lstStyle/>
          <a:p>
            <a:r>
              <a:rPr lang="en-IN" sz="3200" b="1" dirty="0" smtClean="0"/>
              <a:t>The Waterfall Model</a:t>
            </a:r>
            <a:endParaRPr lang="en-US" sz="3200" dirty="0"/>
          </a:p>
        </p:txBody>
      </p:sp>
      <p:sp>
        <p:nvSpPr>
          <p:cNvPr id="3" name="Content Placeholder 2"/>
          <p:cNvSpPr>
            <a:spLocks noGrp="1"/>
          </p:cNvSpPr>
          <p:nvPr>
            <p:ph idx="1"/>
          </p:nvPr>
        </p:nvSpPr>
        <p:spPr>
          <a:xfrm>
            <a:off x="457200" y="1000108"/>
            <a:ext cx="8229600" cy="5126055"/>
          </a:xfrm>
        </p:spPr>
        <p:txBody>
          <a:bodyPr>
            <a:noAutofit/>
          </a:bodyPr>
          <a:lstStyle/>
          <a:p>
            <a:pPr marL="0" indent="0">
              <a:buNone/>
            </a:pPr>
            <a:r>
              <a:rPr lang="en-US" sz="2400" b="1" dirty="0" smtClean="0">
                <a:latin typeface="+mj-lt"/>
              </a:rPr>
              <a:t>5.Deployment -</a:t>
            </a:r>
          </a:p>
          <a:p>
            <a:pPr marL="0" indent="0">
              <a:buNone/>
            </a:pPr>
            <a:r>
              <a:rPr lang="en-US" sz="2400" dirty="0" smtClean="0">
                <a:latin typeface="+mj-lt"/>
              </a:rPr>
              <a:t>Once testing is complete and the software is fully functional, it’s deployed to the production environment. This is when the software is made available for end users.</a:t>
            </a:r>
          </a:p>
          <a:p>
            <a:pPr marL="0" indent="0">
              <a:buNone/>
            </a:pPr>
            <a:endParaRPr lang="en-US" sz="2400" dirty="0" smtClean="0">
              <a:latin typeface="+mj-lt"/>
            </a:endParaRPr>
          </a:p>
          <a:p>
            <a:pPr marL="0" indent="0">
              <a:buNone/>
            </a:pPr>
            <a:r>
              <a:rPr lang="en-US" sz="2400" b="1" dirty="0" smtClean="0">
                <a:latin typeface="+mj-lt"/>
              </a:rPr>
              <a:t>6.</a:t>
            </a:r>
            <a:r>
              <a:rPr lang="en-IN" sz="2400" b="1" dirty="0" smtClean="0">
                <a:latin typeface="+mj-lt"/>
              </a:rPr>
              <a:t>  Maintenance -</a:t>
            </a:r>
          </a:p>
          <a:p>
            <a:pPr marL="0" indent="0">
              <a:buNone/>
            </a:pPr>
            <a:r>
              <a:rPr lang="en-US" sz="2400" dirty="0" smtClean="0">
                <a:latin typeface="+mj-lt"/>
              </a:rPr>
              <a:t>After deployment, the software is in the maintenance phase. It involves fixing bugs, making updates, and adding new features as needed. This phase makes sure that the software remains functional and up-to-date.</a:t>
            </a:r>
          </a:p>
          <a:p>
            <a:pPr>
              <a:buNone/>
            </a:pP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a:bodyPr>
          <a:lstStyle/>
          <a:p>
            <a:r>
              <a:rPr lang="en-IN" sz="3200" b="1" dirty="0" smtClean="0"/>
              <a:t>Waterfall Model - Advantages</a:t>
            </a:r>
            <a:endParaRPr lang="en-US" sz="3200" b="1" dirty="0"/>
          </a:p>
        </p:txBody>
      </p:sp>
      <p:sp>
        <p:nvSpPr>
          <p:cNvPr id="3" name="Content Placeholder 2"/>
          <p:cNvSpPr>
            <a:spLocks noGrp="1"/>
          </p:cNvSpPr>
          <p:nvPr>
            <p:ph idx="1"/>
          </p:nvPr>
        </p:nvSpPr>
        <p:spPr>
          <a:xfrm>
            <a:off x="428596" y="1285860"/>
            <a:ext cx="8229600" cy="4389120"/>
          </a:xfrm>
        </p:spPr>
        <p:txBody>
          <a:bodyPr>
            <a:normAutofit/>
          </a:bodyPr>
          <a:lstStyle/>
          <a:p>
            <a:pPr marL="457200" indent="-457200">
              <a:buFont typeface="+mj-lt"/>
              <a:buAutoNum type="arabicPeriod"/>
            </a:pPr>
            <a:r>
              <a:rPr lang="en-US" sz="2400" dirty="0" smtClean="0">
                <a:latin typeface="+mj-lt"/>
              </a:rPr>
              <a:t>Simple and easy to understand and use</a:t>
            </a:r>
          </a:p>
          <a:p>
            <a:pPr marL="457200" indent="-457200">
              <a:buFont typeface="+mj-lt"/>
              <a:buAutoNum type="arabicPeriod"/>
            </a:pPr>
            <a:r>
              <a:rPr lang="en-US" sz="2400" dirty="0" smtClean="0">
                <a:latin typeface="+mj-lt"/>
              </a:rPr>
              <a:t>Easy to manage due to the rigidity of the model. Each phase has specific deliverables and a review process.</a:t>
            </a:r>
          </a:p>
          <a:p>
            <a:pPr marL="457200" indent="-457200">
              <a:buFont typeface="+mj-lt"/>
              <a:buAutoNum type="arabicPeriod"/>
            </a:pPr>
            <a:r>
              <a:rPr lang="en-US" sz="2400" dirty="0" smtClean="0">
                <a:latin typeface="+mj-lt"/>
              </a:rPr>
              <a:t>Phases are processed and completed one at a time.</a:t>
            </a:r>
          </a:p>
          <a:p>
            <a:pPr marL="457200" indent="-457200">
              <a:buFont typeface="+mj-lt"/>
              <a:buAutoNum type="arabicPeriod"/>
            </a:pPr>
            <a:r>
              <a:rPr lang="en-US" sz="2400" dirty="0" smtClean="0">
                <a:latin typeface="+mj-lt"/>
              </a:rPr>
              <a:t>Works well for smaller projects where requirements are very well understood.</a:t>
            </a:r>
          </a:p>
          <a:p>
            <a:pPr marL="457200" indent="-457200">
              <a:buFont typeface="+mj-lt"/>
              <a:buAutoNum type="arabicPeriod"/>
            </a:pPr>
            <a:r>
              <a:rPr lang="en-US" sz="2400" dirty="0" smtClean="0">
                <a:latin typeface="+mj-lt"/>
              </a:rPr>
              <a:t>Clearly defined stages.</a:t>
            </a:r>
          </a:p>
          <a:p>
            <a:pPr marL="457200" indent="-457200">
              <a:buFont typeface="+mj-lt"/>
              <a:buAutoNum type="arabicPeriod"/>
            </a:pPr>
            <a:r>
              <a:rPr lang="en-US" sz="2400" dirty="0" smtClean="0">
                <a:latin typeface="+mj-lt"/>
              </a:rPr>
              <a:t>Well understood milestones.</a:t>
            </a:r>
          </a:p>
          <a:p>
            <a:pPr marL="457200" indent="-457200">
              <a:buFont typeface="+mj-lt"/>
              <a:buAutoNum type="arabicPeriod"/>
            </a:pPr>
            <a:r>
              <a:rPr lang="en-US" sz="2400" dirty="0" smtClean="0">
                <a:latin typeface="+mj-lt"/>
              </a:rPr>
              <a:t>Easy to arrange tasks.</a:t>
            </a:r>
          </a:p>
          <a:p>
            <a:pPr marL="457200" indent="-457200">
              <a:buFont typeface="+mj-lt"/>
              <a:buAutoNum type="arabicPeriod"/>
            </a:pPr>
            <a:r>
              <a:rPr lang="en-US" sz="2400" dirty="0" smtClean="0">
                <a:latin typeface="+mj-lt"/>
              </a:rPr>
              <a:t>Process and results are well documented</a:t>
            </a:r>
            <a:endParaRPr lang="en-US" sz="2400"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480"/>
            <a:ext cx="5829312" cy="571504"/>
          </a:xfrm>
        </p:spPr>
        <p:txBody>
          <a:bodyPr>
            <a:normAutofit/>
          </a:bodyPr>
          <a:lstStyle/>
          <a:p>
            <a:r>
              <a:rPr lang="en-IN" sz="3200" b="1" dirty="0" smtClean="0"/>
              <a:t>Waterfall Model - Disadvantages</a:t>
            </a:r>
            <a:endParaRPr lang="en-US" sz="3200" b="1" dirty="0"/>
          </a:p>
        </p:txBody>
      </p:sp>
      <p:sp>
        <p:nvSpPr>
          <p:cNvPr id="3" name="Content Placeholder 2"/>
          <p:cNvSpPr>
            <a:spLocks noGrp="1"/>
          </p:cNvSpPr>
          <p:nvPr>
            <p:ph idx="1"/>
          </p:nvPr>
        </p:nvSpPr>
        <p:spPr>
          <a:xfrm>
            <a:off x="285720" y="1643050"/>
            <a:ext cx="8472518" cy="4500594"/>
          </a:xfrm>
        </p:spPr>
        <p:txBody>
          <a:bodyPr>
            <a:normAutofit/>
          </a:bodyPr>
          <a:lstStyle/>
          <a:p>
            <a:pPr marL="514350" indent="-514350">
              <a:buFont typeface="+mj-lt"/>
              <a:buAutoNum type="arabicPeriod"/>
            </a:pPr>
            <a:r>
              <a:rPr lang="en-US" sz="2400" dirty="0" smtClean="0">
                <a:latin typeface="+mj-lt"/>
              </a:rPr>
              <a:t>High amounts of risk and uncertainty.</a:t>
            </a:r>
          </a:p>
          <a:p>
            <a:pPr marL="514350" indent="-514350">
              <a:buFont typeface="+mj-lt"/>
              <a:buAutoNum type="arabicPeriod"/>
            </a:pPr>
            <a:r>
              <a:rPr lang="en-US" sz="2400" dirty="0" smtClean="0">
                <a:latin typeface="+mj-lt"/>
              </a:rPr>
              <a:t>Not a good model for complex and object-oriented projects.</a:t>
            </a:r>
          </a:p>
          <a:p>
            <a:pPr marL="514350" indent="-514350">
              <a:buFont typeface="+mj-lt"/>
              <a:buAutoNum type="arabicPeriod"/>
            </a:pPr>
            <a:r>
              <a:rPr lang="en-US" sz="2400" dirty="0" smtClean="0">
                <a:latin typeface="+mj-lt"/>
              </a:rPr>
              <a:t>Poor model for long and ongoing projects.</a:t>
            </a:r>
          </a:p>
          <a:p>
            <a:pPr marL="514350" indent="-514350">
              <a:buFont typeface="+mj-lt"/>
              <a:buAutoNum type="arabicPeriod"/>
            </a:pPr>
            <a:r>
              <a:rPr lang="en-US" sz="2400" dirty="0" smtClean="0">
                <a:latin typeface="+mj-lt"/>
              </a:rPr>
              <a:t>Not suitable for the projects where requirements are at a moderate to high risk of changing. So, risk and uncertainty is high with this process model.</a:t>
            </a:r>
          </a:p>
          <a:p>
            <a:pPr marL="514350" indent="-514350">
              <a:buFont typeface="+mj-lt"/>
              <a:buAutoNum type="arabicPeriod"/>
            </a:pPr>
            <a:r>
              <a:rPr lang="en-US" sz="2400" dirty="0" smtClean="0">
                <a:latin typeface="+mj-lt"/>
              </a:rPr>
              <a:t>It is difficult to measure progress within stages.</a:t>
            </a:r>
          </a:p>
          <a:p>
            <a:pPr marL="514350" indent="-514350">
              <a:buFont typeface="+mj-lt"/>
              <a:buAutoNum type="arabicPeriod"/>
            </a:pPr>
            <a:r>
              <a:rPr lang="en-US" sz="2400" dirty="0" smtClean="0">
                <a:latin typeface="+mj-lt"/>
              </a:rPr>
              <a:t>Cannot accommodate changing requirements.</a:t>
            </a:r>
          </a:p>
          <a:p>
            <a:pPr marL="514350" indent="-514350">
              <a:buFont typeface="+mj-lt"/>
              <a:buAutoNum type="arabicPeriod"/>
            </a:pPr>
            <a:r>
              <a:rPr lang="en-US" sz="2400" dirty="0" smtClean="0">
                <a:latin typeface="+mj-lt"/>
              </a:rPr>
              <a:t>Adjusting scope during the life cycle can end a project.</a:t>
            </a:r>
          </a:p>
          <a:p>
            <a:pPr>
              <a:buNone/>
            </a:pPr>
            <a:endParaRPr lang="en-US" sz="2400" dirty="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a:bodyPr>
          <a:lstStyle/>
          <a:p>
            <a:r>
              <a:rPr lang="en-IN" sz="3200" b="1" dirty="0" smtClean="0"/>
              <a:t>Incremental Process Models</a:t>
            </a:r>
            <a:endParaRPr lang="en-US" sz="3200" b="1" dirty="0"/>
          </a:p>
        </p:txBody>
      </p:sp>
      <p:sp>
        <p:nvSpPr>
          <p:cNvPr id="3" name="Content Placeholder 2"/>
          <p:cNvSpPr>
            <a:spLocks noGrp="1"/>
          </p:cNvSpPr>
          <p:nvPr>
            <p:ph idx="1"/>
          </p:nvPr>
        </p:nvSpPr>
        <p:spPr>
          <a:xfrm>
            <a:off x="285720" y="1142984"/>
            <a:ext cx="8401080" cy="5286412"/>
          </a:xfrm>
        </p:spPr>
        <p:txBody>
          <a:bodyPr>
            <a:normAutofit/>
          </a:bodyPr>
          <a:lstStyle/>
          <a:p>
            <a:pPr algn="just"/>
            <a:r>
              <a:rPr lang="en-US" sz="2400" dirty="0" smtClean="0">
                <a:latin typeface="+mj-lt"/>
              </a:rPr>
              <a:t>The Incremental Process Model is a method of software development where the system is built step by step. </a:t>
            </a:r>
            <a:endParaRPr lang="en-US" sz="2400" dirty="0" smtClean="0">
              <a:latin typeface="+mj-lt"/>
            </a:endParaRPr>
          </a:p>
          <a:p>
            <a:pPr algn="just"/>
            <a:r>
              <a:rPr lang="en-US" sz="2400" dirty="0" smtClean="0">
                <a:latin typeface="+mj-lt"/>
              </a:rPr>
              <a:t>Instead </a:t>
            </a:r>
            <a:r>
              <a:rPr lang="en-US" sz="2400" dirty="0" smtClean="0">
                <a:latin typeface="+mj-lt"/>
              </a:rPr>
              <a:t>of delivering the whole system at once, it is developed and delivered in small parts called increments. </a:t>
            </a:r>
            <a:endParaRPr lang="en-US" sz="2400" dirty="0" smtClean="0">
              <a:latin typeface="+mj-lt"/>
            </a:endParaRPr>
          </a:p>
          <a:p>
            <a:pPr algn="just"/>
            <a:r>
              <a:rPr lang="en-US" sz="2400" dirty="0" smtClean="0">
                <a:latin typeface="+mj-lt"/>
              </a:rPr>
              <a:t>Each </a:t>
            </a:r>
            <a:r>
              <a:rPr lang="en-US" sz="2400" dirty="0" smtClean="0">
                <a:latin typeface="+mj-lt"/>
              </a:rPr>
              <a:t>increment builds upon the previous one by adding new functionality, until the complete system is finished.</a:t>
            </a:r>
            <a:endParaRPr lang="en-IN" sz="2400" dirty="0" smtClean="0">
              <a:latin typeface="+mj-lt"/>
            </a:endParaRPr>
          </a:p>
          <a:p>
            <a:pPr>
              <a:buNone/>
            </a:pPr>
            <a:endParaRPr lang="en-US" sz="2400"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Incremental Process Models</a:t>
            </a:r>
            <a:endParaRPr lang="en-US" dirty="0"/>
          </a:p>
        </p:txBody>
      </p:sp>
      <p:pic>
        <p:nvPicPr>
          <p:cNvPr id="4" name="Content Placeholder 3" descr="Untitle.png"/>
          <p:cNvPicPr>
            <a:picLocks noGrp="1" noChangeAspect="1"/>
          </p:cNvPicPr>
          <p:nvPr>
            <p:ph idx="1"/>
          </p:nvPr>
        </p:nvPicPr>
        <p:blipFill>
          <a:blip r:embed="rId2"/>
          <a:stretch>
            <a:fillRect/>
          </a:stretch>
        </p:blipFill>
        <p:spPr>
          <a:xfrm>
            <a:off x="785786" y="1935163"/>
            <a:ext cx="7500989" cy="4637109"/>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785794"/>
            <a:ext cx="4929222" cy="632666"/>
          </a:xfrm>
        </p:spPr>
        <p:txBody>
          <a:bodyPr>
            <a:normAutofit/>
          </a:bodyPr>
          <a:lstStyle/>
          <a:p>
            <a:r>
              <a:rPr lang="en-IN" sz="3200" dirty="0"/>
              <a:t>Incremental Process Models</a:t>
            </a:r>
          </a:p>
        </p:txBody>
      </p:sp>
      <p:sp>
        <p:nvSpPr>
          <p:cNvPr id="3" name="Content Placeholder 2"/>
          <p:cNvSpPr>
            <a:spLocks noGrp="1"/>
          </p:cNvSpPr>
          <p:nvPr>
            <p:ph idx="1"/>
          </p:nvPr>
        </p:nvSpPr>
        <p:spPr/>
        <p:txBody>
          <a:bodyPr>
            <a:normAutofit/>
          </a:bodyPr>
          <a:lstStyle/>
          <a:p>
            <a:r>
              <a:rPr lang="en-US" sz="2400" b="1" dirty="0" smtClean="0">
                <a:latin typeface="+mj-lt"/>
              </a:rPr>
              <a:t>Requirements </a:t>
            </a:r>
            <a:r>
              <a:rPr lang="en-US" sz="2400" b="1" dirty="0">
                <a:latin typeface="+mj-lt"/>
              </a:rPr>
              <a:t>Gathering:</a:t>
            </a:r>
            <a:r>
              <a:rPr lang="en-US" sz="2400" dirty="0">
                <a:latin typeface="+mj-lt"/>
              </a:rPr>
              <a:t> In this initial phase, the high-level requirements for the software are gathered and analyzed. These requirements serve as a foundation for the subsequent phases</a:t>
            </a:r>
            <a:r>
              <a:rPr lang="en-US" sz="2400" dirty="0" smtClean="0">
                <a:latin typeface="+mj-lt"/>
              </a:rPr>
              <a:t>.</a:t>
            </a:r>
          </a:p>
          <a:p>
            <a:pPr>
              <a:buNone/>
            </a:pPr>
            <a:endParaRPr lang="en-US" sz="2400" dirty="0">
              <a:latin typeface="+mj-lt"/>
            </a:endParaRPr>
          </a:p>
          <a:p>
            <a:r>
              <a:rPr lang="en-US" sz="2400" b="1" dirty="0">
                <a:latin typeface="+mj-lt"/>
              </a:rPr>
              <a:t>Design:</a:t>
            </a:r>
            <a:r>
              <a:rPr lang="en-US" sz="2400" dirty="0">
                <a:latin typeface="+mj-lt"/>
              </a:rPr>
              <a:t> Based on the gathered requirements, the software's architecture, design, and user interfaces are planned and developed. The design is often divided into smaller segments to ensure a focused and organized development process.</a:t>
            </a:r>
          </a:p>
          <a:p>
            <a:endParaRPr lang="en-IN" sz="2400" dirty="0">
              <a:latin typeface="+mj-lt"/>
            </a:endParaRPr>
          </a:p>
        </p:txBody>
      </p:sp>
    </p:spTree>
    <p:extLst>
      <p:ext uri="{BB962C8B-B14F-4D97-AF65-F5344CB8AC3E}">
        <p14:creationId xmlns="" xmlns:p14="http://schemas.microsoft.com/office/powerpoint/2010/main" val="1950297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714356"/>
            <a:ext cx="4786346" cy="561228"/>
          </a:xfrm>
        </p:spPr>
        <p:txBody>
          <a:bodyPr>
            <a:normAutofit/>
          </a:bodyPr>
          <a:lstStyle/>
          <a:p>
            <a:r>
              <a:rPr lang="en-IN" sz="3200" dirty="0"/>
              <a:t>Incremental Process Models</a:t>
            </a:r>
          </a:p>
        </p:txBody>
      </p:sp>
      <p:sp>
        <p:nvSpPr>
          <p:cNvPr id="3" name="Content Placeholder 2"/>
          <p:cNvSpPr>
            <a:spLocks noGrp="1"/>
          </p:cNvSpPr>
          <p:nvPr>
            <p:ph idx="1"/>
          </p:nvPr>
        </p:nvSpPr>
        <p:spPr>
          <a:xfrm>
            <a:off x="457200" y="1428736"/>
            <a:ext cx="8229600" cy="5143536"/>
          </a:xfrm>
        </p:spPr>
        <p:txBody>
          <a:bodyPr>
            <a:normAutofit/>
          </a:bodyPr>
          <a:lstStyle/>
          <a:p>
            <a:r>
              <a:rPr lang="en-US" sz="2200" b="1" dirty="0">
                <a:latin typeface="+mj-lt"/>
              </a:rPr>
              <a:t>Implementation:</a:t>
            </a:r>
            <a:r>
              <a:rPr lang="en-US" sz="2200" dirty="0">
                <a:latin typeface="+mj-lt"/>
              </a:rPr>
              <a:t> Each increment involves implementing a portion of the software's functionality. Developers work on adding features, modules, or components that were planned in the design phase. This incremental approach allows for quicker delivery of usable software.</a:t>
            </a:r>
          </a:p>
          <a:p>
            <a:r>
              <a:rPr lang="en-US" sz="2200" b="1" dirty="0">
                <a:latin typeface="+mj-lt"/>
              </a:rPr>
              <a:t>Testing:</a:t>
            </a:r>
            <a:r>
              <a:rPr lang="en-US" sz="2200" dirty="0">
                <a:latin typeface="+mj-lt"/>
              </a:rPr>
              <a:t> As each increment is completed, testing is carried out to ensure that the new features work as expected and do not negatively impact the existing functionality. This ongoing testing helps catch and address issues early in the development process.</a:t>
            </a:r>
          </a:p>
          <a:p>
            <a:r>
              <a:rPr lang="en-US" sz="2200" b="1" dirty="0">
                <a:latin typeface="+mj-lt"/>
              </a:rPr>
              <a:t>Integration:</a:t>
            </a:r>
            <a:r>
              <a:rPr lang="en-US" sz="2200" dirty="0">
                <a:latin typeface="+mj-lt"/>
              </a:rPr>
              <a:t> In this phase, the newly developed increments are integrated into the existing software. This can involve merging code, resolving conflicts, and ensuring that all components work together smoothly.</a:t>
            </a:r>
          </a:p>
          <a:p>
            <a:endParaRPr lang="en-IN" sz="2200" dirty="0">
              <a:latin typeface="+mj-lt"/>
            </a:endParaRPr>
          </a:p>
        </p:txBody>
      </p:sp>
    </p:spTree>
    <p:extLst>
      <p:ext uri="{BB962C8B-B14F-4D97-AF65-F5344CB8AC3E}">
        <p14:creationId xmlns="" xmlns:p14="http://schemas.microsoft.com/office/powerpoint/2010/main" val="828044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571480"/>
            <a:ext cx="5000660" cy="632666"/>
          </a:xfrm>
        </p:spPr>
        <p:txBody>
          <a:bodyPr>
            <a:normAutofit/>
          </a:bodyPr>
          <a:lstStyle/>
          <a:p>
            <a:r>
              <a:rPr lang="en-IN" sz="3200" b="1" dirty="0"/>
              <a:t>Incremental Process Models</a:t>
            </a:r>
          </a:p>
        </p:txBody>
      </p:sp>
      <p:sp>
        <p:nvSpPr>
          <p:cNvPr id="3" name="Content Placeholder 2"/>
          <p:cNvSpPr>
            <a:spLocks noGrp="1"/>
          </p:cNvSpPr>
          <p:nvPr>
            <p:ph idx="1"/>
          </p:nvPr>
        </p:nvSpPr>
        <p:spPr>
          <a:xfrm>
            <a:off x="500034" y="1428736"/>
            <a:ext cx="8229600" cy="5000660"/>
          </a:xfrm>
        </p:spPr>
        <p:txBody>
          <a:bodyPr>
            <a:normAutofit/>
          </a:bodyPr>
          <a:lstStyle/>
          <a:p>
            <a:r>
              <a:rPr lang="en-US" sz="2400" b="1" dirty="0">
                <a:latin typeface="+mj-lt"/>
              </a:rPr>
              <a:t>Evaluation and Feedback:</a:t>
            </a:r>
            <a:r>
              <a:rPr lang="en-US" sz="2400" dirty="0">
                <a:latin typeface="+mj-lt"/>
              </a:rPr>
              <a:t> After each increment, stakeholders review the functionality added and provide feedback. This feedback can be used to refine the requirements, design, and implementation of subsequent increments</a:t>
            </a:r>
            <a:r>
              <a:rPr lang="en-US" sz="2400" dirty="0" smtClean="0">
                <a:latin typeface="+mj-lt"/>
              </a:rPr>
              <a:t>.</a:t>
            </a:r>
          </a:p>
          <a:p>
            <a:pPr>
              <a:buNone/>
            </a:pPr>
            <a:endParaRPr lang="en-US" sz="2400" dirty="0">
              <a:latin typeface="+mj-lt"/>
            </a:endParaRPr>
          </a:p>
          <a:p>
            <a:r>
              <a:rPr lang="en-US" sz="2400" b="1" dirty="0">
                <a:latin typeface="+mj-lt"/>
              </a:rPr>
              <a:t>Iterative Process:</a:t>
            </a:r>
            <a:r>
              <a:rPr lang="en-US" sz="2400" dirty="0">
                <a:latin typeface="+mj-lt"/>
              </a:rPr>
              <a:t> The software development process iterates through the above phases, gradually adding new features and improvements. With each iteration, the software becomes more robust and feature-rich.</a:t>
            </a:r>
          </a:p>
          <a:p>
            <a:endParaRPr lang="en-IN" sz="2400" dirty="0">
              <a:latin typeface="+mj-lt"/>
            </a:endParaRPr>
          </a:p>
        </p:txBody>
      </p:sp>
    </p:spTree>
    <p:extLst>
      <p:ext uri="{BB962C8B-B14F-4D97-AF65-F5344CB8AC3E}">
        <p14:creationId xmlns="" xmlns:p14="http://schemas.microsoft.com/office/powerpoint/2010/main" val="1295333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642918"/>
            <a:ext cx="7115196" cy="489790"/>
          </a:xfrm>
        </p:spPr>
        <p:txBody>
          <a:bodyPr>
            <a:noAutofit/>
          </a:bodyPr>
          <a:lstStyle/>
          <a:p>
            <a:r>
              <a:rPr lang="en-IN" sz="3200" b="1" dirty="0" smtClean="0"/>
              <a:t>Incremental Process Models Advantages</a:t>
            </a:r>
            <a:endParaRPr lang="en-US" sz="3200" b="1" dirty="0"/>
          </a:p>
        </p:txBody>
      </p:sp>
      <p:sp>
        <p:nvSpPr>
          <p:cNvPr id="3" name="Content Placeholder 2"/>
          <p:cNvSpPr>
            <a:spLocks noGrp="1"/>
          </p:cNvSpPr>
          <p:nvPr>
            <p:ph idx="1"/>
          </p:nvPr>
        </p:nvSpPr>
        <p:spPr>
          <a:xfrm>
            <a:off x="457200" y="1428736"/>
            <a:ext cx="8229600" cy="3714776"/>
          </a:xfrm>
        </p:spPr>
        <p:txBody>
          <a:bodyPr>
            <a:normAutofit/>
          </a:bodyPr>
          <a:lstStyle/>
          <a:p>
            <a:r>
              <a:rPr lang="en-US" sz="2400" dirty="0" smtClean="0">
                <a:latin typeface="+mj-lt"/>
              </a:rPr>
              <a:t>Generates working software quickly and early during the software life cycle.</a:t>
            </a:r>
          </a:p>
          <a:p>
            <a:r>
              <a:rPr lang="en-US" sz="2400" dirty="0" smtClean="0">
                <a:latin typeface="+mj-lt"/>
              </a:rPr>
              <a:t>More flexible.</a:t>
            </a:r>
          </a:p>
          <a:p>
            <a:r>
              <a:rPr lang="en-US" sz="2400" dirty="0" smtClean="0">
                <a:latin typeface="+mj-lt"/>
              </a:rPr>
              <a:t>Easier to test and debug during a smaller iteration.</a:t>
            </a:r>
          </a:p>
          <a:p>
            <a:r>
              <a:rPr lang="en-US" sz="2400" dirty="0" smtClean="0">
                <a:latin typeface="+mj-lt"/>
              </a:rPr>
              <a:t>Customer can response to each bolt.</a:t>
            </a:r>
          </a:p>
          <a:p>
            <a:r>
              <a:rPr lang="en-US" sz="2400" dirty="0" smtClean="0">
                <a:latin typeface="+mj-lt"/>
              </a:rPr>
              <a:t>Lowest initial delivery cost.</a:t>
            </a:r>
          </a:p>
          <a:p>
            <a:r>
              <a:rPr lang="en-US" sz="2400" dirty="0" smtClean="0">
                <a:latin typeface="+mj-lt"/>
              </a:rPr>
              <a:t>Easy to manage risk.</a:t>
            </a:r>
          </a:p>
          <a:p>
            <a:pPr>
              <a:buNone/>
            </a:pPr>
            <a:endParaRPr lang="en-US" sz="2400" dirty="0" smtClean="0">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500042"/>
            <a:ext cx="7400948" cy="632666"/>
          </a:xfrm>
        </p:spPr>
        <p:txBody>
          <a:bodyPr>
            <a:normAutofit/>
          </a:bodyPr>
          <a:lstStyle/>
          <a:p>
            <a:r>
              <a:rPr lang="en-IN" sz="3200" b="1" dirty="0" smtClean="0"/>
              <a:t>Incremental Process Models Disadvantages</a:t>
            </a:r>
            <a:endParaRPr lang="en-US" sz="3200" b="1" dirty="0"/>
          </a:p>
        </p:txBody>
      </p:sp>
      <p:sp>
        <p:nvSpPr>
          <p:cNvPr id="3" name="Content Placeholder 2"/>
          <p:cNvSpPr>
            <a:spLocks noGrp="1"/>
          </p:cNvSpPr>
          <p:nvPr>
            <p:ph idx="1"/>
          </p:nvPr>
        </p:nvSpPr>
        <p:spPr>
          <a:xfrm>
            <a:off x="357158" y="1285860"/>
            <a:ext cx="8229600" cy="5286412"/>
          </a:xfrm>
        </p:spPr>
        <p:txBody>
          <a:bodyPr>
            <a:normAutofit fontScale="92500"/>
          </a:bodyPr>
          <a:lstStyle/>
          <a:p>
            <a:r>
              <a:rPr lang="en-US" sz="2400" b="1" dirty="0" smtClean="0">
                <a:latin typeface="+mj-lt"/>
              </a:rPr>
              <a:t>Complexity in Integration:</a:t>
            </a:r>
            <a:r>
              <a:rPr lang="en-US" sz="2400" dirty="0" smtClean="0">
                <a:latin typeface="+mj-lt"/>
              </a:rPr>
              <a:t> Integrating new increments with existing components can be challenging, especially if the architecture wasn't designed with incremental development in mind. This can lead to compatibility and stability issues.</a:t>
            </a:r>
          </a:p>
          <a:p>
            <a:pPr>
              <a:buNone/>
            </a:pPr>
            <a:endParaRPr lang="en-US" sz="2400" dirty="0" smtClean="0">
              <a:latin typeface="+mj-lt"/>
            </a:endParaRPr>
          </a:p>
          <a:p>
            <a:r>
              <a:rPr lang="en-US" sz="2400" b="1" dirty="0" smtClean="0">
                <a:latin typeface="+mj-lt"/>
              </a:rPr>
              <a:t>Continuous Maintenance Overhead:</a:t>
            </a:r>
            <a:r>
              <a:rPr lang="en-US" sz="2400" dirty="0" smtClean="0">
                <a:latin typeface="+mj-lt"/>
              </a:rPr>
              <a:t> As increments are added, maintaining and updating them can become complex, leading to increased maintenance overhead over the lifecycle of the software.</a:t>
            </a:r>
          </a:p>
          <a:p>
            <a:pPr>
              <a:buNone/>
            </a:pPr>
            <a:endParaRPr lang="en-US" sz="2400" dirty="0" smtClean="0">
              <a:latin typeface="+mj-lt"/>
            </a:endParaRPr>
          </a:p>
          <a:p>
            <a:r>
              <a:rPr lang="en-US" sz="2400" b="1" dirty="0" smtClean="0">
                <a:latin typeface="+mj-lt"/>
              </a:rPr>
              <a:t>Limited Overall View:</a:t>
            </a:r>
            <a:r>
              <a:rPr lang="en-US" sz="2400" dirty="0" smtClean="0">
                <a:latin typeface="+mj-lt"/>
              </a:rPr>
              <a:t> Since the software is developed incrementally, there might not be a comprehensive overview of the final product until all increments are integrated, potentially leading to discrepancies in overall design and functionality.</a:t>
            </a:r>
          </a:p>
          <a:p>
            <a:pPr>
              <a:buNone/>
            </a:pPr>
            <a:endParaRPr lang="en-US" sz="2400" dirty="0">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500042"/>
            <a:ext cx="7472386" cy="561228"/>
          </a:xfrm>
        </p:spPr>
        <p:txBody>
          <a:bodyPr>
            <a:normAutofit/>
          </a:bodyPr>
          <a:lstStyle/>
          <a:p>
            <a:r>
              <a:rPr lang="en-IN" sz="3200" b="1" dirty="0" smtClean="0"/>
              <a:t>Incremental Process Models Disadvantages</a:t>
            </a:r>
            <a:endParaRPr lang="en-US" sz="3200" b="1" dirty="0"/>
          </a:p>
        </p:txBody>
      </p:sp>
      <p:sp>
        <p:nvSpPr>
          <p:cNvPr id="3" name="Content Placeholder 2"/>
          <p:cNvSpPr>
            <a:spLocks noGrp="1"/>
          </p:cNvSpPr>
          <p:nvPr>
            <p:ph idx="1"/>
          </p:nvPr>
        </p:nvSpPr>
        <p:spPr>
          <a:xfrm>
            <a:off x="457200" y="1214422"/>
            <a:ext cx="8229600" cy="5110178"/>
          </a:xfrm>
        </p:spPr>
        <p:txBody>
          <a:bodyPr>
            <a:normAutofit lnSpcReduction="10000"/>
          </a:bodyPr>
          <a:lstStyle/>
          <a:p>
            <a:r>
              <a:rPr lang="en-US" sz="2400" b="1" dirty="0" smtClean="0">
                <a:latin typeface="+mj-lt"/>
              </a:rPr>
              <a:t>Incomplete Features:</a:t>
            </a:r>
            <a:r>
              <a:rPr lang="en-US" sz="2400" dirty="0" smtClean="0">
                <a:latin typeface="+mj-lt"/>
              </a:rPr>
              <a:t> Depending on the chosen increments, some critical features might not be available until later stages of development, which could hinder the usability of the software during early releases.</a:t>
            </a:r>
          </a:p>
          <a:p>
            <a:pPr>
              <a:buNone/>
            </a:pPr>
            <a:endParaRPr lang="en-US" sz="2400" dirty="0" smtClean="0">
              <a:latin typeface="+mj-lt"/>
            </a:endParaRPr>
          </a:p>
          <a:p>
            <a:r>
              <a:rPr lang="en-US" sz="2400" b="1" dirty="0" smtClean="0">
                <a:latin typeface="+mj-lt"/>
              </a:rPr>
              <a:t>Dependency Management:</a:t>
            </a:r>
            <a:r>
              <a:rPr lang="en-US" sz="2400" dirty="0" smtClean="0">
                <a:latin typeface="+mj-lt"/>
              </a:rPr>
              <a:t> If one increment relies on the functionality of another, delays in one increment can impact the overall project timeline and deliverables.</a:t>
            </a:r>
          </a:p>
          <a:p>
            <a:pPr>
              <a:buNone/>
            </a:pPr>
            <a:endParaRPr lang="en-US" sz="2400" dirty="0" smtClean="0">
              <a:latin typeface="+mj-lt"/>
            </a:endParaRPr>
          </a:p>
          <a:p>
            <a:r>
              <a:rPr lang="en-US" sz="2400" b="1" dirty="0" smtClean="0">
                <a:latin typeface="+mj-lt"/>
              </a:rPr>
              <a:t>Increased Coordination Effort:</a:t>
            </a:r>
            <a:r>
              <a:rPr lang="en-US" sz="2400" dirty="0" smtClean="0">
                <a:latin typeface="+mj-lt"/>
              </a:rPr>
              <a:t> Managing the development and integration of multiple increments requires effective coordination and communication among development teams, which can become complex as the project progresses.</a:t>
            </a:r>
          </a:p>
          <a:p>
            <a:pPr>
              <a:buNone/>
            </a:pPr>
            <a:endParaRPr lang="en-US" sz="2400" dirty="0">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t/>
            </a:r>
            <a:br>
              <a:rPr lang="en-US" sz="3600" b="1" dirty="0" smtClean="0"/>
            </a:br>
            <a:r>
              <a:rPr lang="en-US" sz="3600" b="1" dirty="0" smtClean="0"/>
              <a:t/>
            </a:r>
            <a:br>
              <a:rPr lang="en-US" sz="3600" b="1" dirty="0" smtClean="0"/>
            </a:br>
            <a:r>
              <a:rPr lang="en-US" sz="3600" b="1" dirty="0" smtClean="0"/>
              <a:t/>
            </a:r>
            <a:br>
              <a:rPr lang="en-US" sz="3600" b="1" dirty="0" smtClean="0"/>
            </a:br>
            <a:r>
              <a:rPr lang="en-US" sz="3600" b="1" dirty="0" smtClean="0"/>
              <a:t/>
            </a:r>
            <a:br>
              <a:rPr lang="en-US" sz="3600" b="1" dirty="0" smtClean="0"/>
            </a:br>
            <a:r>
              <a:rPr lang="en-US" sz="3600" b="1" dirty="0" smtClean="0"/>
              <a:t/>
            </a:r>
            <a:br>
              <a:rPr lang="en-US" sz="3600" b="1" dirty="0" smtClean="0"/>
            </a:br>
            <a:r>
              <a:rPr lang="en-US" sz="3600" b="1" dirty="0" smtClean="0"/>
              <a:t/>
            </a:r>
            <a:br>
              <a:rPr lang="en-US" sz="3600" b="1" dirty="0" smtClean="0"/>
            </a:br>
            <a:r>
              <a:rPr lang="en-US" sz="3600" b="1" dirty="0" smtClean="0"/>
              <a:t>Evolutionary Process Models </a:t>
            </a:r>
            <a:r>
              <a:rPr lang="en-US" dirty="0" smtClean="0"/>
              <a:t>	</a:t>
            </a:r>
            <a:br>
              <a:rPr lang="en-US" dirty="0" smtClean="0"/>
            </a:br>
            <a:endParaRPr lang="en-US" dirty="0"/>
          </a:p>
        </p:txBody>
      </p:sp>
      <p:sp>
        <p:nvSpPr>
          <p:cNvPr id="3" name="Content Placeholder 2"/>
          <p:cNvSpPr>
            <a:spLocks noGrp="1"/>
          </p:cNvSpPr>
          <p:nvPr>
            <p:ph idx="1"/>
          </p:nvPr>
        </p:nvSpPr>
        <p:spPr>
          <a:xfrm>
            <a:off x="214282" y="1357298"/>
            <a:ext cx="8715436" cy="4525963"/>
          </a:xfrm>
        </p:spPr>
        <p:txBody>
          <a:bodyPr>
            <a:normAutofit/>
          </a:bodyPr>
          <a:lstStyle/>
          <a:p>
            <a:r>
              <a:rPr lang="en-US" sz="2200" dirty="0" smtClean="0">
                <a:latin typeface="+mj-lt"/>
              </a:rPr>
              <a:t>Evolutionary model is a combination of Iterative and Incremental model of software development life cycle.</a:t>
            </a:r>
          </a:p>
          <a:p>
            <a:r>
              <a:rPr lang="en-US" sz="2200" dirty="0" smtClean="0">
                <a:latin typeface="+mj-lt"/>
              </a:rPr>
              <a:t>The evolutionary model is based on the concept of making an initial product and then evolving the software product over time with iterative and incremental approaches with proper feedback.</a:t>
            </a:r>
          </a:p>
          <a:p>
            <a:r>
              <a:rPr lang="en-US" sz="2400" dirty="0" smtClean="0">
                <a:latin typeface="+mj-lt"/>
              </a:rPr>
              <a:t>In this type of model, the product will go through several iterations and come up when the final product is built through multiple iterations</a:t>
            </a:r>
          </a:p>
          <a:p>
            <a:r>
              <a:rPr lang="en-US" sz="2400" dirty="0" smtClean="0">
                <a:latin typeface="+mj-lt"/>
              </a:rPr>
              <a:t>The development is carried out simultaneously with the feedback during the development.</a:t>
            </a:r>
          </a:p>
          <a:p>
            <a:endParaRPr lang="en-US" sz="2200" dirty="0">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714356"/>
            <a:ext cx="5329246" cy="561228"/>
          </a:xfrm>
        </p:spPr>
        <p:txBody>
          <a:bodyPr>
            <a:normAutofit/>
          </a:bodyPr>
          <a:lstStyle/>
          <a:p>
            <a:r>
              <a:rPr lang="en-US" sz="3200" b="1" dirty="0" smtClean="0"/>
              <a:t>Evolutionary Process Models</a:t>
            </a:r>
            <a:endParaRPr lang="en-US" sz="3200" b="1" dirty="0"/>
          </a:p>
        </p:txBody>
      </p:sp>
      <p:pic>
        <p:nvPicPr>
          <p:cNvPr id="4" name="Content Placeholder 3" descr="1.png"/>
          <p:cNvPicPr>
            <a:picLocks noGrp="1" noChangeAspect="1"/>
          </p:cNvPicPr>
          <p:nvPr>
            <p:ph idx="1"/>
          </p:nvPr>
        </p:nvPicPr>
        <p:blipFill>
          <a:blip r:embed="rId2"/>
          <a:stretch>
            <a:fillRect/>
          </a:stretch>
        </p:blipFill>
        <p:spPr>
          <a:xfrm>
            <a:off x="285720" y="1571612"/>
            <a:ext cx="8286808" cy="5072097"/>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642918"/>
            <a:ext cx="8229600" cy="632666"/>
          </a:xfrm>
        </p:spPr>
        <p:txBody>
          <a:bodyPr>
            <a:noAutofit/>
          </a:bodyPr>
          <a:lstStyle/>
          <a:p>
            <a:pPr fontAlgn="base"/>
            <a:r>
              <a:rPr lang="en-US" sz="3200" b="1" dirty="0" smtClean="0"/>
              <a:t>Advantages of the Evolutionary Process Model</a:t>
            </a:r>
          </a:p>
        </p:txBody>
      </p:sp>
      <p:sp>
        <p:nvSpPr>
          <p:cNvPr id="3" name="Content Placeholder 2"/>
          <p:cNvSpPr>
            <a:spLocks noGrp="1"/>
          </p:cNvSpPr>
          <p:nvPr>
            <p:ph idx="1"/>
          </p:nvPr>
        </p:nvSpPr>
        <p:spPr/>
        <p:txBody>
          <a:bodyPr/>
          <a:lstStyle/>
          <a:p>
            <a:pPr fontAlgn="base"/>
            <a:r>
              <a:rPr lang="en-US" dirty="0" smtClean="0">
                <a:latin typeface="+mj-lt"/>
              </a:rPr>
              <a:t>During the development phase, the customer gives feedback regularly because the customer's requirement gets clearly specified.</a:t>
            </a:r>
          </a:p>
          <a:p>
            <a:pPr fontAlgn="base"/>
            <a:r>
              <a:rPr lang="en-US" dirty="0" smtClean="0">
                <a:latin typeface="+mj-lt"/>
              </a:rPr>
              <a:t>After every iteration risk gets analyzed.</a:t>
            </a:r>
          </a:p>
          <a:p>
            <a:pPr fontAlgn="base"/>
            <a:r>
              <a:rPr lang="en-US" dirty="0" smtClean="0">
                <a:latin typeface="+mj-lt"/>
              </a:rPr>
              <a:t>Suitable for big complex projects.</a:t>
            </a:r>
          </a:p>
          <a:p>
            <a:pPr fontAlgn="base"/>
            <a:r>
              <a:rPr lang="en-US" dirty="0" smtClean="0">
                <a:latin typeface="+mj-lt"/>
              </a:rPr>
              <a:t>The first build gets delivered quickly as it used an iterative and incremental approach.</a:t>
            </a:r>
          </a:p>
          <a:p>
            <a:pPr>
              <a:buNone/>
            </a:pPr>
            <a:endParaRPr lang="en-US" dirty="0">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785794"/>
            <a:ext cx="8229600" cy="1143000"/>
          </a:xfrm>
        </p:spPr>
        <p:txBody>
          <a:bodyPr>
            <a:noAutofit/>
          </a:bodyPr>
          <a:lstStyle/>
          <a:p>
            <a:r>
              <a:rPr lang="en-US" sz="3200" b="1" dirty="0" smtClean="0"/>
              <a:t/>
            </a:r>
            <a:br>
              <a:rPr lang="en-US" sz="3200" b="1" dirty="0" smtClean="0"/>
            </a:br>
            <a:r>
              <a:rPr lang="en-US" sz="3200" b="1" dirty="0" smtClean="0"/>
              <a:t/>
            </a:r>
            <a:br>
              <a:rPr lang="en-US" sz="3200" b="1" dirty="0" smtClean="0"/>
            </a:br>
            <a:r>
              <a:rPr lang="en-US" sz="3200" b="1" dirty="0" smtClean="0"/>
              <a:t/>
            </a:r>
            <a:br>
              <a:rPr lang="en-US" sz="3200" b="1" dirty="0" smtClean="0"/>
            </a:br>
            <a:r>
              <a:rPr lang="en-US" sz="3200" b="1" dirty="0" smtClean="0"/>
              <a:t/>
            </a:r>
            <a:br>
              <a:rPr lang="en-US" sz="3200" b="1" dirty="0" smtClean="0"/>
            </a:br>
            <a:r>
              <a:rPr lang="en-US" sz="3200" b="1" dirty="0" smtClean="0"/>
              <a:t/>
            </a:r>
            <a:br>
              <a:rPr lang="en-US" sz="3200" b="1" dirty="0" smtClean="0"/>
            </a:br>
            <a:r>
              <a:rPr lang="en-US" sz="3200" b="1" dirty="0" smtClean="0"/>
              <a:t>Disadvantages of the Evolutionary Process Model</a:t>
            </a:r>
            <a:br>
              <a:rPr lang="en-US" sz="3200" b="1" dirty="0" smtClean="0"/>
            </a:br>
            <a:endParaRPr lang="en-US" sz="3200" dirty="0"/>
          </a:p>
        </p:txBody>
      </p:sp>
      <p:sp>
        <p:nvSpPr>
          <p:cNvPr id="3" name="Content Placeholder 2"/>
          <p:cNvSpPr>
            <a:spLocks noGrp="1"/>
          </p:cNvSpPr>
          <p:nvPr>
            <p:ph idx="1"/>
          </p:nvPr>
        </p:nvSpPr>
        <p:spPr>
          <a:xfrm>
            <a:off x="357158" y="2468880"/>
            <a:ext cx="8229600" cy="2888946"/>
          </a:xfrm>
        </p:spPr>
        <p:txBody>
          <a:bodyPr>
            <a:normAutofit/>
          </a:bodyPr>
          <a:lstStyle/>
          <a:p>
            <a:pPr fontAlgn="base"/>
            <a:r>
              <a:rPr lang="en-US" sz="2400" dirty="0" smtClean="0">
                <a:latin typeface="+mj-lt"/>
              </a:rPr>
              <a:t>It is not suitable for small projects.</a:t>
            </a:r>
          </a:p>
          <a:p>
            <a:pPr fontAlgn="base"/>
            <a:r>
              <a:rPr lang="en-US" sz="2400" dirty="0" smtClean="0">
                <a:latin typeface="+mj-lt"/>
              </a:rPr>
              <a:t>The complexity of the spiral model can be more than the other sequential models.</a:t>
            </a:r>
          </a:p>
          <a:p>
            <a:pPr fontAlgn="base"/>
            <a:r>
              <a:rPr lang="en-US" sz="2400" dirty="0" smtClean="0">
                <a:latin typeface="+mj-lt"/>
              </a:rPr>
              <a:t>The cost of developing a product through a spiral model is high.</a:t>
            </a:r>
          </a:p>
          <a:p>
            <a:endParaRPr lang="en-US" sz="2400" dirty="0">
              <a:latin typeface="+mj-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t>Concurrent Models </a:t>
            </a:r>
            <a:r>
              <a:rPr lang="en-US" dirty="0" smtClean="0"/>
              <a:t>	</a:t>
            </a:r>
            <a:br>
              <a:rPr lang="en-US" dirty="0" smtClean="0"/>
            </a:br>
            <a:endParaRPr lang="en-US" dirty="0"/>
          </a:p>
        </p:txBody>
      </p:sp>
      <p:sp>
        <p:nvSpPr>
          <p:cNvPr id="3" name="Content Placeholder 2"/>
          <p:cNvSpPr>
            <a:spLocks noGrp="1"/>
          </p:cNvSpPr>
          <p:nvPr>
            <p:ph idx="1"/>
          </p:nvPr>
        </p:nvSpPr>
        <p:spPr/>
        <p:txBody>
          <a:bodyPr/>
          <a:lstStyle/>
          <a:p>
            <a:r>
              <a:rPr lang="en-IN" sz="2400" dirty="0" smtClean="0">
                <a:latin typeface="+mj-lt"/>
              </a:rPr>
              <a:t>The Communication activity has completed in the first iteration and exits in the awaiting changes state.</a:t>
            </a:r>
          </a:p>
          <a:p>
            <a:r>
              <a:rPr lang="en-IN" sz="2400" dirty="0" smtClean="0">
                <a:latin typeface="+mj-lt"/>
              </a:rPr>
              <a:t>The </a:t>
            </a:r>
            <a:r>
              <a:rPr lang="en-IN" sz="2400" dirty="0" err="1" smtClean="0">
                <a:latin typeface="+mj-lt"/>
              </a:rPr>
              <a:t>modeling</a:t>
            </a:r>
            <a:r>
              <a:rPr lang="en-IN" sz="2400" dirty="0" smtClean="0">
                <a:latin typeface="+mj-lt"/>
              </a:rPr>
              <a:t> activity completed its initial communication and then go to the under development state.</a:t>
            </a:r>
          </a:p>
          <a:p>
            <a:r>
              <a:rPr lang="en-IN" sz="2400" dirty="0" smtClean="0">
                <a:latin typeface="+mj-lt"/>
              </a:rPr>
              <a:t>If the customer specifies the change in the requirement, then the </a:t>
            </a:r>
            <a:r>
              <a:rPr lang="en-IN" sz="2400" dirty="0" err="1" smtClean="0">
                <a:latin typeface="+mj-lt"/>
              </a:rPr>
              <a:t>modeling</a:t>
            </a:r>
            <a:r>
              <a:rPr lang="en-IN" sz="2400" dirty="0" smtClean="0">
                <a:latin typeface="+mj-lt"/>
              </a:rPr>
              <a:t> activity moves from the under development state  into the awaiting  change state.</a:t>
            </a:r>
          </a:p>
          <a:p>
            <a:r>
              <a:rPr lang="en-IN" sz="2400" dirty="0" smtClean="0">
                <a:latin typeface="+mj-lt"/>
              </a:rPr>
              <a:t>The concurrent process model activities moving from one state to another state.</a:t>
            </a:r>
          </a:p>
          <a:p>
            <a:endParaRPr lang="en-IN" dirty="0" smtClean="0">
              <a:latin typeface="+mj-lt"/>
            </a:endParaRPr>
          </a:p>
          <a:p>
            <a:pPr>
              <a:buNone/>
            </a:pPr>
            <a:endParaRPr lang="en-US" dirty="0">
              <a:latin typeface="+mj-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642918"/>
            <a:ext cx="4714908" cy="632666"/>
          </a:xfrm>
        </p:spPr>
        <p:txBody>
          <a:bodyPr>
            <a:normAutofit/>
          </a:bodyPr>
          <a:lstStyle/>
          <a:p>
            <a:r>
              <a:rPr lang="en-US" sz="3200" b="1" dirty="0" smtClean="0"/>
              <a:t>Concurrent Models</a:t>
            </a:r>
            <a:endParaRPr lang="en-US" sz="3200" b="1" dirty="0"/>
          </a:p>
        </p:txBody>
      </p:sp>
      <p:pic>
        <p:nvPicPr>
          <p:cNvPr id="4" name="Content Placeholder 3" descr="2.png"/>
          <p:cNvPicPr>
            <a:picLocks noGrp="1" noChangeAspect="1"/>
          </p:cNvPicPr>
          <p:nvPr>
            <p:ph idx="1"/>
          </p:nvPr>
        </p:nvPicPr>
        <p:blipFill>
          <a:blip r:embed="rId2"/>
          <a:stretch>
            <a:fillRect/>
          </a:stretch>
        </p:blipFill>
        <p:spPr>
          <a:xfrm>
            <a:off x="642910" y="1643050"/>
            <a:ext cx="7858211" cy="5000660"/>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714356"/>
            <a:ext cx="8229600" cy="632666"/>
          </a:xfrm>
        </p:spPr>
        <p:txBody>
          <a:bodyPr>
            <a:normAutofit/>
          </a:bodyPr>
          <a:lstStyle/>
          <a:p>
            <a:r>
              <a:rPr lang="en-US" sz="3200" b="1" dirty="0" smtClean="0"/>
              <a:t>Advantages of Concurrent Models 	</a:t>
            </a:r>
            <a:endParaRPr lang="en-US" sz="3200" b="1"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IN" sz="2400" dirty="0" smtClean="0">
                <a:latin typeface="+mj-lt"/>
              </a:rPr>
              <a:t>This model is applicable to all types of  software development process.</a:t>
            </a:r>
          </a:p>
          <a:p>
            <a:pPr marL="514350" indent="-514350">
              <a:buFont typeface="+mj-lt"/>
              <a:buAutoNum type="arabicPeriod"/>
            </a:pPr>
            <a:r>
              <a:rPr lang="en-IN" sz="2400" dirty="0" smtClean="0">
                <a:latin typeface="+mj-lt"/>
              </a:rPr>
              <a:t>It is easy for understanding and use.</a:t>
            </a:r>
          </a:p>
          <a:p>
            <a:pPr marL="514350" indent="-514350">
              <a:buFont typeface="+mj-lt"/>
              <a:buAutoNum type="arabicPeriod"/>
            </a:pPr>
            <a:r>
              <a:rPr lang="en-IN" sz="2400" dirty="0" smtClean="0">
                <a:latin typeface="+mj-lt"/>
              </a:rPr>
              <a:t>It gives immediate feedback from testing.</a:t>
            </a:r>
          </a:p>
          <a:p>
            <a:pPr marL="514350" indent="-514350">
              <a:buFont typeface="+mj-lt"/>
              <a:buAutoNum type="arabicPeriod"/>
            </a:pPr>
            <a:r>
              <a:rPr lang="en-IN" sz="2400" dirty="0" smtClean="0">
                <a:latin typeface="+mj-lt"/>
              </a:rPr>
              <a:t>It provides an accurate picture of the current state of a project.</a:t>
            </a:r>
            <a:endParaRPr lang="en-US" sz="2400" dirty="0">
              <a:latin typeface="+mj-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785794"/>
            <a:ext cx="6643734" cy="654032"/>
          </a:xfrm>
        </p:spPr>
        <p:txBody>
          <a:bodyPr>
            <a:noAutofit/>
          </a:bodyPr>
          <a:lstStyle/>
          <a:p>
            <a:r>
              <a:rPr lang="en-IN" sz="3200" b="1" dirty="0" smtClean="0"/>
              <a:t/>
            </a:r>
            <a:br>
              <a:rPr lang="en-IN" sz="3200" b="1" dirty="0" smtClean="0"/>
            </a:br>
            <a:r>
              <a:rPr lang="en-IN" sz="3200" b="1" dirty="0" smtClean="0"/>
              <a:t>Disadvantages of </a:t>
            </a:r>
            <a:r>
              <a:rPr lang="en-US" sz="3200" b="1" dirty="0" smtClean="0"/>
              <a:t>Concurrent Models 	</a:t>
            </a:r>
            <a:endParaRPr lang="en-US" sz="3200" b="1"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IN" sz="2400" dirty="0" smtClean="0">
                <a:latin typeface="+mj-lt"/>
              </a:rPr>
              <a:t>It needs better communication between the team members. This may not be achieved all the time.</a:t>
            </a:r>
          </a:p>
          <a:p>
            <a:pPr marL="514350" indent="-514350">
              <a:buFont typeface="+mj-lt"/>
              <a:buAutoNum type="arabicPeriod"/>
            </a:pPr>
            <a:r>
              <a:rPr lang="en-IN" sz="2400" dirty="0" smtClean="0">
                <a:latin typeface="+mj-lt"/>
              </a:rPr>
              <a:t>It requires to remember  the status of the different activities.</a:t>
            </a:r>
            <a:endParaRPr lang="en-US" sz="2400" dirty="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t/>
            </a:r>
            <a:br>
              <a:rPr lang="en-US" sz="3200" b="1" dirty="0" smtClean="0"/>
            </a:br>
            <a:r>
              <a:rPr lang="en-US" sz="3200" b="1" dirty="0" smtClean="0"/>
              <a:t>The Unified Process 	</a:t>
            </a:r>
            <a:br>
              <a:rPr lang="en-US" sz="3200" b="1" dirty="0" smtClean="0"/>
            </a:br>
            <a:endParaRPr lang="en-US" sz="3200" b="1" dirty="0"/>
          </a:p>
        </p:txBody>
      </p:sp>
      <p:sp>
        <p:nvSpPr>
          <p:cNvPr id="3" name="Content Placeholder 2"/>
          <p:cNvSpPr>
            <a:spLocks noGrp="1"/>
          </p:cNvSpPr>
          <p:nvPr>
            <p:ph idx="1"/>
          </p:nvPr>
        </p:nvSpPr>
        <p:spPr/>
        <p:txBody>
          <a:bodyPr>
            <a:normAutofit/>
          </a:bodyPr>
          <a:lstStyle/>
          <a:p>
            <a:r>
              <a:rPr lang="en-US" sz="2400" dirty="0" smtClean="0">
                <a:latin typeface="+mj-lt"/>
              </a:rPr>
              <a:t>The Unified Process (UP) in Object-Oriented Analysis and Design (OOAD) is a software development methodology that emphasizes iterative development, collaboration, and flexibility. </a:t>
            </a:r>
          </a:p>
          <a:p>
            <a:r>
              <a:rPr lang="en-US" sz="2400" dirty="0" smtClean="0">
                <a:latin typeface="+mj-lt"/>
              </a:rPr>
              <a:t>It is based on the Unified Modeling Language (UML) and is characterized by its use of use cases to drive development, its focus on architecture-centric development, and its emphasis on risk management and incremental delivery. </a:t>
            </a:r>
            <a:endParaRPr lang="en-US" sz="2400" dirty="0">
              <a:latin typeface="+mj-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642918"/>
            <a:ext cx="4043362" cy="704104"/>
          </a:xfrm>
        </p:spPr>
        <p:txBody>
          <a:bodyPr>
            <a:normAutofit fontScale="90000"/>
          </a:bodyPr>
          <a:lstStyle/>
          <a:p>
            <a:r>
              <a:rPr lang="en-US" sz="3600" b="1" dirty="0" smtClean="0"/>
              <a:t>The Unified Process </a:t>
            </a:r>
            <a:r>
              <a:rPr lang="en-US" dirty="0" smtClean="0"/>
              <a:t>	</a:t>
            </a:r>
            <a:endParaRPr lang="en-US" dirty="0"/>
          </a:p>
        </p:txBody>
      </p:sp>
      <p:pic>
        <p:nvPicPr>
          <p:cNvPr id="4" name="Content Placeholder 3" descr="4.png"/>
          <p:cNvPicPr>
            <a:picLocks noGrp="1" noChangeAspect="1"/>
          </p:cNvPicPr>
          <p:nvPr>
            <p:ph idx="1"/>
          </p:nvPr>
        </p:nvPicPr>
        <p:blipFill>
          <a:blip r:embed="rId2"/>
          <a:stretch>
            <a:fillRect/>
          </a:stretch>
        </p:blipFill>
        <p:spPr>
          <a:xfrm>
            <a:off x="500034" y="1571612"/>
            <a:ext cx="8286807" cy="5000659"/>
          </a:xfr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928670"/>
            <a:ext cx="8229600" cy="582594"/>
          </a:xfrm>
        </p:spPr>
        <p:txBody>
          <a:bodyPr>
            <a:normAutofit fontScale="90000"/>
          </a:bodyPr>
          <a:lstStyle/>
          <a:p>
            <a:r>
              <a:rPr lang="en-US" b="1" dirty="0" smtClean="0"/>
              <a:t/>
            </a:r>
            <a:br>
              <a:rPr lang="en-US" b="1" dirty="0" smtClean="0"/>
            </a:br>
            <a:r>
              <a:rPr lang="en-US" sz="3600" b="1" dirty="0" smtClean="0"/>
              <a:t>Phases of Unified Process</a:t>
            </a:r>
            <a:r>
              <a:rPr lang="en-US" b="1" dirty="0" smtClean="0"/>
              <a:t/>
            </a:r>
            <a:br>
              <a:rPr lang="en-US" b="1" dirty="0" smtClean="0"/>
            </a:br>
            <a:endParaRPr lang="en-US" dirty="0"/>
          </a:p>
        </p:txBody>
      </p:sp>
      <p:sp>
        <p:nvSpPr>
          <p:cNvPr id="3" name="Content Placeholder 2"/>
          <p:cNvSpPr>
            <a:spLocks noGrp="1"/>
          </p:cNvSpPr>
          <p:nvPr>
            <p:ph idx="1"/>
          </p:nvPr>
        </p:nvSpPr>
        <p:spPr>
          <a:xfrm>
            <a:off x="285720" y="1142984"/>
            <a:ext cx="8229600" cy="3929090"/>
          </a:xfrm>
        </p:spPr>
        <p:txBody>
          <a:bodyPr>
            <a:noAutofit/>
          </a:bodyPr>
          <a:lstStyle/>
          <a:p>
            <a:pPr fontAlgn="base">
              <a:buNone/>
            </a:pPr>
            <a:r>
              <a:rPr lang="en-US" sz="2100" b="1" dirty="0" smtClean="0">
                <a:latin typeface="+mj-lt"/>
              </a:rPr>
              <a:t>1. Inception</a:t>
            </a:r>
          </a:p>
          <a:p>
            <a:pPr fontAlgn="base"/>
            <a:r>
              <a:rPr lang="en-US" sz="2100" dirty="0" smtClean="0">
                <a:latin typeface="+mj-lt"/>
              </a:rPr>
              <a:t>This is the initial phase where the project's scope, objectives, and feasibility are determined. </a:t>
            </a:r>
          </a:p>
          <a:p>
            <a:pPr fontAlgn="base"/>
            <a:r>
              <a:rPr lang="en-US" sz="2100" dirty="0" smtClean="0">
                <a:latin typeface="+mj-lt"/>
              </a:rPr>
              <a:t>Key activities in this phase include identifying stakeholders, defining the initial requirements, outlining the project plan, and assessing risks. </a:t>
            </a:r>
          </a:p>
          <a:p>
            <a:pPr fontAlgn="base"/>
            <a:r>
              <a:rPr lang="en-US" sz="2100" dirty="0" smtClean="0">
                <a:latin typeface="+mj-lt"/>
              </a:rPr>
              <a:t>The goal of this phase is to establish a solid foundation for the project and ensure that it is worth pursuing.</a:t>
            </a:r>
          </a:p>
          <a:p>
            <a:pPr fontAlgn="base">
              <a:buNone/>
            </a:pPr>
            <a:endParaRPr lang="en-US" sz="2100" dirty="0" smtClean="0">
              <a:latin typeface="+mj-lt"/>
            </a:endParaRPr>
          </a:p>
          <a:p>
            <a:pPr fontAlgn="base">
              <a:buNone/>
            </a:pPr>
            <a:r>
              <a:rPr lang="en-US" sz="2100" b="1" dirty="0" smtClean="0">
                <a:latin typeface="+mj-lt"/>
              </a:rPr>
              <a:t>2. Elaboration</a:t>
            </a:r>
          </a:p>
          <a:p>
            <a:pPr fontAlgn="base"/>
            <a:r>
              <a:rPr lang="en-US" sz="2100" dirty="0" smtClean="0">
                <a:latin typeface="+mj-lt"/>
              </a:rPr>
              <a:t>In this phase, the project requirements are analyzed in more detail, and the architecture of the system is defined.</a:t>
            </a:r>
          </a:p>
          <a:p>
            <a:pPr fontAlgn="base"/>
            <a:r>
              <a:rPr lang="en-US" sz="2100" dirty="0" smtClean="0">
                <a:latin typeface="+mj-lt"/>
              </a:rPr>
              <a:t> Key activities include developing use cases, creating the architectural baseline, identifying key components, and refining the project plan. </a:t>
            </a:r>
          </a:p>
          <a:p>
            <a:pPr fontAlgn="base"/>
            <a:r>
              <a:rPr lang="en-US" sz="2100" dirty="0" smtClean="0">
                <a:latin typeface="+mj-lt"/>
              </a:rPr>
              <a:t>The goal of this phase is to mitigate major risks and establish a solid architectural foundation for the project.</a:t>
            </a:r>
          </a:p>
          <a:p>
            <a:endParaRPr lang="en-US" sz="2100" dirty="0">
              <a:latin typeface="+mj-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928670"/>
          </a:xfrm>
        </p:spPr>
        <p:txBody>
          <a:bodyPr>
            <a:normAutofit/>
          </a:bodyPr>
          <a:lstStyle/>
          <a:p>
            <a:r>
              <a:rPr lang="en-US" sz="3200" b="1" dirty="0" smtClean="0"/>
              <a:t>Phases of Unified Process</a:t>
            </a:r>
            <a:endParaRPr lang="en-US" sz="3200" dirty="0"/>
          </a:p>
        </p:txBody>
      </p:sp>
      <p:sp>
        <p:nvSpPr>
          <p:cNvPr id="3" name="Content Placeholder 2"/>
          <p:cNvSpPr>
            <a:spLocks noGrp="1"/>
          </p:cNvSpPr>
          <p:nvPr>
            <p:ph idx="1"/>
          </p:nvPr>
        </p:nvSpPr>
        <p:spPr>
          <a:xfrm>
            <a:off x="428596" y="857232"/>
            <a:ext cx="8229600" cy="5643602"/>
          </a:xfrm>
        </p:spPr>
        <p:txBody>
          <a:bodyPr>
            <a:normAutofit/>
          </a:bodyPr>
          <a:lstStyle/>
          <a:p>
            <a:pPr fontAlgn="base">
              <a:buNone/>
            </a:pPr>
            <a:r>
              <a:rPr lang="en-US" sz="2000" b="1" dirty="0" smtClean="0">
                <a:latin typeface="+mj-lt"/>
              </a:rPr>
              <a:t>3.Construction</a:t>
            </a:r>
          </a:p>
          <a:p>
            <a:pPr fontAlgn="base"/>
            <a:r>
              <a:rPr lang="en-US" sz="2000" dirty="0" smtClean="0">
                <a:latin typeface="+mj-lt"/>
              </a:rPr>
              <a:t>This is the phase where the actual implementation of the system takes place. </a:t>
            </a:r>
          </a:p>
          <a:p>
            <a:pPr fontAlgn="base"/>
            <a:r>
              <a:rPr lang="en-US" sz="2000" dirty="0" smtClean="0">
                <a:latin typeface="+mj-lt"/>
              </a:rPr>
              <a:t>Key activities include developing, testing, and integrating the system components, as well as continuously verifying that the system meets the requirements. </a:t>
            </a:r>
          </a:p>
          <a:p>
            <a:pPr fontAlgn="base"/>
            <a:r>
              <a:rPr lang="en-US" sz="2000" dirty="0" smtClean="0">
                <a:latin typeface="+mj-lt"/>
              </a:rPr>
              <a:t>The goal of this phase is to build a complete, high-quality software product that is ready for deployment.</a:t>
            </a:r>
          </a:p>
          <a:p>
            <a:pPr fontAlgn="base">
              <a:buNone/>
            </a:pPr>
            <a:endParaRPr lang="en-US" sz="2000" dirty="0" smtClean="0">
              <a:latin typeface="+mj-lt"/>
            </a:endParaRPr>
          </a:p>
          <a:p>
            <a:pPr fontAlgn="base">
              <a:buNone/>
            </a:pPr>
            <a:r>
              <a:rPr lang="en-US" sz="2000" b="1" dirty="0" smtClean="0">
                <a:latin typeface="+mj-lt"/>
              </a:rPr>
              <a:t>4. Transition</a:t>
            </a:r>
          </a:p>
          <a:p>
            <a:pPr fontAlgn="base"/>
            <a:r>
              <a:rPr lang="en-US" sz="2000" dirty="0" smtClean="0">
                <a:latin typeface="+mj-lt"/>
              </a:rPr>
              <a:t>In this final phase, the software is deployed to end users.</a:t>
            </a:r>
          </a:p>
          <a:p>
            <a:pPr fontAlgn="base"/>
            <a:r>
              <a:rPr lang="en-US" sz="2000" dirty="0" smtClean="0">
                <a:latin typeface="+mj-lt"/>
              </a:rPr>
              <a:t> Key activities include user training, final system testing, and transitioning the system to the operations and maintenance team. </a:t>
            </a:r>
          </a:p>
          <a:p>
            <a:pPr fontAlgn="base"/>
            <a:r>
              <a:rPr lang="en-US" sz="2000" dirty="0" smtClean="0">
                <a:latin typeface="+mj-lt"/>
              </a:rPr>
              <a:t>The goal of this phase is to ensure a smooth transition from development to production and to address any issues that arise during deployment.</a:t>
            </a:r>
          </a:p>
          <a:p>
            <a:endParaRPr lang="en-US" sz="2000" dirty="0">
              <a:latin typeface="+mj-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642918"/>
            <a:ext cx="4043362" cy="632666"/>
          </a:xfrm>
        </p:spPr>
        <p:txBody>
          <a:bodyPr/>
          <a:lstStyle/>
          <a:p>
            <a:r>
              <a:rPr lang="en-IN" sz="3200" b="1" dirty="0" smtClean="0"/>
              <a:t>Reverse Engineering</a:t>
            </a:r>
            <a:endParaRPr lang="en-US" sz="3200" b="1" dirty="0"/>
          </a:p>
        </p:txBody>
      </p:sp>
      <p:sp>
        <p:nvSpPr>
          <p:cNvPr id="3" name="Content Placeholder 2"/>
          <p:cNvSpPr>
            <a:spLocks noGrp="1"/>
          </p:cNvSpPr>
          <p:nvPr>
            <p:ph idx="1"/>
          </p:nvPr>
        </p:nvSpPr>
        <p:spPr>
          <a:xfrm>
            <a:off x="142844" y="1643050"/>
            <a:ext cx="8543956" cy="4681550"/>
          </a:xfrm>
        </p:spPr>
        <p:txBody>
          <a:bodyPr>
            <a:noAutofit/>
          </a:bodyPr>
          <a:lstStyle/>
          <a:p>
            <a:pPr algn="just"/>
            <a:r>
              <a:rPr lang="en-US" sz="2000" dirty="0" smtClean="0">
                <a:latin typeface="+mj-lt"/>
              </a:rPr>
              <a:t> Reverse engineering can extract design information from source code, but the abstraction level, the completeness of the documentation, the degree to which tools and a human analyst work together, and the directionality of the process are highly variable.</a:t>
            </a:r>
          </a:p>
          <a:p>
            <a:pPr algn="just"/>
            <a:r>
              <a:rPr lang="en-US" sz="2000" dirty="0" smtClean="0">
                <a:latin typeface="+mj-lt"/>
              </a:rPr>
              <a:t>Reverse engineering can help cut costs in product development by finding replacements or cost-effective alternatives for systems or components.</a:t>
            </a:r>
          </a:p>
          <a:p>
            <a:pPr algn="just"/>
            <a:r>
              <a:rPr lang="en-US" sz="2000" dirty="0" smtClean="0">
                <a:latin typeface="+mj-lt"/>
              </a:rPr>
              <a:t>Reverse engineering is used in </a:t>
            </a:r>
            <a:r>
              <a:rPr lang="en-US" sz="2000" dirty="0" err="1" smtClean="0">
                <a:latin typeface="+mj-lt"/>
              </a:rPr>
              <a:t>cybersecurity</a:t>
            </a:r>
            <a:r>
              <a:rPr lang="en-US" sz="2000" dirty="0" smtClean="0">
                <a:latin typeface="+mj-lt"/>
              </a:rPr>
              <a:t> to examine exploits, vulnerabilities, and malware. This helps in understanding of threat mechanisms and the development of practical defenses by security experts.</a:t>
            </a:r>
          </a:p>
          <a:p>
            <a:pPr algn="just"/>
            <a:r>
              <a:rPr lang="en-US" sz="2000" dirty="0" smtClean="0">
                <a:latin typeface="+mj-lt"/>
              </a:rPr>
              <a:t>Through the process of reverse engineering, developers can incorporate or modify hardware or software components into pre-existing systems to improve their operation or tailor them to meet particular needs.</a:t>
            </a:r>
            <a:endParaRPr lang="en-US" sz="2000" dirty="0">
              <a:latin typeface="+mj-lt"/>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543</TotalTime>
  <Words>1239</Words>
  <Application>Microsoft Office PowerPoint</Application>
  <PresentationFormat>On-screen Show (4:3)</PresentationFormat>
  <Paragraphs>174</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Flow</vt:lpstr>
      <vt:lpstr>Software Engineering</vt:lpstr>
      <vt:lpstr>Generic Process Model   </vt:lpstr>
      <vt:lpstr>Generic Process Model</vt:lpstr>
      <vt:lpstr>Generic Process Model</vt:lpstr>
      <vt:lpstr>Generic Process Model</vt:lpstr>
      <vt:lpstr>Prescriptive Process Models</vt:lpstr>
      <vt:lpstr>The Waterfall Model</vt:lpstr>
      <vt:lpstr>The Waterfall Model</vt:lpstr>
      <vt:lpstr>The Waterfall Model</vt:lpstr>
      <vt:lpstr>The Waterfall Model</vt:lpstr>
      <vt:lpstr>Waterfall Model - Advantages</vt:lpstr>
      <vt:lpstr>Waterfall Model - Disadvantages</vt:lpstr>
      <vt:lpstr>Incremental Process Models</vt:lpstr>
      <vt:lpstr>Incremental Process Models</vt:lpstr>
      <vt:lpstr>Incremental Process Models</vt:lpstr>
      <vt:lpstr>Incremental Process Models</vt:lpstr>
      <vt:lpstr>Incremental Process Models</vt:lpstr>
      <vt:lpstr>Incremental Process Models Advantages</vt:lpstr>
      <vt:lpstr>Incremental Process Models Disadvantages</vt:lpstr>
      <vt:lpstr>Incremental Process Models Disadvantages</vt:lpstr>
      <vt:lpstr>      Evolutionary Process Models   </vt:lpstr>
      <vt:lpstr>Evolutionary Process Models</vt:lpstr>
      <vt:lpstr>Advantages of the Evolutionary Process Model</vt:lpstr>
      <vt:lpstr>     Disadvantages of the Evolutionary Process Model </vt:lpstr>
      <vt:lpstr>Concurrent Models   </vt:lpstr>
      <vt:lpstr>Concurrent Models</vt:lpstr>
      <vt:lpstr>Advantages of Concurrent Models  </vt:lpstr>
      <vt:lpstr> Disadvantages of Concurrent Models  </vt:lpstr>
      <vt:lpstr> The Unified Process   </vt:lpstr>
      <vt:lpstr>The Unified Process  </vt:lpstr>
      <vt:lpstr> Phases of Unified Process </vt:lpstr>
      <vt:lpstr>Phases of Unified Process</vt:lpstr>
      <vt:lpstr>Reverse Engineering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Windows User</dc:creator>
  <cp:lastModifiedBy>Windows User</cp:lastModifiedBy>
  <cp:revision>124</cp:revision>
  <dcterms:created xsi:type="dcterms:W3CDTF">2025-11-10T06:59:05Z</dcterms:created>
  <dcterms:modified xsi:type="dcterms:W3CDTF">2025-11-18T11:02:27Z</dcterms:modified>
</cp:coreProperties>
</file>