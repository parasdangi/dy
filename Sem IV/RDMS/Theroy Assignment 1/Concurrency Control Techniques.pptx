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3" r:id="rId8"/>
    <p:sldId id="264"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8AFD2FA9-2F19-42D9-8E54-5C78D9081F32}" type="datetimeFigureOut">
              <a:rPr lang="en-US" smtClean="0"/>
              <a:t>2/22/2026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D5A6933D-E2DE-4E6F-BF36-0930253D2B6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AFD2FA9-2F19-42D9-8E54-5C78D9081F3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AFD2FA9-2F19-42D9-8E54-5C78D9081F3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A6933D-E2DE-4E6F-BF36-0930253D2B6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AFD2FA9-2F19-42D9-8E54-5C78D9081F3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AFD2FA9-2F19-42D9-8E54-5C78D9081F32}"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AFD2FA9-2F19-42D9-8E54-5C78D9081F32}"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FD2FA9-2F19-42D9-8E54-5C78D9081F32}"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AFD2FA9-2F19-42D9-8E54-5C78D9081F3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AFD2FA9-2F19-42D9-8E54-5C78D9081F32}"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D5A6933D-E2DE-4E6F-BF36-0930253D2B6C}"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AFD2FA9-2F19-42D9-8E54-5C78D9081F3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AFD2FA9-2F19-42D9-8E54-5C78D9081F32}"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A6933D-E2DE-4E6F-BF36-0930253D2B6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AFD2FA9-2F19-42D9-8E54-5C78D9081F32}" type="datetimeFigureOut">
              <a:rPr lang="en-US" smtClean="0"/>
              <a:t>2/22/2026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5A6933D-E2DE-4E6F-BF36-0930253D2B6C}"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438400"/>
            <a:ext cx="7851648" cy="1828800"/>
          </a:xfrm>
        </p:spPr>
        <p:txBody>
          <a:bodyPr/>
          <a:lstStyle/>
          <a:p>
            <a:pPr algn="ctr"/>
            <a:r>
              <a:rPr lang="en-US" dirty="0" smtClean="0"/>
              <a:t>Concurrency Control Techniques </a:t>
            </a:r>
            <a:endParaRPr lang="en-US" dirty="0"/>
          </a:p>
        </p:txBody>
      </p:sp>
    </p:spTree>
    <p:extLst>
      <p:ext uri="{BB962C8B-B14F-4D97-AF65-F5344CB8AC3E}">
        <p14:creationId xmlns:p14="http://schemas.microsoft.com/office/powerpoint/2010/main" val="3235504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a:latin typeface="Times New Roman" pitchFamily="18" charset="0"/>
                <a:cs typeface="Times New Roman" pitchFamily="18" charset="0"/>
              </a:rPr>
              <a:t>Lock Based Protocols</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76400"/>
            <a:ext cx="8096250" cy="409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8040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057400"/>
            <a:ext cx="6824008"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txBox="1">
            <a:spLocks/>
          </p:cNvSpPr>
          <p:nvPr/>
        </p:nvSpPr>
        <p:spPr>
          <a:xfrm>
            <a:off x="457200" y="762000"/>
            <a:ext cx="8229600" cy="551688"/>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smtClean="0">
                <a:latin typeface="Times New Roman" pitchFamily="18" charset="0"/>
                <a:cs typeface="Times New Roman" pitchFamily="18" charset="0"/>
              </a:rPr>
              <a:t>Lock Based Protocols</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3436642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057400"/>
            <a:ext cx="6634716"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txBox="1">
            <a:spLocks/>
          </p:cNvSpPr>
          <p:nvPr/>
        </p:nvSpPr>
        <p:spPr>
          <a:xfrm>
            <a:off x="457200" y="762000"/>
            <a:ext cx="8229600" cy="551688"/>
          </a:xfrm>
          <a:prstGeom prst="rect">
            <a:avLst/>
          </a:prstGeom>
        </p:spPr>
        <p:txBody>
          <a:bodyPr vert="horz" lIns="0" rIns="0" bIns="0" anchor="b">
            <a:norm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smtClean="0">
                <a:latin typeface="Times New Roman" pitchFamily="18" charset="0"/>
                <a:cs typeface="Times New Roman" pitchFamily="18" charset="0"/>
              </a:rPr>
              <a:t>Lock Based Protocols</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4093121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551688"/>
          </a:xfrm>
        </p:spPr>
        <p:txBody>
          <a:bodyPr>
            <a:normAutofit/>
          </a:bodyPr>
          <a:lstStyle/>
          <a:p>
            <a:r>
              <a:rPr lang="en-US" sz="3200" b="1" dirty="0">
                <a:latin typeface="Times New Roman" pitchFamily="18" charset="0"/>
                <a:cs typeface="Times New Roman" pitchFamily="18" charset="0"/>
              </a:rPr>
              <a:t>Different locks </a:t>
            </a:r>
            <a:r>
              <a:rPr lang="en-US" sz="3200" b="1" dirty="0" smtClean="0">
                <a:latin typeface="Times New Roman" pitchFamily="18" charset="0"/>
                <a:cs typeface="Times New Roman" pitchFamily="18" charset="0"/>
              </a:rPr>
              <a:t>modes:</a:t>
            </a:r>
            <a:endParaRPr lang="en-US" sz="3200" b="1" dirty="0">
              <a:latin typeface="Times New Roman" pitchFamily="18" charset="0"/>
              <a:cs typeface="Times New Roman" pitchFamily="18" charset="0"/>
            </a:endParaRP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7315200" cy="1548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237781"/>
            <a:ext cx="3448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483" y="3657600"/>
            <a:ext cx="7286445"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305" y="5105400"/>
            <a:ext cx="716280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922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762000"/>
            <a:ext cx="8229600" cy="551688"/>
          </a:xfrm>
        </p:spPr>
        <p:txBody>
          <a:bodyPr>
            <a:normAutofit/>
          </a:bodyPr>
          <a:lstStyle/>
          <a:p>
            <a:r>
              <a:rPr lang="en-US" sz="3200" b="1" dirty="0" smtClean="0">
                <a:latin typeface="Times New Roman" pitchFamily="18" charset="0"/>
                <a:cs typeface="Times New Roman" pitchFamily="18" charset="0"/>
              </a:rPr>
              <a:t>Two Phase Locking Protocol</a:t>
            </a:r>
            <a:endParaRPr lang="en-US" sz="3200" b="1" dirty="0">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1676400"/>
            <a:ext cx="601980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1" y="856891"/>
            <a:ext cx="2159895" cy="573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6334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809" y="457200"/>
            <a:ext cx="8229600" cy="704088"/>
          </a:xfrm>
        </p:spPr>
        <p:txBody>
          <a:bodyPr>
            <a:normAutofit/>
          </a:bodyPr>
          <a:lstStyle/>
          <a:p>
            <a:r>
              <a:rPr lang="en-US" sz="3200" b="1" dirty="0">
                <a:latin typeface="Times New Roman" panose="02020603050405020304" pitchFamily="18" charset="0"/>
                <a:cs typeface="Times New Roman" panose="02020603050405020304" pitchFamily="18" charset="0"/>
              </a:rPr>
              <a:t>Multiple Granularity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8809" y="1161288"/>
            <a:ext cx="8229600" cy="5544312"/>
          </a:xfrm>
        </p:spPr>
        <p:txBody>
          <a:bodyPr>
            <a:normAutofit fontScale="62500" lnSpcReduction="20000"/>
          </a:bodyPr>
          <a:lstStyle/>
          <a:p>
            <a:r>
              <a:rPr lang="en-US" sz="3200" dirty="0">
                <a:latin typeface="Times New Roman" panose="02020603050405020304" pitchFamily="18" charset="0"/>
                <a:cs typeface="Times New Roman" panose="02020603050405020304" pitchFamily="18" charset="0"/>
              </a:rPr>
              <a:t>Multiple granularity locking is a locking mechanism that provides different levels of locks for different database objects. It allows for different locks at different levels of granularity. This mechanism allows multiple transactions to lock different levels of granularity, ensuring that conflicts are minimized, and concurrency is maximized.</a:t>
            </a:r>
          </a:p>
          <a:p>
            <a:r>
              <a:rPr lang="en-US" sz="3200" dirty="0">
                <a:latin typeface="Times New Roman" panose="02020603050405020304" pitchFamily="18" charset="0"/>
                <a:cs typeface="Times New Roman" panose="02020603050405020304" pitchFamily="18" charset="0"/>
              </a:rPr>
              <a:t>To illustrate, let's consider a tree structure that has four levels of nodes. The top level represents the entire database, and below it are nodes of type "area", which represent specific areas of the database. Each area has child nodes called "files", and each file represents a specific subset of data within that area. Importantly, no file can span more than one area.</a:t>
            </a:r>
          </a:p>
          <a:p>
            <a:r>
              <a:rPr lang="en-US" sz="3200" dirty="0">
                <a:latin typeface="Times New Roman" panose="02020603050405020304" pitchFamily="18" charset="0"/>
                <a:cs typeface="Times New Roman" panose="02020603050405020304" pitchFamily="18" charset="0"/>
              </a:rPr>
              <a:t>Finally, each file has child nodes called "records", which represent individual units of data within the file. Like files, each record is a child node of its corresponding file and cannot be present in more than one file. </a:t>
            </a:r>
          </a:p>
          <a:p>
            <a:pPr marL="0" indent="0">
              <a:buNone/>
            </a:pPr>
            <a:r>
              <a:rPr lang="en-IN" sz="3100" dirty="0" smtClean="0">
                <a:latin typeface="Times New Roman" panose="02020603050405020304" pitchFamily="18" charset="0"/>
                <a:cs typeface="Times New Roman" panose="02020603050405020304" pitchFamily="18" charset="0"/>
              </a:rPr>
              <a:t>		</a:t>
            </a:r>
          </a:p>
          <a:p>
            <a:pPr marL="0" indent="0">
              <a:buNone/>
            </a:pPr>
            <a:r>
              <a:rPr lang="en-IN" sz="3100" dirty="0">
                <a:latin typeface="Times New Roman" panose="02020603050405020304" pitchFamily="18" charset="0"/>
                <a:cs typeface="Times New Roman" panose="02020603050405020304" pitchFamily="18" charset="0"/>
              </a:rPr>
              <a:t>	</a:t>
            </a:r>
            <a:r>
              <a:rPr lang="en-IN" sz="3100" dirty="0" smtClean="0">
                <a:latin typeface="Times New Roman" panose="02020603050405020304" pitchFamily="18" charset="0"/>
                <a:cs typeface="Times New Roman" panose="02020603050405020304" pitchFamily="18" charset="0"/>
              </a:rPr>
              <a:t>	Database</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smtClean="0">
                <a:latin typeface="Times New Roman" panose="02020603050405020304" pitchFamily="18" charset="0"/>
                <a:cs typeface="Times New Roman" panose="02020603050405020304" pitchFamily="18" charset="0"/>
              </a:rPr>
              <a:t>		Area</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smtClean="0">
                <a:latin typeface="Times New Roman" panose="02020603050405020304" pitchFamily="18" charset="0"/>
                <a:cs typeface="Times New Roman" panose="02020603050405020304" pitchFamily="18" charset="0"/>
              </a:rPr>
              <a:t>		File</a:t>
            </a:r>
            <a:endParaRPr lang="en-IN" sz="3100" dirty="0">
              <a:latin typeface="Times New Roman" panose="02020603050405020304" pitchFamily="18" charset="0"/>
              <a:cs typeface="Times New Roman" panose="02020603050405020304" pitchFamily="18" charset="0"/>
            </a:endParaRPr>
          </a:p>
          <a:p>
            <a:pPr marL="0" indent="0">
              <a:buNone/>
            </a:pPr>
            <a:r>
              <a:rPr lang="en-IN" sz="3100" dirty="0" smtClean="0">
                <a:latin typeface="Times New Roman" panose="02020603050405020304" pitchFamily="18" charset="0"/>
                <a:cs typeface="Times New Roman" panose="02020603050405020304" pitchFamily="18" charset="0"/>
              </a:rPr>
              <a:t>		Record</a:t>
            </a:r>
            <a:endParaRPr lang="en-IN" sz="31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10387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51" y="304800"/>
            <a:ext cx="8229600" cy="704088"/>
          </a:xfrm>
        </p:spPr>
        <p:txBody>
          <a:bodyPr>
            <a:normAutofit fontScale="90000"/>
          </a:bodyPr>
          <a:lstStyle/>
          <a:p>
            <a:r>
              <a:rPr lang="en-IN" dirty="0"/>
              <a:t> </a:t>
            </a:r>
            <a:r>
              <a:rPr lang="en-IN" sz="3200" b="1" dirty="0" smtClean="0">
                <a:latin typeface="Times New Roman" panose="02020603050405020304" pitchFamily="18" charset="0"/>
                <a:cs typeface="Times New Roman" panose="02020603050405020304" pitchFamily="18" charset="0"/>
              </a:rPr>
              <a:t>Deadlock:</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6299" y="996378"/>
            <a:ext cx="8229600" cy="4389120"/>
          </a:xfrm>
        </p:spPr>
        <p:txBody>
          <a:bodyPr/>
          <a:lstStyle/>
          <a:p>
            <a:pPr marL="0" indent="0" algn="just">
              <a:buNone/>
            </a:pPr>
            <a:r>
              <a:rPr lang="en-US" dirty="0"/>
              <a:t>A deadlock occurs in a multi-user database environment when two or more transactions block each other indefinitely by each holding a resource the other needs. This results in a cycle of dependencies (circular wait) where no transaction can proceed.</a:t>
            </a:r>
            <a:endParaRPr lang="en-IN" dirty="0"/>
          </a:p>
        </p:txBody>
      </p:sp>
      <p:pic>
        <p:nvPicPr>
          <p:cNvPr id="4" name="Picture 3"/>
          <p:cNvPicPr>
            <a:picLocks noChangeAspect="1"/>
          </p:cNvPicPr>
          <p:nvPr/>
        </p:nvPicPr>
        <p:blipFill>
          <a:blip r:embed="rId2"/>
          <a:stretch>
            <a:fillRect/>
          </a:stretch>
        </p:blipFill>
        <p:spPr>
          <a:xfrm>
            <a:off x="1783947" y="2960350"/>
            <a:ext cx="6247974" cy="2862930"/>
          </a:xfrm>
          <a:prstGeom prst="rect">
            <a:avLst/>
          </a:prstGeom>
        </p:spPr>
      </p:pic>
      <p:sp>
        <p:nvSpPr>
          <p:cNvPr id="5" name="Rectangle 4"/>
          <p:cNvSpPr/>
          <p:nvPr/>
        </p:nvSpPr>
        <p:spPr>
          <a:xfrm>
            <a:off x="304800" y="5615411"/>
            <a:ext cx="7542876" cy="1015663"/>
          </a:xfrm>
          <a:prstGeom prst="rect">
            <a:avLst/>
          </a:prstGeom>
        </p:spPr>
        <p:txBody>
          <a:bodyPr wrap="square">
            <a:spAutoFit/>
          </a:bodyPr>
          <a:lstStyle/>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T1 locks Resource "Student" and needs Resource "Grade"</a:t>
            </a: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T2 locks Resource "Grade" and needs Resource "Student"</a:t>
            </a: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T1 waits for T2, T2 waits for T1, hence resulting in a deadlock</a:t>
            </a:r>
            <a:endParaRPr lang="en-US" sz="2000"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23518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31</TotalTime>
  <Words>277</Words>
  <Application>Microsoft Office PowerPoint</Application>
  <PresentationFormat>On-screen Show (4:3)</PresentationFormat>
  <Paragraphs>20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Constantia</vt:lpstr>
      <vt:lpstr>Times New Roman</vt:lpstr>
      <vt:lpstr>Wingdings 2</vt:lpstr>
      <vt:lpstr>Flow</vt:lpstr>
      <vt:lpstr>Concurrency Control Techniques </vt:lpstr>
      <vt:lpstr>Lock Based Protocols</vt:lpstr>
      <vt:lpstr>PowerPoint Presentation</vt:lpstr>
      <vt:lpstr>PowerPoint Presentation</vt:lpstr>
      <vt:lpstr>Different locks modes:</vt:lpstr>
      <vt:lpstr>Two Phase Locking Protocol</vt:lpstr>
      <vt:lpstr>Multiple Granularity </vt:lpstr>
      <vt:lpstr> Deadlock:</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Concurrency Control Techniques </dc:title>
  <dc:creator>Animation-16</dc:creator>
  <cp:lastModifiedBy>Windows User</cp:lastModifiedBy>
  <cp:revision>21</cp:revision>
  <dcterms:created xsi:type="dcterms:W3CDTF">2026-01-31T06:09:47Z</dcterms:created>
  <dcterms:modified xsi:type="dcterms:W3CDTF">2026-02-22T06:09:11Z</dcterms:modified>
</cp:coreProperties>
</file>