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70" r:id="rId10"/>
    <p:sldId id="271" r:id="rId11"/>
    <p:sldId id="264" r:id="rId12"/>
    <p:sldId id="265" r:id="rId13"/>
    <p:sldId id="266" r:id="rId14"/>
    <p:sldId id="267" r:id="rId15"/>
    <p:sldId id="268" r:id="rId16"/>
    <p:sldId id="269"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0E569AB9-FB4A-490F-B441-6A0F590E4098}" type="datetimeFigureOut">
              <a:rPr lang="en-US" smtClean="0"/>
              <a:t>2/22/2026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5FF434F5-DD30-467A-975F-4359EDDD642C}"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E569AB9-FB4A-490F-B441-6A0F590E4098}"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434F5-DD30-467A-975F-4359EDDD642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E569AB9-FB4A-490F-B441-6A0F590E4098}"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434F5-DD30-467A-975F-4359EDDD642C}"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E569AB9-FB4A-490F-B441-6A0F590E4098}"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F434F5-DD30-467A-975F-4359EDDD642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0E569AB9-FB4A-490F-B441-6A0F590E4098}"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F434F5-DD30-467A-975F-4359EDDD642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E569AB9-FB4A-490F-B441-6A0F590E4098}"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F434F5-DD30-467A-975F-4359EDDD642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569AB9-FB4A-490F-B441-6A0F590E4098}"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F434F5-DD30-467A-975F-4359EDDD642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E569AB9-FB4A-490F-B441-6A0F590E4098}"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F434F5-DD30-467A-975F-4359EDDD642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E569AB9-FB4A-490F-B441-6A0F590E4098}"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5FF434F5-DD30-467A-975F-4359EDDD642C}"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E569AB9-FB4A-490F-B441-6A0F590E4098}"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434F5-DD30-467A-975F-4359EDDD642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E569AB9-FB4A-490F-B441-6A0F590E4098}"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434F5-DD30-467A-975F-4359EDDD64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0E569AB9-FB4A-490F-B441-6A0F590E4098}" type="datetimeFigureOut">
              <a:rPr lang="en-US" smtClean="0"/>
              <a:t>2/22/2026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5FF434F5-DD30-467A-975F-4359EDDD642C}"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133600"/>
            <a:ext cx="7851648" cy="1828800"/>
          </a:xfrm>
        </p:spPr>
        <p:txBody>
          <a:bodyPr/>
          <a:lstStyle/>
          <a:p>
            <a:pPr algn="ctr"/>
            <a:r>
              <a:rPr lang="en-US" b="1" dirty="0"/>
              <a:t>Database </a:t>
            </a:r>
            <a:r>
              <a:rPr lang="en-US" b="1" dirty="0" smtClean="0"/>
              <a:t>Recovery</a:t>
            </a:r>
            <a:endParaRPr lang="en-US" dirty="0"/>
          </a:p>
        </p:txBody>
      </p:sp>
    </p:spTree>
    <p:extLst>
      <p:ext uri="{BB962C8B-B14F-4D97-AF65-F5344CB8AC3E}">
        <p14:creationId xmlns:p14="http://schemas.microsoft.com/office/powerpoint/2010/main" val="3768573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75488"/>
          </a:xfrm>
        </p:spPr>
        <p:txBody>
          <a:bodyPr>
            <a:normAutofit fontScale="90000"/>
          </a:bodyPr>
          <a:lstStyle/>
          <a:p>
            <a:r>
              <a:rPr lang="en-US" sz="3200" b="1" dirty="0">
                <a:latin typeface="Times New Roman" pitchFamily="18" charset="0"/>
                <a:cs typeface="Times New Roman" pitchFamily="18" charset="0"/>
              </a:rPr>
              <a:t>Database </a:t>
            </a:r>
            <a:r>
              <a:rPr lang="en-US" sz="3200" b="1" dirty="0" smtClean="0">
                <a:latin typeface="Times New Roman" pitchFamily="18" charset="0"/>
                <a:cs typeface="Times New Roman" pitchFamily="18" charset="0"/>
              </a:rPr>
              <a:t>Recovery</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953000"/>
          </a:xfrm>
        </p:spPr>
        <p:txBody>
          <a:bodyPr>
            <a:normAutofit lnSpcReduction="10000"/>
          </a:bodyPr>
          <a:lstStyle/>
          <a:p>
            <a:pPr marL="0" indent="0" algn="just">
              <a:buNone/>
            </a:pPr>
            <a:r>
              <a:rPr lang="en-US" sz="2400" dirty="0">
                <a:latin typeface="Times New Roman" pitchFamily="18" charset="0"/>
                <a:cs typeface="Times New Roman" pitchFamily="18" charset="0"/>
              </a:rPr>
              <a:t>In </a:t>
            </a:r>
            <a:r>
              <a:rPr lang="en-US" sz="2400" b="1" dirty="0">
                <a:latin typeface="Times New Roman" pitchFamily="18" charset="0"/>
                <a:cs typeface="Times New Roman" pitchFamily="18" charset="0"/>
              </a:rPr>
              <a:t>RDBMS (Relational Database Management Systems)</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recovery</a:t>
            </a:r>
            <a:r>
              <a:rPr lang="en-US" sz="2400" dirty="0">
                <a:latin typeface="Times New Roman" pitchFamily="18" charset="0"/>
                <a:cs typeface="Times New Roman" pitchFamily="18" charset="0"/>
              </a:rPr>
              <a:t> refers to the set of techniques and mechanisms used to </a:t>
            </a:r>
            <a:r>
              <a:rPr lang="en-US" sz="2400" b="1" dirty="0">
                <a:latin typeface="Times New Roman" pitchFamily="18" charset="0"/>
                <a:cs typeface="Times New Roman" pitchFamily="18" charset="0"/>
              </a:rPr>
              <a:t>restore a database to a correct state after a failure</a:t>
            </a:r>
            <a:r>
              <a:rPr lang="en-US" sz="2400" dirty="0">
                <a:latin typeface="Times New Roman" pitchFamily="18" charset="0"/>
                <a:cs typeface="Times New Roman" pitchFamily="18" charset="0"/>
              </a:rPr>
              <a:t>. It ensures that the database </a:t>
            </a:r>
            <a:r>
              <a:rPr lang="en-US" sz="2400" b="1" dirty="0">
                <a:latin typeface="Times New Roman" pitchFamily="18" charset="0"/>
                <a:cs typeface="Times New Roman" pitchFamily="18" charset="0"/>
              </a:rPr>
              <a:t>remains consistent, reliable, and durable</a:t>
            </a:r>
            <a:r>
              <a:rPr lang="en-US" sz="2400" dirty="0">
                <a:latin typeface="Times New Roman" pitchFamily="18" charset="0"/>
                <a:cs typeface="Times New Roman" pitchFamily="18" charset="0"/>
              </a:rPr>
              <a:t>, even in case of system crashes, hardware failures, or software errors</a:t>
            </a:r>
            <a:r>
              <a:rPr lang="en-US" sz="2400" dirty="0" smtClean="0">
                <a:latin typeface="Times New Roman" pitchFamily="18" charset="0"/>
                <a:cs typeface="Times New Roman" pitchFamily="18" charset="0"/>
              </a:rPr>
              <a:t>.</a:t>
            </a:r>
          </a:p>
          <a:p>
            <a:pPr marL="0" indent="0" algn="just">
              <a:buNone/>
            </a:pPr>
            <a:r>
              <a:rPr lang="en-US" sz="2400" b="1" dirty="0">
                <a:latin typeface="Times New Roman" pitchFamily="18" charset="0"/>
                <a:cs typeface="Times New Roman" pitchFamily="18" charset="0"/>
              </a:rPr>
              <a:t>Why Recovery is Needed?</a:t>
            </a:r>
          </a:p>
          <a:p>
            <a:r>
              <a:rPr lang="en-US" sz="2400" b="1" dirty="0">
                <a:latin typeface="Times New Roman" pitchFamily="18" charset="0"/>
                <a:cs typeface="Times New Roman" pitchFamily="18" charset="0"/>
              </a:rPr>
              <a:t>Transaction failures </a:t>
            </a:r>
            <a:r>
              <a:rPr lang="en-US" sz="2400" dirty="0">
                <a:latin typeface="Times New Roman" pitchFamily="18" charset="0"/>
                <a:cs typeface="Times New Roman" pitchFamily="18" charset="0"/>
              </a:rPr>
              <a:t>– A transaction might fail due to errors in execution.</a:t>
            </a:r>
          </a:p>
          <a:p>
            <a:r>
              <a:rPr lang="en-US" sz="2400" b="1" dirty="0">
                <a:latin typeface="Times New Roman" pitchFamily="18" charset="0"/>
                <a:cs typeface="Times New Roman" pitchFamily="18" charset="0"/>
              </a:rPr>
              <a:t>System crashes – </a:t>
            </a:r>
            <a:r>
              <a:rPr lang="en-US" sz="2400" dirty="0">
                <a:latin typeface="Times New Roman" pitchFamily="18" charset="0"/>
                <a:cs typeface="Times New Roman" pitchFamily="18" charset="0"/>
              </a:rPr>
              <a:t>Power failures or OS crashes can leave the database in an inconsistent state.</a:t>
            </a:r>
          </a:p>
          <a:p>
            <a:r>
              <a:rPr lang="en-US" sz="2400" b="1" dirty="0">
                <a:latin typeface="Times New Roman" pitchFamily="18" charset="0"/>
                <a:cs typeface="Times New Roman" pitchFamily="18" charset="0"/>
              </a:rPr>
              <a:t>Media failures – </a:t>
            </a:r>
            <a:r>
              <a:rPr lang="en-US" sz="2400" dirty="0">
                <a:latin typeface="Times New Roman" pitchFamily="18" charset="0"/>
                <a:cs typeface="Times New Roman" pitchFamily="18" charset="0"/>
              </a:rPr>
              <a:t>Disk or storage corruption.</a:t>
            </a:r>
          </a:p>
          <a:p>
            <a:r>
              <a:rPr lang="en-US" sz="2400" b="1" dirty="0">
                <a:latin typeface="Times New Roman" pitchFamily="18" charset="0"/>
                <a:cs typeface="Times New Roman" pitchFamily="18" charset="0"/>
              </a:rPr>
              <a:t>Application errors – </a:t>
            </a:r>
            <a:r>
              <a:rPr lang="en-US" sz="2400" dirty="0">
                <a:latin typeface="Times New Roman" pitchFamily="18" charset="0"/>
                <a:cs typeface="Times New Roman" pitchFamily="18" charset="0"/>
              </a:rPr>
              <a:t>Bugs that cause incorrect data changes.</a:t>
            </a:r>
          </a:p>
          <a:p>
            <a:pPr marL="0" indent="0" algn="just">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8850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627888"/>
          </a:xfrm>
        </p:spPr>
        <p:txBody>
          <a:bodyPr>
            <a:normAutofit/>
          </a:bodyPr>
          <a:lstStyle/>
          <a:p>
            <a:r>
              <a:rPr lang="en-US" sz="3200" b="1" dirty="0">
                <a:latin typeface="Times New Roman" pitchFamily="18" charset="0"/>
                <a:cs typeface="Times New Roman" pitchFamily="18" charset="0"/>
              </a:rPr>
              <a:t>Log based Recovery technique </a:t>
            </a:r>
          </a:p>
        </p:txBody>
      </p:sp>
      <p:sp>
        <p:nvSpPr>
          <p:cNvPr id="3" name="Content Placeholder 2"/>
          <p:cNvSpPr>
            <a:spLocks noGrp="1"/>
          </p:cNvSpPr>
          <p:nvPr>
            <p:ph idx="1"/>
          </p:nvPr>
        </p:nvSpPr>
        <p:spPr>
          <a:xfrm>
            <a:off x="457200" y="1600200"/>
            <a:ext cx="8229600" cy="4389120"/>
          </a:xfrm>
        </p:spPr>
        <p:txBody>
          <a:bodyPr>
            <a:normAutofit/>
          </a:bodyPr>
          <a:lstStyle/>
          <a:p>
            <a:pPr marL="0" indent="0" algn="just">
              <a:buNone/>
            </a:pPr>
            <a:r>
              <a:rPr lang="en-US" sz="2400" dirty="0">
                <a:latin typeface="Times New Roman" pitchFamily="18" charset="0"/>
                <a:cs typeface="Times New Roman" pitchFamily="18" charset="0"/>
              </a:rPr>
              <a:t>Log-based recovery in DBMS ensures data can be maintained or restored in the event of a system failure. The DBMS records every transaction on stable storage, allowing for easy data recovery when a failure occurs. For each operation performed on the database, a log file is created. Transactions are logged and verified before being applied to the database, ensuring data integrity.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038600"/>
            <a:ext cx="4981575" cy="257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61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229600" cy="4389120"/>
          </a:xfrm>
        </p:spPr>
        <p:txBody>
          <a:bodyPr>
            <a:normAutofit/>
          </a:bodyPr>
          <a:lstStyle/>
          <a:p>
            <a:pPr marL="0" indent="0" algn="just">
              <a:buNone/>
            </a:pPr>
            <a:r>
              <a:rPr lang="en-US" sz="2400" dirty="0">
                <a:latin typeface="Times New Roman" pitchFamily="18" charset="0"/>
                <a:cs typeface="Times New Roman" pitchFamily="18" charset="0"/>
              </a:rPr>
              <a:t>A log is a sequence of records that document the operations performed during database transactions. Logs are stored in a log file for each transaction, providing a mechanism to recover data in the event of a failure. For every operation executed on the database, a corresponding log record is created. It is critical to store these logs before the actual transaction operations are applied to the database, ensuring data integrity and consistency during recovery processes.</a:t>
            </a:r>
          </a:p>
        </p:txBody>
      </p:sp>
      <p:sp>
        <p:nvSpPr>
          <p:cNvPr id="4" name="Title 1"/>
          <p:cNvSpPr txBox="1">
            <a:spLocks/>
          </p:cNvSpPr>
          <p:nvPr/>
        </p:nvSpPr>
        <p:spPr>
          <a:xfrm>
            <a:off x="457200" y="762000"/>
            <a:ext cx="8229600" cy="627888"/>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smtClean="0">
                <a:latin typeface="Times New Roman" pitchFamily="18" charset="0"/>
                <a:cs typeface="Times New Roman" pitchFamily="18" charset="0"/>
              </a:rPr>
              <a:t>Log based Recovery technique </a:t>
            </a: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1601917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551688"/>
          </a:xfrm>
        </p:spPr>
        <p:txBody>
          <a:bodyPr>
            <a:normAutofit/>
          </a:bodyPr>
          <a:lstStyle/>
          <a:p>
            <a:r>
              <a:rPr lang="en-US" sz="3200" b="1" dirty="0">
                <a:latin typeface="Times New Roman" pitchFamily="18" charset="0"/>
                <a:cs typeface="Times New Roman" pitchFamily="18" charset="0"/>
              </a:rPr>
              <a:t>Operations in Log-Based </a:t>
            </a:r>
            <a:r>
              <a:rPr lang="en-US" sz="3200" b="1" dirty="0" smtClean="0">
                <a:latin typeface="Times New Roman" pitchFamily="18" charset="0"/>
                <a:cs typeface="Times New Roman" pitchFamily="18" charset="0"/>
              </a:rPr>
              <a:t>Recovery</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24000"/>
            <a:ext cx="8229600" cy="5105400"/>
          </a:xfrm>
        </p:spPr>
        <p:txBody>
          <a:bodyPr>
            <a:normAutofit fontScale="62500" lnSpcReduction="20000"/>
          </a:bodyPr>
          <a:lstStyle/>
          <a:p>
            <a:pPr marL="0" indent="0" fontAlgn="base">
              <a:buNone/>
            </a:pPr>
            <a:r>
              <a:rPr lang="en-US" sz="3100" b="1" dirty="0">
                <a:latin typeface="Times New Roman" pitchFamily="18" charset="0"/>
                <a:cs typeface="Times New Roman" pitchFamily="18" charset="0"/>
              </a:rPr>
              <a:t>Undo Operation</a:t>
            </a:r>
          </a:p>
          <a:p>
            <a:pPr marL="0" indent="0" fontAlgn="base">
              <a:buNone/>
            </a:pPr>
            <a:r>
              <a:rPr lang="en-US" sz="3100" dirty="0">
                <a:latin typeface="Times New Roman" pitchFamily="18" charset="0"/>
                <a:cs typeface="Times New Roman" pitchFamily="18" charset="0"/>
              </a:rPr>
              <a:t>The undo operation reverses the changes made by an uncommitted transaction.</a:t>
            </a:r>
            <a:br>
              <a:rPr lang="en-US" sz="3100" dirty="0">
                <a:latin typeface="Times New Roman" pitchFamily="18" charset="0"/>
                <a:cs typeface="Times New Roman" pitchFamily="18" charset="0"/>
              </a:rPr>
            </a:br>
            <a:r>
              <a:rPr lang="en-US" sz="3100" dirty="0">
                <a:latin typeface="Times New Roman" pitchFamily="18" charset="0"/>
                <a:cs typeface="Times New Roman" pitchFamily="18" charset="0"/>
              </a:rPr>
              <a:t>Even though the transaction did not commit, its dirty pages may have already been written to disk from the buffer.</a:t>
            </a:r>
            <a:br>
              <a:rPr lang="en-US" sz="3100" dirty="0">
                <a:latin typeface="Times New Roman" pitchFamily="18" charset="0"/>
                <a:cs typeface="Times New Roman" pitchFamily="18" charset="0"/>
              </a:rPr>
            </a:br>
            <a:r>
              <a:rPr lang="en-US" sz="3100" dirty="0">
                <a:latin typeface="Times New Roman" pitchFamily="18" charset="0"/>
                <a:cs typeface="Times New Roman" pitchFamily="18" charset="0"/>
              </a:rPr>
              <a:t>Undo restores the old values using the log to remove these partial changes.</a:t>
            </a:r>
          </a:p>
          <a:p>
            <a:pPr marL="0" indent="0" fontAlgn="base">
              <a:buNone/>
            </a:pPr>
            <a:endParaRPr lang="en-US" sz="3100" b="1" dirty="0" smtClean="0">
              <a:latin typeface="Times New Roman" pitchFamily="18" charset="0"/>
              <a:cs typeface="Times New Roman" pitchFamily="18" charset="0"/>
            </a:endParaRPr>
          </a:p>
          <a:p>
            <a:pPr marL="0" indent="0" fontAlgn="base">
              <a:buNone/>
            </a:pPr>
            <a:r>
              <a:rPr lang="en-US" sz="3100" b="1" dirty="0" smtClean="0">
                <a:latin typeface="Times New Roman" pitchFamily="18" charset="0"/>
                <a:cs typeface="Times New Roman" pitchFamily="18" charset="0"/>
              </a:rPr>
              <a:t>Example </a:t>
            </a:r>
            <a:r>
              <a:rPr lang="en-US" sz="3100" b="1" dirty="0">
                <a:latin typeface="Times New Roman" pitchFamily="18" charset="0"/>
                <a:cs typeface="Times New Roman" pitchFamily="18" charset="0"/>
              </a:rPr>
              <a:t>of Undo: </a:t>
            </a:r>
            <a:r>
              <a:rPr lang="en-US" sz="3100" dirty="0">
                <a:latin typeface="Times New Roman" pitchFamily="18" charset="0"/>
                <a:cs typeface="Times New Roman" pitchFamily="18" charset="0"/>
              </a:rPr>
              <a:t>Consider a transaction T1 that updates a bank account balance but fails before committing:</a:t>
            </a:r>
          </a:p>
          <a:p>
            <a:pPr marL="0" indent="0" fontAlgn="base">
              <a:buNone/>
            </a:pPr>
            <a:r>
              <a:rPr lang="en-US" sz="3100" b="1" dirty="0">
                <a:latin typeface="Times New Roman" pitchFamily="18" charset="0"/>
                <a:cs typeface="Times New Roman" pitchFamily="18" charset="0"/>
              </a:rPr>
              <a:t>Initial State:</a:t>
            </a:r>
            <a:r>
              <a:rPr lang="en-US" sz="3100" dirty="0">
                <a:latin typeface="Times New Roman" pitchFamily="18" charset="0"/>
                <a:cs typeface="Times New Roman" pitchFamily="18" charset="0"/>
              </a:rPr>
              <a:t> Account balance = 500.</a:t>
            </a:r>
          </a:p>
          <a:p>
            <a:pPr marL="0" indent="0" fontAlgn="base">
              <a:buNone/>
            </a:pPr>
            <a:r>
              <a:rPr lang="en-US" sz="3100" b="1" dirty="0">
                <a:latin typeface="Times New Roman" pitchFamily="18" charset="0"/>
                <a:cs typeface="Times New Roman" pitchFamily="18" charset="0"/>
              </a:rPr>
              <a:t>Transaction T1:</a:t>
            </a:r>
            <a:endParaRPr lang="en-US" sz="3100" dirty="0">
              <a:latin typeface="Times New Roman" pitchFamily="18" charset="0"/>
              <a:cs typeface="Times New Roman" pitchFamily="18" charset="0"/>
            </a:endParaRPr>
          </a:p>
          <a:p>
            <a:pPr marL="0" indent="0" fontAlgn="base">
              <a:buNone/>
            </a:pPr>
            <a:r>
              <a:rPr lang="en-US" sz="3100" dirty="0">
                <a:latin typeface="Times New Roman" pitchFamily="18" charset="0"/>
                <a:cs typeface="Times New Roman" pitchFamily="18" charset="0"/>
              </a:rPr>
              <a:t>Update balance to 600.</a:t>
            </a:r>
          </a:p>
          <a:p>
            <a:pPr marL="0" indent="0" fontAlgn="base">
              <a:buNone/>
            </a:pPr>
            <a:r>
              <a:rPr lang="en-US" sz="3100" dirty="0">
                <a:latin typeface="Times New Roman" pitchFamily="18" charset="0"/>
                <a:cs typeface="Times New Roman" pitchFamily="18" charset="0"/>
              </a:rPr>
              <a:t>Log entry:&lt;T1, Balance, 500, 600&gt;</a:t>
            </a:r>
          </a:p>
          <a:p>
            <a:pPr marL="0" indent="0" fontAlgn="base">
              <a:buNone/>
            </a:pPr>
            <a:r>
              <a:rPr lang="en-US" sz="3100" b="1" dirty="0">
                <a:latin typeface="Times New Roman" pitchFamily="18" charset="0"/>
                <a:cs typeface="Times New Roman" pitchFamily="18" charset="0"/>
              </a:rPr>
              <a:t>Failure:</a:t>
            </a:r>
            <a:r>
              <a:rPr lang="en-US" sz="3100" dirty="0">
                <a:latin typeface="Times New Roman" pitchFamily="18" charset="0"/>
                <a:cs typeface="Times New Roman" pitchFamily="18" charset="0"/>
              </a:rPr>
              <a:t> T1 fails before committing.</a:t>
            </a:r>
          </a:p>
          <a:p>
            <a:pPr marL="0" indent="0" fontAlgn="base">
              <a:buNone/>
            </a:pPr>
            <a:r>
              <a:rPr lang="en-US" sz="3100" b="1" dirty="0">
                <a:latin typeface="Times New Roman" pitchFamily="18" charset="0"/>
                <a:cs typeface="Times New Roman" pitchFamily="18" charset="0"/>
              </a:rPr>
              <a:t>Undo Process:</a:t>
            </a:r>
            <a:endParaRPr lang="en-US" sz="3100" dirty="0">
              <a:latin typeface="Times New Roman" pitchFamily="18" charset="0"/>
              <a:cs typeface="Times New Roman" pitchFamily="18" charset="0"/>
            </a:endParaRPr>
          </a:p>
          <a:p>
            <a:pPr marL="0" indent="0" fontAlgn="base">
              <a:buNone/>
            </a:pPr>
            <a:r>
              <a:rPr lang="en-US" sz="3100" dirty="0">
                <a:latin typeface="Times New Roman" pitchFamily="18" charset="0"/>
                <a:cs typeface="Times New Roman" pitchFamily="18" charset="0"/>
              </a:rPr>
              <a:t>Use the old value from the log to revert the change.</a:t>
            </a:r>
          </a:p>
          <a:p>
            <a:pPr marL="0" indent="0" fontAlgn="base">
              <a:buNone/>
            </a:pPr>
            <a:r>
              <a:rPr lang="en-US" sz="3100" dirty="0">
                <a:latin typeface="Times New Roman" pitchFamily="18" charset="0"/>
                <a:cs typeface="Times New Roman" pitchFamily="18" charset="0"/>
              </a:rPr>
              <a:t>Set balance back to 500.</a:t>
            </a:r>
          </a:p>
          <a:p>
            <a:pPr marL="0" indent="0" fontAlgn="base">
              <a:buNone/>
            </a:pPr>
            <a:r>
              <a:rPr lang="en-US" sz="3100" dirty="0">
                <a:latin typeface="Times New Roman" pitchFamily="18" charset="0"/>
                <a:cs typeface="Times New Roman" pitchFamily="18" charset="0"/>
              </a:rPr>
              <a:t>Final log entry after undo:&lt;T1, Abort&gt;</a:t>
            </a:r>
          </a:p>
          <a:p>
            <a:endParaRPr lang="en-US" dirty="0"/>
          </a:p>
        </p:txBody>
      </p:sp>
    </p:spTree>
    <p:extLst>
      <p:ext uri="{BB962C8B-B14F-4D97-AF65-F5344CB8AC3E}">
        <p14:creationId xmlns:p14="http://schemas.microsoft.com/office/powerpoint/2010/main" val="826326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229600" cy="5029200"/>
          </a:xfrm>
        </p:spPr>
        <p:txBody>
          <a:bodyPr>
            <a:normAutofit fontScale="77500" lnSpcReduction="20000"/>
          </a:bodyPr>
          <a:lstStyle/>
          <a:p>
            <a:pPr marL="0" indent="0" fontAlgn="base">
              <a:buNone/>
            </a:pPr>
            <a:r>
              <a:rPr lang="en-US" b="1" dirty="0">
                <a:latin typeface="Times New Roman" pitchFamily="18" charset="0"/>
                <a:cs typeface="Times New Roman" pitchFamily="18" charset="0"/>
              </a:rPr>
              <a:t>Redo Operation</a:t>
            </a:r>
          </a:p>
          <a:p>
            <a:pPr marL="0" indent="0" fontAlgn="base">
              <a:buNone/>
            </a:pPr>
            <a:r>
              <a:rPr lang="en-US" dirty="0">
                <a:latin typeface="Times New Roman" pitchFamily="18" charset="0"/>
                <a:cs typeface="Times New Roman" pitchFamily="18" charset="0"/>
              </a:rPr>
              <a:t>The redo operation re-applies the changes of a committed transaction.</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Although the transaction has committed, its updated pages may not have been flushed to disk before the crash.</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Redo ensures that committed changes are safely applied to the database.</a:t>
            </a:r>
          </a:p>
          <a:p>
            <a:pPr marL="0" indent="0" fontAlgn="base">
              <a:buNone/>
            </a:pPr>
            <a:endParaRPr lang="en-US" b="1" dirty="0" smtClean="0">
              <a:latin typeface="Times New Roman" pitchFamily="18" charset="0"/>
              <a:cs typeface="Times New Roman" pitchFamily="18" charset="0"/>
            </a:endParaRPr>
          </a:p>
          <a:p>
            <a:pPr marL="0" indent="0" fontAlgn="base">
              <a:buNone/>
            </a:pPr>
            <a:r>
              <a:rPr lang="en-US" b="1" dirty="0" smtClean="0">
                <a:latin typeface="Times New Roman" pitchFamily="18" charset="0"/>
                <a:cs typeface="Times New Roman" pitchFamily="18" charset="0"/>
              </a:rPr>
              <a:t>Example </a:t>
            </a:r>
            <a:r>
              <a:rPr lang="en-US" b="1" dirty="0">
                <a:latin typeface="Times New Roman" pitchFamily="18" charset="0"/>
                <a:cs typeface="Times New Roman" pitchFamily="18" charset="0"/>
              </a:rPr>
              <a:t>of Redo:</a:t>
            </a:r>
            <a:r>
              <a:rPr lang="en-US" dirty="0">
                <a:latin typeface="Times New Roman" pitchFamily="18" charset="0"/>
                <a:cs typeface="Times New Roman" pitchFamily="18" charset="0"/>
              </a:rPr>
              <a:t> Consider a transaction T2 that updates an account balance but the database crashes before changes are permanently reflected:</a:t>
            </a:r>
          </a:p>
          <a:p>
            <a:pPr marL="0" indent="0" fontAlgn="base">
              <a:buNone/>
            </a:pPr>
            <a:r>
              <a:rPr lang="en-US" b="1" dirty="0">
                <a:latin typeface="Times New Roman" pitchFamily="18" charset="0"/>
                <a:cs typeface="Times New Roman" pitchFamily="18" charset="0"/>
              </a:rPr>
              <a:t>Initial State:</a:t>
            </a:r>
            <a:r>
              <a:rPr lang="en-US" dirty="0">
                <a:latin typeface="Times New Roman" pitchFamily="18" charset="0"/>
                <a:cs typeface="Times New Roman" pitchFamily="18" charset="0"/>
              </a:rPr>
              <a:t> Account balance = 300.</a:t>
            </a:r>
          </a:p>
          <a:p>
            <a:pPr marL="0" indent="0" fontAlgn="base">
              <a:buNone/>
            </a:pPr>
            <a:r>
              <a:rPr lang="en-US" b="1" dirty="0">
                <a:latin typeface="Times New Roman" pitchFamily="18" charset="0"/>
                <a:cs typeface="Times New Roman" pitchFamily="18" charset="0"/>
              </a:rPr>
              <a:t>Transaction T2:</a:t>
            </a:r>
            <a:endParaRPr lang="en-US" dirty="0">
              <a:latin typeface="Times New Roman" pitchFamily="18" charset="0"/>
              <a:cs typeface="Times New Roman" pitchFamily="18" charset="0"/>
            </a:endParaRPr>
          </a:p>
          <a:p>
            <a:pPr marL="0" indent="0" fontAlgn="base">
              <a:buNone/>
            </a:pPr>
            <a:r>
              <a:rPr lang="en-US" dirty="0">
                <a:latin typeface="Times New Roman" pitchFamily="18" charset="0"/>
                <a:cs typeface="Times New Roman" pitchFamily="18" charset="0"/>
              </a:rPr>
              <a:t>Update balance to 400.</a:t>
            </a:r>
          </a:p>
          <a:p>
            <a:pPr marL="0" indent="0" fontAlgn="base">
              <a:buNone/>
            </a:pPr>
            <a:r>
              <a:rPr lang="en-US" dirty="0">
                <a:latin typeface="Times New Roman" pitchFamily="18" charset="0"/>
                <a:cs typeface="Times New Roman" pitchFamily="18" charset="0"/>
              </a:rPr>
              <a:t>Log entries:&lt;T2, Start&gt;&lt;T2, Balance, 300, 400&gt;&lt;T2, Commit&gt;</a:t>
            </a:r>
          </a:p>
          <a:p>
            <a:pPr marL="0" indent="0" fontAlgn="base">
              <a:buNone/>
            </a:pPr>
            <a:r>
              <a:rPr lang="en-US" b="1" dirty="0">
                <a:latin typeface="Times New Roman" pitchFamily="18" charset="0"/>
                <a:cs typeface="Times New Roman" pitchFamily="18" charset="0"/>
              </a:rPr>
              <a:t>Crash:</a:t>
            </a:r>
            <a:r>
              <a:rPr lang="en-US" dirty="0">
                <a:latin typeface="Times New Roman" pitchFamily="18" charset="0"/>
                <a:cs typeface="Times New Roman" pitchFamily="18" charset="0"/>
              </a:rPr>
              <a:t> Changes are not reflected in the database.</a:t>
            </a:r>
          </a:p>
          <a:p>
            <a:pPr marL="0" indent="0" fontAlgn="base">
              <a:buNone/>
            </a:pPr>
            <a:r>
              <a:rPr lang="en-US" b="1" dirty="0">
                <a:latin typeface="Times New Roman" pitchFamily="18" charset="0"/>
                <a:cs typeface="Times New Roman" pitchFamily="18" charset="0"/>
              </a:rPr>
              <a:t>Redo Process:</a:t>
            </a:r>
            <a:endParaRPr lang="en-US" dirty="0">
              <a:latin typeface="Times New Roman" pitchFamily="18" charset="0"/>
              <a:cs typeface="Times New Roman" pitchFamily="18" charset="0"/>
            </a:endParaRPr>
          </a:p>
          <a:p>
            <a:pPr marL="0" indent="0" fontAlgn="base">
              <a:buNone/>
            </a:pPr>
            <a:r>
              <a:rPr lang="en-US" dirty="0">
                <a:latin typeface="Times New Roman" pitchFamily="18" charset="0"/>
                <a:cs typeface="Times New Roman" pitchFamily="18" charset="0"/>
              </a:rPr>
              <a:t>Use the new value from the log to reapply the committed change.</a:t>
            </a:r>
          </a:p>
          <a:p>
            <a:pPr marL="0" indent="0" fontAlgn="base">
              <a:buNone/>
            </a:pPr>
            <a:r>
              <a:rPr lang="en-US" dirty="0">
                <a:latin typeface="Times New Roman" pitchFamily="18" charset="0"/>
                <a:cs typeface="Times New Roman" pitchFamily="18" charset="0"/>
              </a:rPr>
              <a:t>Set balance to 400.</a:t>
            </a:r>
          </a:p>
          <a:p>
            <a:endParaRPr lang="en-US" dirty="0"/>
          </a:p>
        </p:txBody>
      </p:sp>
      <p:sp>
        <p:nvSpPr>
          <p:cNvPr id="4" name="Title 1"/>
          <p:cNvSpPr txBox="1">
            <a:spLocks/>
          </p:cNvSpPr>
          <p:nvPr/>
        </p:nvSpPr>
        <p:spPr>
          <a:xfrm>
            <a:off x="457200" y="762000"/>
            <a:ext cx="8229600" cy="551688"/>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smtClean="0">
                <a:latin typeface="Times New Roman" pitchFamily="18" charset="0"/>
                <a:cs typeface="Times New Roman" pitchFamily="18" charset="0"/>
              </a:rPr>
              <a:t>Operations in Log-Based Recovery</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3218669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551688"/>
          </a:xfrm>
        </p:spPr>
        <p:txBody>
          <a:bodyPr>
            <a:normAutofit/>
          </a:bodyPr>
          <a:lstStyle/>
          <a:p>
            <a:r>
              <a:rPr lang="en-US" sz="3200" b="1" dirty="0" smtClean="0">
                <a:latin typeface="Times New Roman" pitchFamily="18" charset="0"/>
                <a:cs typeface="Times New Roman" pitchFamily="18" charset="0"/>
              </a:rPr>
              <a:t>Methods of Log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389120"/>
          </a:xfrm>
        </p:spPr>
        <p:txBody>
          <a:bodyPr/>
          <a:lstStyle/>
          <a:p>
            <a:r>
              <a:rPr lang="en-US" b="1" dirty="0"/>
              <a:t>Immediate Modification</a:t>
            </a:r>
          </a:p>
          <a:p>
            <a:pPr marL="0" indent="0" algn="just">
              <a:buNone/>
            </a:pPr>
            <a:r>
              <a:rPr lang="en-US" sz="2400" dirty="0">
                <a:latin typeface="Times New Roman" pitchFamily="18" charset="0"/>
                <a:cs typeface="Times New Roman" pitchFamily="18" charset="0"/>
              </a:rPr>
              <a:t>In the Immediate Modification method, the database is updated as soon as a change is made during a transaction, even before the transaction is committed. Logs are written before making any changes to ensure recovery is possible in case of a system failure.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505200"/>
            <a:ext cx="6049693"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6772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389120"/>
          </a:xfrm>
        </p:spPr>
        <p:txBody>
          <a:bodyPr/>
          <a:lstStyle/>
          <a:p>
            <a:pPr marL="0" indent="0">
              <a:buNone/>
            </a:pPr>
            <a:r>
              <a:rPr lang="en-US" b="1" dirty="0"/>
              <a:t>Deferred </a:t>
            </a:r>
            <a:r>
              <a:rPr lang="en-US" b="1" dirty="0" smtClean="0"/>
              <a:t>Modification:</a:t>
            </a:r>
            <a:endParaRPr lang="en-US" b="1" dirty="0"/>
          </a:p>
          <a:p>
            <a:pPr marL="0" indent="0" algn="just">
              <a:buNone/>
            </a:pPr>
            <a:r>
              <a:rPr lang="en-US" sz="2400" dirty="0">
                <a:latin typeface="Times New Roman" pitchFamily="18" charset="0"/>
                <a:cs typeface="Times New Roman" pitchFamily="18" charset="0"/>
              </a:rPr>
              <a:t>In the Deferred Modification method, changes to the database are not applied immediately. Instead, they are logged and stored temporarily. The database is only updated after the transaction is fully committed. This method ensures that no partial changes are made to the database, reducing the risk of inconsistency.</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739541"/>
            <a:ext cx="5895975" cy="3022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txBox="1">
            <a:spLocks/>
          </p:cNvSpPr>
          <p:nvPr/>
        </p:nvSpPr>
        <p:spPr>
          <a:xfrm>
            <a:off x="457200" y="685800"/>
            <a:ext cx="8229600" cy="551688"/>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smtClean="0">
                <a:latin typeface="Times New Roman" pitchFamily="18" charset="0"/>
                <a:cs typeface="Times New Roman" pitchFamily="18" charset="0"/>
              </a:rPr>
              <a:t>Methods of Log</a:t>
            </a: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1812776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66" y="457200"/>
            <a:ext cx="8229600" cy="704088"/>
          </a:xfrm>
        </p:spPr>
        <p:txBody>
          <a:bodyPr>
            <a:normAutofit/>
          </a:bodyPr>
          <a:lstStyle/>
          <a:p>
            <a:r>
              <a:rPr lang="en-IN" sz="3200" b="1" dirty="0">
                <a:latin typeface="Times New Roman" panose="02020603050405020304" pitchFamily="18" charset="0"/>
                <a:cs typeface="Times New Roman" panose="02020603050405020304" pitchFamily="18" charset="0"/>
              </a:rPr>
              <a:t>Timestamp-Based Protocols</a:t>
            </a:r>
          </a:p>
        </p:txBody>
      </p:sp>
      <p:sp>
        <p:nvSpPr>
          <p:cNvPr id="3" name="Content Placeholder 2"/>
          <p:cNvSpPr>
            <a:spLocks noGrp="1"/>
          </p:cNvSpPr>
          <p:nvPr>
            <p:ph idx="1"/>
          </p:nvPr>
        </p:nvSpPr>
        <p:spPr>
          <a:xfrm>
            <a:off x="437866" y="1447800"/>
            <a:ext cx="8229600" cy="5410200"/>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The most commonly used concurrency protocol is the timestamp based protocol. This protocol uses either system time or logical counter as a </a:t>
            </a:r>
            <a:r>
              <a:rPr lang="en-US" dirty="0" smtClean="0">
                <a:latin typeface="Times New Roman" panose="02020603050405020304" pitchFamily="18" charset="0"/>
                <a:cs typeface="Times New Roman" panose="02020603050405020304" pitchFamily="18" charset="0"/>
              </a:rPr>
              <a:t>timestamp.</a:t>
            </a:r>
          </a:p>
          <a:p>
            <a:pPr algn="just"/>
            <a:r>
              <a:rPr lang="en-US" dirty="0" smtClean="0">
                <a:latin typeface="Times New Roman" panose="02020603050405020304" pitchFamily="18" charset="0"/>
                <a:cs typeface="Times New Roman" panose="02020603050405020304" pitchFamily="18" charset="0"/>
              </a:rPr>
              <a:t>Lock-based </a:t>
            </a:r>
            <a:r>
              <a:rPr lang="en-US" dirty="0">
                <a:latin typeface="Times New Roman" panose="02020603050405020304" pitchFamily="18" charset="0"/>
                <a:cs typeface="Times New Roman" panose="02020603050405020304" pitchFamily="18" charset="0"/>
              </a:rPr>
              <a:t>protocols manage the order between the conflicting pairs among transactions at the time of execution, whereas timestamp-based protocols start working as soon as a transaction is </a:t>
            </a:r>
            <a:r>
              <a:rPr lang="en-US" dirty="0" smtClean="0">
                <a:latin typeface="Times New Roman" panose="02020603050405020304" pitchFamily="18" charset="0"/>
                <a:cs typeface="Times New Roman" panose="02020603050405020304" pitchFamily="18" charset="0"/>
              </a:rPr>
              <a:t>created.</a:t>
            </a:r>
          </a:p>
          <a:p>
            <a:pPr algn="just"/>
            <a:r>
              <a:rPr lang="en-US" dirty="0" smtClean="0">
                <a:latin typeface="Times New Roman" panose="02020603050405020304" pitchFamily="18" charset="0"/>
                <a:cs typeface="Times New Roman" panose="02020603050405020304" pitchFamily="18" charset="0"/>
              </a:rPr>
              <a:t>Every </a:t>
            </a:r>
            <a:r>
              <a:rPr lang="en-US" dirty="0">
                <a:latin typeface="Times New Roman" panose="02020603050405020304" pitchFamily="18" charset="0"/>
                <a:cs typeface="Times New Roman" panose="02020603050405020304" pitchFamily="18" charset="0"/>
              </a:rPr>
              <a:t>transaction has a timestamp associated with it, and the ordering is determined by the age of the transaction. A transaction created at 0002 clock time would be older than all other transactions that come after it. For example, any transaction 'y' entering the system at 0004 is two seconds younger and the priority would be given to the older one.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addition, every data item is given the latest read and write-timestamp. This lets the system know when the last ‘read and write’ operation was performed on the data item.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1421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7866" y="1371600"/>
            <a:ext cx="8229600" cy="5257800"/>
          </a:xfrm>
        </p:spPr>
        <p:txBody>
          <a:bodyPr>
            <a:normAutofit fontScale="92500" lnSpcReduction="10000"/>
          </a:bodyPr>
          <a:lstStyle/>
          <a:p>
            <a:pPr marL="0" indent="0">
              <a:buNone/>
            </a:pPr>
            <a:r>
              <a:rPr lang="en-US" dirty="0" smtClean="0"/>
              <a:t>Timestamp </a:t>
            </a:r>
            <a:r>
              <a:rPr lang="en-US" dirty="0"/>
              <a:t>ordering </a:t>
            </a:r>
            <a:r>
              <a:rPr lang="en-US" dirty="0" err="1"/>
              <a:t>protocolworks</a:t>
            </a:r>
            <a:r>
              <a:rPr lang="en-US" dirty="0"/>
              <a:t> as follows − </a:t>
            </a:r>
            <a:endParaRPr lang="en-US" dirty="0" smtClean="0"/>
          </a:p>
          <a:p>
            <a:pPr marL="0" indent="0">
              <a:buNone/>
            </a:pPr>
            <a:r>
              <a:rPr lang="en-US" dirty="0" smtClean="0"/>
              <a:t>If </a:t>
            </a:r>
            <a:r>
              <a:rPr lang="en-US" dirty="0"/>
              <a:t>a </a:t>
            </a:r>
            <a:r>
              <a:rPr lang="en-US" dirty="0" err="1"/>
              <a:t>transactionTi</a:t>
            </a:r>
            <a:r>
              <a:rPr lang="en-US" dirty="0"/>
              <a:t> issues a read(X) operation </a:t>
            </a:r>
          </a:p>
          <a:p>
            <a:pPr marL="0" indent="0">
              <a:buNone/>
            </a:pPr>
            <a:r>
              <a:rPr lang="en-US" dirty="0" smtClean="0"/>
              <a:t>If </a:t>
            </a:r>
            <a:r>
              <a:rPr lang="en-US" dirty="0"/>
              <a:t>TS(Ti) &lt; W-TS(X) </a:t>
            </a:r>
            <a:endParaRPr lang="en-US" dirty="0" smtClean="0"/>
          </a:p>
          <a:p>
            <a:pPr marL="0" indent="0">
              <a:buNone/>
            </a:pPr>
            <a:r>
              <a:rPr lang="en-US" dirty="0" smtClean="0"/>
              <a:t>Operation </a:t>
            </a:r>
            <a:r>
              <a:rPr lang="en-US" dirty="0"/>
              <a:t>rejected. </a:t>
            </a:r>
            <a:endParaRPr lang="en-US" dirty="0" smtClean="0"/>
          </a:p>
          <a:p>
            <a:pPr marL="0" indent="0">
              <a:buNone/>
            </a:pPr>
            <a:r>
              <a:rPr lang="en-US" dirty="0" smtClean="0"/>
              <a:t>If </a:t>
            </a:r>
            <a:r>
              <a:rPr lang="en-US" dirty="0"/>
              <a:t>TS(Ti) &gt;= W-TS(X) </a:t>
            </a:r>
            <a:endParaRPr lang="en-US" dirty="0" smtClean="0"/>
          </a:p>
          <a:p>
            <a:pPr marL="0" indent="0">
              <a:buNone/>
            </a:pPr>
            <a:r>
              <a:rPr lang="en-US" dirty="0" smtClean="0"/>
              <a:t>Operation </a:t>
            </a:r>
            <a:r>
              <a:rPr lang="en-US" dirty="0"/>
              <a:t>executed. </a:t>
            </a:r>
            <a:endParaRPr lang="en-US" dirty="0" smtClean="0"/>
          </a:p>
          <a:p>
            <a:pPr marL="0" indent="0">
              <a:buNone/>
            </a:pPr>
            <a:r>
              <a:rPr lang="en-US" dirty="0" smtClean="0"/>
              <a:t>All </a:t>
            </a:r>
            <a:r>
              <a:rPr lang="en-US" dirty="0"/>
              <a:t>data-item timestamps updated. </a:t>
            </a:r>
            <a:endParaRPr lang="en-US" dirty="0" smtClean="0"/>
          </a:p>
          <a:p>
            <a:pPr marL="0" indent="0">
              <a:buNone/>
            </a:pPr>
            <a:r>
              <a:rPr lang="en-US" dirty="0" smtClean="0"/>
              <a:t>If </a:t>
            </a:r>
            <a:r>
              <a:rPr lang="en-US" dirty="0"/>
              <a:t>a </a:t>
            </a:r>
            <a:r>
              <a:rPr lang="en-US" dirty="0" err="1"/>
              <a:t>transactionTi</a:t>
            </a:r>
            <a:r>
              <a:rPr lang="en-US" dirty="0"/>
              <a:t> issues a write(X)operation − </a:t>
            </a:r>
            <a:endParaRPr lang="en-US" dirty="0" smtClean="0"/>
          </a:p>
          <a:p>
            <a:pPr marL="0" indent="0">
              <a:buNone/>
            </a:pPr>
            <a:r>
              <a:rPr lang="en-US" dirty="0" smtClean="0"/>
              <a:t>If </a:t>
            </a:r>
            <a:r>
              <a:rPr lang="en-US" dirty="0"/>
              <a:t>TS(Ti) &lt; R-TS(X) </a:t>
            </a:r>
            <a:endParaRPr lang="en-US" dirty="0" smtClean="0"/>
          </a:p>
          <a:p>
            <a:pPr marL="0" indent="0">
              <a:buNone/>
            </a:pPr>
            <a:r>
              <a:rPr lang="en-US" dirty="0" smtClean="0"/>
              <a:t>Operation </a:t>
            </a:r>
            <a:r>
              <a:rPr lang="en-US" dirty="0"/>
              <a:t>rejected. </a:t>
            </a:r>
            <a:endParaRPr lang="en-US" dirty="0" smtClean="0"/>
          </a:p>
          <a:p>
            <a:pPr marL="0" indent="0">
              <a:buNone/>
            </a:pPr>
            <a:r>
              <a:rPr lang="en-US" dirty="0" smtClean="0"/>
              <a:t>If </a:t>
            </a:r>
            <a:r>
              <a:rPr lang="en-US" dirty="0"/>
              <a:t>TS(Ti) &lt; W-TS(X) </a:t>
            </a:r>
            <a:endParaRPr lang="en-US" dirty="0" smtClean="0"/>
          </a:p>
          <a:p>
            <a:pPr marL="0" indent="0">
              <a:buNone/>
            </a:pPr>
            <a:r>
              <a:rPr lang="en-US" dirty="0" smtClean="0"/>
              <a:t>Operation </a:t>
            </a:r>
            <a:r>
              <a:rPr lang="en-US" dirty="0"/>
              <a:t>rejected and Ti rolled back. </a:t>
            </a:r>
            <a:endParaRPr lang="en-US" dirty="0" smtClean="0"/>
          </a:p>
          <a:p>
            <a:pPr marL="0" indent="0">
              <a:buNone/>
            </a:pPr>
            <a:r>
              <a:rPr lang="en-US" dirty="0" smtClean="0"/>
              <a:t>Otherwise</a:t>
            </a:r>
            <a:r>
              <a:rPr lang="en-US" dirty="0"/>
              <a:t>, operation executed.</a:t>
            </a:r>
            <a:endParaRPr lang="en-IN" dirty="0"/>
          </a:p>
        </p:txBody>
      </p:sp>
      <p:sp>
        <p:nvSpPr>
          <p:cNvPr id="4" name="Title 1"/>
          <p:cNvSpPr txBox="1">
            <a:spLocks/>
          </p:cNvSpPr>
          <p:nvPr/>
        </p:nvSpPr>
        <p:spPr>
          <a:xfrm>
            <a:off x="437866" y="457200"/>
            <a:ext cx="8229600" cy="704088"/>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IN" sz="3200" b="1" smtClean="0">
                <a:latin typeface="Times New Roman" panose="02020603050405020304" pitchFamily="18" charset="0"/>
                <a:cs typeface="Times New Roman" panose="02020603050405020304" pitchFamily="18" charset="0"/>
              </a:rPr>
              <a:t>Timestamp-Based Protocols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913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551688"/>
          </a:xfrm>
        </p:spPr>
        <p:txBody>
          <a:bodyPr>
            <a:normAutofit/>
          </a:bodyPr>
          <a:lstStyle/>
          <a:p>
            <a:r>
              <a:rPr lang="en-US" sz="3200" b="1" dirty="0" smtClean="0">
                <a:latin typeface="Times New Roman" pitchFamily="18" charset="0"/>
                <a:cs typeface="Times New Roman" pitchFamily="18" charset="0"/>
              </a:rPr>
              <a:t>Checkpoints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389120"/>
          </a:xfrm>
        </p:spPr>
        <p:txBody>
          <a:bodyPr>
            <a:normAutofit fontScale="92500" lnSpcReduction="20000"/>
          </a:bodyPr>
          <a:lstStyle/>
          <a:p>
            <a:pPr marL="0" indent="0" algn="just" fontAlgn="base">
              <a:buNone/>
            </a:pPr>
            <a:r>
              <a:rPr lang="en-US" dirty="0">
                <a:latin typeface="Times New Roman" pitchFamily="18" charset="0"/>
                <a:cs typeface="Times New Roman" pitchFamily="18" charset="0"/>
              </a:rPr>
              <a:t>A checkpoint marks a point in time where the DBMS ensures that the database is in a consistent state and all prior transactions have been committed. During transaction execution, these checkpoints are recorded periodically.</a:t>
            </a:r>
          </a:p>
          <a:p>
            <a:pPr marL="0" indent="0" algn="just" fontAlgn="base">
              <a:buNone/>
            </a:pPr>
            <a:r>
              <a:rPr lang="en-US" dirty="0">
                <a:latin typeface="Times New Roman" pitchFamily="18" charset="0"/>
                <a:cs typeface="Times New Roman" pitchFamily="18" charset="0"/>
              </a:rPr>
              <a:t>After a checkpoint is reached:</a:t>
            </a:r>
          </a:p>
          <a:p>
            <a:pPr algn="just" fontAlgn="base"/>
            <a:r>
              <a:rPr lang="en-US" dirty="0">
                <a:latin typeface="Times New Roman" pitchFamily="18" charset="0"/>
                <a:cs typeface="Times New Roman" pitchFamily="18" charset="0"/>
              </a:rPr>
              <a:t>The transaction log up to that point can be safely discarded, as all corresponding updates have already been written to the database.</a:t>
            </a:r>
          </a:p>
          <a:p>
            <a:pPr algn="just" fontAlgn="base"/>
            <a:r>
              <a:rPr lang="en-US" dirty="0">
                <a:latin typeface="Times New Roman" pitchFamily="18" charset="0"/>
                <a:cs typeface="Times New Roman" pitchFamily="18" charset="0"/>
              </a:rPr>
              <a:t>A new log file is then created to record changes from subsequent transactions.</a:t>
            </a:r>
          </a:p>
          <a:p>
            <a:pPr algn="just" fontAlgn="base"/>
            <a:r>
              <a:rPr lang="en-US" dirty="0">
                <a:latin typeface="Times New Roman" pitchFamily="18" charset="0"/>
                <a:cs typeface="Times New Roman" pitchFamily="18" charset="0"/>
              </a:rPr>
              <a:t>This process continues, allowing the system to limit the amount of log data and improve recovery efficiency by avoiding scanning the entire log history.</a:t>
            </a:r>
          </a:p>
          <a:p>
            <a:endParaRPr lang="en-US" dirty="0"/>
          </a:p>
        </p:txBody>
      </p:sp>
    </p:spTree>
    <p:extLst>
      <p:ext uri="{BB962C8B-B14F-4D97-AF65-F5344CB8AC3E}">
        <p14:creationId xmlns:p14="http://schemas.microsoft.com/office/powerpoint/2010/main" val="2349743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389120"/>
          </a:xfrm>
        </p:spPr>
        <p:txBody>
          <a:bodyPr/>
          <a:lstStyle/>
          <a:p>
            <a:pPr marL="0" indent="0" fontAlgn="base">
              <a:buNone/>
            </a:pPr>
            <a:r>
              <a:rPr lang="en-US" sz="2400" b="1" dirty="0">
                <a:latin typeface="Times New Roman" pitchFamily="18" charset="0"/>
                <a:cs typeface="Times New Roman" pitchFamily="18" charset="0"/>
              </a:rPr>
              <a:t>Steps to Use Checkpoints in the Database</a:t>
            </a:r>
          </a:p>
          <a:p>
            <a:pPr fontAlgn="base"/>
            <a:r>
              <a:rPr lang="en-US" sz="2400" dirty="0">
                <a:latin typeface="Times New Roman" pitchFamily="18" charset="0"/>
                <a:cs typeface="Times New Roman" pitchFamily="18" charset="0"/>
              </a:rPr>
              <a:t>Write the </a:t>
            </a:r>
            <a:r>
              <a:rPr lang="en-US" sz="2400" dirty="0" err="1">
                <a:latin typeface="Times New Roman" pitchFamily="18" charset="0"/>
                <a:cs typeface="Times New Roman" pitchFamily="18" charset="0"/>
              </a:rPr>
              <a:t>begin_checkpoint</a:t>
            </a:r>
            <a:r>
              <a:rPr lang="en-US" sz="2400" dirty="0">
                <a:latin typeface="Times New Roman" pitchFamily="18" charset="0"/>
                <a:cs typeface="Times New Roman" pitchFamily="18" charset="0"/>
              </a:rPr>
              <a:t> record into a log.</a:t>
            </a:r>
          </a:p>
          <a:p>
            <a:pPr fontAlgn="base"/>
            <a:r>
              <a:rPr lang="en-US" sz="2400" dirty="0">
                <a:latin typeface="Times New Roman" pitchFamily="18" charset="0"/>
                <a:cs typeface="Times New Roman" pitchFamily="18" charset="0"/>
              </a:rPr>
              <a:t>Collect checkpoint data in stable storage.</a:t>
            </a:r>
          </a:p>
          <a:p>
            <a:pPr fontAlgn="base"/>
            <a:r>
              <a:rPr lang="en-US" sz="2400" dirty="0">
                <a:latin typeface="Times New Roman" pitchFamily="18" charset="0"/>
                <a:cs typeface="Times New Roman" pitchFamily="18" charset="0"/>
              </a:rPr>
              <a:t>Write the </a:t>
            </a:r>
            <a:r>
              <a:rPr lang="en-US" sz="2400" dirty="0" err="1">
                <a:latin typeface="Times New Roman" pitchFamily="18" charset="0"/>
                <a:cs typeface="Times New Roman" pitchFamily="18" charset="0"/>
              </a:rPr>
              <a:t>end_checkpoint</a:t>
            </a:r>
            <a:r>
              <a:rPr lang="en-US" sz="2400" dirty="0">
                <a:latin typeface="Times New Roman" pitchFamily="18" charset="0"/>
                <a:cs typeface="Times New Roman" pitchFamily="18" charset="0"/>
              </a:rPr>
              <a:t> record into a log.</a:t>
            </a:r>
          </a:p>
          <a:p>
            <a:endParaRPr lang="en-US" dirty="0"/>
          </a:p>
        </p:txBody>
      </p:sp>
      <p:sp>
        <p:nvSpPr>
          <p:cNvPr id="4" name="Title 1"/>
          <p:cNvSpPr txBox="1">
            <a:spLocks/>
          </p:cNvSpPr>
          <p:nvPr/>
        </p:nvSpPr>
        <p:spPr>
          <a:xfrm>
            <a:off x="457200" y="762000"/>
            <a:ext cx="8229600" cy="551688"/>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smtClean="0">
                <a:latin typeface="Times New Roman" pitchFamily="18" charset="0"/>
                <a:cs typeface="Times New Roman" pitchFamily="18" charset="0"/>
              </a:rPr>
              <a:t>Checkpoints</a:t>
            </a:r>
            <a:endParaRPr lang="en-US" sz="32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456317"/>
            <a:ext cx="5248275"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6910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551688"/>
          </a:xfrm>
        </p:spPr>
        <p:txBody>
          <a:bodyPr>
            <a:normAutofit/>
          </a:bodyPr>
          <a:lstStyle/>
          <a:p>
            <a:r>
              <a:rPr lang="en-US" sz="3200" b="1" dirty="0">
                <a:latin typeface="Times New Roman" pitchFamily="18" charset="0"/>
                <a:cs typeface="Times New Roman" pitchFamily="18" charset="0"/>
              </a:rPr>
              <a:t>Shadow paging</a:t>
            </a:r>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pPr marL="0" indent="0" fontAlgn="base">
              <a:buNone/>
            </a:pPr>
            <a:r>
              <a:rPr lang="en-US" sz="2400" dirty="0">
                <a:latin typeface="Times New Roman" pitchFamily="18" charset="0"/>
                <a:cs typeface="Times New Roman" pitchFamily="18" charset="0"/>
              </a:rPr>
              <a:t>Shadow paging is a recovery technique used in DBMS to ensure that transactions are </a:t>
            </a:r>
            <a:r>
              <a:rPr lang="en-US" sz="2400" b="1" dirty="0">
                <a:latin typeface="Times New Roman" pitchFamily="18" charset="0"/>
                <a:cs typeface="Times New Roman" pitchFamily="18" charset="0"/>
              </a:rPr>
              <a:t>atomic</a:t>
            </a:r>
            <a:r>
              <a:rPr lang="en-US" sz="2400" dirty="0">
                <a:latin typeface="Times New Roman" pitchFamily="18" charset="0"/>
                <a:cs typeface="Times New Roman" pitchFamily="18" charset="0"/>
              </a:rPr>
              <a:t> (all-or-nothing) and </a:t>
            </a:r>
            <a:r>
              <a:rPr lang="en-US" sz="2400" b="1" dirty="0">
                <a:latin typeface="Times New Roman" pitchFamily="18" charset="0"/>
                <a:cs typeface="Times New Roman" pitchFamily="18" charset="0"/>
              </a:rPr>
              <a:t>durable</a:t>
            </a:r>
            <a:r>
              <a:rPr lang="en-US" sz="2400" dirty="0">
                <a:latin typeface="Times New Roman" pitchFamily="18" charset="0"/>
                <a:cs typeface="Times New Roman" pitchFamily="18" charset="0"/>
              </a:rPr>
              <a:t> (changes survive failures). Instead of keeping detailed logs like log-based recovery, shadow paging maintains </a:t>
            </a:r>
            <a:r>
              <a:rPr lang="en-US" sz="2400" b="1" dirty="0">
                <a:latin typeface="Times New Roman" pitchFamily="18" charset="0"/>
                <a:cs typeface="Times New Roman" pitchFamily="18" charset="0"/>
              </a:rPr>
              <a:t>two versions</a:t>
            </a:r>
            <a:r>
              <a:rPr lang="en-US" sz="2400" dirty="0">
                <a:latin typeface="Times New Roman" pitchFamily="18" charset="0"/>
                <a:cs typeface="Times New Roman" pitchFamily="18" charset="0"/>
              </a:rPr>
              <a:t> of the database’s page table:</a:t>
            </a:r>
          </a:p>
          <a:p>
            <a:pPr marL="0" indent="0" fontAlgn="base">
              <a:buNone/>
            </a:pPr>
            <a:r>
              <a:rPr lang="en-US" sz="2400" b="1" dirty="0">
                <a:latin typeface="Times New Roman" pitchFamily="18" charset="0"/>
                <a:cs typeface="Times New Roman" pitchFamily="18" charset="0"/>
              </a:rPr>
              <a:t>1. Shadow Page Table</a:t>
            </a:r>
          </a:p>
          <a:p>
            <a:pPr marL="0" indent="0" fontAlgn="base">
              <a:buNone/>
            </a:pPr>
            <a:r>
              <a:rPr lang="en-US" sz="2400" dirty="0">
                <a:latin typeface="Times New Roman" pitchFamily="18" charset="0"/>
                <a:cs typeface="Times New Roman" pitchFamily="18" charset="0"/>
              </a:rPr>
              <a:t>Represents the </a:t>
            </a:r>
            <a:r>
              <a:rPr lang="en-US" sz="2400" b="1" dirty="0">
                <a:latin typeface="Times New Roman" pitchFamily="18" charset="0"/>
                <a:cs typeface="Times New Roman" pitchFamily="18" charset="0"/>
              </a:rPr>
              <a:t>old, stable state</a:t>
            </a:r>
            <a:r>
              <a:rPr lang="en-US" sz="2400" dirty="0">
                <a:latin typeface="Times New Roman" pitchFamily="18" charset="0"/>
                <a:cs typeface="Times New Roman" pitchFamily="18" charset="0"/>
              </a:rPr>
              <a:t> of the database (before the transaction begins).</a:t>
            </a:r>
          </a:p>
          <a:p>
            <a:pPr marL="0" indent="0" fontAlgn="base">
              <a:buNone/>
            </a:pPr>
            <a:r>
              <a:rPr lang="en-US" sz="2400" dirty="0">
                <a:latin typeface="Times New Roman" pitchFamily="18" charset="0"/>
                <a:cs typeface="Times New Roman" pitchFamily="18" charset="0"/>
              </a:rPr>
              <a:t>It </a:t>
            </a:r>
            <a:r>
              <a:rPr lang="en-US" sz="2400" b="1" dirty="0">
                <a:latin typeface="Times New Roman" pitchFamily="18" charset="0"/>
                <a:cs typeface="Times New Roman" pitchFamily="18" charset="0"/>
              </a:rPr>
              <a:t>never changes</a:t>
            </a:r>
            <a:r>
              <a:rPr lang="en-US" sz="2400" dirty="0">
                <a:latin typeface="Times New Roman" pitchFamily="18" charset="0"/>
                <a:cs typeface="Times New Roman" pitchFamily="18" charset="0"/>
              </a:rPr>
              <a:t> during the transaction.</a:t>
            </a:r>
          </a:p>
          <a:p>
            <a:pPr marL="0" indent="0" fontAlgn="base">
              <a:buNone/>
            </a:pPr>
            <a:r>
              <a:rPr lang="en-US" sz="2400" dirty="0">
                <a:latin typeface="Times New Roman" pitchFamily="18" charset="0"/>
                <a:cs typeface="Times New Roman" pitchFamily="18" charset="0"/>
              </a:rPr>
              <a:t>If a failure occurs, the system can immediately revert to this version.</a:t>
            </a:r>
          </a:p>
          <a:p>
            <a:pPr marL="0" indent="0" fontAlgn="base">
              <a:buNone/>
            </a:pPr>
            <a:r>
              <a:rPr lang="en-US" sz="2400" b="1" dirty="0">
                <a:latin typeface="Times New Roman" pitchFamily="18" charset="0"/>
                <a:cs typeface="Times New Roman" pitchFamily="18" charset="0"/>
              </a:rPr>
              <a:t>2. Current Page Table</a:t>
            </a:r>
          </a:p>
          <a:p>
            <a:pPr marL="0" indent="0" fontAlgn="base">
              <a:buNone/>
            </a:pPr>
            <a:r>
              <a:rPr lang="en-US" sz="2400" dirty="0">
                <a:latin typeface="Times New Roman" pitchFamily="18" charset="0"/>
                <a:cs typeface="Times New Roman" pitchFamily="18" charset="0"/>
              </a:rPr>
              <a:t>A copy of the shadow page table made when a transaction starts.</a:t>
            </a:r>
          </a:p>
          <a:p>
            <a:pPr marL="0" indent="0" fontAlgn="base">
              <a:buNone/>
            </a:pPr>
            <a:r>
              <a:rPr lang="en-US" sz="2400" dirty="0">
                <a:latin typeface="Times New Roman" pitchFamily="18" charset="0"/>
                <a:cs typeface="Times New Roman" pitchFamily="18" charset="0"/>
              </a:rPr>
              <a:t>All updates during the transaction are made here.</a:t>
            </a:r>
          </a:p>
          <a:p>
            <a:pPr marL="0" indent="0" fontAlgn="base">
              <a:buNone/>
            </a:pPr>
            <a:r>
              <a:rPr lang="en-US" sz="2400" dirty="0">
                <a:latin typeface="Times New Roman" pitchFamily="18" charset="0"/>
                <a:cs typeface="Times New Roman" pitchFamily="18" charset="0"/>
              </a:rPr>
              <a:t>Only modified pages are replaced with new pages—this is known as </a:t>
            </a:r>
            <a:r>
              <a:rPr lang="en-US" sz="2400" b="1" dirty="0">
                <a:latin typeface="Times New Roman" pitchFamily="18" charset="0"/>
                <a:cs typeface="Times New Roman" pitchFamily="18" charset="0"/>
              </a:rPr>
              <a:t>copy-on-write</a:t>
            </a:r>
            <a:r>
              <a:rPr lang="en-US" sz="2400" dirty="0">
                <a:latin typeface="Times New Roman" pitchFamily="18" charset="0"/>
                <a:cs typeface="Times New Roman" pitchFamily="18" charset="0"/>
              </a:rPr>
              <a:t> or </a:t>
            </a:r>
            <a:r>
              <a:rPr lang="en-US" sz="2400" b="1" dirty="0">
                <a:latin typeface="Times New Roman" pitchFamily="18" charset="0"/>
                <a:cs typeface="Times New Roman" pitchFamily="18" charset="0"/>
              </a:rPr>
              <a:t>out-of-place updating</a:t>
            </a:r>
            <a:r>
              <a:rPr lang="en-US" sz="24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1827266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08888"/>
          </a:xfrm>
        </p:spPr>
        <p:txBody>
          <a:bodyPr>
            <a:normAutofit fontScale="90000"/>
          </a:bodyPr>
          <a:lstStyle/>
          <a:p>
            <a:r>
              <a:rPr lang="en-US" sz="3200" b="1" dirty="0">
                <a:latin typeface="Times New Roman" pitchFamily="18" charset="0"/>
                <a:cs typeface="Times New Roman" pitchFamily="18" charset="0"/>
              </a:rPr>
              <a:t>Algorithm for Recovery and Isolation Exploiting Semantics (ARIES</a:t>
            </a:r>
            <a:r>
              <a:rPr lang="en-US" sz="3200" b="1" dirty="0" smtClean="0">
                <a:latin typeface="Times New Roman" pitchFamily="18" charset="0"/>
                <a:cs typeface="Times New Roman" pitchFamily="18" charset="0"/>
              </a:rPr>
              <a:t>)</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5334000"/>
          </a:xfrm>
        </p:spPr>
        <p:txBody>
          <a:bodyPr>
            <a:normAutofit fontScale="70000" lnSpcReduction="20000"/>
          </a:bodyPr>
          <a:lstStyle/>
          <a:p>
            <a:pPr marL="0" indent="0" fontAlgn="base">
              <a:buNone/>
            </a:pPr>
            <a:r>
              <a:rPr lang="en-US" dirty="0">
                <a:latin typeface="Times New Roman" pitchFamily="18" charset="0"/>
                <a:cs typeface="Times New Roman" pitchFamily="18" charset="0"/>
              </a:rPr>
              <a:t>ARIES is a robust recovery algorithm based on the Write-Ahead Logging (WAL) protocol, widely used in modern DBMS to ensure durability and consistency after system failures.</a:t>
            </a:r>
          </a:p>
          <a:p>
            <a:pPr marL="0" indent="0" fontAlgn="base">
              <a:buNone/>
            </a:pPr>
            <a:r>
              <a:rPr lang="en-US" b="1" dirty="0">
                <a:latin typeface="Times New Roman" pitchFamily="18" charset="0"/>
                <a:cs typeface="Times New Roman" pitchFamily="18" charset="0"/>
              </a:rPr>
              <a:t>Types of Log Records in ARIES</a:t>
            </a:r>
          </a:p>
          <a:p>
            <a:pPr marL="0" indent="0" fontAlgn="base">
              <a:buNone/>
            </a:pPr>
            <a:r>
              <a:rPr lang="en-US" dirty="0">
                <a:latin typeface="Times New Roman" pitchFamily="18" charset="0"/>
                <a:cs typeface="Times New Roman" pitchFamily="18" charset="0"/>
              </a:rPr>
              <a:t>Every update operation creates a </a:t>
            </a:r>
            <a:r>
              <a:rPr lang="en-US" b="1" dirty="0">
                <a:latin typeface="Times New Roman" pitchFamily="18" charset="0"/>
                <a:cs typeface="Times New Roman" pitchFamily="18" charset="0"/>
              </a:rPr>
              <a:t>log record</a:t>
            </a:r>
            <a:r>
              <a:rPr lang="en-US" dirty="0">
                <a:latin typeface="Times New Roman" pitchFamily="18" charset="0"/>
                <a:cs typeface="Times New Roman" pitchFamily="18" charset="0"/>
              </a:rPr>
              <a:t>, which can be of the following types:</a:t>
            </a:r>
          </a:p>
          <a:p>
            <a:pPr marL="0" indent="0" fontAlgn="base">
              <a:buNone/>
            </a:pPr>
            <a:r>
              <a:rPr lang="en-US" b="1" dirty="0">
                <a:latin typeface="Times New Roman" pitchFamily="18" charset="0"/>
                <a:cs typeface="Times New Roman" pitchFamily="18" charset="0"/>
              </a:rPr>
              <a:t>Undo-only Log Record</a:t>
            </a:r>
            <a:r>
              <a:rPr lang="en-US" dirty="0">
                <a:latin typeface="Times New Roman" pitchFamily="18" charset="0"/>
                <a:cs typeface="Times New Roman" pitchFamily="18" charset="0"/>
              </a:rPr>
              <a:t>: Stores only the before image (original data). Used to undo changes.</a:t>
            </a:r>
          </a:p>
          <a:p>
            <a:pPr marL="0" indent="0" fontAlgn="base">
              <a:buNone/>
            </a:pPr>
            <a:r>
              <a:rPr lang="en-US" b="1" dirty="0">
                <a:latin typeface="Times New Roman" pitchFamily="18" charset="0"/>
                <a:cs typeface="Times New Roman" pitchFamily="18" charset="0"/>
              </a:rPr>
              <a:t>Redo-only Log Record</a:t>
            </a:r>
            <a:r>
              <a:rPr lang="en-US" dirty="0">
                <a:latin typeface="Times New Roman" pitchFamily="18" charset="0"/>
                <a:cs typeface="Times New Roman" pitchFamily="18" charset="0"/>
              </a:rPr>
              <a:t>: Stores only the after image (new data). Used to redo changes.</a:t>
            </a:r>
          </a:p>
          <a:p>
            <a:pPr marL="0" indent="0" fontAlgn="base">
              <a:buNone/>
            </a:pPr>
            <a:r>
              <a:rPr lang="en-US" b="1" dirty="0">
                <a:latin typeface="Times New Roman" pitchFamily="18" charset="0"/>
                <a:cs typeface="Times New Roman" pitchFamily="18" charset="0"/>
              </a:rPr>
              <a:t>Undo-Redo Log Record</a:t>
            </a:r>
            <a:r>
              <a:rPr lang="en-US" dirty="0">
                <a:latin typeface="Times New Roman" pitchFamily="18" charset="0"/>
                <a:cs typeface="Times New Roman" pitchFamily="18" charset="0"/>
              </a:rPr>
              <a:t>: Stores both before and after images. Used for both undo and redo operations.</a:t>
            </a:r>
          </a:p>
          <a:p>
            <a:pPr marL="0" indent="0" fontAlgn="base">
              <a:buNone/>
            </a:pPr>
            <a:r>
              <a:rPr lang="en-US" b="1" dirty="0">
                <a:latin typeface="Times New Roman" pitchFamily="18" charset="0"/>
                <a:cs typeface="Times New Roman" pitchFamily="18" charset="0"/>
              </a:rPr>
              <a:t>Log Sequence Numbers (LSN)</a:t>
            </a:r>
          </a:p>
          <a:p>
            <a:pPr marL="0" indent="0" fontAlgn="base">
              <a:buNone/>
            </a:pPr>
            <a:r>
              <a:rPr lang="en-US" dirty="0">
                <a:latin typeface="Times New Roman" pitchFamily="18" charset="0"/>
                <a:cs typeface="Times New Roman" pitchFamily="18" charset="0"/>
              </a:rPr>
              <a:t>Every log record is assigned a unique, monotonically increasing LSN.</a:t>
            </a:r>
          </a:p>
          <a:p>
            <a:pPr marL="0" indent="0" fontAlgn="base">
              <a:buNone/>
            </a:pPr>
            <a:r>
              <a:rPr lang="en-US" dirty="0">
                <a:latin typeface="Times New Roman" pitchFamily="18" charset="0"/>
                <a:cs typeface="Times New Roman" pitchFamily="18" charset="0"/>
              </a:rPr>
              <a:t>Every data page has a </a:t>
            </a:r>
            <a:r>
              <a:rPr lang="en-US" dirty="0" err="1">
                <a:latin typeface="Times New Roman" pitchFamily="18" charset="0"/>
                <a:cs typeface="Times New Roman" pitchFamily="18" charset="0"/>
              </a:rPr>
              <a:t>pageLSN</a:t>
            </a:r>
            <a:r>
              <a:rPr lang="en-US" dirty="0">
                <a:latin typeface="Times New Roman" pitchFamily="18" charset="0"/>
                <a:cs typeface="Times New Roman" pitchFamily="18" charset="0"/>
              </a:rPr>
              <a:t> indicating the LSN of the last update applied to it.</a:t>
            </a:r>
          </a:p>
          <a:p>
            <a:pPr marL="0" indent="0" fontAlgn="base">
              <a:buNone/>
            </a:pPr>
            <a:r>
              <a:rPr lang="en-US" b="1" dirty="0">
                <a:latin typeface="Times New Roman" pitchFamily="18" charset="0"/>
                <a:cs typeface="Times New Roman" pitchFamily="18" charset="0"/>
              </a:rPr>
              <a:t>Write-Ahead Logging (WAL) Rules</a:t>
            </a:r>
          </a:p>
          <a:p>
            <a:pPr marL="0" indent="0" fontAlgn="base">
              <a:buNone/>
            </a:pPr>
            <a:r>
              <a:rPr lang="en-US" dirty="0">
                <a:latin typeface="Times New Roman" pitchFamily="18" charset="0"/>
                <a:cs typeface="Times New Roman" pitchFamily="18" charset="0"/>
              </a:rPr>
              <a:t>A log record must reach stable storage before the corresponding data page is written to disk.</a:t>
            </a:r>
          </a:p>
          <a:p>
            <a:pPr marL="0" indent="0" fontAlgn="base">
              <a:buNone/>
            </a:pPr>
            <a:r>
              <a:rPr lang="en-US" dirty="0">
                <a:latin typeface="Times New Roman" pitchFamily="18" charset="0"/>
                <a:cs typeface="Times New Roman" pitchFamily="18" charset="0"/>
              </a:rPr>
              <a:t>Log writes are buffered in a memory area called the log tail.</a:t>
            </a:r>
          </a:p>
          <a:p>
            <a:pPr marL="0" indent="0" fontAlgn="base">
              <a:buNone/>
            </a:pPr>
            <a:r>
              <a:rPr lang="en-US" dirty="0">
                <a:latin typeface="Times New Roman" pitchFamily="18" charset="0"/>
                <a:cs typeface="Times New Roman" pitchFamily="18" charset="0"/>
              </a:rPr>
              <a:t>The log tail is flushed to disk when full.</a:t>
            </a:r>
          </a:p>
          <a:p>
            <a:pPr marL="0" indent="0" fontAlgn="base">
              <a:buNone/>
            </a:pPr>
            <a:r>
              <a:rPr lang="en-US" dirty="0">
                <a:latin typeface="Times New Roman" pitchFamily="18" charset="0"/>
                <a:cs typeface="Times New Roman" pitchFamily="18" charset="0"/>
              </a:rPr>
              <a:t>A transaction is not considered committed until its commit record is flushed to disk.</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109865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475488"/>
          </a:xfrm>
        </p:spPr>
        <p:txBody>
          <a:bodyPr>
            <a:normAutofit fontScale="90000"/>
          </a:bodyPr>
          <a:lstStyle/>
          <a:p>
            <a:r>
              <a:rPr lang="en-US" sz="3200" b="1" dirty="0">
                <a:latin typeface="Times New Roman" pitchFamily="18" charset="0"/>
                <a:cs typeface="Times New Roman" pitchFamily="18" charset="0"/>
              </a:rPr>
              <a:t>Recovery With Concurrent </a:t>
            </a:r>
            <a:r>
              <a:rPr lang="en-US" sz="3200" b="1" dirty="0" smtClean="0">
                <a:latin typeface="Times New Roman" pitchFamily="18" charset="0"/>
                <a:cs typeface="Times New Roman" pitchFamily="18" charset="0"/>
              </a:rPr>
              <a:t>Transactions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389120"/>
          </a:xfrm>
        </p:spPr>
        <p:txBody>
          <a:bodyPr>
            <a:normAutofit/>
          </a:bodyPr>
          <a:lstStyle/>
          <a:p>
            <a:pPr marL="0" indent="0" fontAlgn="base">
              <a:buNone/>
            </a:pPr>
            <a:r>
              <a:rPr lang="en-US" sz="2400" dirty="0" smtClean="0">
                <a:latin typeface="Times New Roman" pitchFamily="18" charset="0"/>
                <a:cs typeface="Times New Roman" pitchFamily="18" charset="0"/>
              </a:rPr>
              <a:t>Concurrency control means </a:t>
            </a:r>
            <a:r>
              <a:rPr lang="en-US" sz="2400" dirty="0">
                <a:latin typeface="Times New Roman" pitchFamily="18" charset="0"/>
                <a:cs typeface="Times New Roman" pitchFamily="18" charset="0"/>
              </a:rPr>
              <a:t>that multiple transactions can be executed at the same time and then the interleaved logs occur. But there may be changes in transaction results so maintain the order of execution of those transactions. During recovery, it would be very difficult for the recovery system to backtrack all the logs and then start recovering. Recovery with concurrent transactions can be done in the following four </a:t>
            </a:r>
            <a:r>
              <a:rPr lang="en-US" sz="2400" dirty="0" err="1">
                <a:latin typeface="Times New Roman" pitchFamily="18" charset="0"/>
                <a:cs typeface="Times New Roman" pitchFamily="18" charset="0"/>
              </a:rPr>
              <a:t>ways.Interaction</a:t>
            </a:r>
            <a:r>
              <a:rPr lang="en-US" sz="2400" dirty="0">
                <a:latin typeface="Times New Roman" pitchFamily="18" charset="0"/>
                <a:cs typeface="Times New Roman" pitchFamily="18" charset="0"/>
              </a:rPr>
              <a:t> with concurrency control</a:t>
            </a:r>
          </a:p>
          <a:p>
            <a:pPr lvl="1" fontAlgn="base"/>
            <a:r>
              <a:rPr lang="en-US" dirty="0">
                <a:latin typeface="Times New Roman" pitchFamily="18" charset="0"/>
                <a:cs typeface="Times New Roman" pitchFamily="18" charset="0"/>
              </a:rPr>
              <a:t>Transaction rollback</a:t>
            </a:r>
          </a:p>
          <a:p>
            <a:pPr lvl="1" fontAlgn="base"/>
            <a:r>
              <a:rPr lang="en-US" dirty="0">
                <a:latin typeface="Times New Roman" pitchFamily="18" charset="0"/>
                <a:cs typeface="Times New Roman" pitchFamily="18" charset="0"/>
              </a:rPr>
              <a:t>Checkpoints</a:t>
            </a:r>
          </a:p>
          <a:p>
            <a:pPr lvl="1" fontAlgn="base"/>
            <a:r>
              <a:rPr lang="en-US" dirty="0">
                <a:latin typeface="Times New Roman" pitchFamily="18" charset="0"/>
                <a:cs typeface="Times New Roman" pitchFamily="18" charset="0"/>
              </a:rPr>
              <a:t>Restart recovery</a:t>
            </a:r>
          </a:p>
          <a:p>
            <a:endParaRPr lang="en-US" dirty="0"/>
          </a:p>
        </p:txBody>
      </p:sp>
    </p:spTree>
    <p:extLst>
      <p:ext uri="{BB962C8B-B14F-4D97-AF65-F5344CB8AC3E}">
        <p14:creationId xmlns:p14="http://schemas.microsoft.com/office/powerpoint/2010/main" val="1986317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627888"/>
          </a:xfrm>
        </p:spPr>
        <p:txBody>
          <a:bodyPr>
            <a:normAutofit fontScale="90000"/>
          </a:bodyPr>
          <a:lstStyle/>
          <a:p>
            <a:r>
              <a:rPr lang="en-US" dirty="0"/>
              <a:t> </a:t>
            </a:r>
            <a:r>
              <a:rPr lang="en-US" sz="3200" b="1" dirty="0">
                <a:latin typeface="Times New Roman" panose="02020603050405020304" pitchFamily="18" charset="0"/>
                <a:cs typeface="Times New Roman" panose="02020603050405020304" pitchFamily="18" charset="0"/>
              </a:rPr>
              <a:t>Thomas Writes </a:t>
            </a:r>
            <a:r>
              <a:rPr lang="en-US" sz="3200" b="1" dirty="0" smtClean="0">
                <a:latin typeface="Times New Roman" panose="02020603050405020304" pitchFamily="18" charset="0"/>
                <a:cs typeface="Times New Roman" panose="02020603050405020304" pitchFamily="18" charset="0"/>
              </a:rPr>
              <a:t>rule</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7436" y="1600200"/>
            <a:ext cx="8229600" cy="4389120"/>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Thomas Write Rule</a:t>
            </a:r>
            <a:r>
              <a:rPr lang="en-US" sz="2400" dirty="0">
                <a:latin typeface="Times New Roman" panose="02020603050405020304" pitchFamily="18" charset="0"/>
                <a:cs typeface="Times New Roman" panose="02020603050405020304" pitchFamily="18" charset="0"/>
              </a:rPr>
              <a:t> is a concurrency control technique used in DBMS to manage concurrent transactions efficiently. It extends the traditional timestamp-ordering protocol by introducing conditions where outdated writes are ignored. It enhances the system performance while maintaining data consistency.</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089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806" y="762000"/>
            <a:ext cx="8229600" cy="627888"/>
          </a:xfrm>
        </p:spPr>
        <p:txBody>
          <a:bodyPr>
            <a:normAutofit/>
          </a:bodyPr>
          <a:lstStyle/>
          <a:p>
            <a:r>
              <a:rPr lang="en-IN" sz="3200" b="1" dirty="0" smtClean="0">
                <a:latin typeface="Times New Roman" panose="02020603050405020304" pitchFamily="18" charset="0"/>
                <a:cs typeface="Times New Roman" panose="02020603050405020304" pitchFamily="18" charset="0"/>
              </a:rPr>
              <a:t>Rules:</a:t>
            </a:r>
            <a:endParaRPr lang="en-IN" sz="32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20806" y="1524000"/>
            <a:ext cx="8229600" cy="5334000"/>
          </a:xfrm>
        </p:spPr>
        <p:txBody>
          <a:bodyPr>
            <a:normAutofit fontScale="92500" lnSpcReduction="20000"/>
          </a:bodyPr>
          <a:lstStyle/>
          <a:p>
            <a:pPr marL="0" indent="0">
              <a:buNone/>
            </a:pPr>
            <a:r>
              <a:rPr lang="en-US" dirty="0"/>
              <a:t>If TS(Ti</a:t>
            </a:r>
            <a:r>
              <a:rPr lang="en-US" dirty="0" smtClean="0"/>
              <a:t>) &lt; </a:t>
            </a:r>
            <a:r>
              <a:rPr lang="en-US" dirty="0"/>
              <a:t>R(Q) </a:t>
            </a:r>
          </a:p>
          <a:p>
            <a:pPr marL="0" indent="0">
              <a:buNone/>
            </a:pPr>
            <a:r>
              <a:rPr lang="en-US" dirty="0" smtClean="0"/>
              <a:t>    TS(Ti</a:t>
            </a:r>
            <a:r>
              <a:rPr lang="en-US" dirty="0"/>
              <a:t>) is the timestamp of transaction </a:t>
            </a:r>
            <a:r>
              <a:rPr lang="en-US" dirty="0" smtClean="0"/>
              <a:t>Ti, </a:t>
            </a:r>
            <a:r>
              <a:rPr lang="en-US" dirty="0"/>
              <a:t>and R(Q) is the </a:t>
            </a:r>
            <a:r>
              <a:rPr lang="en-US" dirty="0" smtClean="0"/>
              <a:t>    last </a:t>
            </a:r>
            <a:r>
              <a:rPr lang="en-US" dirty="0"/>
              <a:t>read timestamp of data Q.</a:t>
            </a:r>
          </a:p>
          <a:p>
            <a:pPr marL="0" indent="0">
              <a:buNone/>
            </a:pPr>
            <a:r>
              <a:rPr lang="en-US" dirty="0"/>
              <a:t>If TS(Ti</a:t>
            </a:r>
            <a:r>
              <a:rPr lang="en-US" dirty="0" smtClean="0"/>
              <a:t>)  </a:t>
            </a:r>
            <a:r>
              <a:rPr lang="en-US" dirty="0"/>
              <a:t>is less than R(Q), </a:t>
            </a:r>
            <a:endParaRPr lang="en-US" dirty="0" smtClean="0"/>
          </a:p>
          <a:p>
            <a:pPr marL="0" indent="0">
              <a:buNone/>
            </a:pPr>
            <a:r>
              <a:rPr lang="en-US" dirty="0"/>
              <a:t> </a:t>
            </a:r>
            <a:r>
              <a:rPr lang="en-US" dirty="0" smtClean="0"/>
              <a:t>   it </a:t>
            </a:r>
            <a:r>
              <a:rPr lang="en-US" dirty="0"/>
              <a:t>means the value Q created by Ti was </a:t>
            </a:r>
            <a:r>
              <a:rPr lang="en-US" dirty="0" smtClean="0"/>
              <a:t>already needed </a:t>
            </a:r>
            <a:r>
              <a:rPr lang="en-US" dirty="0"/>
              <a:t>but was never produced. In this case, Ti</a:t>
            </a:r>
          </a:p>
          <a:p>
            <a:pPr marL="0" indent="0">
              <a:buNone/>
            </a:pPr>
            <a:r>
              <a:rPr lang="en-US" dirty="0"/>
              <a:t> is rolled back.</a:t>
            </a:r>
          </a:p>
          <a:p>
            <a:pPr marL="0" indent="0">
              <a:buNone/>
            </a:pPr>
            <a:r>
              <a:rPr lang="en-US" dirty="0"/>
              <a:t>If TS(Ti</a:t>
            </a:r>
            <a:r>
              <a:rPr lang="en-US" dirty="0" smtClean="0"/>
              <a:t>) </a:t>
            </a:r>
            <a:r>
              <a:rPr lang="en-US" dirty="0"/>
              <a:t>&lt; W(Q) </a:t>
            </a:r>
          </a:p>
          <a:p>
            <a:pPr marL="0" indent="0">
              <a:buNone/>
            </a:pPr>
            <a:r>
              <a:rPr lang="en-US" dirty="0" smtClean="0"/>
              <a:t>     W(Q</a:t>
            </a:r>
            <a:r>
              <a:rPr lang="en-US" dirty="0"/>
              <a:t>) is the last write timestamp of Q.</a:t>
            </a:r>
          </a:p>
          <a:p>
            <a:pPr marL="0" indent="0">
              <a:buNone/>
            </a:pPr>
            <a:r>
              <a:rPr lang="en-US" dirty="0" smtClean="0"/>
              <a:t>If TS(Ti) is </a:t>
            </a:r>
            <a:r>
              <a:rPr lang="en-US" dirty="0"/>
              <a:t>less than W(Q), </a:t>
            </a:r>
            <a:endParaRPr lang="en-US" dirty="0" smtClean="0"/>
          </a:p>
          <a:p>
            <a:pPr marL="0" indent="0">
              <a:buNone/>
            </a:pPr>
            <a:r>
              <a:rPr lang="en-US" dirty="0"/>
              <a:t> </a:t>
            </a:r>
            <a:r>
              <a:rPr lang="en-US" dirty="0" smtClean="0"/>
              <a:t>   Ti is </a:t>
            </a:r>
            <a:r>
              <a:rPr lang="en-US" dirty="0"/>
              <a:t>writing an outdated value, so its write operation is ignored.</a:t>
            </a:r>
          </a:p>
          <a:p>
            <a:pPr marL="0" indent="0">
              <a:buNone/>
            </a:pPr>
            <a:r>
              <a:rPr lang="en-US" dirty="0"/>
              <a:t>Otherwise −</a:t>
            </a:r>
          </a:p>
          <a:p>
            <a:pPr marL="0" indent="0">
              <a:buNone/>
            </a:pPr>
            <a:r>
              <a:rPr lang="en-US" dirty="0" smtClean="0"/>
              <a:t>    If </a:t>
            </a:r>
            <a:r>
              <a:rPr lang="en-US" dirty="0"/>
              <a:t>neither of the above conditions applies, the write operation proceeds. Here the W(Q) is updated to TS(Ti)</a:t>
            </a:r>
            <a:endParaRPr lang="en-IN" dirty="0"/>
          </a:p>
        </p:txBody>
      </p:sp>
    </p:spTree>
    <p:extLst>
      <p:ext uri="{BB962C8B-B14F-4D97-AF65-F5344CB8AC3E}">
        <p14:creationId xmlns:p14="http://schemas.microsoft.com/office/powerpoint/2010/main" val="126033968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59</TotalTime>
  <Words>1080</Words>
  <Application>Microsoft Office PowerPoint</Application>
  <PresentationFormat>On-screen Show (4:3)</PresentationFormat>
  <Paragraphs>119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Constantia</vt:lpstr>
      <vt:lpstr>Times New Roman</vt:lpstr>
      <vt:lpstr>Wingdings 2</vt:lpstr>
      <vt:lpstr>Flow</vt:lpstr>
      <vt:lpstr>Database Recovery</vt:lpstr>
      <vt:lpstr>Database Recovery</vt:lpstr>
      <vt:lpstr>Log based Recovery technique </vt:lpstr>
      <vt:lpstr>PowerPoint Presentation</vt:lpstr>
      <vt:lpstr>Operations in Log-Based Recovery</vt:lpstr>
      <vt:lpstr>PowerPoint Presentation</vt:lpstr>
      <vt:lpstr>Methods of Log</vt:lpstr>
      <vt:lpstr>PowerPoint Presentation</vt:lpstr>
      <vt:lpstr>Timestamp-Based Protocols</vt:lpstr>
      <vt:lpstr>PowerPoint Presentation</vt:lpstr>
      <vt:lpstr>Checkpoints</vt:lpstr>
      <vt:lpstr>PowerPoint Presentation</vt:lpstr>
      <vt:lpstr>Shadow paging</vt:lpstr>
      <vt:lpstr>Algorithm for Recovery and Isolation Exploiting Semantics (ARIES)</vt:lpstr>
      <vt:lpstr>Recovery With Concurrent Transactions</vt:lpstr>
      <vt:lpstr> Thomas Writes rule</vt:lpstr>
      <vt:lpstr>Rules: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Recovery</dc:title>
  <dc:creator>Animation-16</dc:creator>
  <cp:lastModifiedBy>Windows User</cp:lastModifiedBy>
  <cp:revision>29</cp:revision>
  <dcterms:created xsi:type="dcterms:W3CDTF">2026-02-12T09:07:55Z</dcterms:created>
  <dcterms:modified xsi:type="dcterms:W3CDTF">2026-02-22T05:55:20Z</dcterms:modified>
</cp:coreProperties>
</file>