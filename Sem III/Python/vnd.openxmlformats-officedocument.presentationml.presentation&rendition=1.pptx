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6" r:id="rId2"/>
    <p:sldId id="259" r:id="rId3"/>
    <p:sldId id="267" r:id="rId4"/>
    <p:sldId id="262" r:id="rId5"/>
    <p:sldId id="263" r:id="rId6"/>
    <p:sldId id="264" r:id="rId7"/>
    <p:sldId id="268" r:id="rId8"/>
    <p:sldId id="284" r:id="rId9"/>
    <p:sldId id="282" r:id="rId10"/>
    <p:sldId id="283" r:id="rId11"/>
    <p:sldId id="285" r:id="rId12"/>
    <p:sldId id="275" r:id="rId13"/>
    <p:sldId id="276" r:id="rId14"/>
    <p:sldId id="277" r:id="rId15"/>
    <p:sldId id="278" r:id="rId16"/>
    <p:sldId id="280" r:id="rId17"/>
    <p:sldId id="287" r:id="rId18"/>
    <p:sldId id="288" r:id="rId19"/>
    <p:sldId id="281"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6" d="100"/>
          <a:sy n="86" d="100"/>
        </p:scale>
        <p:origin x="-1494"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D1123BE-FF08-4F33-ACE1-DA39CC4AC191}" type="datetimeFigureOut">
              <a:rPr lang="en-US" smtClean="0"/>
              <a:pPr/>
              <a:t>7/2/2025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1F70D5-6339-4881-A728-DB93BB82F04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1123BE-FF08-4F33-ACE1-DA39CC4AC191}" type="datetimeFigureOut">
              <a:rPr lang="en-US" smtClean="0"/>
              <a:pPr/>
              <a:t>7/2/2025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1F70D5-6339-4881-A728-DB93BB82F04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D1123BE-FF08-4F33-ACE1-DA39CC4AC191}" type="datetimeFigureOut">
              <a:rPr lang="en-US" smtClean="0"/>
              <a:pPr/>
              <a:t>7/2/2025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1F70D5-6339-4881-A728-DB93BB82F04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D1123BE-FF08-4F33-ACE1-DA39CC4AC191}" type="datetimeFigureOut">
              <a:rPr lang="en-US" smtClean="0"/>
              <a:pPr/>
              <a:t>7/2/2025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1F70D5-6339-4881-A728-DB93BB82F04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D1123BE-FF08-4F33-ACE1-DA39CC4AC191}" type="datetimeFigureOut">
              <a:rPr lang="en-US" smtClean="0"/>
              <a:pPr/>
              <a:t>7/2/2025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1F70D5-6339-4881-A728-DB93BB82F04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D1123BE-FF08-4F33-ACE1-DA39CC4AC191}" type="datetimeFigureOut">
              <a:rPr lang="en-US" smtClean="0"/>
              <a:pPr/>
              <a:t>7/2/2025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1F70D5-6339-4881-A728-DB93BB82F04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1123BE-FF08-4F33-ACE1-DA39CC4AC191}" type="datetimeFigureOut">
              <a:rPr lang="en-US" smtClean="0"/>
              <a:pPr/>
              <a:t>7/2/2025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1F70D5-6339-4881-A728-DB93BB82F04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D1123BE-FF08-4F33-ACE1-DA39CC4AC191}" type="datetimeFigureOut">
              <a:rPr lang="en-US" smtClean="0"/>
              <a:pPr/>
              <a:t>7/2/2025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1F70D5-6339-4881-A728-DB93BB82F04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D1123BE-FF08-4F33-ACE1-DA39CC4AC191}" type="datetimeFigureOut">
              <a:rPr lang="en-US" smtClean="0"/>
              <a:pPr/>
              <a:t>7/2/2025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1F70D5-6339-4881-A728-DB93BB82F04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1123BE-FF08-4F33-ACE1-DA39CC4AC191}" type="datetimeFigureOut">
              <a:rPr lang="en-US" smtClean="0"/>
              <a:pPr/>
              <a:t>7/2/2025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1F70D5-6339-4881-A728-DB93BB82F04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1123BE-FF08-4F33-ACE1-DA39CC4AC191}" type="datetimeFigureOut">
              <a:rPr lang="en-US" smtClean="0"/>
              <a:pPr/>
              <a:t>7/2/2025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1F70D5-6339-4881-A728-DB93BB82F04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1123BE-FF08-4F33-ACE1-DA39CC4AC191}" type="datetimeFigureOut">
              <a:rPr lang="en-US" smtClean="0"/>
              <a:pPr/>
              <a:t>7/2/2025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1F70D5-6339-4881-A728-DB93BB82F04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130425"/>
            <a:ext cx="8001000" cy="1470025"/>
          </a:xfrm>
        </p:spPr>
        <p:txBody>
          <a:bodyPr rtlCol="0">
            <a:normAutofit fontScale="90000"/>
          </a:bodyPr>
          <a:lstStyle/>
          <a:p>
            <a:pPr>
              <a:defRPr/>
            </a:pPr>
            <a:r>
              <a:rPr lang="en-GB" b="1" dirty="0" err="1" smtClean="0">
                <a:solidFill>
                  <a:schemeClr val="accent2">
                    <a:lumMod val="75000"/>
                  </a:schemeClr>
                </a:solidFill>
                <a:latin typeface="Algerian" pitchFamily="82" charset="0"/>
              </a:rPr>
              <a:t>S.Y.B.Sc</a:t>
            </a:r>
            <a:r>
              <a:rPr lang="en-GB" b="1" dirty="0" smtClean="0">
                <a:solidFill>
                  <a:schemeClr val="accent2">
                    <a:lumMod val="75000"/>
                  </a:schemeClr>
                </a:solidFill>
                <a:latin typeface="Algerian" pitchFamily="82" charset="0"/>
              </a:rPr>
              <a:t>.(DATA Science) </a:t>
            </a:r>
            <a:r>
              <a:rPr lang="en-GB" b="1" dirty="0" err="1" smtClean="0">
                <a:solidFill>
                  <a:schemeClr val="accent2">
                    <a:lumMod val="75000"/>
                  </a:schemeClr>
                </a:solidFill>
                <a:latin typeface="Algerian" pitchFamily="82" charset="0"/>
              </a:rPr>
              <a:t>Sem</a:t>
            </a:r>
            <a:r>
              <a:rPr lang="en-GB" b="1" dirty="0" smtClean="0">
                <a:solidFill>
                  <a:schemeClr val="accent2">
                    <a:lumMod val="75000"/>
                  </a:schemeClr>
                </a:solidFill>
                <a:latin typeface="Algerian" pitchFamily="82" charset="0"/>
              </a:rPr>
              <a:t>- III</a:t>
            </a:r>
            <a:br>
              <a:rPr lang="en-GB" b="1" dirty="0" smtClean="0">
                <a:solidFill>
                  <a:schemeClr val="accent2">
                    <a:lumMod val="75000"/>
                  </a:schemeClr>
                </a:solidFill>
                <a:latin typeface="Algerian" pitchFamily="82" charset="0"/>
              </a:rPr>
            </a:br>
            <a:r>
              <a:rPr lang="en-GB" b="1" dirty="0" smtClean="0">
                <a:solidFill>
                  <a:schemeClr val="accent2">
                    <a:lumMod val="75000"/>
                  </a:schemeClr>
                </a:solidFill>
                <a:latin typeface="Algerian" pitchFamily="82" charset="0"/>
              </a:rPr>
              <a:t>   S</a:t>
            </a:r>
            <a:r>
              <a:rPr lang="en-GB" sz="3600" b="1" dirty="0" smtClean="0">
                <a:solidFill>
                  <a:schemeClr val="accent2">
                    <a:lumMod val="75000"/>
                  </a:schemeClr>
                </a:solidFill>
                <a:latin typeface="+mn-lt"/>
              </a:rPr>
              <a:t>ubject: </a:t>
            </a:r>
            <a:r>
              <a:rPr lang="en-US" sz="3600" b="1" dirty="0">
                <a:solidFill>
                  <a:schemeClr val="accent2">
                    <a:lumMod val="75000"/>
                  </a:schemeClr>
                </a:solidFill>
                <a:latin typeface="+mn-lt"/>
              </a:rPr>
              <a:t>Data </a:t>
            </a:r>
            <a:r>
              <a:rPr lang="en-US" sz="3600" b="1" dirty="0" smtClean="0">
                <a:solidFill>
                  <a:schemeClr val="accent2">
                    <a:lumMod val="75000"/>
                  </a:schemeClr>
                </a:solidFill>
                <a:latin typeface="+mn-lt"/>
              </a:rPr>
              <a:t>Structure </a:t>
            </a:r>
            <a:r>
              <a:rPr lang="en-US" sz="3600" b="1" dirty="0">
                <a:solidFill>
                  <a:schemeClr val="accent2">
                    <a:lumMod val="75000"/>
                  </a:schemeClr>
                </a:solidFill>
                <a:latin typeface="+mn-lt"/>
              </a:rPr>
              <a:t>– I </a:t>
            </a:r>
            <a:r>
              <a:rPr lang="en-US" sz="3600" b="1" dirty="0" smtClean="0">
                <a:solidFill>
                  <a:schemeClr val="accent2">
                    <a:lumMod val="75000"/>
                  </a:schemeClr>
                </a:solidFill>
                <a:latin typeface="+mn-lt"/>
              </a:rPr>
              <a:t>	</a:t>
            </a:r>
            <a:br>
              <a:rPr lang="en-US" sz="3600" b="1" dirty="0" smtClean="0">
                <a:solidFill>
                  <a:schemeClr val="accent2">
                    <a:lumMod val="75000"/>
                  </a:schemeClr>
                </a:solidFill>
                <a:latin typeface="+mn-lt"/>
              </a:rPr>
            </a:br>
            <a:r>
              <a:rPr lang="en-US" sz="3600" b="1" dirty="0" smtClean="0">
                <a:solidFill>
                  <a:schemeClr val="accent2">
                    <a:lumMod val="75000"/>
                  </a:schemeClr>
                </a:solidFill>
                <a:latin typeface="+mn-lt"/>
              </a:rPr>
              <a:t/>
            </a:r>
            <a:br>
              <a:rPr lang="en-US" sz="3600" b="1" dirty="0" smtClean="0">
                <a:solidFill>
                  <a:schemeClr val="accent2">
                    <a:lumMod val="75000"/>
                  </a:schemeClr>
                </a:solidFill>
                <a:latin typeface="+mn-lt"/>
              </a:rPr>
            </a:br>
            <a:r>
              <a:rPr lang="en-GB" sz="3600" b="1" dirty="0" smtClean="0">
                <a:solidFill>
                  <a:schemeClr val="accent2">
                    <a:lumMod val="75000"/>
                  </a:schemeClr>
                </a:solidFill>
                <a:latin typeface="+mn-lt"/>
              </a:rPr>
              <a:t>Unit2 :</a:t>
            </a:r>
            <a:r>
              <a:rPr lang="en-US" sz="3600" b="1" dirty="0" smtClean="0">
                <a:solidFill>
                  <a:schemeClr val="accent2">
                    <a:lumMod val="75000"/>
                  </a:schemeClr>
                </a:solidFill>
                <a:latin typeface="+mn-lt"/>
              </a:rPr>
              <a:t> Array as a Data Structure </a:t>
            </a:r>
            <a:endParaRPr lang="en-US" sz="3600" b="1" dirty="0">
              <a:solidFill>
                <a:schemeClr val="accent2">
                  <a:lumMod val="75000"/>
                </a:schemeClr>
              </a:solidFill>
              <a:latin typeface="+mn-lt"/>
            </a:endParaRPr>
          </a:p>
        </p:txBody>
      </p:sp>
      <p:sp>
        <p:nvSpPr>
          <p:cNvPr id="3" name="Subtitle 2"/>
          <p:cNvSpPr>
            <a:spLocks noGrp="1"/>
          </p:cNvSpPr>
          <p:nvPr>
            <p:ph type="subTitle" idx="1"/>
          </p:nvPr>
        </p:nvSpPr>
        <p:spPr/>
        <p:txBody>
          <a:bodyPr rtlCol="0">
            <a:noAutofit/>
          </a:bodyPr>
          <a:lstStyle/>
          <a:p>
            <a:pPr eaLnBrk="1" fontAlgn="auto" hangingPunct="1">
              <a:spcAft>
                <a:spcPts val="0"/>
              </a:spcAft>
              <a:buFont typeface="Arial" pitchFamily="34" charset="0"/>
              <a:buNone/>
              <a:defRPr/>
            </a:pPr>
            <a:endParaRPr lang="en-GB" sz="3600" dirty="0" smtClean="0"/>
          </a:p>
          <a:p>
            <a:pPr eaLnBrk="1" fontAlgn="auto" hangingPunct="1">
              <a:spcAft>
                <a:spcPts val="0"/>
              </a:spcAft>
              <a:buFont typeface="Arial" pitchFamily="34" charset="0"/>
              <a:buNone/>
              <a:defRPr/>
            </a:pPr>
            <a:r>
              <a:rPr lang="en-GB" sz="1800" dirty="0" smtClean="0"/>
              <a:t>By, </a:t>
            </a:r>
          </a:p>
          <a:p>
            <a:pPr eaLnBrk="1" fontAlgn="auto" hangingPunct="1">
              <a:spcAft>
                <a:spcPts val="0"/>
              </a:spcAft>
              <a:buFont typeface="Arial" pitchFamily="34" charset="0"/>
              <a:buNone/>
              <a:defRPr/>
            </a:pPr>
            <a:r>
              <a:rPr lang="en-GB" b="1" dirty="0" smtClean="0">
                <a:solidFill>
                  <a:srgbClr val="0000FF"/>
                </a:solidFill>
                <a:latin typeface="Monotype Corsiva" pitchFamily="66" charset="0"/>
              </a:rPr>
              <a:t>Mrs. </a:t>
            </a:r>
            <a:r>
              <a:rPr lang="en-GB" b="1" dirty="0" err="1" smtClean="0">
                <a:solidFill>
                  <a:srgbClr val="0000FF"/>
                </a:solidFill>
                <a:latin typeface="Monotype Corsiva" pitchFamily="66" charset="0"/>
              </a:rPr>
              <a:t>Reshma</a:t>
            </a:r>
            <a:r>
              <a:rPr lang="en-GB" b="1" dirty="0" smtClean="0">
                <a:solidFill>
                  <a:srgbClr val="0000FF"/>
                </a:solidFill>
                <a:latin typeface="Monotype Corsiva" pitchFamily="66" charset="0"/>
              </a:rPr>
              <a:t> </a:t>
            </a:r>
            <a:r>
              <a:rPr lang="en-GB" b="1" dirty="0" err="1" smtClean="0">
                <a:solidFill>
                  <a:srgbClr val="0000FF"/>
                </a:solidFill>
                <a:latin typeface="Monotype Corsiva" pitchFamily="66" charset="0"/>
              </a:rPr>
              <a:t>Masurekar</a:t>
            </a:r>
            <a:endParaRPr lang="en-GB" b="1" dirty="0" smtClean="0">
              <a:solidFill>
                <a:srgbClr val="0000FF"/>
              </a:solidFill>
              <a:latin typeface="Monotype Corsiva" pitchFamily="66" charset="0"/>
            </a:endParaRPr>
          </a:p>
          <a:p>
            <a:pPr eaLnBrk="1" fontAlgn="auto" hangingPunct="1">
              <a:spcAft>
                <a:spcPts val="0"/>
              </a:spcAft>
              <a:buFont typeface="Arial" pitchFamily="34" charset="0"/>
              <a:buNone/>
              <a:defRPr/>
            </a:pPr>
            <a:r>
              <a:rPr lang="en-GB" sz="2000" b="1" dirty="0" smtClean="0">
                <a:solidFill>
                  <a:srgbClr val="0000FF"/>
                </a:solidFill>
                <a:latin typeface="Monotype Corsiva" pitchFamily="66" charset="0"/>
              </a:rPr>
              <a:t>Dr. D. Y. </a:t>
            </a:r>
            <a:r>
              <a:rPr lang="en-GB" sz="2000" b="1" dirty="0" err="1" smtClean="0">
                <a:solidFill>
                  <a:srgbClr val="0000FF"/>
                </a:solidFill>
                <a:latin typeface="Monotype Corsiva" pitchFamily="66" charset="0"/>
              </a:rPr>
              <a:t>Patil</a:t>
            </a:r>
            <a:r>
              <a:rPr lang="en-GB" sz="2000" b="1" dirty="0" smtClean="0">
                <a:solidFill>
                  <a:srgbClr val="0000FF"/>
                </a:solidFill>
                <a:latin typeface="Monotype Corsiva" pitchFamily="66" charset="0"/>
              </a:rPr>
              <a:t> ACS College, </a:t>
            </a:r>
          </a:p>
          <a:p>
            <a:pPr eaLnBrk="1" fontAlgn="auto" hangingPunct="1">
              <a:spcAft>
                <a:spcPts val="0"/>
              </a:spcAft>
              <a:buFont typeface="Arial" pitchFamily="34" charset="0"/>
              <a:buNone/>
              <a:defRPr/>
            </a:pPr>
            <a:r>
              <a:rPr lang="en-GB" sz="2000" b="1" dirty="0" err="1" smtClean="0">
                <a:solidFill>
                  <a:srgbClr val="0000FF"/>
                </a:solidFill>
                <a:latin typeface="Monotype Corsiva" pitchFamily="66" charset="0"/>
              </a:rPr>
              <a:t>Pimpri</a:t>
            </a:r>
            <a:r>
              <a:rPr lang="en-GB" sz="2000" b="1" dirty="0" smtClean="0">
                <a:solidFill>
                  <a:srgbClr val="0000FF"/>
                </a:solidFill>
                <a:latin typeface="Monotype Corsiva" pitchFamily="66" charset="0"/>
              </a:rPr>
              <a:t>, </a:t>
            </a:r>
            <a:r>
              <a:rPr lang="en-GB" sz="2000" b="1" dirty="0" err="1" smtClean="0">
                <a:solidFill>
                  <a:srgbClr val="0000FF"/>
                </a:solidFill>
                <a:latin typeface="Monotype Corsiva" pitchFamily="66" charset="0"/>
              </a:rPr>
              <a:t>Pune</a:t>
            </a:r>
            <a:r>
              <a:rPr lang="en-GB" sz="2000" b="1" dirty="0" smtClean="0">
                <a:solidFill>
                  <a:srgbClr val="0000FF"/>
                </a:solidFill>
                <a:latin typeface="Monotype Corsiva" pitchFamily="66" charset="0"/>
              </a:rPr>
              <a:t> 18.</a:t>
            </a:r>
          </a:p>
          <a:p>
            <a:pPr eaLnBrk="1" fontAlgn="auto" hangingPunct="1">
              <a:spcAft>
                <a:spcPts val="0"/>
              </a:spcAft>
              <a:buFont typeface="Arial" pitchFamily="34" charset="0"/>
              <a:buNone/>
              <a:defRPr/>
            </a:pPr>
            <a:endParaRPr lang="en-US" sz="36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Searching</a:t>
            </a:r>
            <a:endParaRPr lang="en-US" dirty="0"/>
          </a:p>
        </p:txBody>
      </p:sp>
      <p:sp>
        <p:nvSpPr>
          <p:cNvPr id="3" name="Content Placeholder 2"/>
          <p:cNvSpPr>
            <a:spLocks noGrp="1"/>
          </p:cNvSpPr>
          <p:nvPr>
            <p:ph idx="1"/>
          </p:nvPr>
        </p:nvSpPr>
        <p:spPr/>
        <p:txBody>
          <a:bodyPr>
            <a:noAutofit/>
          </a:bodyPr>
          <a:lstStyle/>
          <a:p>
            <a:pPr algn="just"/>
            <a:r>
              <a:rPr lang="en-US" sz="2200" b="1" dirty="0" smtClean="0"/>
              <a:t>Searching </a:t>
            </a:r>
            <a:r>
              <a:rPr lang="en-US" sz="2200" dirty="0"/>
              <a:t>is the process of finding </a:t>
            </a:r>
            <a:r>
              <a:rPr lang="en-US" sz="2200" dirty="0" smtClean="0"/>
              <a:t>a </a:t>
            </a:r>
            <a:r>
              <a:rPr lang="en-US" sz="2200" dirty="0"/>
              <a:t>particular element in the list. </a:t>
            </a:r>
            <a:endParaRPr lang="en-US" sz="2200" dirty="0" smtClean="0"/>
          </a:p>
          <a:p>
            <a:pPr algn="just"/>
            <a:r>
              <a:rPr lang="en-US" sz="2200" dirty="0" smtClean="0"/>
              <a:t>If </a:t>
            </a:r>
            <a:r>
              <a:rPr lang="en-US" sz="2200" dirty="0"/>
              <a:t>the element is present in the list, then the process is called successful, and the process returns the location of that element; otherwise, the search is called unsuccessful.</a:t>
            </a:r>
          </a:p>
          <a:p>
            <a:pPr algn="just"/>
            <a:r>
              <a:rPr lang="en-US" sz="2200" dirty="0"/>
              <a:t>Two popular search methods are </a:t>
            </a:r>
            <a:endParaRPr lang="en-US" sz="2200" dirty="0" smtClean="0"/>
          </a:p>
          <a:p>
            <a:pPr lvl="1" algn="just"/>
            <a:r>
              <a:rPr lang="en-US" sz="2200" dirty="0" smtClean="0"/>
              <a:t>Linear </a:t>
            </a:r>
            <a:r>
              <a:rPr lang="en-US" sz="2200" dirty="0"/>
              <a:t>Search </a:t>
            </a:r>
            <a:endParaRPr lang="en-US" sz="2200" dirty="0" smtClean="0"/>
          </a:p>
          <a:p>
            <a:pPr lvl="1" algn="just"/>
            <a:r>
              <a:rPr lang="en-US" sz="2200" dirty="0" smtClean="0"/>
              <a:t>Binary Search</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Linear Search</a:t>
            </a:r>
            <a:endParaRPr lang="en-US" dirty="0"/>
          </a:p>
        </p:txBody>
      </p:sp>
      <p:sp>
        <p:nvSpPr>
          <p:cNvPr id="3" name="Content Placeholder 2"/>
          <p:cNvSpPr>
            <a:spLocks noGrp="1"/>
          </p:cNvSpPr>
          <p:nvPr>
            <p:ph idx="1"/>
          </p:nvPr>
        </p:nvSpPr>
        <p:spPr/>
        <p:txBody>
          <a:bodyPr>
            <a:normAutofit/>
          </a:bodyPr>
          <a:lstStyle/>
          <a:p>
            <a:pPr algn="just"/>
            <a:r>
              <a:rPr lang="en-US" sz="2400" dirty="0" smtClean="0"/>
              <a:t>Linear search is also called as </a:t>
            </a:r>
            <a:r>
              <a:rPr lang="en-US" sz="2400" b="1" dirty="0" smtClean="0"/>
              <a:t>sequential search algorithm.</a:t>
            </a:r>
            <a:r>
              <a:rPr lang="en-US" sz="2400" dirty="0" smtClean="0"/>
              <a:t> </a:t>
            </a:r>
          </a:p>
          <a:p>
            <a:pPr algn="just"/>
            <a:r>
              <a:rPr lang="en-US" sz="2400" dirty="0" smtClean="0"/>
              <a:t>It is the Simplest searching algorithm. </a:t>
            </a:r>
          </a:p>
          <a:p>
            <a:pPr algn="just"/>
            <a:r>
              <a:rPr lang="en-US" sz="2400" dirty="0" smtClean="0"/>
              <a:t>Traverse the list completely and match each element of the list with the Key whose location is to be found. If the match is found, then the location of the key is returned; otherwise, the algorithm returns NULL.</a:t>
            </a:r>
          </a:p>
          <a:p>
            <a:pPr algn="just"/>
            <a:r>
              <a:rPr lang="en-US" sz="2400" dirty="0" smtClean="0"/>
              <a:t>It is widely used to search an element from the unordered list.</a:t>
            </a:r>
          </a:p>
          <a:p>
            <a:pPr algn="just"/>
            <a:endParaRPr lang="en-US" sz="2400" dirty="0" smtClean="0"/>
          </a:p>
          <a:p>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0"/>
            <a:ext cx="8229600" cy="457200"/>
          </a:xfrm>
        </p:spPr>
        <p:txBody>
          <a:bodyPr>
            <a:noAutofit/>
          </a:bodyPr>
          <a:lstStyle/>
          <a:p>
            <a:r>
              <a:rPr lang="en-US" sz="2000" b="1" dirty="0" smtClean="0">
                <a:latin typeface="+mn-lt"/>
              </a:rPr>
              <a:t/>
            </a:r>
            <a:br>
              <a:rPr lang="en-US" sz="2000" b="1" dirty="0" smtClean="0">
                <a:latin typeface="+mn-lt"/>
              </a:rPr>
            </a:br>
            <a:r>
              <a:rPr lang="en-US" sz="2000" b="1" dirty="0" smtClean="0">
                <a:latin typeface="+mn-lt"/>
              </a:rPr>
              <a:t/>
            </a:r>
            <a:br>
              <a:rPr lang="en-US" sz="2000" b="1" dirty="0" smtClean="0">
                <a:latin typeface="+mn-lt"/>
              </a:rPr>
            </a:br>
            <a:r>
              <a:rPr lang="en-US" sz="2000" b="1" dirty="0" smtClean="0">
                <a:latin typeface="+mn-lt"/>
              </a:rPr>
              <a:t>Working </a:t>
            </a:r>
            <a:r>
              <a:rPr lang="en-US" sz="2000" b="1" dirty="0">
                <a:latin typeface="+mn-lt"/>
              </a:rPr>
              <a:t>of Linear </a:t>
            </a:r>
            <a:r>
              <a:rPr lang="en-US" sz="2000" b="1" dirty="0" smtClean="0">
                <a:latin typeface="+mn-lt"/>
              </a:rPr>
              <a:t>search</a:t>
            </a:r>
            <a:br>
              <a:rPr lang="en-US" sz="2000" b="1" dirty="0" smtClean="0">
                <a:latin typeface="+mn-lt"/>
              </a:rPr>
            </a:br>
            <a:r>
              <a:rPr lang="en-US" sz="2000" dirty="0">
                <a:latin typeface="+mn-lt"/>
              </a:rPr>
              <a:t/>
            </a:r>
            <a:br>
              <a:rPr lang="en-US" sz="2000" dirty="0">
                <a:latin typeface="+mn-lt"/>
              </a:rPr>
            </a:br>
            <a:endParaRPr lang="en-US" sz="2000" dirty="0">
              <a:latin typeface="+mn-lt"/>
            </a:endParaRPr>
          </a:p>
        </p:txBody>
      </p:sp>
      <p:sp>
        <p:nvSpPr>
          <p:cNvPr id="3" name="Content Placeholder 2"/>
          <p:cNvSpPr>
            <a:spLocks noGrp="1"/>
          </p:cNvSpPr>
          <p:nvPr>
            <p:ph idx="1"/>
          </p:nvPr>
        </p:nvSpPr>
        <p:spPr>
          <a:xfrm>
            <a:off x="457200" y="3048000"/>
            <a:ext cx="8229600" cy="1066800"/>
          </a:xfrm>
        </p:spPr>
        <p:txBody>
          <a:bodyPr/>
          <a:lstStyle/>
          <a:p>
            <a:r>
              <a:rPr lang="en-US" sz="2000" dirty="0">
                <a:ea typeface="+mj-ea"/>
                <a:cs typeface="+mj-cs"/>
              </a:rPr>
              <a:t>Let the element to be searched is K = 41</a:t>
            </a:r>
          </a:p>
          <a:p>
            <a:r>
              <a:rPr lang="en-US" sz="2000" dirty="0">
                <a:ea typeface="+mj-ea"/>
                <a:cs typeface="+mj-cs"/>
              </a:rPr>
              <a:t>Now, start from the first element and compare K with each element of the array.</a:t>
            </a:r>
          </a:p>
          <a:p>
            <a:endParaRPr lang="en-US" dirty="0"/>
          </a:p>
        </p:txBody>
      </p:sp>
      <p:sp>
        <p:nvSpPr>
          <p:cNvPr id="18434" name="AutoShape 2" descr="Linear Search Algorithm"/>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8435" name="Picture 3" descr="E:\reshma\2023-24\SYBCS(DS)\University DS QP\linear-search-algorithm1.png"/>
          <p:cNvPicPr>
            <a:picLocks noChangeAspect="1" noChangeArrowheads="1"/>
          </p:cNvPicPr>
          <p:nvPr/>
        </p:nvPicPr>
        <p:blipFill>
          <a:blip r:embed="rId2" cstate="print"/>
          <a:srcRect/>
          <a:stretch>
            <a:fillRect/>
          </a:stretch>
        </p:blipFill>
        <p:spPr bwMode="auto">
          <a:xfrm>
            <a:off x="685800" y="2133600"/>
            <a:ext cx="4229100" cy="781050"/>
          </a:xfrm>
          <a:prstGeom prst="rect">
            <a:avLst/>
          </a:prstGeom>
          <a:noFill/>
        </p:spPr>
      </p:pic>
      <p:pic>
        <p:nvPicPr>
          <p:cNvPr id="18436" name="Picture 4" descr="E:\reshma\2023-24\SYBCS(DS)\University DS QP\linear-search-algorithm2.png"/>
          <p:cNvPicPr>
            <a:picLocks noChangeAspect="1" noChangeArrowheads="1"/>
          </p:cNvPicPr>
          <p:nvPr/>
        </p:nvPicPr>
        <p:blipFill>
          <a:blip r:embed="rId3" cstate="print"/>
          <a:srcRect/>
          <a:stretch>
            <a:fillRect/>
          </a:stretch>
        </p:blipFill>
        <p:spPr bwMode="auto">
          <a:xfrm>
            <a:off x="685800" y="4114800"/>
            <a:ext cx="4229100" cy="1304925"/>
          </a:xfrm>
          <a:prstGeom prst="rect">
            <a:avLst/>
          </a:prstGeom>
          <a:noFill/>
        </p:spPr>
      </p:pic>
      <p:sp>
        <p:nvSpPr>
          <p:cNvPr id="7" name="Rectangle 6"/>
          <p:cNvSpPr/>
          <p:nvPr/>
        </p:nvSpPr>
        <p:spPr>
          <a:xfrm>
            <a:off x="457200" y="5410200"/>
            <a:ext cx="8077200" cy="923330"/>
          </a:xfrm>
          <a:prstGeom prst="rect">
            <a:avLst/>
          </a:prstGeom>
        </p:spPr>
        <p:txBody>
          <a:bodyPr wrap="square">
            <a:spAutoFit/>
          </a:bodyPr>
          <a:lstStyle/>
          <a:p>
            <a:pPr>
              <a:buFont typeface="Arial" pitchFamily="34" charset="0"/>
              <a:buChar char="•"/>
            </a:pPr>
            <a:r>
              <a:rPr lang="en-US" dirty="0" smtClean="0"/>
              <a:t>    The </a:t>
            </a:r>
            <a:r>
              <a:rPr lang="en-US" dirty="0"/>
              <a:t>value of </a:t>
            </a:r>
            <a:r>
              <a:rPr lang="en-US" b="1" dirty="0"/>
              <a:t>K,</a:t>
            </a:r>
            <a:r>
              <a:rPr lang="en-US" dirty="0"/>
              <a:t> i.e., </a:t>
            </a:r>
            <a:r>
              <a:rPr lang="en-US" b="1" dirty="0"/>
              <a:t>41,</a:t>
            </a:r>
            <a:r>
              <a:rPr lang="en-US" dirty="0"/>
              <a:t> is not matched with the first element of the array. So, move to the next element. And follow the same process until the respective element is found.</a:t>
            </a:r>
          </a:p>
        </p:txBody>
      </p:sp>
      <p:sp>
        <p:nvSpPr>
          <p:cNvPr id="8" name="TextBox 7"/>
          <p:cNvSpPr txBox="1"/>
          <p:nvPr/>
        </p:nvSpPr>
        <p:spPr>
          <a:xfrm>
            <a:off x="533400" y="1371600"/>
            <a:ext cx="8001000" cy="646331"/>
          </a:xfrm>
          <a:prstGeom prst="rect">
            <a:avLst/>
          </a:prstGeom>
          <a:noFill/>
        </p:spPr>
        <p:txBody>
          <a:bodyPr wrap="square" rtlCol="0">
            <a:spAutoFit/>
          </a:bodyPr>
          <a:lstStyle/>
          <a:p>
            <a:r>
              <a:rPr lang="en-US" dirty="0" smtClean="0"/>
              <a:t>Let's consider an unsorted array. Let the elements of array are -</a:t>
            </a:r>
            <a:br>
              <a:rPr lang="en-US" dirty="0" smtClean="0"/>
            </a:b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E:\reshma\2023-24\SYBCS(DS)\University DS QP\linear-search-algorithm3.png"/>
          <p:cNvPicPr>
            <a:picLocks noChangeAspect="1" noChangeArrowheads="1"/>
          </p:cNvPicPr>
          <p:nvPr/>
        </p:nvPicPr>
        <p:blipFill>
          <a:blip r:embed="rId2" cstate="print"/>
          <a:srcRect/>
          <a:stretch>
            <a:fillRect/>
          </a:stretch>
        </p:blipFill>
        <p:spPr bwMode="auto">
          <a:xfrm>
            <a:off x="2590800" y="304800"/>
            <a:ext cx="3581400" cy="5238750"/>
          </a:xfrm>
          <a:prstGeom prst="rect">
            <a:avLst/>
          </a:prstGeom>
          <a:noFill/>
        </p:spPr>
      </p:pic>
      <p:sp>
        <p:nvSpPr>
          <p:cNvPr id="3" name="Rectangle 2"/>
          <p:cNvSpPr/>
          <p:nvPr/>
        </p:nvSpPr>
        <p:spPr>
          <a:xfrm>
            <a:off x="762000" y="5715000"/>
            <a:ext cx="7924800" cy="646331"/>
          </a:xfrm>
          <a:prstGeom prst="rect">
            <a:avLst/>
          </a:prstGeom>
        </p:spPr>
        <p:txBody>
          <a:bodyPr wrap="square">
            <a:spAutoFit/>
          </a:bodyPr>
          <a:lstStyle/>
          <a:p>
            <a:r>
              <a:rPr lang="en-US" dirty="0"/>
              <a:t>Now, the element to be searched is found. So algorithm will return the index of the element matched.</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Linear Search Time Complexity</a:t>
            </a:r>
            <a:endParaRPr lang="en-US" dirty="0"/>
          </a:p>
        </p:txBody>
      </p:sp>
      <p:sp>
        <p:nvSpPr>
          <p:cNvPr id="3" name="Content Placeholder 2"/>
          <p:cNvSpPr>
            <a:spLocks noGrp="1"/>
          </p:cNvSpPr>
          <p:nvPr>
            <p:ph idx="1"/>
          </p:nvPr>
        </p:nvSpPr>
        <p:spPr/>
        <p:txBody>
          <a:bodyPr>
            <a:normAutofit/>
          </a:bodyPr>
          <a:lstStyle/>
          <a:p>
            <a:pPr algn="just"/>
            <a:r>
              <a:rPr lang="en-US" sz="2000" b="1" dirty="0"/>
              <a:t>Best </a:t>
            </a:r>
            <a:r>
              <a:rPr lang="en-US" sz="2000" b="1" dirty="0" smtClean="0"/>
              <a:t>Case:</a:t>
            </a:r>
            <a:r>
              <a:rPr lang="en-US" sz="2000" dirty="0"/>
              <a:t> </a:t>
            </a:r>
            <a:r>
              <a:rPr lang="en-US" sz="2000" dirty="0" smtClean="0"/>
              <a:t>The best-case time complexity of linear search is </a:t>
            </a:r>
            <a:r>
              <a:rPr lang="en-US" sz="2000" b="1" dirty="0" smtClean="0"/>
              <a:t>O(1). </a:t>
            </a:r>
            <a:r>
              <a:rPr lang="en-US" sz="2000" dirty="0" smtClean="0"/>
              <a:t>Best </a:t>
            </a:r>
            <a:r>
              <a:rPr lang="en-US" sz="2000" dirty="0"/>
              <a:t>case occurs when the element we are finding is at the first position of the array. </a:t>
            </a:r>
            <a:endParaRPr lang="en-US" sz="2000" b="1" dirty="0" smtClean="0"/>
          </a:p>
          <a:p>
            <a:pPr algn="just"/>
            <a:r>
              <a:rPr lang="en-US" sz="2000" b="1" dirty="0"/>
              <a:t>Average </a:t>
            </a:r>
            <a:r>
              <a:rPr lang="en-US" sz="2000" b="1" dirty="0" smtClean="0"/>
              <a:t>Case: </a:t>
            </a:r>
            <a:r>
              <a:rPr lang="en-US" sz="2000" dirty="0"/>
              <a:t>The average case time complexity of linear search is </a:t>
            </a:r>
            <a:r>
              <a:rPr lang="en-US" sz="2000" b="1" dirty="0"/>
              <a:t>O(n). </a:t>
            </a:r>
            <a:endParaRPr lang="en-US" sz="2000" b="1" dirty="0" smtClean="0"/>
          </a:p>
          <a:p>
            <a:pPr algn="just"/>
            <a:r>
              <a:rPr lang="en-US" sz="2000" b="1" dirty="0"/>
              <a:t>Worst </a:t>
            </a:r>
            <a:r>
              <a:rPr lang="en-US" sz="2000" b="1" dirty="0" smtClean="0"/>
              <a:t>Case: </a:t>
            </a:r>
            <a:r>
              <a:rPr lang="en-US" sz="2000" dirty="0" smtClean="0"/>
              <a:t>The worst-case time complexity of linear search is </a:t>
            </a:r>
            <a:r>
              <a:rPr lang="en-US" sz="2000" b="1" dirty="0" smtClean="0"/>
              <a:t>O(n).  </a:t>
            </a:r>
            <a:r>
              <a:rPr lang="en-US" sz="2000" dirty="0" smtClean="0"/>
              <a:t>The </a:t>
            </a:r>
            <a:r>
              <a:rPr lang="en-US" sz="2000" dirty="0"/>
              <a:t>worst case occurs when the </a:t>
            </a:r>
            <a:r>
              <a:rPr lang="en-US" sz="2000" dirty="0" smtClean="0"/>
              <a:t>key we have to search is present </a:t>
            </a:r>
            <a:r>
              <a:rPr lang="en-US" sz="2000" dirty="0"/>
              <a:t>at the end of the array. The worst-case in linear search could be when the target element is not present in the given array, and we have to traverse the entire array. </a:t>
            </a:r>
            <a:endParaRPr lang="en-US" sz="2000" b="1" dirty="0" smtClean="0"/>
          </a:p>
          <a:p>
            <a:pPr algn="just"/>
            <a:r>
              <a:rPr lang="en-US" sz="2000" dirty="0">
                <a:solidFill>
                  <a:srgbClr val="FF0000"/>
                </a:solidFill>
              </a:rPr>
              <a:t>The time complexity of linear search is </a:t>
            </a:r>
            <a:r>
              <a:rPr lang="en-US" sz="2000" b="1" dirty="0">
                <a:solidFill>
                  <a:srgbClr val="FF0000"/>
                </a:solidFill>
              </a:rPr>
              <a:t>O(n)</a:t>
            </a:r>
            <a:r>
              <a:rPr lang="en-US" sz="2000" dirty="0">
                <a:solidFill>
                  <a:srgbClr val="FF0000"/>
                </a:solidFill>
              </a:rPr>
              <a:t> because every element in the array is compared only once. </a:t>
            </a:r>
            <a:r>
              <a:rPr lang="en-US" sz="2000" b="1" dirty="0" smtClean="0">
                <a:solidFill>
                  <a:srgbClr val="FF0000"/>
                </a:solidFill>
              </a:rPr>
              <a:t>	</a:t>
            </a:r>
            <a:endParaRPr lang="en-US" sz="2000" dirty="0">
              <a:solidFill>
                <a:srgbClr val="FF0000"/>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Binary Search</a:t>
            </a:r>
            <a:endParaRPr lang="en-US" dirty="0"/>
          </a:p>
        </p:txBody>
      </p:sp>
      <p:sp>
        <p:nvSpPr>
          <p:cNvPr id="3" name="Content Placeholder 2"/>
          <p:cNvSpPr>
            <a:spLocks noGrp="1"/>
          </p:cNvSpPr>
          <p:nvPr>
            <p:ph idx="1"/>
          </p:nvPr>
        </p:nvSpPr>
        <p:spPr>
          <a:xfrm>
            <a:off x="457200" y="1143000"/>
            <a:ext cx="8229600" cy="4983163"/>
          </a:xfrm>
        </p:spPr>
        <p:txBody>
          <a:bodyPr>
            <a:normAutofit fontScale="92500" lnSpcReduction="10000"/>
          </a:bodyPr>
          <a:lstStyle/>
          <a:p>
            <a:pPr algn="just"/>
            <a:r>
              <a:rPr lang="en-US" sz="2400" dirty="0" smtClean="0"/>
              <a:t>A Binary Search is a search algorithm, that is used to search a key in a sorted array.</a:t>
            </a:r>
            <a:endParaRPr lang="en-US" sz="2400" i="1" dirty="0" smtClean="0">
              <a:solidFill>
                <a:srgbClr val="C00000"/>
              </a:solidFill>
            </a:endParaRPr>
          </a:p>
          <a:p>
            <a:pPr algn="just"/>
            <a:r>
              <a:rPr lang="en-US" sz="2400" dirty="0" smtClean="0"/>
              <a:t>Binary </a:t>
            </a:r>
            <a:r>
              <a:rPr lang="en-US" sz="2400" dirty="0"/>
              <a:t>Search</a:t>
            </a:r>
            <a:r>
              <a:rPr lang="en-US" sz="2400" i="1" dirty="0"/>
              <a:t> </a:t>
            </a:r>
            <a:r>
              <a:rPr lang="en-US" sz="2400" dirty="0"/>
              <a:t>is defined as </a:t>
            </a:r>
            <a:r>
              <a:rPr lang="en-US" sz="2400" dirty="0" smtClean="0"/>
              <a:t>a searching algorithm </a:t>
            </a:r>
            <a:r>
              <a:rPr lang="en-US" sz="2400" i="1" dirty="0" smtClean="0"/>
              <a:t>used </a:t>
            </a:r>
            <a:r>
              <a:rPr lang="en-US" sz="2400" i="1" dirty="0"/>
              <a:t>in a sorted array by </a:t>
            </a:r>
            <a:r>
              <a:rPr lang="en-US" sz="2400" b="1" i="1" dirty="0"/>
              <a:t>repeatedly dividing the search interval in half</a:t>
            </a:r>
            <a:r>
              <a:rPr lang="en-US" sz="2400" i="1" dirty="0">
                <a:solidFill>
                  <a:srgbClr val="C00000"/>
                </a:solidFill>
              </a:rPr>
              <a:t>. </a:t>
            </a:r>
            <a:endParaRPr lang="en-US" sz="2400" i="1" dirty="0" smtClean="0">
              <a:solidFill>
                <a:srgbClr val="C00000"/>
              </a:solidFill>
            </a:endParaRPr>
          </a:p>
          <a:p>
            <a:pPr algn="just"/>
            <a:r>
              <a:rPr lang="en-US" sz="2400" b="1" i="1" dirty="0" smtClean="0">
                <a:solidFill>
                  <a:srgbClr val="C00000"/>
                </a:solidFill>
              </a:rPr>
              <a:t>Prerequisite:</a:t>
            </a:r>
            <a:r>
              <a:rPr lang="en-US" sz="2400" i="1" dirty="0" smtClean="0">
                <a:solidFill>
                  <a:srgbClr val="C00000"/>
                </a:solidFill>
              </a:rPr>
              <a:t> </a:t>
            </a:r>
            <a:r>
              <a:rPr lang="en-US" sz="2400" dirty="0" smtClean="0"/>
              <a:t>Binary search requires elements to be in sorted order.</a:t>
            </a:r>
            <a:r>
              <a:rPr lang="en-US" sz="2400" i="1" dirty="0" smtClean="0"/>
              <a:t>  </a:t>
            </a:r>
          </a:p>
          <a:p>
            <a:pPr algn="just"/>
            <a:r>
              <a:rPr lang="en-US" sz="2400" b="1" i="1" dirty="0" smtClean="0">
                <a:solidFill>
                  <a:srgbClr val="C00000"/>
                </a:solidFill>
              </a:rPr>
              <a:t>Working: </a:t>
            </a:r>
            <a:r>
              <a:rPr lang="en-US" sz="2400" dirty="0" smtClean="0"/>
              <a:t>Binary search follows the </a:t>
            </a:r>
            <a:r>
              <a:rPr lang="en-US" sz="2400" b="1" dirty="0" smtClean="0"/>
              <a:t>divide and conquer approach </a:t>
            </a:r>
            <a:r>
              <a:rPr lang="en-US" sz="2400" dirty="0" smtClean="0"/>
              <a:t>in which the list is divided into two parts, and the element is compared with the middle element of the list. If the match is found then, the location of the middle element is returned. Otherwise, we search into either of the parts/halves depending upon the result produced through the match.</a:t>
            </a:r>
          </a:p>
          <a:p>
            <a:pPr algn="just"/>
            <a:r>
              <a:rPr lang="en-US" sz="2400" dirty="0" smtClean="0"/>
              <a:t>Binary search is </a:t>
            </a:r>
            <a:r>
              <a:rPr lang="en-US" sz="2400" b="1" dirty="0" smtClean="0"/>
              <a:t>better</a:t>
            </a:r>
            <a:r>
              <a:rPr lang="en-US" sz="2400" dirty="0" smtClean="0"/>
              <a:t> then the linear search technique as the number of iterations decreases in the binary search.</a:t>
            </a:r>
          </a:p>
          <a:p>
            <a:pPr algn="just"/>
            <a:r>
              <a:rPr lang="en-US" sz="2400" b="1" dirty="0" smtClean="0"/>
              <a:t>Space complexity is O(1).</a:t>
            </a:r>
            <a:endParaRPr lang="en-US" sz="24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Working of Binary search</a:t>
            </a:r>
            <a:endParaRPr lang="en-US" dirty="0"/>
          </a:p>
        </p:txBody>
      </p:sp>
      <p:sp>
        <p:nvSpPr>
          <p:cNvPr id="3" name="Content Placeholder 2"/>
          <p:cNvSpPr>
            <a:spLocks noGrp="1"/>
          </p:cNvSpPr>
          <p:nvPr>
            <p:ph idx="1"/>
          </p:nvPr>
        </p:nvSpPr>
        <p:spPr>
          <a:xfrm>
            <a:off x="457200" y="1600200"/>
            <a:ext cx="8686800" cy="4525963"/>
          </a:xfrm>
        </p:spPr>
        <p:txBody>
          <a:bodyPr>
            <a:noAutofit/>
          </a:bodyPr>
          <a:lstStyle/>
          <a:p>
            <a:pPr fontAlgn="base"/>
            <a:r>
              <a:rPr lang="en-US" sz="2200" dirty="0" smtClean="0"/>
              <a:t>Divide the search space into two halves by finding the mid index value. </a:t>
            </a:r>
          </a:p>
          <a:p>
            <a:pPr fontAlgn="base"/>
            <a:r>
              <a:rPr lang="en-US" sz="2200" dirty="0" smtClean="0"/>
              <a:t>Compare the middle element of the search space with the </a:t>
            </a:r>
            <a:r>
              <a:rPr lang="en-US" sz="2200" b="1" dirty="0" smtClean="0"/>
              <a:t>key</a:t>
            </a:r>
            <a:r>
              <a:rPr lang="en-US" sz="2200" dirty="0" smtClean="0"/>
              <a:t>. </a:t>
            </a:r>
          </a:p>
          <a:p>
            <a:pPr fontAlgn="base"/>
            <a:r>
              <a:rPr lang="en-US" sz="2200" dirty="0" smtClean="0"/>
              <a:t>If the </a:t>
            </a:r>
            <a:r>
              <a:rPr lang="en-US" sz="2200" b="1" dirty="0" smtClean="0"/>
              <a:t>key </a:t>
            </a:r>
            <a:r>
              <a:rPr lang="en-US" sz="2200" dirty="0" smtClean="0"/>
              <a:t>is found at middle element, the process is terminated.</a:t>
            </a:r>
          </a:p>
          <a:p>
            <a:pPr fontAlgn="base"/>
            <a:r>
              <a:rPr lang="en-US" sz="2200" dirty="0" smtClean="0"/>
              <a:t>If the </a:t>
            </a:r>
            <a:r>
              <a:rPr lang="en-US" sz="2200" b="1" dirty="0" smtClean="0"/>
              <a:t>key </a:t>
            </a:r>
            <a:r>
              <a:rPr lang="en-US" sz="2200" dirty="0" smtClean="0"/>
              <a:t>is not found at middle element, then do the following: </a:t>
            </a:r>
          </a:p>
          <a:p>
            <a:pPr lvl="1" fontAlgn="base"/>
            <a:r>
              <a:rPr lang="en-US" sz="2200" dirty="0" smtClean="0"/>
              <a:t>If the </a:t>
            </a:r>
            <a:r>
              <a:rPr lang="en-US" sz="2200" b="1" dirty="0" smtClean="0"/>
              <a:t>key </a:t>
            </a:r>
            <a:r>
              <a:rPr lang="en-US" sz="2200" dirty="0" smtClean="0"/>
              <a:t>is smaller than the middle element, then the </a:t>
            </a:r>
            <a:r>
              <a:rPr lang="en-US" sz="2200" b="1" dirty="0" smtClean="0"/>
              <a:t>left part </a:t>
            </a:r>
            <a:r>
              <a:rPr lang="en-US" sz="2200" dirty="0" smtClean="0"/>
              <a:t>is used for next search.</a:t>
            </a:r>
          </a:p>
          <a:p>
            <a:pPr lvl="1" fontAlgn="base"/>
            <a:r>
              <a:rPr lang="en-US" sz="2200" dirty="0" smtClean="0"/>
              <a:t>If the </a:t>
            </a:r>
            <a:r>
              <a:rPr lang="en-US" sz="2200" b="1" dirty="0" smtClean="0"/>
              <a:t>key </a:t>
            </a:r>
            <a:r>
              <a:rPr lang="en-US" sz="2200" dirty="0" smtClean="0"/>
              <a:t>is larger than the middle element, then the </a:t>
            </a:r>
            <a:r>
              <a:rPr lang="en-US" sz="2200" b="1" dirty="0" smtClean="0"/>
              <a:t>right </a:t>
            </a:r>
            <a:r>
              <a:rPr lang="en-US" sz="2200" dirty="0" smtClean="0"/>
              <a:t>part is used for next search.</a:t>
            </a:r>
          </a:p>
          <a:p>
            <a:pPr fontAlgn="base"/>
            <a:r>
              <a:rPr lang="en-US" sz="2200" dirty="0" smtClean="0"/>
              <a:t>This process is continued until the </a:t>
            </a:r>
            <a:r>
              <a:rPr lang="en-US" sz="2200" b="1" dirty="0" smtClean="0"/>
              <a:t>key </a:t>
            </a:r>
            <a:r>
              <a:rPr lang="en-US" sz="2200" dirty="0" smtClean="0"/>
              <a:t>is found or the total search space is exhausted.</a:t>
            </a:r>
          </a:p>
          <a:p>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Binary search implementation</a:t>
            </a:r>
            <a:endParaRPr lang="en-US" dirty="0"/>
          </a:p>
        </p:txBody>
      </p:sp>
      <p:sp>
        <p:nvSpPr>
          <p:cNvPr id="3" name="Content Placeholder 2"/>
          <p:cNvSpPr>
            <a:spLocks noGrp="1"/>
          </p:cNvSpPr>
          <p:nvPr>
            <p:ph idx="1"/>
          </p:nvPr>
        </p:nvSpPr>
        <p:spPr/>
        <p:txBody>
          <a:bodyPr/>
          <a:lstStyle/>
          <a:p>
            <a:r>
              <a:rPr lang="en-US" dirty="0" smtClean="0"/>
              <a:t>Iterative</a:t>
            </a:r>
          </a:p>
          <a:p>
            <a:r>
              <a:rPr lang="en-US" dirty="0" smtClean="0"/>
              <a:t>Recursive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dirty="0" smtClean="0"/>
              <a:t>Binary search</a:t>
            </a:r>
            <a:endParaRPr lang="en-US" dirty="0"/>
          </a:p>
        </p:txBody>
      </p:sp>
      <p:sp>
        <p:nvSpPr>
          <p:cNvPr id="4" name="Content Placeholder 2"/>
          <p:cNvSpPr txBox="1">
            <a:spLocks/>
          </p:cNvSpPr>
          <p:nvPr/>
        </p:nvSpPr>
        <p:spPr>
          <a:xfrm>
            <a:off x="152400" y="1371600"/>
            <a:ext cx="8839200" cy="4678363"/>
          </a:xfrm>
          <a:prstGeom prst="rect">
            <a:avLst/>
          </a:prstGeom>
        </p:spPr>
        <p:txBody>
          <a:bodyPr vert="horz" lIns="91440" tIns="45720" rIns="91440" bIns="45720" rtlCol="0">
            <a:normAutofit/>
          </a:bodyPr>
          <a:lstStyle/>
          <a:p>
            <a:pPr algn="just"/>
            <a:r>
              <a:rPr lang="en-US" sz="2400" dirty="0" smtClean="0"/>
              <a:t>To implement the Binary Search algorithm we need:</a:t>
            </a:r>
          </a:p>
          <a:p>
            <a:pPr marL="457200" indent="-457200" algn="just">
              <a:buFont typeface="+mj-lt"/>
              <a:buAutoNum type="arabicPeriod"/>
            </a:pPr>
            <a:r>
              <a:rPr lang="en-US" sz="2400" dirty="0" smtClean="0"/>
              <a:t>An array with values to search through.</a:t>
            </a:r>
          </a:p>
          <a:p>
            <a:pPr marL="457200" indent="-457200" algn="just">
              <a:buFont typeface="+mj-lt"/>
              <a:buAutoNum type="arabicPeriod"/>
            </a:pPr>
            <a:r>
              <a:rPr lang="en-US" sz="2400" dirty="0" smtClean="0"/>
              <a:t>A target value to search for.</a:t>
            </a:r>
          </a:p>
          <a:p>
            <a:pPr marL="457200" indent="-457200" algn="just">
              <a:buFont typeface="+mj-lt"/>
              <a:buAutoNum type="arabicPeriod"/>
            </a:pPr>
            <a:r>
              <a:rPr lang="en-US" sz="2400" dirty="0" smtClean="0"/>
              <a:t>A loop that runs as long as left index is less than, or equal to, the right index.</a:t>
            </a:r>
          </a:p>
          <a:p>
            <a:pPr marL="457200" indent="-457200" algn="just">
              <a:buFont typeface="+mj-lt"/>
              <a:buAutoNum type="arabicPeriod"/>
            </a:pPr>
            <a:r>
              <a:rPr lang="en-US" sz="2400" dirty="0" smtClean="0"/>
              <a:t>An if-statement that compares the middle value with the target value, and returns the index if the target value is found.</a:t>
            </a:r>
          </a:p>
          <a:p>
            <a:pPr marL="457200" indent="-457200" algn="just">
              <a:buFont typeface="+mj-lt"/>
              <a:buAutoNum type="arabicPeriod"/>
            </a:pPr>
            <a:r>
              <a:rPr lang="en-US" sz="2400" dirty="0" smtClean="0"/>
              <a:t>An if-statement that checks if the target value is less than, or larger than, the middle value, and updates the "left" or "right" variables to narrow down the search area.</a:t>
            </a:r>
          </a:p>
          <a:p>
            <a:pPr marL="457200" indent="-457200" algn="just">
              <a:buFont typeface="+mj-lt"/>
              <a:buAutoNum type="arabicPeriod"/>
            </a:pPr>
            <a:r>
              <a:rPr lang="en-US" sz="2400" dirty="0" smtClean="0"/>
              <a:t>After the loop, return -1, because at this point we know the target value has not been found.</a:t>
            </a:r>
            <a:endParaRPr lang="en-US" sz="2400" dirty="0"/>
          </a:p>
        </p:txBody>
      </p:sp>
      <p:sp>
        <p:nvSpPr>
          <p:cNvPr id="5" name="Content Placeholder 4"/>
          <p:cNvSpPr>
            <a:spLocks noGrp="1"/>
          </p:cNvSpPr>
          <p:nvPr>
            <p:ph idx="1"/>
          </p:nvPr>
        </p:nvSpPr>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rmAutofit/>
          </a:bodyPr>
          <a:lstStyle/>
          <a:p>
            <a:r>
              <a:rPr lang="en-US" dirty="0" smtClean="0"/>
              <a:t>Binary search implementation</a:t>
            </a:r>
            <a:endParaRPr lang="en-US" dirty="0"/>
          </a:p>
        </p:txBody>
      </p:sp>
      <p:sp>
        <p:nvSpPr>
          <p:cNvPr id="3" name="Content Placeholder 2"/>
          <p:cNvSpPr>
            <a:spLocks noGrp="1"/>
          </p:cNvSpPr>
          <p:nvPr>
            <p:ph idx="1"/>
          </p:nvPr>
        </p:nvSpPr>
        <p:spPr>
          <a:xfrm>
            <a:off x="152400" y="1600200"/>
            <a:ext cx="4572000" cy="4525963"/>
          </a:xfrm>
          <a:ln>
            <a:solidFill>
              <a:schemeClr val="tx1"/>
            </a:solidFill>
          </a:ln>
        </p:spPr>
        <p:txBody>
          <a:bodyPr>
            <a:normAutofit/>
          </a:bodyPr>
          <a:lstStyle/>
          <a:p>
            <a:pPr>
              <a:lnSpc>
                <a:spcPct val="120000"/>
              </a:lnSpc>
              <a:buNone/>
            </a:pPr>
            <a:r>
              <a:rPr lang="en-US" sz="1600" b="1" dirty="0" smtClean="0"/>
              <a:t>Recursive way</a:t>
            </a:r>
          </a:p>
          <a:p>
            <a:pPr>
              <a:lnSpc>
                <a:spcPct val="120000"/>
              </a:lnSpc>
              <a:buNone/>
            </a:pPr>
            <a:r>
              <a:rPr lang="en-US" sz="1600" dirty="0" err="1" smtClean="0"/>
              <a:t>binarySearch</a:t>
            </a:r>
            <a:r>
              <a:rPr lang="en-US" sz="1600" dirty="0" smtClean="0"/>
              <a:t>(</a:t>
            </a:r>
            <a:r>
              <a:rPr lang="en-US" sz="1600" dirty="0" err="1" smtClean="0"/>
              <a:t>arr</a:t>
            </a:r>
            <a:r>
              <a:rPr lang="en-US" sz="1600" dirty="0" smtClean="0"/>
              <a:t>, x, low, high) </a:t>
            </a:r>
          </a:p>
          <a:p>
            <a:pPr>
              <a:lnSpc>
                <a:spcPct val="120000"/>
              </a:lnSpc>
              <a:buNone/>
            </a:pPr>
            <a:r>
              <a:rPr lang="en-US" sz="1600" dirty="0" smtClean="0"/>
              <a:t>	if low &gt; high </a:t>
            </a:r>
          </a:p>
          <a:p>
            <a:pPr>
              <a:lnSpc>
                <a:spcPct val="120000"/>
              </a:lnSpc>
              <a:buNone/>
            </a:pPr>
            <a:r>
              <a:rPr lang="en-US" sz="1600" dirty="0" smtClean="0"/>
              <a:t>		return False </a:t>
            </a:r>
          </a:p>
          <a:p>
            <a:pPr>
              <a:lnSpc>
                <a:spcPct val="120000"/>
              </a:lnSpc>
              <a:buNone/>
            </a:pPr>
            <a:r>
              <a:rPr lang="en-US" sz="1600" dirty="0" smtClean="0"/>
              <a:t>	else </a:t>
            </a:r>
          </a:p>
          <a:p>
            <a:pPr>
              <a:lnSpc>
                <a:spcPct val="120000"/>
              </a:lnSpc>
              <a:buNone/>
            </a:pPr>
            <a:r>
              <a:rPr lang="en-US" sz="1600" dirty="0" smtClean="0"/>
              <a:t>		mid = (low + high) / 2 </a:t>
            </a:r>
          </a:p>
          <a:p>
            <a:pPr>
              <a:lnSpc>
                <a:spcPct val="120000"/>
              </a:lnSpc>
              <a:buNone/>
            </a:pPr>
            <a:r>
              <a:rPr lang="en-US" sz="1600" dirty="0" smtClean="0"/>
              <a:t>	if x == </a:t>
            </a:r>
            <a:r>
              <a:rPr lang="en-US" sz="1600" dirty="0" err="1" smtClean="0"/>
              <a:t>arr</a:t>
            </a:r>
            <a:r>
              <a:rPr lang="en-US" sz="1600" dirty="0" smtClean="0"/>
              <a:t>[mid] </a:t>
            </a:r>
          </a:p>
          <a:p>
            <a:pPr>
              <a:lnSpc>
                <a:spcPct val="120000"/>
              </a:lnSpc>
              <a:buNone/>
            </a:pPr>
            <a:r>
              <a:rPr lang="en-US" sz="1600" dirty="0" smtClean="0"/>
              <a:t>		return mid </a:t>
            </a:r>
          </a:p>
          <a:p>
            <a:pPr>
              <a:lnSpc>
                <a:spcPct val="120000"/>
              </a:lnSpc>
              <a:buNone/>
            </a:pPr>
            <a:r>
              <a:rPr lang="en-US" sz="1600" dirty="0" smtClean="0"/>
              <a:t>	else if x &gt; </a:t>
            </a:r>
            <a:r>
              <a:rPr lang="en-US" sz="1600" dirty="0" err="1" smtClean="0"/>
              <a:t>arr</a:t>
            </a:r>
            <a:r>
              <a:rPr lang="en-US" sz="1600" dirty="0" smtClean="0"/>
              <a:t>[mid] </a:t>
            </a:r>
          </a:p>
          <a:p>
            <a:pPr>
              <a:lnSpc>
                <a:spcPct val="120000"/>
              </a:lnSpc>
              <a:buNone/>
            </a:pPr>
            <a:r>
              <a:rPr lang="en-US" sz="1600" dirty="0" smtClean="0"/>
              <a:t>		return </a:t>
            </a:r>
            <a:r>
              <a:rPr lang="en-US" sz="1600" dirty="0" err="1" smtClean="0"/>
              <a:t>binarySearch</a:t>
            </a:r>
            <a:r>
              <a:rPr lang="en-US" sz="1600" dirty="0" smtClean="0"/>
              <a:t>(</a:t>
            </a:r>
            <a:r>
              <a:rPr lang="en-US" sz="1600" dirty="0" err="1" smtClean="0"/>
              <a:t>arr</a:t>
            </a:r>
            <a:r>
              <a:rPr lang="en-US" sz="1600" dirty="0" smtClean="0"/>
              <a:t>, x, mid + 1, high) </a:t>
            </a:r>
          </a:p>
          <a:p>
            <a:pPr>
              <a:lnSpc>
                <a:spcPct val="120000"/>
              </a:lnSpc>
              <a:buNone/>
            </a:pPr>
            <a:r>
              <a:rPr lang="en-US" sz="1600" dirty="0" smtClean="0"/>
              <a:t>	else </a:t>
            </a:r>
          </a:p>
          <a:p>
            <a:pPr>
              <a:lnSpc>
                <a:spcPct val="120000"/>
              </a:lnSpc>
              <a:buNone/>
            </a:pPr>
            <a:r>
              <a:rPr lang="en-US" sz="1600" dirty="0" smtClean="0"/>
              <a:t>		return </a:t>
            </a:r>
            <a:r>
              <a:rPr lang="en-US" sz="1600" dirty="0" err="1" smtClean="0"/>
              <a:t>binarySearch</a:t>
            </a:r>
            <a:r>
              <a:rPr lang="en-US" sz="1600" dirty="0" smtClean="0"/>
              <a:t>(</a:t>
            </a:r>
            <a:r>
              <a:rPr lang="en-US" sz="1600" dirty="0" err="1" smtClean="0"/>
              <a:t>arr</a:t>
            </a:r>
            <a:r>
              <a:rPr lang="en-US" sz="1600" dirty="0" smtClean="0"/>
              <a:t>, x, low, mid - 1)</a:t>
            </a:r>
            <a:endParaRPr lang="en-US" sz="1600" dirty="0"/>
          </a:p>
        </p:txBody>
      </p:sp>
      <p:sp>
        <p:nvSpPr>
          <p:cNvPr id="4" name="Content Placeholder 2"/>
          <p:cNvSpPr txBox="1">
            <a:spLocks/>
          </p:cNvSpPr>
          <p:nvPr/>
        </p:nvSpPr>
        <p:spPr>
          <a:xfrm>
            <a:off x="4953000" y="1600200"/>
            <a:ext cx="4038600" cy="3581400"/>
          </a:xfrm>
          <a:prstGeom prst="rect">
            <a:avLst/>
          </a:prstGeom>
          <a:ln>
            <a:solidFill>
              <a:schemeClr val="tx1"/>
            </a:solidFill>
          </a:ln>
        </p:spPr>
        <p:txBody>
          <a:bodyPr vert="horz" lIns="91440" tIns="45720" rIns="91440" bIns="45720" rtlCol="0">
            <a:normAutofit/>
          </a:bodyPr>
          <a:lstStyle/>
          <a:p>
            <a:pPr marL="342900" marR="0" lvl="0" indent="-342900" fontAlgn="auto">
              <a:lnSpc>
                <a:spcPct val="120000"/>
              </a:lnSpc>
              <a:spcBef>
                <a:spcPct val="20000"/>
              </a:spcBef>
              <a:spcAft>
                <a:spcPts val="0"/>
              </a:spcAft>
              <a:buClrTx/>
              <a:buSzTx/>
              <a:tabLst/>
              <a:defRPr/>
            </a:pPr>
            <a:r>
              <a:rPr lang="en-US" sz="1600" b="1" dirty="0" smtClean="0"/>
              <a:t>Iterative Way	</a:t>
            </a:r>
          </a:p>
          <a:p>
            <a:pPr marL="800100" lvl="1" indent="-342900">
              <a:lnSpc>
                <a:spcPct val="120000"/>
              </a:lnSpc>
              <a:spcBef>
                <a:spcPct val="20000"/>
              </a:spcBef>
            </a:pPr>
            <a:r>
              <a:rPr lang="en-US" sz="1600" dirty="0" smtClean="0"/>
              <a:t>mid = (low + high)/2 </a:t>
            </a:r>
          </a:p>
          <a:p>
            <a:pPr marL="800100" lvl="2" indent="-342900">
              <a:lnSpc>
                <a:spcPct val="120000"/>
              </a:lnSpc>
              <a:spcBef>
                <a:spcPct val="20000"/>
              </a:spcBef>
            </a:pPr>
            <a:r>
              <a:rPr lang="en-US" sz="1600" dirty="0" smtClean="0"/>
              <a:t>if (x == </a:t>
            </a:r>
            <a:r>
              <a:rPr lang="en-US" sz="1600" dirty="0" err="1" smtClean="0"/>
              <a:t>arr</a:t>
            </a:r>
            <a:r>
              <a:rPr lang="en-US" sz="1600" dirty="0" smtClean="0"/>
              <a:t>[mid]) </a:t>
            </a:r>
          </a:p>
          <a:p>
            <a:pPr marL="800100" lvl="2" indent="-342900">
              <a:lnSpc>
                <a:spcPct val="120000"/>
              </a:lnSpc>
              <a:spcBef>
                <a:spcPct val="20000"/>
              </a:spcBef>
            </a:pPr>
            <a:r>
              <a:rPr lang="en-US" sz="1600" dirty="0" smtClean="0"/>
              <a:t>	return mid </a:t>
            </a:r>
          </a:p>
          <a:p>
            <a:pPr marL="800100" lvl="2" indent="-342900">
              <a:lnSpc>
                <a:spcPct val="120000"/>
              </a:lnSpc>
              <a:spcBef>
                <a:spcPct val="20000"/>
              </a:spcBef>
            </a:pPr>
            <a:r>
              <a:rPr lang="en-US" sz="1600" dirty="0" smtClean="0"/>
              <a:t>else if (x &gt; </a:t>
            </a:r>
            <a:r>
              <a:rPr lang="en-US" sz="1600" dirty="0" err="1" smtClean="0"/>
              <a:t>arr</a:t>
            </a:r>
            <a:r>
              <a:rPr lang="en-US" sz="1600" dirty="0" smtClean="0"/>
              <a:t>[mid])</a:t>
            </a:r>
          </a:p>
          <a:p>
            <a:pPr marL="800100" lvl="2" indent="-342900">
              <a:lnSpc>
                <a:spcPct val="120000"/>
              </a:lnSpc>
              <a:spcBef>
                <a:spcPct val="20000"/>
              </a:spcBef>
            </a:pPr>
            <a:r>
              <a:rPr lang="en-US" sz="1600" dirty="0" smtClean="0"/>
              <a:t>	low = mid + 1 </a:t>
            </a:r>
          </a:p>
          <a:p>
            <a:pPr marL="800100" lvl="2" indent="-342900">
              <a:lnSpc>
                <a:spcPct val="120000"/>
              </a:lnSpc>
              <a:spcBef>
                <a:spcPct val="20000"/>
              </a:spcBef>
            </a:pPr>
            <a:r>
              <a:rPr lang="en-US" sz="1600" dirty="0" smtClean="0"/>
              <a:t>else </a:t>
            </a:r>
          </a:p>
          <a:p>
            <a:pPr marL="800100" lvl="2" indent="-342900">
              <a:lnSpc>
                <a:spcPct val="120000"/>
              </a:lnSpc>
              <a:spcBef>
                <a:spcPct val="20000"/>
              </a:spcBef>
            </a:pPr>
            <a:r>
              <a:rPr lang="en-US" sz="1600" dirty="0" smtClean="0"/>
              <a:t>	high = mid - 1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AutoShape 4" descr="initial array Binary Search"/>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0486" name="Picture 6" descr="E:\reshma\2023-24\SYBCS(DS)\BinarySearch.png"/>
          <p:cNvPicPr>
            <a:picLocks noChangeAspect="1" noChangeArrowheads="1"/>
          </p:cNvPicPr>
          <p:nvPr/>
        </p:nvPicPr>
        <p:blipFill>
          <a:blip r:embed="rId2" cstate="print"/>
          <a:srcRect/>
          <a:stretch>
            <a:fillRect/>
          </a:stretch>
        </p:blipFill>
        <p:spPr bwMode="auto">
          <a:xfrm>
            <a:off x="609600" y="457200"/>
            <a:ext cx="8217629" cy="4576763"/>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E:\reshma\2023-24\SYBCS(DS)\binary-search.jfif"/>
          <p:cNvPicPr>
            <a:picLocks noChangeAspect="1" noChangeArrowheads="1"/>
          </p:cNvPicPr>
          <p:nvPr/>
        </p:nvPicPr>
        <p:blipFill>
          <a:blip r:embed="rId2" cstate="print"/>
          <a:srcRect/>
          <a:stretch>
            <a:fillRect/>
          </a:stretch>
        </p:blipFill>
        <p:spPr bwMode="auto">
          <a:xfrm>
            <a:off x="914400" y="381000"/>
            <a:ext cx="6858000" cy="39243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reshma\2023-24\SYBCS(DS)\Binary-Search-in-C.jpg"/>
          <p:cNvPicPr>
            <a:picLocks noChangeAspect="1" noChangeArrowheads="1"/>
          </p:cNvPicPr>
          <p:nvPr/>
        </p:nvPicPr>
        <p:blipFill>
          <a:blip r:embed="rId2" cstate="print"/>
          <a:srcRect/>
          <a:stretch>
            <a:fillRect/>
          </a:stretch>
        </p:blipFill>
        <p:spPr bwMode="auto">
          <a:xfrm>
            <a:off x="633413" y="1304925"/>
            <a:ext cx="7877175" cy="424815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686800" cy="1143000"/>
          </a:xfrm>
        </p:spPr>
        <p:txBody>
          <a:bodyPr>
            <a:normAutofit fontScale="90000"/>
          </a:bodyPr>
          <a:lstStyle/>
          <a:p>
            <a:r>
              <a:rPr lang="en-US" dirty="0" smtClean="0"/>
              <a:t/>
            </a:r>
            <a:br>
              <a:rPr lang="en-US" dirty="0" smtClean="0"/>
            </a:br>
            <a:r>
              <a:rPr lang="en-US" dirty="0" smtClean="0"/>
              <a:t/>
            </a:r>
            <a:br>
              <a:rPr lang="en-US" dirty="0" smtClean="0"/>
            </a:br>
            <a:r>
              <a:rPr lang="en-US" dirty="0" smtClean="0"/>
              <a:t>Time Complexity and Space Complexity</a:t>
            </a:r>
            <a:r>
              <a:rPr lang="en-US" dirty="0"/>
              <a:t/>
            </a:r>
            <a:br>
              <a:rPr lang="en-US" dirty="0"/>
            </a:br>
            <a:r>
              <a:rPr lang="en-US" dirty="0" smtClean="0"/>
              <a:t/>
            </a:r>
            <a:br>
              <a:rPr lang="en-US" dirty="0" smtClean="0"/>
            </a:br>
            <a:endParaRPr lang="en-US" dirty="0"/>
          </a:p>
        </p:txBody>
      </p:sp>
      <p:sp>
        <p:nvSpPr>
          <p:cNvPr id="3" name="Content Placeholder 2"/>
          <p:cNvSpPr>
            <a:spLocks noGrp="1"/>
          </p:cNvSpPr>
          <p:nvPr>
            <p:ph idx="1"/>
          </p:nvPr>
        </p:nvSpPr>
        <p:spPr>
          <a:xfrm>
            <a:off x="457200" y="1219200"/>
            <a:ext cx="8229600" cy="5059363"/>
          </a:xfrm>
        </p:spPr>
        <p:txBody>
          <a:bodyPr>
            <a:normAutofit/>
          </a:bodyPr>
          <a:lstStyle/>
          <a:p>
            <a:pPr algn="just"/>
            <a:r>
              <a:rPr lang="en-US" sz="1800" b="1" dirty="0"/>
              <a:t>Best Case Complexity -</a:t>
            </a:r>
            <a:r>
              <a:rPr lang="en-US" sz="1800" dirty="0"/>
              <a:t> In Binary search, best case occurs when the element to search is found in first comparison, i.e., when the first middle element itself is the element to be searched. The best-case time complexity of Binary search is </a:t>
            </a:r>
            <a:r>
              <a:rPr lang="en-US" sz="1800" b="1" dirty="0"/>
              <a:t>O(1</a:t>
            </a:r>
            <a:r>
              <a:rPr lang="en-US" sz="1800" b="1" dirty="0" smtClean="0"/>
              <a:t>).</a:t>
            </a:r>
          </a:p>
          <a:p>
            <a:pPr algn="just"/>
            <a:endParaRPr lang="en-US" sz="1800" dirty="0"/>
          </a:p>
          <a:p>
            <a:pPr algn="just"/>
            <a:r>
              <a:rPr lang="en-US" sz="1800" b="1" dirty="0"/>
              <a:t>Average Case Complexity -</a:t>
            </a:r>
            <a:r>
              <a:rPr lang="en-US" sz="1800" dirty="0"/>
              <a:t> The average case time complexity of Binary search is </a:t>
            </a:r>
            <a:r>
              <a:rPr lang="en-US" sz="1800" b="1" dirty="0"/>
              <a:t>O(</a:t>
            </a:r>
            <a:r>
              <a:rPr lang="en-US" sz="1800" b="1" dirty="0" err="1"/>
              <a:t>logn</a:t>
            </a:r>
            <a:r>
              <a:rPr lang="en-US" sz="1800" b="1" dirty="0" smtClean="0"/>
              <a:t>).</a:t>
            </a:r>
          </a:p>
          <a:p>
            <a:pPr algn="just"/>
            <a:endParaRPr lang="en-US" sz="1800" dirty="0"/>
          </a:p>
          <a:p>
            <a:pPr algn="just"/>
            <a:r>
              <a:rPr lang="en-US" sz="1800" b="1" dirty="0"/>
              <a:t>Worst Case Complexity -</a:t>
            </a:r>
            <a:r>
              <a:rPr lang="en-US" sz="1800" dirty="0"/>
              <a:t> </a:t>
            </a:r>
            <a:r>
              <a:rPr lang="en-US" sz="1800" dirty="0" smtClean="0"/>
              <a:t>The </a:t>
            </a:r>
            <a:r>
              <a:rPr lang="en-US" sz="1800" dirty="0"/>
              <a:t>worst case occurs, when we have to keep reducing the search space till it has only one element. The worst-case time complexity of Binary search is </a:t>
            </a:r>
            <a:r>
              <a:rPr lang="en-US" sz="1800" b="1" dirty="0"/>
              <a:t>O(</a:t>
            </a:r>
            <a:r>
              <a:rPr lang="en-US" sz="1800" b="1" dirty="0" err="1"/>
              <a:t>logn</a:t>
            </a:r>
            <a:r>
              <a:rPr lang="en-US" sz="1800" b="1" dirty="0" smtClean="0"/>
              <a:t>).</a:t>
            </a:r>
          </a:p>
          <a:p>
            <a:pPr algn="just"/>
            <a:endParaRPr lang="en-US" sz="1800" b="1" dirty="0" smtClean="0"/>
          </a:p>
          <a:p>
            <a:pPr algn="just"/>
            <a:r>
              <a:rPr lang="en-US" sz="1800" dirty="0" smtClean="0">
                <a:solidFill>
                  <a:srgbClr val="000000"/>
                </a:solidFill>
                <a:latin typeface="inter-regular"/>
                <a:cs typeface="Arial" pitchFamily="34" charset="0"/>
              </a:rPr>
              <a:t>The space complexity of binary search is O(1).</a:t>
            </a:r>
            <a:endParaRPr lang="en-US" sz="1800" dirty="0"/>
          </a:p>
        </p:txBody>
      </p:sp>
      <p:graphicFrame>
        <p:nvGraphicFramePr>
          <p:cNvPr id="4" name="Table 3"/>
          <p:cNvGraphicFramePr>
            <a:graphicFrameLocks noGrp="1"/>
          </p:cNvGraphicFramePr>
          <p:nvPr/>
        </p:nvGraphicFramePr>
        <p:xfrm>
          <a:off x="1295400" y="5029199"/>
          <a:ext cx="4191000" cy="1657351"/>
        </p:xfrm>
        <a:graphic>
          <a:graphicData uri="http://schemas.openxmlformats.org/drawingml/2006/table">
            <a:tbl>
              <a:tblPr firstRow="1" bandRow="1">
                <a:tableStyleId>{5C22544A-7EE6-4342-B048-85BDC9FD1C3A}</a:tableStyleId>
              </a:tblPr>
              <a:tblGrid>
                <a:gridCol w="1846881"/>
                <a:gridCol w="2344119"/>
              </a:tblGrid>
              <a:tr h="40178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solidFill>
                            <a:srgbClr val="000000"/>
                          </a:solidFill>
                          <a:latin typeface="Times New Roman" pitchFamily="18" charset="0"/>
                          <a:cs typeface="Times New Roman" pitchFamily="18" charset="0"/>
                        </a:rPr>
                        <a:t>Case</a:t>
                      </a:r>
                      <a:endParaRPr lang="en-US" dirty="0">
                        <a:latin typeface="Times New Roman" pitchFamily="18" charset="0"/>
                        <a:cs typeface="Times New Roman" pitchFamily="18" charset="0"/>
                      </a:endParaRPr>
                    </a:p>
                  </a:txBody>
                  <a:tcPr>
                    <a:solidFill>
                      <a:schemeClr val="accent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solidFill>
                            <a:srgbClr val="000000"/>
                          </a:solidFill>
                          <a:latin typeface="Times New Roman" pitchFamily="18" charset="0"/>
                          <a:cs typeface="Times New Roman" pitchFamily="18" charset="0"/>
                        </a:rPr>
                        <a:t>Time Complexity</a:t>
                      </a:r>
                      <a:endParaRPr lang="en-US" dirty="0">
                        <a:latin typeface="Times New Roman" pitchFamily="18" charset="0"/>
                        <a:cs typeface="Times New Roman" pitchFamily="18" charset="0"/>
                      </a:endParaRPr>
                    </a:p>
                  </a:txBody>
                  <a:tcPr>
                    <a:solidFill>
                      <a:schemeClr val="accent2">
                        <a:lumMod val="20000"/>
                        <a:lumOff val="80000"/>
                      </a:schemeClr>
                    </a:solidFill>
                  </a:tcPr>
                </a:tc>
              </a:tr>
              <a:tr h="41852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smtClean="0">
                          <a:solidFill>
                            <a:srgbClr val="333333"/>
                          </a:solidFill>
                          <a:latin typeface="Times New Roman" pitchFamily="18" charset="0"/>
                          <a:cs typeface="Times New Roman" pitchFamily="18" charset="0"/>
                        </a:rPr>
                        <a:t>Best Case</a:t>
                      </a:r>
                      <a:endParaRPr lang="en-US" dirty="0">
                        <a:latin typeface="Times New Roman" pitchFamily="18" charset="0"/>
                        <a:cs typeface="Times New Roman" pitchFamily="18" charset="0"/>
                      </a:endParaRPr>
                    </a:p>
                  </a:txBody>
                  <a:tcPr>
                    <a:solidFill>
                      <a:schemeClr val="accent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solidFill>
                            <a:srgbClr val="333333"/>
                          </a:solidFill>
                          <a:latin typeface="Times New Roman" pitchFamily="18" charset="0"/>
                          <a:cs typeface="Times New Roman" pitchFamily="18" charset="0"/>
                        </a:rPr>
                        <a:t>O(1)</a:t>
                      </a:r>
                      <a:endParaRPr lang="en-US" dirty="0">
                        <a:latin typeface="Times New Roman" pitchFamily="18" charset="0"/>
                        <a:cs typeface="Times New Roman" pitchFamily="18" charset="0"/>
                      </a:endParaRPr>
                    </a:p>
                  </a:txBody>
                  <a:tcPr>
                    <a:solidFill>
                      <a:schemeClr val="accent2">
                        <a:lumMod val="20000"/>
                        <a:lumOff val="80000"/>
                      </a:schemeClr>
                    </a:solidFill>
                  </a:tcPr>
                </a:tc>
              </a:tr>
              <a:tr h="41852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smtClean="0">
                          <a:solidFill>
                            <a:srgbClr val="333333"/>
                          </a:solidFill>
                          <a:latin typeface="Times New Roman" pitchFamily="18" charset="0"/>
                          <a:cs typeface="Times New Roman" pitchFamily="18" charset="0"/>
                        </a:rPr>
                        <a:t>Average Case</a:t>
                      </a:r>
                      <a:endParaRPr lang="en-US" dirty="0">
                        <a:latin typeface="Times New Roman" pitchFamily="18" charset="0"/>
                        <a:cs typeface="Times New Roman" pitchFamily="18" charset="0"/>
                      </a:endParaRPr>
                    </a:p>
                  </a:txBody>
                  <a:tcPr>
                    <a:solidFill>
                      <a:schemeClr val="accent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solidFill>
                            <a:srgbClr val="333333"/>
                          </a:solidFill>
                          <a:latin typeface="Times New Roman" pitchFamily="18" charset="0"/>
                          <a:cs typeface="Times New Roman" pitchFamily="18" charset="0"/>
                        </a:rPr>
                        <a:t>O(</a:t>
                      </a:r>
                      <a:r>
                        <a:rPr lang="en-US" dirty="0" err="1" smtClean="0">
                          <a:solidFill>
                            <a:srgbClr val="333333"/>
                          </a:solidFill>
                          <a:latin typeface="Times New Roman" pitchFamily="18" charset="0"/>
                          <a:cs typeface="Times New Roman" pitchFamily="18" charset="0"/>
                        </a:rPr>
                        <a:t>logn</a:t>
                      </a:r>
                      <a:r>
                        <a:rPr lang="en-US" dirty="0" smtClean="0">
                          <a:solidFill>
                            <a:srgbClr val="333333"/>
                          </a:solidFill>
                          <a:latin typeface="Times New Roman" pitchFamily="18" charset="0"/>
                          <a:cs typeface="Times New Roman" pitchFamily="18" charset="0"/>
                        </a:rPr>
                        <a:t>)</a:t>
                      </a:r>
                      <a:endParaRPr lang="en-US" dirty="0">
                        <a:latin typeface="Times New Roman" pitchFamily="18" charset="0"/>
                        <a:cs typeface="Times New Roman" pitchFamily="18" charset="0"/>
                      </a:endParaRPr>
                    </a:p>
                  </a:txBody>
                  <a:tcPr>
                    <a:solidFill>
                      <a:schemeClr val="accent2">
                        <a:lumMod val="20000"/>
                        <a:lumOff val="80000"/>
                      </a:schemeClr>
                    </a:solidFill>
                  </a:tcPr>
                </a:tc>
              </a:tr>
              <a:tr h="41852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smtClean="0">
                          <a:solidFill>
                            <a:srgbClr val="333333"/>
                          </a:solidFill>
                          <a:latin typeface="Times New Roman" pitchFamily="18" charset="0"/>
                          <a:cs typeface="Times New Roman" pitchFamily="18" charset="0"/>
                        </a:rPr>
                        <a:t>Worst Case</a:t>
                      </a:r>
                      <a:endParaRPr lang="en-US" dirty="0">
                        <a:latin typeface="Times New Roman" pitchFamily="18" charset="0"/>
                        <a:cs typeface="Times New Roman" pitchFamily="18" charset="0"/>
                      </a:endParaRPr>
                    </a:p>
                  </a:txBody>
                  <a:tcPr>
                    <a:solidFill>
                      <a:schemeClr val="accent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solidFill>
                            <a:srgbClr val="333333"/>
                          </a:solidFill>
                          <a:latin typeface="Times New Roman" pitchFamily="18" charset="0"/>
                          <a:cs typeface="Times New Roman" pitchFamily="18" charset="0"/>
                        </a:rPr>
                        <a:t>O(</a:t>
                      </a:r>
                      <a:r>
                        <a:rPr lang="en-US" dirty="0" err="1" smtClean="0">
                          <a:solidFill>
                            <a:srgbClr val="333333"/>
                          </a:solidFill>
                          <a:latin typeface="Times New Roman" pitchFamily="18" charset="0"/>
                          <a:cs typeface="Times New Roman" pitchFamily="18" charset="0"/>
                        </a:rPr>
                        <a:t>logn</a:t>
                      </a:r>
                      <a:r>
                        <a:rPr lang="en-US" dirty="0" smtClean="0">
                          <a:solidFill>
                            <a:srgbClr val="333333"/>
                          </a:solidFill>
                          <a:latin typeface="Times New Roman" pitchFamily="18" charset="0"/>
                          <a:cs typeface="Times New Roman" pitchFamily="18" charset="0"/>
                        </a:rPr>
                        <a:t>)</a:t>
                      </a:r>
                      <a:endParaRPr lang="en-US" dirty="0">
                        <a:latin typeface="Times New Roman" pitchFamily="18" charset="0"/>
                        <a:cs typeface="Times New Roman" pitchFamily="18" charset="0"/>
                      </a:endParaRPr>
                    </a:p>
                  </a:txBody>
                  <a:tcPr>
                    <a:solidFill>
                      <a:schemeClr val="accent2">
                        <a:lumMod val="20000"/>
                        <a:lumOff val="80000"/>
                      </a:schemeClr>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kumimoji="0" lang="en-US" b="0" i="0" u="none" strike="noStrike" cap="none" normalizeH="0" baseline="0" dirty="0" smtClean="0">
                <a:ln>
                  <a:noFill/>
                </a:ln>
                <a:solidFill>
                  <a:srgbClr val="610B4B"/>
                </a:solidFill>
                <a:effectLst/>
                <a:latin typeface="erdana"/>
                <a:cs typeface="Arial" pitchFamily="34" charset="0"/>
              </a:rPr>
              <a:t>Space Complexity</a:t>
            </a:r>
            <a:br>
              <a:rPr kumimoji="0" lang="en-US" b="0" i="0" u="none" strike="noStrike" cap="none" normalizeH="0" baseline="0" dirty="0" smtClean="0">
                <a:ln>
                  <a:noFill/>
                </a:ln>
                <a:solidFill>
                  <a:srgbClr val="610B4B"/>
                </a:solidFill>
                <a:effectLst/>
                <a:latin typeface="erdana"/>
                <a:cs typeface="Arial" pitchFamily="34" charset="0"/>
              </a:rPr>
            </a:br>
            <a:endParaRPr lang="en-US" dirty="0"/>
          </a:p>
        </p:txBody>
      </p:sp>
      <p:sp>
        <p:nvSpPr>
          <p:cNvPr id="3" name="Content Placeholder 2"/>
          <p:cNvSpPr>
            <a:spLocks noGrp="1"/>
          </p:cNvSpPr>
          <p:nvPr>
            <p:ph idx="1"/>
          </p:nvPr>
        </p:nvSpPr>
        <p:spPr/>
        <p:txBody>
          <a:bodyPr>
            <a:normAutofit/>
          </a:bodyPr>
          <a:lstStyle/>
          <a:p>
            <a:pPr marL="0" lvl="0" indent="0" eaLnBrk="0" fontAlgn="base" hangingPunct="0">
              <a:spcBef>
                <a:spcPct val="0"/>
              </a:spcBef>
              <a:spcAft>
                <a:spcPct val="0"/>
              </a:spcAft>
            </a:pPr>
            <a:r>
              <a:rPr kumimoji="0" lang="en-US" sz="2400" b="0" i="0" u="none" strike="noStrike" cap="none" normalizeH="0" baseline="0" dirty="0" smtClean="0">
                <a:ln>
                  <a:noFill/>
                </a:ln>
                <a:solidFill>
                  <a:srgbClr val="000000"/>
                </a:solidFill>
                <a:effectLst/>
                <a:latin typeface="inter-regular"/>
                <a:cs typeface="Arial" pitchFamily="34" charset="0"/>
              </a:rPr>
              <a:t>   The space complexity of binary search is O(1).</a:t>
            </a:r>
            <a:endParaRPr kumimoji="0" lang="en-US" sz="2400" b="0" i="0" u="none" strike="noStrike" cap="none" normalizeH="0" baseline="0" dirty="0" smtClean="0">
              <a:ln>
                <a:noFill/>
              </a:ln>
              <a:solidFill>
                <a:srgbClr val="333333"/>
              </a:solidFill>
              <a:effectLst/>
              <a:latin typeface="inter-regular"/>
              <a:cs typeface="Arial" pitchFamily="34" charset="0"/>
            </a:endParaRPr>
          </a:p>
          <a:p>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228600"/>
            <a:ext cx="4038600" cy="6172200"/>
          </a:xfrm>
          <a:ln>
            <a:solidFill>
              <a:schemeClr val="tx1"/>
            </a:solidFill>
          </a:ln>
        </p:spPr>
        <p:txBody>
          <a:bodyPr>
            <a:noAutofit/>
          </a:bodyPr>
          <a:lstStyle/>
          <a:p>
            <a:pPr>
              <a:buNone/>
            </a:pPr>
            <a:r>
              <a:rPr lang="en-US" sz="2000" dirty="0" smtClean="0"/>
              <a:t>def </a:t>
            </a:r>
            <a:r>
              <a:rPr lang="en-US" sz="2000" dirty="0" err="1" smtClean="0"/>
              <a:t>binarySearch</a:t>
            </a:r>
            <a:r>
              <a:rPr lang="en-US" sz="2000" dirty="0" smtClean="0"/>
              <a:t>(</a:t>
            </a:r>
            <a:r>
              <a:rPr lang="en-US" sz="2000" dirty="0" err="1" smtClean="0"/>
              <a:t>arr</a:t>
            </a:r>
            <a:r>
              <a:rPr lang="en-US" sz="2000" dirty="0" smtClean="0"/>
              <a:t>, </a:t>
            </a:r>
            <a:r>
              <a:rPr lang="en-US" sz="2000" dirty="0" err="1" smtClean="0"/>
              <a:t>targetVal</a:t>
            </a:r>
            <a:r>
              <a:rPr lang="en-US" sz="2000" dirty="0" smtClean="0"/>
              <a:t>):</a:t>
            </a:r>
          </a:p>
          <a:p>
            <a:pPr>
              <a:buNone/>
            </a:pPr>
            <a:r>
              <a:rPr lang="en-US" sz="2000" dirty="0" smtClean="0"/>
              <a:t>  left = 0</a:t>
            </a:r>
          </a:p>
          <a:p>
            <a:pPr>
              <a:buNone/>
            </a:pPr>
            <a:r>
              <a:rPr lang="en-US" sz="2000" dirty="0" smtClean="0"/>
              <a:t>  right = </a:t>
            </a:r>
            <a:r>
              <a:rPr lang="en-US" sz="2000" dirty="0" err="1" smtClean="0"/>
              <a:t>len</a:t>
            </a:r>
            <a:r>
              <a:rPr lang="en-US" sz="2000" dirty="0" smtClean="0"/>
              <a:t>(</a:t>
            </a:r>
            <a:r>
              <a:rPr lang="en-US" sz="2000" dirty="0" err="1" smtClean="0"/>
              <a:t>arr</a:t>
            </a:r>
            <a:r>
              <a:rPr lang="en-US" sz="2000" dirty="0" smtClean="0"/>
              <a:t>) - 1</a:t>
            </a:r>
          </a:p>
          <a:p>
            <a:pPr>
              <a:buNone/>
            </a:pPr>
            <a:endParaRPr lang="en-US" sz="2000" dirty="0" smtClean="0"/>
          </a:p>
          <a:p>
            <a:pPr>
              <a:buNone/>
            </a:pPr>
            <a:r>
              <a:rPr lang="en-US" sz="2000" dirty="0" smtClean="0"/>
              <a:t>  while left &lt;= right:</a:t>
            </a:r>
          </a:p>
          <a:p>
            <a:pPr>
              <a:buNone/>
            </a:pPr>
            <a:r>
              <a:rPr lang="en-US" sz="2000" dirty="0" smtClean="0"/>
              <a:t>    mid = (left + right) // 2</a:t>
            </a:r>
          </a:p>
          <a:p>
            <a:pPr>
              <a:buNone/>
            </a:pPr>
            <a:endParaRPr lang="en-US" sz="2000" dirty="0" smtClean="0"/>
          </a:p>
          <a:p>
            <a:pPr>
              <a:buNone/>
            </a:pPr>
            <a:r>
              <a:rPr lang="en-US" sz="2000" dirty="0" smtClean="0"/>
              <a:t>    if </a:t>
            </a:r>
            <a:r>
              <a:rPr lang="en-US" sz="2000" dirty="0" err="1" smtClean="0"/>
              <a:t>arr</a:t>
            </a:r>
            <a:r>
              <a:rPr lang="en-US" sz="2000" dirty="0" smtClean="0"/>
              <a:t>[mid] == </a:t>
            </a:r>
            <a:r>
              <a:rPr lang="en-US" sz="2000" dirty="0" err="1" smtClean="0"/>
              <a:t>targetVal</a:t>
            </a:r>
            <a:r>
              <a:rPr lang="en-US" sz="2000" dirty="0" smtClean="0"/>
              <a:t>:</a:t>
            </a:r>
          </a:p>
          <a:p>
            <a:pPr>
              <a:buNone/>
            </a:pPr>
            <a:r>
              <a:rPr lang="en-US" sz="2000" dirty="0" smtClean="0"/>
              <a:t>      return mid</a:t>
            </a:r>
          </a:p>
          <a:p>
            <a:pPr>
              <a:buNone/>
            </a:pPr>
            <a:endParaRPr lang="en-US" sz="2000" dirty="0" smtClean="0"/>
          </a:p>
          <a:p>
            <a:pPr>
              <a:buNone/>
            </a:pPr>
            <a:r>
              <a:rPr lang="en-US" sz="2000" dirty="0" smtClean="0"/>
              <a:t>    if </a:t>
            </a:r>
            <a:r>
              <a:rPr lang="en-US" sz="2000" dirty="0" err="1" smtClean="0"/>
              <a:t>arr</a:t>
            </a:r>
            <a:r>
              <a:rPr lang="en-US" sz="2000" dirty="0" smtClean="0"/>
              <a:t>[mid] &lt; </a:t>
            </a:r>
            <a:r>
              <a:rPr lang="en-US" sz="2000" dirty="0" err="1" smtClean="0"/>
              <a:t>targetVal</a:t>
            </a:r>
            <a:r>
              <a:rPr lang="en-US" sz="2000" dirty="0" smtClean="0"/>
              <a:t>:</a:t>
            </a:r>
          </a:p>
          <a:p>
            <a:pPr>
              <a:buNone/>
            </a:pPr>
            <a:r>
              <a:rPr lang="en-US" sz="2000" dirty="0" smtClean="0"/>
              <a:t>      left = mid + 1</a:t>
            </a:r>
          </a:p>
          <a:p>
            <a:pPr>
              <a:buNone/>
            </a:pPr>
            <a:r>
              <a:rPr lang="en-US" sz="2000" dirty="0" smtClean="0"/>
              <a:t>    else:</a:t>
            </a:r>
          </a:p>
          <a:p>
            <a:pPr>
              <a:buNone/>
            </a:pPr>
            <a:r>
              <a:rPr lang="en-US" sz="2000" dirty="0" smtClean="0"/>
              <a:t>      right = mid - 1</a:t>
            </a:r>
          </a:p>
          <a:p>
            <a:pPr>
              <a:buNone/>
            </a:pPr>
            <a:endParaRPr lang="en-US" sz="2000" dirty="0" smtClean="0"/>
          </a:p>
          <a:p>
            <a:pPr>
              <a:buNone/>
            </a:pPr>
            <a:r>
              <a:rPr lang="en-US" sz="2000" dirty="0" smtClean="0"/>
              <a:t>  return -1</a:t>
            </a:r>
          </a:p>
          <a:p>
            <a:pPr>
              <a:buNone/>
            </a:pPr>
            <a:endParaRPr lang="en-US" sz="2000" dirty="0" smtClean="0"/>
          </a:p>
        </p:txBody>
      </p:sp>
      <p:sp>
        <p:nvSpPr>
          <p:cNvPr id="4" name="Content Placeholder 2"/>
          <p:cNvSpPr txBox="1">
            <a:spLocks/>
          </p:cNvSpPr>
          <p:nvPr/>
        </p:nvSpPr>
        <p:spPr>
          <a:xfrm>
            <a:off x="4343400" y="228600"/>
            <a:ext cx="4800600" cy="6172200"/>
          </a:xfrm>
          <a:prstGeom prst="rect">
            <a:avLst/>
          </a:prstGeom>
          <a:ln>
            <a:solidFill>
              <a:schemeClr val="tx1"/>
            </a:solidFill>
          </a:ln>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err="1" smtClean="0">
                <a:ln>
                  <a:noFill/>
                </a:ln>
                <a:solidFill>
                  <a:schemeClr val="tx1"/>
                </a:solidFill>
                <a:effectLst/>
                <a:uLnTx/>
                <a:uFillTx/>
                <a:latin typeface="+mn-lt"/>
                <a:ea typeface="+mn-ea"/>
                <a:cs typeface="+mn-cs"/>
              </a:rPr>
              <a:t>mylist</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 [1, 3, 5, 7, 9, 11, 13, 15, 17, 19]</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x = </a:t>
            </a:r>
            <a:r>
              <a:rPr kumimoji="0" lang="en-US" sz="2000" b="0" i="0" u="none" strike="noStrike" kern="1200" cap="none" spc="0" normalizeH="0" baseline="0" noProof="0" dirty="0" err="1" smtClean="0">
                <a:ln>
                  <a:noFill/>
                </a:ln>
                <a:solidFill>
                  <a:schemeClr val="tx1"/>
                </a:solidFill>
                <a:effectLst/>
                <a:uLnTx/>
                <a:uFillTx/>
                <a:latin typeface="+mn-lt"/>
                <a:ea typeface="+mn-ea"/>
                <a:cs typeface="+mn-cs"/>
              </a:rPr>
              <a:t>int</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(input("Enter the value to search :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result = </a:t>
            </a:r>
            <a:r>
              <a:rPr kumimoji="0" lang="en-US" sz="2000" b="0" i="0" u="none" strike="noStrike" kern="1200" cap="none" spc="0" normalizeH="0" baseline="0" noProof="0" dirty="0" err="1" smtClean="0">
                <a:ln>
                  <a:noFill/>
                </a:ln>
                <a:solidFill>
                  <a:schemeClr val="tx1"/>
                </a:solidFill>
                <a:effectLst/>
                <a:uLnTx/>
                <a:uFillTx/>
                <a:latin typeface="+mn-lt"/>
                <a:ea typeface="+mn-ea"/>
                <a:cs typeface="+mn-cs"/>
              </a:rPr>
              <a:t>binarySearch</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a:t>
            </a:r>
            <a:r>
              <a:rPr kumimoji="0" lang="en-US" sz="2000" b="0" i="0" u="none" strike="noStrike" kern="1200" cap="none" spc="0" normalizeH="0" baseline="0" noProof="0" dirty="0" err="1" smtClean="0">
                <a:ln>
                  <a:noFill/>
                </a:ln>
                <a:solidFill>
                  <a:schemeClr val="tx1"/>
                </a:solidFill>
                <a:effectLst/>
                <a:uLnTx/>
                <a:uFillTx/>
                <a:latin typeface="+mn-lt"/>
                <a:ea typeface="+mn-ea"/>
                <a:cs typeface="+mn-cs"/>
              </a:rPr>
              <a:t>mylist</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x)</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if result != -1:</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  print("Found at index", result)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else: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  print("Not found")</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228600"/>
            <a:ext cx="4038600" cy="6172200"/>
          </a:xfrm>
          <a:ln>
            <a:solidFill>
              <a:schemeClr val="tx1"/>
            </a:solidFill>
          </a:ln>
        </p:spPr>
        <p:txBody>
          <a:bodyPr>
            <a:noAutofit/>
          </a:bodyPr>
          <a:lstStyle/>
          <a:p>
            <a:pPr>
              <a:buNone/>
            </a:pPr>
            <a:r>
              <a:rPr lang="en-US" sz="2000" dirty="0" smtClean="0"/>
              <a:t>def </a:t>
            </a:r>
            <a:r>
              <a:rPr lang="en-US" sz="2000" dirty="0" err="1" smtClean="0"/>
              <a:t>binarySearch</a:t>
            </a:r>
            <a:r>
              <a:rPr lang="en-US" sz="2000" dirty="0" smtClean="0"/>
              <a:t>(</a:t>
            </a:r>
            <a:r>
              <a:rPr lang="en-US" sz="2000" dirty="0" err="1" smtClean="0"/>
              <a:t>arr</a:t>
            </a:r>
            <a:r>
              <a:rPr lang="en-US" sz="2000" dirty="0" smtClean="0"/>
              <a:t>, low, high, x):</a:t>
            </a:r>
          </a:p>
          <a:p>
            <a:pPr>
              <a:buNone/>
            </a:pPr>
            <a:r>
              <a:rPr lang="en-US" sz="2000" dirty="0" smtClean="0"/>
              <a:t>      if high &gt;= low:</a:t>
            </a:r>
          </a:p>
          <a:p>
            <a:pPr>
              <a:buNone/>
            </a:pPr>
            <a:r>
              <a:rPr lang="en-US" sz="2000" dirty="0" smtClean="0"/>
              <a:t>        mid = low + (high - low) // 2</a:t>
            </a:r>
          </a:p>
          <a:p>
            <a:pPr>
              <a:buNone/>
            </a:pPr>
            <a:r>
              <a:rPr lang="en-US" sz="2000" dirty="0" smtClean="0"/>
              <a:t>             if </a:t>
            </a:r>
            <a:r>
              <a:rPr lang="en-US" sz="2000" dirty="0" err="1" smtClean="0"/>
              <a:t>arr</a:t>
            </a:r>
            <a:r>
              <a:rPr lang="en-US" sz="2000" dirty="0" smtClean="0"/>
              <a:t>[mid] == x:</a:t>
            </a:r>
          </a:p>
          <a:p>
            <a:pPr>
              <a:buNone/>
            </a:pPr>
            <a:r>
              <a:rPr lang="en-US" sz="2000" dirty="0" smtClean="0"/>
              <a:t>            return mid</a:t>
            </a:r>
          </a:p>
          <a:p>
            <a:pPr>
              <a:buNone/>
            </a:pPr>
            <a:r>
              <a:rPr lang="en-US" sz="2000" dirty="0" smtClean="0"/>
              <a:t>            </a:t>
            </a:r>
            <a:r>
              <a:rPr lang="en-US" sz="2000" dirty="0" err="1" smtClean="0"/>
              <a:t>elif</a:t>
            </a:r>
            <a:r>
              <a:rPr lang="en-US" sz="2000" dirty="0" smtClean="0"/>
              <a:t> </a:t>
            </a:r>
            <a:r>
              <a:rPr lang="en-US" sz="2000" dirty="0" err="1" smtClean="0"/>
              <a:t>arr</a:t>
            </a:r>
            <a:r>
              <a:rPr lang="en-US" sz="2000" dirty="0" smtClean="0"/>
              <a:t>[mid] &gt; x:</a:t>
            </a:r>
          </a:p>
          <a:p>
            <a:pPr>
              <a:buNone/>
            </a:pPr>
            <a:r>
              <a:rPr lang="en-US" sz="2000" dirty="0" smtClean="0"/>
              <a:t>            return </a:t>
            </a:r>
            <a:r>
              <a:rPr lang="en-US" sz="2000" dirty="0" err="1" smtClean="0"/>
              <a:t>binarySearch</a:t>
            </a:r>
            <a:r>
              <a:rPr lang="en-US" sz="2000" dirty="0" smtClean="0"/>
              <a:t>(</a:t>
            </a:r>
            <a:r>
              <a:rPr lang="en-US" sz="2000" dirty="0" err="1" smtClean="0"/>
              <a:t>arr</a:t>
            </a:r>
            <a:r>
              <a:rPr lang="en-US" sz="2000" dirty="0" smtClean="0"/>
              <a:t>, low, mid-1, x)</a:t>
            </a:r>
          </a:p>
          <a:p>
            <a:pPr>
              <a:buNone/>
            </a:pPr>
            <a:endParaRPr lang="en-US" sz="2000" dirty="0" smtClean="0"/>
          </a:p>
          <a:p>
            <a:pPr>
              <a:buNone/>
            </a:pPr>
            <a:r>
              <a:rPr lang="en-US" sz="2000" dirty="0" smtClean="0"/>
              <a:t>        else:</a:t>
            </a:r>
          </a:p>
          <a:p>
            <a:pPr>
              <a:buNone/>
            </a:pPr>
            <a:r>
              <a:rPr lang="en-US" sz="2000" dirty="0" smtClean="0"/>
              <a:t>            return </a:t>
            </a:r>
            <a:r>
              <a:rPr lang="en-US" sz="2000" dirty="0" err="1" smtClean="0"/>
              <a:t>binarySearch</a:t>
            </a:r>
            <a:r>
              <a:rPr lang="en-US" sz="2000" dirty="0" smtClean="0"/>
              <a:t>(</a:t>
            </a:r>
            <a:r>
              <a:rPr lang="en-US" sz="2000" dirty="0" err="1" smtClean="0"/>
              <a:t>arr</a:t>
            </a:r>
            <a:r>
              <a:rPr lang="en-US" sz="2000" dirty="0" smtClean="0"/>
              <a:t>, mid + 1, high, x)</a:t>
            </a:r>
          </a:p>
          <a:p>
            <a:pPr>
              <a:buNone/>
            </a:pPr>
            <a:endParaRPr lang="en-US" sz="2000" dirty="0" smtClean="0"/>
          </a:p>
          <a:p>
            <a:pPr>
              <a:buNone/>
            </a:pPr>
            <a:r>
              <a:rPr lang="en-US" sz="2000" dirty="0" smtClean="0"/>
              <a:t>    else:</a:t>
            </a:r>
          </a:p>
          <a:p>
            <a:pPr>
              <a:buNone/>
            </a:pPr>
            <a:r>
              <a:rPr lang="en-US" sz="2000" dirty="0" smtClean="0"/>
              <a:t>        return -1</a:t>
            </a:r>
          </a:p>
          <a:p>
            <a:pPr>
              <a:buNone/>
            </a:pPr>
            <a:endParaRPr lang="en-US" sz="2000" dirty="0" smtClean="0"/>
          </a:p>
          <a:p>
            <a:pPr>
              <a:buNone/>
            </a:pPr>
            <a:endParaRPr lang="en-US" sz="2000" dirty="0" smtClean="0"/>
          </a:p>
          <a:p>
            <a:pPr>
              <a:buNone/>
            </a:pPr>
            <a:endParaRPr lang="en-US" sz="2000" dirty="0" smtClean="0"/>
          </a:p>
        </p:txBody>
      </p:sp>
      <p:sp>
        <p:nvSpPr>
          <p:cNvPr id="4" name="Content Placeholder 2"/>
          <p:cNvSpPr txBox="1">
            <a:spLocks/>
          </p:cNvSpPr>
          <p:nvPr/>
        </p:nvSpPr>
        <p:spPr>
          <a:xfrm>
            <a:off x="4343400" y="228600"/>
            <a:ext cx="4800600" cy="6172200"/>
          </a:xfrm>
          <a:prstGeom prst="rect">
            <a:avLst/>
          </a:prstGeom>
          <a:ln>
            <a:solidFill>
              <a:schemeClr val="tx1"/>
            </a:solidFill>
          </a:ln>
        </p:spPr>
        <p:txBody>
          <a:bodyPr vert="horz" lIns="91440" tIns="45720" rIns="91440" bIns="45720" rtlCol="0">
            <a:noAutofit/>
          </a:bodyPr>
          <a:lstStyle/>
          <a:p>
            <a:pPr>
              <a:buNone/>
            </a:pPr>
            <a:r>
              <a:rPr lang="en-US" sz="2000" dirty="0" err="1" smtClean="0"/>
              <a:t>arr</a:t>
            </a:r>
            <a:r>
              <a:rPr lang="en-US" sz="2000" dirty="0" smtClean="0"/>
              <a:t> = [2, 3, 4, 10, 40]</a:t>
            </a:r>
          </a:p>
          <a:p>
            <a:pPr>
              <a:buNone/>
            </a:pPr>
            <a:r>
              <a:rPr lang="en-US" sz="2000" dirty="0" smtClean="0"/>
              <a:t>x = </a:t>
            </a:r>
            <a:r>
              <a:rPr lang="en-US" sz="2000" dirty="0" err="1" smtClean="0"/>
              <a:t>int</a:t>
            </a:r>
            <a:r>
              <a:rPr lang="en-US" sz="2000" dirty="0" smtClean="0"/>
              <a:t>(input("Enter the value to search : "))</a:t>
            </a:r>
          </a:p>
          <a:p>
            <a:pPr>
              <a:buNone/>
            </a:pPr>
            <a:r>
              <a:rPr lang="en-US" sz="2000" dirty="0" smtClean="0"/>
              <a:t>  </a:t>
            </a:r>
          </a:p>
          <a:p>
            <a:pPr>
              <a:buNone/>
            </a:pPr>
            <a:r>
              <a:rPr lang="en-US" sz="2000" dirty="0" smtClean="0"/>
              <a:t>  </a:t>
            </a:r>
          </a:p>
          <a:p>
            <a:pPr>
              <a:buNone/>
            </a:pPr>
            <a:r>
              <a:rPr lang="en-US" sz="2000" dirty="0" smtClean="0"/>
              <a:t>result = </a:t>
            </a:r>
            <a:r>
              <a:rPr lang="en-US" sz="2000" dirty="0" err="1" smtClean="0"/>
              <a:t>binarySearch</a:t>
            </a:r>
            <a:r>
              <a:rPr lang="en-US" sz="2000" dirty="0" smtClean="0"/>
              <a:t>(</a:t>
            </a:r>
            <a:r>
              <a:rPr lang="en-US" sz="2000" dirty="0" err="1" smtClean="0"/>
              <a:t>arr</a:t>
            </a:r>
            <a:r>
              <a:rPr lang="en-US" sz="2000" dirty="0" smtClean="0"/>
              <a:t>, 0, </a:t>
            </a:r>
            <a:r>
              <a:rPr lang="en-US" sz="2000" dirty="0" err="1" smtClean="0"/>
              <a:t>len</a:t>
            </a:r>
            <a:r>
              <a:rPr lang="en-US" sz="2000" dirty="0" smtClean="0"/>
              <a:t>(</a:t>
            </a:r>
            <a:r>
              <a:rPr lang="en-US" sz="2000" dirty="0" err="1" smtClean="0"/>
              <a:t>arr</a:t>
            </a:r>
            <a:r>
              <a:rPr lang="en-US" sz="2000" dirty="0" smtClean="0"/>
              <a:t>)-1, x)</a:t>
            </a:r>
          </a:p>
          <a:p>
            <a:pPr>
              <a:buNone/>
            </a:pPr>
            <a:r>
              <a:rPr lang="en-US" sz="2000" dirty="0" smtClean="0"/>
              <a:t>    </a:t>
            </a:r>
          </a:p>
          <a:p>
            <a:pPr>
              <a:buNone/>
            </a:pPr>
            <a:r>
              <a:rPr lang="en-US" sz="2000" dirty="0" smtClean="0"/>
              <a:t>if result != -1:</a:t>
            </a:r>
          </a:p>
          <a:p>
            <a:pPr>
              <a:buNone/>
            </a:pPr>
            <a:r>
              <a:rPr lang="en-US" sz="2000" dirty="0" smtClean="0"/>
              <a:t>    print("Element is present at index", result)</a:t>
            </a:r>
          </a:p>
          <a:p>
            <a:pPr>
              <a:buNone/>
            </a:pPr>
            <a:r>
              <a:rPr lang="en-US" sz="2000" dirty="0" smtClean="0"/>
              <a:t>else:</a:t>
            </a:r>
          </a:p>
          <a:p>
            <a:pPr>
              <a:buNone/>
            </a:pPr>
            <a:r>
              <a:rPr lang="en-US" sz="2000" dirty="0" smtClean="0"/>
              <a:t>    print("Element is not present in array")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458200" cy="6629400"/>
          </a:xfrm>
        </p:spPr>
        <p:txBody>
          <a:bodyPr>
            <a:noAutofit/>
          </a:bodyPr>
          <a:lstStyle/>
          <a:p>
            <a:pPr algn="just"/>
            <a:r>
              <a:rPr lang="en-US" sz="2000" b="1" u="sng" dirty="0" smtClean="0">
                <a:solidFill>
                  <a:srgbClr val="C00000"/>
                </a:solidFill>
              </a:rPr>
              <a:t>Advantages:</a:t>
            </a:r>
          </a:p>
          <a:p>
            <a:pPr lvl="1" algn="just" fontAlgn="base"/>
            <a:r>
              <a:rPr lang="en-US" sz="2000" b="1" dirty="0" smtClean="0"/>
              <a:t>Efficient:</a:t>
            </a:r>
            <a:r>
              <a:rPr lang="en-US" sz="2000" dirty="0" smtClean="0"/>
              <a:t> Binary search has a time complexity of </a:t>
            </a:r>
            <a:r>
              <a:rPr lang="en-US" sz="2000" b="1" dirty="0" smtClean="0"/>
              <a:t>O(log n)</a:t>
            </a:r>
            <a:r>
              <a:rPr lang="en-US" sz="2000" dirty="0" smtClean="0"/>
              <a:t>, which makes it very efficient for searching large sorted arrays.</a:t>
            </a:r>
          </a:p>
          <a:p>
            <a:pPr lvl="1" algn="just" fontAlgn="base"/>
            <a:r>
              <a:rPr lang="en-US" sz="2000" b="1" dirty="0" smtClean="0"/>
              <a:t>Simple to implement: </a:t>
            </a:r>
            <a:r>
              <a:rPr lang="en-US" sz="2000" dirty="0" smtClean="0"/>
              <a:t>Binary search is relatively easy to implement and understand.</a:t>
            </a:r>
          </a:p>
          <a:p>
            <a:pPr lvl="1" algn="just" fontAlgn="base"/>
            <a:r>
              <a:rPr lang="en-US" sz="2000" b="1" dirty="0" smtClean="0"/>
              <a:t>Versatile:</a:t>
            </a:r>
            <a:r>
              <a:rPr lang="en-US" sz="2000" dirty="0" smtClean="0"/>
              <a:t> Binary search can be used in a wide variety of applications.</a:t>
            </a:r>
          </a:p>
          <a:p>
            <a:pPr lvl="1" algn="just" fontAlgn="base"/>
            <a:r>
              <a:rPr lang="en-US" sz="2000" b="1" dirty="0" smtClean="0"/>
              <a:t>Reliable: </a:t>
            </a:r>
            <a:r>
              <a:rPr lang="en-US" sz="2000" dirty="0" smtClean="0"/>
              <a:t>Binary search is a reliable algorithm that will always find the target element if it exists in the array.</a:t>
            </a:r>
          </a:p>
          <a:p>
            <a:pPr algn="just"/>
            <a:endParaRPr lang="en-US" sz="2000" dirty="0" smtClean="0"/>
          </a:p>
          <a:p>
            <a:pPr algn="just"/>
            <a:r>
              <a:rPr lang="en-US" sz="2000" b="1" u="sng" dirty="0" smtClean="0">
                <a:solidFill>
                  <a:srgbClr val="C00000"/>
                </a:solidFill>
              </a:rPr>
              <a:t>Disadvantages:</a:t>
            </a:r>
          </a:p>
          <a:p>
            <a:pPr lvl="1" algn="just" fontAlgn="base"/>
            <a:r>
              <a:rPr lang="en-US" sz="2000" b="1" dirty="0" smtClean="0"/>
              <a:t>Requires a sorted array:</a:t>
            </a:r>
            <a:r>
              <a:rPr lang="en-US" sz="2000" dirty="0" smtClean="0"/>
              <a:t> Binary search only works on sorted arrays. If the array is not sorted, it must be sorted before binary search can be used.</a:t>
            </a:r>
          </a:p>
          <a:p>
            <a:pPr lvl="1" algn="just" fontAlgn="base"/>
            <a:r>
              <a:rPr lang="en-US" sz="2000" b="1" dirty="0" smtClean="0"/>
              <a:t>Not suitable for unsorted data:</a:t>
            </a:r>
            <a:r>
              <a:rPr lang="en-US" sz="2000" dirty="0" smtClean="0"/>
              <a:t> Binary search is not suitable for searching unsorted data, as it will not be able to find the target element efficiently.</a:t>
            </a:r>
          </a:p>
          <a:p>
            <a:pPr lvl="1" algn="just" fontAlgn="base"/>
            <a:r>
              <a:rPr lang="en-US" sz="2000" b="1" dirty="0" smtClean="0"/>
              <a:t>May not be the best choice for large arrays:</a:t>
            </a:r>
            <a:r>
              <a:rPr lang="en-US" sz="2000" dirty="0" smtClean="0"/>
              <a:t> For very large arrays (e.g., billions of elements), other search algorithms such as interpolation search or hash tables may be more efficient.</a:t>
            </a:r>
          </a:p>
          <a:p>
            <a:pPr algn="just">
              <a:buNone/>
            </a:pPr>
            <a:r>
              <a:rPr lang="en-US" sz="2000" dirty="0" smtClean="0"/>
              <a:t/>
            </a:r>
            <a:br>
              <a:rPr lang="en-US" sz="2000" dirty="0" smtClean="0"/>
            </a:br>
            <a:r>
              <a:rPr lang="en-US" sz="2000" dirty="0" smtClean="0"/>
              <a:t> </a:t>
            </a:r>
            <a:br>
              <a:rPr lang="en-US" sz="2000" dirty="0" smtClean="0"/>
            </a:b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TotalTime>
  <Words>637</Words>
  <Application>Microsoft Office PowerPoint</Application>
  <PresentationFormat>On-screen Show (4:3)</PresentationFormat>
  <Paragraphs>153</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S.Y.B.Sc.(DATA Science) Sem- III    Subject: Data Structure – I    Unit2 : Array as a Data Structure </vt:lpstr>
      <vt:lpstr>Searching</vt:lpstr>
      <vt:lpstr>Linear Search</vt:lpstr>
      <vt:lpstr>  Working of Linear search  </vt:lpstr>
      <vt:lpstr>Slide 5</vt:lpstr>
      <vt:lpstr>Linear Search Time Complexity</vt:lpstr>
      <vt:lpstr>Binary Search</vt:lpstr>
      <vt:lpstr>Working of Binary search</vt:lpstr>
      <vt:lpstr>Binary search implementation</vt:lpstr>
      <vt:lpstr>Binary search</vt:lpstr>
      <vt:lpstr>Binary search implementation</vt:lpstr>
      <vt:lpstr>Slide 12</vt:lpstr>
      <vt:lpstr>Slide 13</vt:lpstr>
      <vt:lpstr>Slide 14</vt:lpstr>
      <vt:lpstr>  Time Complexity and Space Complexity  </vt:lpstr>
      <vt:lpstr>Space Complexity </vt:lpstr>
      <vt:lpstr>Slide 17</vt:lpstr>
      <vt:lpstr>Slide 18</vt:lpstr>
      <vt:lpstr>Slide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S.Y.B.Sc.(Computer Science) Sem- III     Subject: Data Structures and Algorithms – I   Ch1 : Introduction to Data Structures and Algorithm Analysis</dc:title>
  <dc:creator>admin</dc:creator>
  <cp:lastModifiedBy>Windows User</cp:lastModifiedBy>
  <cp:revision>80</cp:revision>
  <dcterms:created xsi:type="dcterms:W3CDTF">2023-07-27T22:09:04Z</dcterms:created>
  <dcterms:modified xsi:type="dcterms:W3CDTF">2025-07-02T07:18:05Z</dcterms:modified>
</cp:coreProperties>
</file>