
<file path=[Content_Types].xml><?xml version="1.0" encoding="utf-8"?>
<Types xmlns="http://schemas.openxmlformats.org/package/2006/content-types">
  <Override PartName="/ppt/slides/slide5.xml" ContentType="application/vnd.openxmlformats-officedocument.presentationml.slide+xml"/>
  <Override PartName="/ppt/slides/slide6.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slideLayouts/slideLayout8.xml" ContentType="application/vnd.openxmlformats-officedocument.presentationml.slideLayout+xml"/>
  <Default Extension="png" ContentType="image/png"/>
  <Override PartName="/ppt/slideMasters/slideMaster1.xml" ContentType="application/vnd.openxmlformats-officedocument.presentationml.slideMaster+xml"/>
  <Override PartName="/ppt/slides/slide3.xml" ContentType="application/vnd.openxmlformats-officedocument.presentationml.slide+xml"/>
  <Override PartName="/ppt/slides/slide4.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s/slide1.xml" ContentType="application/vnd.openxmlformats-officedocument.presentationml.slide+xml"/>
  <Override PartName="/ppt/slides/slide2.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slideLayouts/slideLayout3.xml" ContentType="application/vnd.openxmlformats-officedocument.presentationml.slideLayout+xml"/>
  <Default Extension="jpe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s/slide13.xml" ContentType="application/vnd.openxmlformats-officedocument.presentationml.slide+xml"/>
  <Override PartName="/ppt/slides/slide14.xml" ContentType="application/vnd.openxmlformats-officedocument.presentationml.slide+xml"/>
  <Override PartName="/ppt/slideLayouts/slideLayout1.xml" ContentType="application/vnd.openxmlformats-officedocument.presentationml.slideLayout+xml"/>
  <Override PartName="/docProps/app.xml" ContentType="application/vnd.openxmlformats-officedocument.extended-properties+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0.xml" ContentType="application/vnd.openxmlformats-officedocument.presentationml.slideLayout+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docProps/core.xml" ContentType="application/vnd.openxmlformats-package.core-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58" r:id="rId2"/>
    <p:sldId id="257" r:id="rId3"/>
    <p:sldId id="280" r:id="rId4"/>
    <p:sldId id="281" r:id="rId5"/>
    <p:sldId id="282" r:id="rId6"/>
    <p:sldId id="283" r:id="rId7"/>
    <p:sldId id="285" r:id="rId8"/>
    <p:sldId id="286" r:id="rId9"/>
    <p:sldId id="287" r:id="rId10"/>
    <p:sldId id="263" r:id="rId11"/>
    <p:sldId id="293" r:id="rId12"/>
    <p:sldId id="259" r:id="rId13"/>
    <p:sldId id="279" r:id="rId14"/>
    <p:sldId id="278" r:id="rId15"/>
    <p:sldId id="277" r:id="rId16"/>
    <p:sldId id="288" r:id="rId17"/>
    <p:sldId id="289" r:id="rId18"/>
    <p:sldId id="291" r:id="rId19"/>
    <p:sldId id="290" r:id="rId20"/>
    <p:sldId id="266" r:id="rId21"/>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0000FF"/>
  </p:clrMru>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p:cViewPr varScale="1">
        <p:scale>
          <a:sx n="86" d="100"/>
          <a:sy n="86" d="100"/>
        </p:scale>
        <p:origin x="-1494" y="-90"/>
      </p:cViewPr>
      <p:guideLst>
        <p:guide orient="horz" pos="2160"/>
        <p:guide pos="2880"/>
      </p:guideLst>
    </p:cSldViewPr>
  </p:slideViewPr>
  <p:notesTextViewPr>
    <p:cViewPr>
      <p:scale>
        <a:sx n="100" d="100"/>
        <a:sy n="100" d="100"/>
      </p:scale>
      <p:origin x="0" y="0"/>
    </p:cViewPr>
  </p:notesTextViewPr>
  <p:gridSpacing cx="78028800" cy="780288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presProps" Target="pres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956759DA-314C-490E-8EBA-FBF74BDD5DBE}" type="datetimeFigureOut">
              <a:rPr lang="en-US" smtClean="0"/>
              <a:pPr/>
              <a:t>6/3/2025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8417D4-98DD-4503-AECC-248B5ADDF88E}"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56759DA-314C-490E-8EBA-FBF74BDD5DBE}" type="datetimeFigureOut">
              <a:rPr lang="en-US" smtClean="0"/>
              <a:pPr/>
              <a:t>6/3/2025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8417D4-98DD-4503-AECC-248B5ADDF88E}"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956759DA-314C-490E-8EBA-FBF74BDD5DBE}" type="datetimeFigureOut">
              <a:rPr lang="en-US" smtClean="0"/>
              <a:pPr/>
              <a:t>6/3/2025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8417D4-98DD-4503-AECC-248B5ADDF88E}"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956759DA-314C-490E-8EBA-FBF74BDD5DBE}" type="datetimeFigureOut">
              <a:rPr lang="en-US" smtClean="0"/>
              <a:pPr/>
              <a:t>6/3/2025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68417D4-98DD-4503-AECC-248B5ADDF88E}"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956759DA-314C-490E-8EBA-FBF74BDD5DBE}" type="datetimeFigureOut">
              <a:rPr lang="en-US" smtClean="0"/>
              <a:pPr/>
              <a:t>6/3/2025</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968417D4-98DD-4503-AECC-248B5ADDF88E}"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956759DA-314C-490E-8EBA-FBF74BDD5DBE}" type="datetimeFigureOut">
              <a:rPr lang="en-US" smtClean="0"/>
              <a:pPr/>
              <a:t>6/3/2025</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968417D4-98DD-4503-AECC-248B5ADDF88E}"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56759DA-314C-490E-8EBA-FBF74BDD5DBE}" type="datetimeFigureOut">
              <a:rPr lang="en-US" smtClean="0"/>
              <a:pPr/>
              <a:t>6/3/2025</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968417D4-98DD-4503-AECC-248B5ADDF88E}"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56759DA-314C-490E-8EBA-FBF74BDD5DBE}" type="datetimeFigureOut">
              <a:rPr lang="en-US" smtClean="0"/>
              <a:pPr/>
              <a:t>6/3/2025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68417D4-98DD-4503-AECC-248B5ADDF88E}"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956759DA-314C-490E-8EBA-FBF74BDD5DBE}" type="datetimeFigureOut">
              <a:rPr lang="en-US" smtClean="0"/>
              <a:pPr/>
              <a:t>6/3/2025</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968417D4-98DD-4503-AECC-248B5ADDF88E}"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56759DA-314C-490E-8EBA-FBF74BDD5DBE}" type="datetimeFigureOut">
              <a:rPr lang="en-US" smtClean="0"/>
              <a:pPr/>
              <a:t>6/3/2025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8417D4-98DD-4503-AECC-248B5ADDF88E}"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956759DA-314C-490E-8EBA-FBF74BDD5DBE}" type="datetimeFigureOut">
              <a:rPr lang="en-US" smtClean="0"/>
              <a:pPr/>
              <a:t>6/3/2025</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968417D4-98DD-4503-AECC-248B5ADDF88E}" type="slidenum">
              <a:rPr lang="en-US" smtClean="0"/>
              <a:pPr/>
              <a:t>‹#›</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956759DA-314C-490E-8EBA-FBF74BDD5DBE}" type="datetimeFigureOut">
              <a:rPr lang="en-US" smtClean="0"/>
              <a:pPr/>
              <a:t>6/3/2025</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968417D4-98DD-4503-AECC-248B5ADDF88E}"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a:xfrm>
            <a:off x="457200" y="2130425"/>
            <a:ext cx="8001000" cy="1470025"/>
          </a:xfrm>
        </p:spPr>
        <p:txBody>
          <a:bodyPr rtlCol="0">
            <a:normAutofit fontScale="90000"/>
          </a:bodyPr>
          <a:lstStyle/>
          <a:p>
            <a:pPr>
              <a:defRPr/>
            </a:pPr>
            <a:r>
              <a:rPr lang="en-GB" b="1" dirty="0" err="1" smtClean="0">
                <a:solidFill>
                  <a:schemeClr val="accent2">
                    <a:lumMod val="75000"/>
                  </a:schemeClr>
                </a:solidFill>
                <a:latin typeface="Algerian" pitchFamily="82" charset="0"/>
              </a:rPr>
              <a:t>S.Y.B.Sc</a:t>
            </a:r>
            <a:r>
              <a:rPr lang="en-GB" b="1" dirty="0" smtClean="0">
                <a:solidFill>
                  <a:schemeClr val="accent2">
                    <a:lumMod val="75000"/>
                  </a:schemeClr>
                </a:solidFill>
                <a:latin typeface="Algerian" pitchFamily="82" charset="0"/>
              </a:rPr>
              <a:t>.(DATA Science) </a:t>
            </a:r>
            <a:r>
              <a:rPr lang="en-GB" b="1" dirty="0" err="1" smtClean="0">
                <a:solidFill>
                  <a:schemeClr val="accent2">
                    <a:lumMod val="75000"/>
                  </a:schemeClr>
                </a:solidFill>
                <a:latin typeface="Algerian" pitchFamily="82" charset="0"/>
              </a:rPr>
              <a:t>Sem</a:t>
            </a:r>
            <a:r>
              <a:rPr lang="en-GB" b="1" dirty="0" smtClean="0">
                <a:solidFill>
                  <a:schemeClr val="accent2">
                    <a:lumMod val="75000"/>
                  </a:schemeClr>
                </a:solidFill>
                <a:latin typeface="Algerian" pitchFamily="82" charset="0"/>
              </a:rPr>
              <a:t>- III</a:t>
            </a:r>
            <a:br>
              <a:rPr lang="en-GB" b="1" dirty="0" smtClean="0">
                <a:solidFill>
                  <a:schemeClr val="accent2">
                    <a:lumMod val="75000"/>
                  </a:schemeClr>
                </a:solidFill>
                <a:latin typeface="Algerian" pitchFamily="82" charset="0"/>
              </a:rPr>
            </a:br>
            <a:r>
              <a:rPr lang="en-GB" b="1" dirty="0" smtClean="0">
                <a:solidFill>
                  <a:schemeClr val="accent2">
                    <a:lumMod val="75000"/>
                  </a:schemeClr>
                </a:solidFill>
                <a:latin typeface="Algerian" pitchFamily="82" charset="0"/>
              </a:rPr>
              <a:t>   S</a:t>
            </a:r>
            <a:r>
              <a:rPr lang="en-GB" sz="3600" b="1" dirty="0" smtClean="0">
                <a:solidFill>
                  <a:schemeClr val="accent2">
                    <a:lumMod val="75000"/>
                  </a:schemeClr>
                </a:solidFill>
                <a:latin typeface="+mn-lt"/>
              </a:rPr>
              <a:t>ubject: </a:t>
            </a:r>
            <a:r>
              <a:rPr lang="en-US" sz="3600" b="1" dirty="0">
                <a:solidFill>
                  <a:schemeClr val="accent2">
                    <a:lumMod val="75000"/>
                  </a:schemeClr>
                </a:solidFill>
                <a:latin typeface="+mn-lt"/>
              </a:rPr>
              <a:t>Data </a:t>
            </a:r>
            <a:r>
              <a:rPr lang="en-US" sz="3600" b="1" dirty="0" smtClean="0">
                <a:solidFill>
                  <a:schemeClr val="accent2">
                    <a:lumMod val="75000"/>
                  </a:schemeClr>
                </a:solidFill>
                <a:latin typeface="+mn-lt"/>
              </a:rPr>
              <a:t>Structure </a:t>
            </a:r>
            <a:r>
              <a:rPr lang="en-US" sz="3600" b="1" dirty="0">
                <a:solidFill>
                  <a:schemeClr val="accent2">
                    <a:lumMod val="75000"/>
                  </a:schemeClr>
                </a:solidFill>
                <a:latin typeface="+mn-lt"/>
              </a:rPr>
              <a:t>– I </a:t>
            </a:r>
            <a:r>
              <a:rPr lang="en-US" sz="3600" b="1" dirty="0" smtClean="0">
                <a:solidFill>
                  <a:schemeClr val="accent2">
                    <a:lumMod val="75000"/>
                  </a:schemeClr>
                </a:solidFill>
                <a:latin typeface="+mn-lt"/>
              </a:rPr>
              <a:t>	</a:t>
            </a:r>
            <a:br>
              <a:rPr lang="en-US" sz="3600" b="1" dirty="0" smtClean="0">
                <a:solidFill>
                  <a:schemeClr val="accent2">
                    <a:lumMod val="75000"/>
                  </a:schemeClr>
                </a:solidFill>
                <a:latin typeface="+mn-lt"/>
              </a:rPr>
            </a:br>
            <a:r>
              <a:rPr lang="en-US" sz="3600" b="1" dirty="0" smtClean="0">
                <a:solidFill>
                  <a:schemeClr val="accent2">
                    <a:lumMod val="75000"/>
                  </a:schemeClr>
                </a:solidFill>
                <a:latin typeface="+mn-lt"/>
              </a:rPr>
              <a:t/>
            </a:r>
            <a:br>
              <a:rPr lang="en-US" sz="3600" b="1" dirty="0" smtClean="0">
                <a:solidFill>
                  <a:schemeClr val="accent2">
                    <a:lumMod val="75000"/>
                  </a:schemeClr>
                </a:solidFill>
                <a:latin typeface="+mn-lt"/>
              </a:rPr>
            </a:br>
            <a:r>
              <a:rPr lang="en-GB" sz="3600" b="1" dirty="0" smtClean="0">
                <a:solidFill>
                  <a:schemeClr val="accent2">
                    <a:lumMod val="75000"/>
                  </a:schemeClr>
                </a:solidFill>
                <a:latin typeface="+mn-lt"/>
              </a:rPr>
              <a:t>Unit1 :</a:t>
            </a:r>
            <a:r>
              <a:rPr lang="en-US" sz="3600" b="1" dirty="0" smtClean="0">
                <a:solidFill>
                  <a:schemeClr val="accent2">
                    <a:lumMod val="75000"/>
                  </a:schemeClr>
                </a:solidFill>
                <a:latin typeface="+mn-lt"/>
              </a:rPr>
              <a:t> Introduction to Data Structures and Algorithm Analysis </a:t>
            </a:r>
            <a:endParaRPr lang="en-US" sz="3600" b="1" dirty="0">
              <a:solidFill>
                <a:schemeClr val="accent2">
                  <a:lumMod val="75000"/>
                </a:schemeClr>
              </a:solidFill>
              <a:latin typeface="+mn-lt"/>
            </a:endParaRPr>
          </a:p>
        </p:txBody>
      </p:sp>
      <p:sp>
        <p:nvSpPr>
          <p:cNvPr id="3" name="Subtitle 2"/>
          <p:cNvSpPr>
            <a:spLocks noGrp="1"/>
          </p:cNvSpPr>
          <p:nvPr>
            <p:ph type="subTitle" idx="1"/>
          </p:nvPr>
        </p:nvSpPr>
        <p:spPr/>
        <p:txBody>
          <a:bodyPr rtlCol="0">
            <a:noAutofit/>
          </a:bodyPr>
          <a:lstStyle/>
          <a:p>
            <a:pPr eaLnBrk="1" fontAlgn="auto" hangingPunct="1">
              <a:spcAft>
                <a:spcPts val="0"/>
              </a:spcAft>
              <a:buFont typeface="Arial" pitchFamily="34" charset="0"/>
              <a:buNone/>
              <a:defRPr/>
            </a:pPr>
            <a:endParaRPr lang="en-GB" sz="3600" dirty="0" smtClean="0"/>
          </a:p>
          <a:p>
            <a:pPr eaLnBrk="1" fontAlgn="auto" hangingPunct="1">
              <a:spcAft>
                <a:spcPts val="0"/>
              </a:spcAft>
              <a:buFont typeface="Arial" pitchFamily="34" charset="0"/>
              <a:buNone/>
              <a:defRPr/>
            </a:pPr>
            <a:r>
              <a:rPr lang="en-GB" sz="1800" dirty="0" smtClean="0"/>
              <a:t>By, </a:t>
            </a:r>
          </a:p>
          <a:p>
            <a:pPr eaLnBrk="1" fontAlgn="auto" hangingPunct="1">
              <a:spcAft>
                <a:spcPts val="0"/>
              </a:spcAft>
              <a:buFont typeface="Arial" pitchFamily="34" charset="0"/>
              <a:buNone/>
              <a:defRPr/>
            </a:pPr>
            <a:r>
              <a:rPr lang="en-GB" b="1" dirty="0" smtClean="0">
                <a:solidFill>
                  <a:srgbClr val="0000FF"/>
                </a:solidFill>
                <a:latin typeface="Monotype Corsiva" pitchFamily="66" charset="0"/>
              </a:rPr>
              <a:t>Mrs. </a:t>
            </a:r>
            <a:r>
              <a:rPr lang="en-GB" b="1" dirty="0" err="1" smtClean="0">
                <a:solidFill>
                  <a:srgbClr val="0000FF"/>
                </a:solidFill>
                <a:latin typeface="Monotype Corsiva" pitchFamily="66" charset="0"/>
              </a:rPr>
              <a:t>Reshma</a:t>
            </a:r>
            <a:r>
              <a:rPr lang="en-GB" b="1" dirty="0" smtClean="0">
                <a:solidFill>
                  <a:srgbClr val="0000FF"/>
                </a:solidFill>
                <a:latin typeface="Monotype Corsiva" pitchFamily="66" charset="0"/>
              </a:rPr>
              <a:t> </a:t>
            </a:r>
            <a:r>
              <a:rPr lang="en-GB" b="1" dirty="0" err="1" smtClean="0">
                <a:solidFill>
                  <a:srgbClr val="0000FF"/>
                </a:solidFill>
                <a:latin typeface="Monotype Corsiva" pitchFamily="66" charset="0"/>
              </a:rPr>
              <a:t>Masurekar</a:t>
            </a:r>
            <a:endParaRPr lang="en-GB" b="1" dirty="0" smtClean="0">
              <a:solidFill>
                <a:srgbClr val="0000FF"/>
              </a:solidFill>
              <a:latin typeface="Monotype Corsiva" pitchFamily="66" charset="0"/>
            </a:endParaRPr>
          </a:p>
          <a:p>
            <a:pPr eaLnBrk="1" fontAlgn="auto" hangingPunct="1">
              <a:spcAft>
                <a:spcPts val="0"/>
              </a:spcAft>
              <a:buFont typeface="Arial" pitchFamily="34" charset="0"/>
              <a:buNone/>
              <a:defRPr/>
            </a:pPr>
            <a:r>
              <a:rPr lang="en-GB" sz="2000" b="1" dirty="0" smtClean="0">
                <a:solidFill>
                  <a:srgbClr val="0000FF"/>
                </a:solidFill>
                <a:latin typeface="Monotype Corsiva" pitchFamily="66" charset="0"/>
              </a:rPr>
              <a:t>Dr. D. Y. </a:t>
            </a:r>
            <a:r>
              <a:rPr lang="en-GB" sz="2000" b="1" dirty="0" err="1" smtClean="0">
                <a:solidFill>
                  <a:srgbClr val="0000FF"/>
                </a:solidFill>
                <a:latin typeface="Monotype Corsiva" pitchFamily="66" charset="0"/>
              </a:rPr>
              <a:t>Patil</a:t>
            </a:r>
            <a:r>
              <a:rPr lang="en-GB" sz="2000" b="1" dirty="0" smtClean="0">
                <a:solidFill>
                  <a:srgbClr val="0000FF"/>
                </a:solidFill>
                <a:latin typeface="Monotype Corsiva" pitchFamily="66" charset="0"/>
              </a:rPr>
              <a:t> ACS College, </a:t>
            </a:r>
          </a:p>
          <a:p>
            <a:pPr eaLnBrk="1" fontAlgn="auto" hangingPunct="1">
              <a:spcAft>
                <a:spcPts val="0"/>
              </a:spcAft>
              <a:buFont typeface="Arial" pitchFamily="34" charset="0"/>
              <a:buNone/>
              <a:defRPr/>
            </a:pPr>
            <a:r>
              <a:rPr lang="en-GB" sz="2000" b="1" dirty="0" err="1" smtClean="0">
                <a:solidFill>
                  <a:srgbClr val="0000FF"/>
                </a:solidFill>
                <a:latin typeface="Monotype Corsiva" pitchFamily="66" charset="0"/>
              </a:rPr>
              <a:t>Pimpri</a:t>
            </a:r>
            <a:r>
              <a:rPr lang="en-GB" sz="2000" b="1" dirty="0" smtClean="0">
                <a:solidFill>
                  <a:srgbClr val="0000FF"/>
                </a:solidFill>
                <a:latin typeface="Monotype Corsiva" pitchFamily="66" charset="0"/>
              </a:rPr>
              <a:t>, </a:t>
            </a:r>
            <a:r>
              <a:rPr lang="en-GB" sz="2000" b="1" dirty="0" err="1" smtClean="0">
                <a:solidFill>
                  <a:srgbClr val="0000FF"/>
                </a:solidFill>
                <a:latin typeface="Monotype Corsiva" pitchFamily="66" charset="0"/>
              </a:rPr>
              <a:t>Pune</a:t>
            </a:r>
            <a:r>
              <a:rPr lang="en-GB" sz="2000" b="1" dirty="0" smtClean="0">
                <a:solidFill>
                  <a:srgbClr val="0000FF"/>
                </a:solidFill>
                <a:latin typeface="Monotype Corsiva" pitchFamily="66" charset="0"/>
              </a:rPr>
              <a:t> 18.</a:t>
            </a:r>
          </a:p>
          <a:p>
            <a:pPr eaLnBrk="1" fontAlgn="auto" hangingPunct="1">
              <a:spcAft>
                <a:spcPts val="0"/>
              </a:spcAft>
              <a:buFont typeface="Arial" pitchFamily="34" charset="0"/>
              <a:buNone/>
              <a:defRPr/>
            </a:pPr>
            <a:endParaRPr lang="en-US" sz="3600" dirty="0"/>
          </a:p>
        </p:txBody>
      </p:sp>
    </p:spTree>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fontScale="90000"/>
          </a:bodyPr>
          <a:lstStyle/>
          <a:p>
            <a:r>
              <a:rPr lang="en-GB" b="1" dirty="0" smtClean="0">
                <a:solidFill>
                  <a:schemeClr val="accent2">
                    <a:lumMod val="75000"/>
                  </a:schemeClr>
                </a:solidFill>
              </a:rPr>
              <a:t>Unit1 </a:t>
            </a:r>
            <a:r>
              <a:rPr lang="en-GB" b="1" dirty="0">
                <a:solidFill>
                  <a:schemeClr val="accent2">
                    <a:lumMod val="75000"/>
                  </a:schemeClr>
                </a:solidFill>
              </a:rPr>
              <a:t>:</a:t>
            </a:r>
            <a:r>
              <a:rPr lang="en-US" b="1" dirty="0">
                <a:solidFill>
                  <a:schemeClr val="accent2">
                    <a:lumMod val="75000"/>
                  </a:schemeClr>
                </a:solidFill>
              </a:rPr>
              <a:t> Introduction to Data Structures and Algorithm Analysis</a:t>
            </a:r>
            <a:endParaRPr lang="en-US" dirty="0"/>
          </a:p>
        </p:txBody>
      </p:sp>
      <p:sp>
        <p:nvSpPr>
          <p:cNvPr id="3" name="Content Placeholder 2"/>
          <p:cNvSpPr>
            <a:spLocks noGrp="1"/>
          </p:cNvSpPr>
          <p:nvPr>
            <p:ph idx="1"/>
          </p:nvPr>
        </p:nvSpPr>
        <p:spPr/>
        <p:txBody>
          <a:bodyPr>
            <a:normAutofit/>
          </a:bodyPr>
          <a:lstStyle/>
          <a:p>
            <a:pPr algn="just"/>
            <a:r>
              <a:rPr lang="en-US" sz="2800" dirty="0" smtClean="0"/>
              <a:t>Overview of Data Structure</a:t>
            </a:r>
          </a:p>
          <a:p>
            <a:pPr lvl="1" algn="just"/>
            <a:r>
              <a:rPr lang="en-US" sz="2000" dirty="0" smtClean="0"/>
              <a:t>Need of Data Structure, </a:t>
            </a:r>
          </a:p>
          <a:p>
            <a:pPr lvl="1" algn="just"/>
            <a:r>
              <a:rPr lang="en-US" sz="2000" dirty="0" smtClean="0"/>
              <a:t>Definitions: Data and information, Data type, Data object, ADT, Data Structure </a:t>
            </a:r>
          </a:p>
          <a:p>
            <a:pPr lvl="1" algn="just"/>
            <a:r>
              <a:rPr lang="en-US" sz="2000" dirty="0" smtClean="0"/>
              <a:t>Types of Data Structures: Linear </a:t>
            </a:r>
            <a:r>
              <a:rPr lang="en-US" sz="2000" dirty="0" err="1" smtClean="0"/>
              <a:t>vs</a:t>
            </a:r>
            <a:r>
              <a:rPr lang="en-US" sz="2000" dirty="0" smtClean="0"/>
              <a:t> </a:t>
            </a:r>
            <a:r>
              <a:rPr lang="en-US" sz="2000" dirty="0" err="1" smtClean="0"/>
              <a:t>NonLinear</a:t>
            </a:r>
            <a:r>
              <a:rPr lang="en-US" sz="2000" dirty="0" smtClean="0"/>
              <a:t>, Static vs. Dynamic</a:t>
            </a:r>
          </a:p>
          <a:p>
            <a:pPr algn="just"/>
            <a:r>
              <a:rPr lang="en-US" sz="2800" dirty="0" smtClean="0"/>
              <a:t>Complexity Analysis </a:t>
            </a:r>
          </a:p>
          <a:p>
            <a:pPr lvl="1" algn="just"/>
            <a:r>
              <a:rPr lang="en-US" sz="2000" dirty="0" smtClean="0"/>
              <a:t>Space and time complexity</a:t>
            </a:r>
          </a:p>
          <a:p>
            <a:pPr lvl="1" algn="just"/>
            <a:r>
              <a:rPr lang="en-US" sz="2000" dirty="0" smtClean="0"/>
              <a:t>Asymptotic notations (Big O, Omega Ω, Theta  ), </a:t>
            </a:r>
          </a:p>
          <a:p>
            <a:pPr lvl="1" algn="just"/>
            <a:r>
              <a:rPr lang="en-US" sz="2000" dirty="0" smtClean="0"/>
              <a:t>Best, Worst, Average case analysis</a:t>
            </a: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274638"/>
            <a:ext cx="8229600" cy="792162"/>
          </a:xfrm>
        </p:spPr>
        <p:txBody>
          <a:bodyPr>
            <a:normAutofit/>
          </a:bodyPr>
          <a:lstStyle/>
          <a:p>
            <a:r>
              <a:rPr lang="en-US" dirty="0" smtClean="0"/>
              <a:t>Data</a:t>
            </a:r>
            <a:endParaRPr lang="en-US" dirty="0"/>
          </a:p>
        </p:txBody>
      </p:sp>
      <p:sp>
        <p:nvSpPr>
          <p:cNvPr id="3" name="Content Placeholder 2"/>
          <p:cNvSpPr>
            <a:spLocks noGrp="1"/>
          </p:cNvSpPr>
          <p:nvPr>
            <p:ph idx="1"/>
          </p:nvPr>
        </p:nvSpPr>
        <p:spPr>
          <a:xfrm>
            <a:off x="457200" y="1219201"/>
            <a:ext cx="8458200" cy="2590799"/>
          </a:xfrm>
        </p:spPr>
        <p:txBody>
          <a:bodyPr>
            <a:normAutofit lnSpcReduction="10000"/>
          </a:bodyPr>
          <a:lstStyle/>
          <a:p>
            <a:pPr algn="just"/>
            <a:r>
              <a:rPr lang="en-US" sz="2400" b="1" dirty="0" smtClean="0"/>
              <a:t>Data: </a:t>
            </a:r>
            <a:r>
              <a:rPr lang="en-US" sz="2400" i="1" dirty="0" smtClean="0">
                <a:solidFill>
                  <a:srgbClr val="0000FF"/>
                </a:solidFill>
              </a:rPr>
              <a:t>Raw, unprocessed facts, figures, or symbols that can be processed and analyzed to extract useful information</a:t>
            </a:r>
            <a:r>
              <a:rPr lang="en-US" sz="2400" dirty="0" smtClean="0"/>
              <a:t>. Data can be numerical, textual, or even visual. </a:t>
            </a:r>
            <a:endParaRPr lang="en-US" sz="2400" dirty="0" smtClean="0"/>
          </a:p>
          <a:p>
            <a:pPr algn="just"/>
            <a:r>
              <a:rPr lang="en-US" sz="2400" b="1" dirty="0" smtClean="0"/>
              <a:t>Data</a:t>
            </a:r>
            <a:r>
              <a:rPr lang="en-US" sz="2400" dirty="0" smtClean="0"/>
              <a:t> is a Piece of Information.</a:t>
            </a:r>
          </a:p>
          <a:p>
            <a:pPr algn="just"/>
            <a:r>
              <a:rPr lang="en-US" sz="2400" b="1" i="1" u="sng" dirty="0" smtClean="0"/>
              <a:t>Example</a:t>
            </a:r>
            <a:r>
              <a:rPr lang="en-US" sz="2400" b="1" i="1" u="sng" dirty="0"/>
              <a:t>:</a:t>
            </a:r>
            <a:r>
              <a:rPr lang="en-US" sz="2400" dirty="0" smtClean="0"/>
              <a:t> Employee </a:t>
            </a:r>
            <a:r>
              <a:rPr lang="en-US" sz="2400" dirty="0"/>
              <a:t>name can be broken down into three sub-items: First, Middle, and Last. However, an ID assigned to an employee will generally be considered a single item</a:t>
            </a:r>
            <a:r>
              <a:rPr lang="en-US" sz="2400" dirty="0" smtClean="0"/>
              <a:t>.</a:t>
            </a:r>
          </a:p>
        </p:txBody>
      </p:sp>
      <p:pic>
        <p:nvPicPr>
          <p:cNvPr id="4097" name="Picture 1" descr="E:\reshma\2023-24\SYBCS(DS)\1.png"/>
          <p:cNvPicPr>
            <a:picLocks noChangeAspect="1" noChangeArrowheads="1"/>
          </p:cNvPicPr>
          <p:nvPr/>
        </p:nvPicPr>
        <p:blipFill>
          <a:blip r:embed="rId2" cstate="print"/>
          <a:srcRect/>
          <a:stretch>
            <a:fillRect/>
          </a:stretch>
        </p:blipFill>
        <p:spPr bwMode="auto">
          <a:xfrm>
            <a:off x="609600" y="3733800"/>
            <a:ext cx="7962900" cy="2209800"/>
          </a:xfrm>
          <a:prstGeom prst="rect">
            <a:avLst/>
          </a:prstGeom>
          <a:noFill/>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Types of Data</a:t>
            </a:r>
            <a:endParaRPr lang="en-US" dirty="0"/>
          </a:p>
        </p:txBody>
      </p:sp>
      <p:sp>
        <p:nvSpPr>
          <p:cNvPr id="3" name="Content Placeholder 2"/>
          <p:cNvSpPr>
            <a:spLocks noGrp="1"/>
          </p:cNvSpPr>
          <p:nvPr>
            <p:ph idx="1"/>
          </p:nvPr>
        </p:nvSpPr>
        <p:spPr>
          <a:xfrm>
            <a:off x="457200" y="1600200"/>
            <a:ext cx="8534400" cy="4525963"/>
          </a:xfrm>
        </p:spPr>
        <p:txBody>
          <a:bodyPr>
            <a:normAutofit fontScale="85000" lnSpcReduction="10000"/>
          </a:bodyPr>
          <a:lstStyle/>
          <a:p>
            <a:r>
              <a:rPr lang="en-US" dirty="0" smtClean="0"/>
              <a:t>Data is divided into atomic and non-atomic data:</a:t>
            </a:r>
          </a:p>
          <a:p>
            <a:pPr marL="514350" indent="-514350">
              <a:buFont typeface="+mj-lt"/>
              <a:buAutoNum type="arabicPeriod"/>
            </a:pPr>
            <a:r>
              <a:rPr lang="en-US" dirty="0" smtClean="0">
                <a:solidFill>
                  <a:srgbClr val="FF0000"/>
                </a:solidFill>
              </a:rPr>
              <a:t>Atomic data:</a:t>
            </a:r>
          </a:p>
          <a:p>
            <a:pPr marL="514350" indent="-514350">
              <a:buNone/>
            </a:pPr>
            <a:r>
              <a:rPr lang="en-US" dirty="0" smtClean="0"/>
              <a:t>	It is </a:t>
            </a:r>
            <a:r>
              <a:rPr lang="en-US" i="1" dirty="0" smtClean="0">
                <a:solidFill>
                  <a:srgbClr val="0000FF"/>
                </a:solidFill>
              </a:rPr>
              <a:t>single or non-decomposable entity</a:t>
            </a:r>
            <a:r>
              <a:rPr lang="en-US" dirty="0" smtClean="0"/>
              <a:t>. Data cannot be broken into subfields.</a:t>
            </a:r>
          </a:p>
          <a:p>
            <a:pPr marL="514350" indent="-514350">
              <a:buNone/>
            </a:pPr>
            <a:r>
              <a:rPr lang="en-US" dirty="0" smtClean="0"/>
              <a:t>	Ex.: </a:t>
            </a:r>
            <a:r>
              <a:rPr lang="en-US" dirty="0" err="1" smtClean="0"/>
              <a:t>EmployeeId</a:t>
            </a:r>
            <a:endParaRPr lang="en-US" dirty="0" smtClean="0"/>
          </a:p>
          <a:p>
            <a:pPr marL="514350" indent="-514350">
              <a:buNone/>
            </a:pPr>
            <a:r>
              <a:rPr lang="en-US" dirty="0" smtClean="0">
                <a:solidFill>
                  <a:srgbClr val="FF0000"/>
                </a:solidFill>
              </a:rPr>
              <a:t>2.   Non-atomic data:</a:t>
            </a:r>
          </a:p>
          <a:p>
            <a:pPr>
              <a:buNone/>
            </a:pPr>
            <a:r>
              <a:rPr lang="en-US" dirty="0" smtClean="0"/>
              <a:t>	  Data can be </a:t>
            </a:r>
            <a:r>
              <a:rPr lang="en-US" i="1" dirty="0" smtClean="0">
                <a:solidFill>
                  <a:srgbClr val="0000FF"/>
                </a:solidFill>
              </a:rPr>
              <a:t>broken into subfields</a:t>
            </a:r>
            <a:r>
              <a:rPr lang="en-US" dirty="0" smtClean="0"/>
              <a:t>.</a:t>
            </a:r>
          </a:p>
          <a:p>
            <a:pPr>
              <a:buNone/>
            </a:pPr>
            <a:r>
              <a:rPr lang="en-US" dirty="0" smtClean="0"/>
              <a:t>	  It is also called as structured data or Composite data.</a:t>
            </a:r>
          </a:p>
          <a:p>
            <a:pPr>
              <a:buNone/>
            </a:pPr>
            <a:r>
              <a:rPr lang="en-US" dirty="0" smtClean="0"/>
              <a:t>	  Ex.: </a:t>
            </a:r>
            <a:r>
              <a:rPr lang="en-US" dirty="0" err="1" smtClean="0"/>
              <a:t>EmployeeName</a:t>
            </a:r>
            <a:endParaRPr lang="en-US" dirty="0" smtClean="0"/>
          </a:p>
          <a:p>
            <a:pPr>
              <a:buNone/>
            </a:pPr>
            <a:r>
              <a:rPr lang="en-US" dirty="0" smtClean="0"/>
              <a:t>  	  </a:t>
            </a:r>
            <a:r>
              <a:rPr lang="en-US" dirty="0" err="1" smtClean="0"/>
              <a:t>EmployeeName</a:t>
            </a:r>
            <a:r>
              <a:rPr lang="en-US" dirty="0" smtClean="0"/>
              <a:t> is divided into </a:t>
            </a:r>
            <a:r>
              <a:rPr lang="en-US" dirty="0" err="1" smtClean="0"/>
              <a:t>Fname</a:t>
            </a:r>
            <a:r>
              <a:rPr lang="en-US" dirty="0" smtClean="0"/>
              <a:t>, </a:t>
            </a:r>
            <a:r>
              <a:rPr lang="en-US" dirty="0" err="1" smtClean="0"/>
              <a:t>Mname</a:t>
            </a:r>
            <a:r>
              <a:rPr lang="en-US" dirty="0" smtClean="0"/>
              <a:t>, </a:t>
            </a:r>
            <a:r>
              <a:rPr lang="en-US" dirty="0" err="1" smtClean="0"/>
              <a:t>Lname</a:t>
            </a:r>
            <a:endParaRPr lang="en-US" dirty="0" smtClean="0"/>
          </a:p>
          <a:p>
            <a:pPr>
              <a:buNone/>
            </a:pPr>
            <a:endParaRPr 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Information</a:t>
            </a:r>
            <a:endParaRPr lang="en-US" dirty="0"/>
          </a:p>
        </p:txBody>
      </p:sp>
      <p:sp>
        <p:nvSpPr>
          <p:cNvPr id="3" name="Content Placeholder 2"/>
          <p:cNvSpPr>
            <a:spLocks noGrp="1"/>
          </p:cNvSpPr>
          <p:nvPr>
            <p:ph idx="1"/>
          </p:nvPr>
        </p:nvSpPr>
        <p:spPr>
          <a:xfrm>
            <a:off x="457200" y="1600201"/>
            <a:ext cx="8229600" cy="2057400"/>
          </a:xfrm>
        </p:spPr>
        <p:txBody>
          <a:bodyPr>
            <a:normAutofit fontScale="92500" lnSpcReduction="20000"/>
          </a:bodyPr>
          <a:lstStyle/>
          <a:p>
            <a:pPr algn="just"/>
            <a:r>
              <a:rPr lang="en-US" sz="2400" b="1" dirty="0" smtClean="0"/>
              <a:t>Information: </a:t>
            </a:r>
            <a:r>
              <a:rPr lang="en-US" sz="2600" i="1" dirty="0" smtClean="0">
                <a:solidFill>
                  <a:srgbClr val="0000FF"/>
                </a:solidFill>
              </a:rPr>
              <a:t>Data that has been processed, organized, and presented in a meaningful way to provide context and allow for informed decision-making</a:t>
            </a:r>
            <a:r>
              <a:rPr lang="en-US" sz="2400" dirty="0" smtClean="0"/>
              <a:t>. </a:t>
            </a:r>
            <a:endParaRPr lang="en-US" sz="2400" dirty="0" smtClean="0"/>
          </a:p>
          <a:p>
            <a:pPr algn="just"/>
            <a:r>
              <a:rPr lang="en-US" sz="2400" dirty="0" smtClean="0"/>
              <a:t>Information </a:t>
            </a:r>
            <a:r>
              <a:rPr lang="en-US" sz="2400" dirty="0" smtClean="0"/>
              <a:t>is defined as </a:t>
            </a:r>
            <a:r>
              <a:rPr lang="en-US" sz="2400" dirty="0" smtClean="0">
                <a:solidFill>
                  <a:srgbClr val="FF0000"/>
                </a:solidFill>
              </a:rPr>
              <a:t>meaningful, logical and processed data.</a:t>
            </a:r>
          </a:p>
          <a:p>
            <a:pPr algn="just"/>
            <a:r>
              <a:rPr lang="en-US" sz="2400" dirty="0" smtClean="0"/>
              <a:t>Data are raw facts from which the required information is produced.</a:t>
            </a:r>
            <a:endParaRPr lang="en-US" sz="2400" dirty="0"/>
          </a:p>
        </p:txBody>
      </p:sp>
      <p:grpSp>
        <p:nvGrpSpPr>
          <p:cNvPr id="4" name="Group 12"/>
          <p:cNvGrpSpPr/>
          <p:nvPr/>
        </p:nvGrpSpPr>
        <p:grpSpPr>
          <a:xfrm>
            <a:off x="1143000" y="3810000"/>
            <a:ext cx="6471140" cy="1905000"/>
            <a:chOff x="1371600" y="1981200"/>
            <a:chExt cx="6471140" cy="1905000"/>
          </a:xfrm>
        </p:grpSpPr>
        <p:sp>
          <p:nvSpPr>
            <p:cNvPr id="14" name="TextBox 13"/>
            <p:cNvSpPr txBox="1"/>
            <p:nvPr/>
          </p:nvSpPr>
          <p:spPr>
            <a:xfrm>
              <a:off x="6318740" y="2027538"/>
              <a:ext cx="1524000" cy="1754326"/>
            </a:xfrm>
            <a:prstGeom prst="rect">
              <a:avLst/>
            </a:prstGeom>
            <a:noFill/>
            <a:ln>
              <a:solidFill>
                <a:schemeClr val="tx1"/>
              </a:solidFill>
            </a:ln>
          </p:spPr>
          <p:txBody>
            <a:bodyPr wrap="square" rtlCol="0">
              <a:spAutoFit/>
            </a:bodyPr>
            <a:lstStyle/>
            <a:p>
              <a:pPr algn="ctr"/>
              <a:r>
                <a:rPr lang="en-US" dirty="0" smtClean="0"/>
                <a:t>Information_1</a:t>
              </a:r>
            </a:p>
            <a:p>
              <a:pPr algn="ctr"/>
              <a:r>
                <a:rPr lang="en-US" dirty="0" smtClean="0"/>
                <a:t>Information_2</a:t>
              </a:r>
            </a:p>
            <a:p>
              <a:pPr algn="ctr"/>
              <a:r>
                <a:rPr lang="en-IN" dirty="0" smtClean="0"/>
                <a:t>.</a:t>
              </a:r>
              <a:endParaRPr lang="en-US" dirty="0" smtClean="0"/>
            </a:p>
            <a:p>
              <a:pPr algn="ctr"/>
              <a:r>
                <a:rPr lang="en-IN" dirty="0" smtClean="0"/>
                <a:t>.</a:t>
              </a:r>
            </a:p>
            <a:p>
              <a:pPr algn="ctr"/>
              <a:r>
                <a:rPr lang="en-IN" dirty="0" smtClean="0"/>
                <a:t>.</a:t>
              </a:r>
              <a:endParaRPr lang="en-US" dirty="0" smtClean="0"/>
            </a:p>
            <a:p>
              <a:pPr algn="ctr"/>
              <a:r>
                <a:rPr lang="en-US" dirty="0" err="1" smtClean="0"/>
                <a:t>Information_n</a:t>
              </a:r>
              <a:endParaRPr lang="en-US" dirty="0"/>
            </a:p>
          </p:txBody>
        </p:sp>
        <p:grpSp>
          <p:nvGrpSpPr>
            <p:cNvPr id="5" name="Group 14"/>
            <p:cNvGrpSpPr/>
            <p:nvPr/>
          </p:nvGrpSpPr>
          <p:grpSpPr>
            <a:xfrm>
              <a:off x="1371600" y="1981200"/>
              <a:ext cx="4953000" cy="1905000"/>
              <a:chOff x="1371600" y="1981200"/>
              <a:chExt cx="4953000" cy="1905000"/>
            </a:xfrm>
          </p:grpSpPr>
          <p:sp>
            <p:nvSpPr>
              <p:cNvPr id="16" name="TextBox 15"/>
              <p:cNvSpPr txBox="1"/>
              <p:nvPr/>
            </p:nvSpPr>
            <p:spPr>
              <a:xfrm>
                <a:off x="1371600" y="2726732"/>
                <a:ext cx="1219200" cy="369332"/>
              </a:xfrm>
              <a:prstGeom prst="rect">
                <a:avLst/>
              </a:prstGeom>
              <a:noFill/>
              <a:ln>
                <a:solidFill>
                  <a:schemeClr val="tx1"/>
                </a:solidFill>
              </a:ln>
            </p:spPr>
            <p:txBody>
              <a:bodyPr wrap="square" rtlCol="0">
                <a:spAutoFit/>
              </a:bodyPr>
              <a:lstStyle/>
              <a:p>
                <a:pPr algn="ctr"/>
                <a:r>
                  <a:rPr lang="en-US" dirty="0" smtClean="0"/>
                  <a:t>Data</a:t>
                </a:r>
                <a:endParaRPr lang="en-US" dirty="0"/>
              </a:p>
            </p:txBody>
          </p:sp>
          <p:sp>
            <p:nvSpPr>
              <p:cNvPr id="17" name="Oval 16"/>
              <p:cNvSpPr/>
              <p:nvPr/>
            </p:nvSpPr>
            <p:spPr>
              <a:xfrm>
                <a:off x="3581400" y="1981200"/>
                <a:ext cx="1828800" cy="1905000"/>
              </a:xfrm>
              <a:prstGeom prst="ellipse">
                <a:avLst/>
              </a:prstGeom>
              <a:solidFill>
                <a:schemeClr val="bg1"/>
              </a:solidFill>
              <a:ln w="12700">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8" name="TextBox 3"/>
              <p:cNvSpPr txBox="1"/>
              <p:nvPr/>
            </p:nvSpPr>
            <p:spPr>
              <a:xfrm>
                <a:off x="3886200" y="2438400"/>
                <a:ext cx="1219200" cy="923330"/>
              </a:xfrm>
              <a:prstGeom prst="rect">
                <a:avLst/>
              </a:prstGeom>
              <a:noFill/>
              <a:ln w="12700">
                <a:solidFill>
                  <a:schemeClr val="bg1"/>
                </a:solidFill>
              </a:ln>
            </p:spPr>
            <p:txBody>
              <a:bodyPr wrap="square" rtlCol="0">
                <a:spAutoFit/>
              </a:bodyPr>
              <a:lstStyle/>
              <a:p>
                <a:pPr algn="ctr"/>
                <a:r>
                  <a:rPr lang="en-US" dirty="0" smtClean="0"/>
                  <a:t>Procedure to process data</a:t>
                </a:r>
                <a:endParaRPr lang="en-US" dirty="0"/>
              </a:p>
            </p:txBody>
          </p:sp>
          <p:cxnSp>
            <p:nvCxnSpPr>
              <p:cNvPr id="19" name="Straight Arrow Connector 18"/>
              <p:cNvCxnSpPr/>
              <p:nvPr/>
            </p:nvCxnSpPr>
            <p:spPr>
              <a:xfrm>
                <a:off x="2590800" y="2895600"/>
                <a:ext cx="990600" cy="1588"/>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cxnSp>
            <p:nvCxnSpPr>
              <p:cNvPr id="20" name="Straight Arrow Connector 19"/>
              <p:cNvCxnSpPr/>
              <p:nvPr/>
            </p:nvCxnSpPr>
            <p:spPr>
              <a:xfrm>
                <a:off x="5410200" y="2895600"/>
                <a:ext cx="914400" cy="1588"/>
              </a:xfrm>
              <a:prstGeom prst="straightConnector1">
                <a:avLst/>
              </a:prstGeom>
              <a:ln w="12700">
                <a:solidFill>
                  <a:schemeClr val="tx1"/>
                </a:solidFill>
                <a:tailEnd type="arrow"/>
              </a:ln>
            </p:spPr>
            <p:style>
              <a:lnRef idx="1">
                <a:schemeClr val="accent1"/>
              </a:lnRef>
              <a:fillRef idx="0">
                <a:schemeClr val="accent1"/>
              </a:fillRef>
              <a:effectRef idx="0">
                <a:schemeClr val="accent1"/>
              </a:effectRef>
              <a:fontRef idx="minor">
                <a:schemeClr val="tx1"/>
              </a:fontRef>
            </p:style>
          </p:cxnSp>
        </p:grpSp>
      </p:gr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Types</a:t>
            </a:r>
            <a:endParaRPr lang="en-US" dirty="0"/>
          </a:p>
        </p:txBody>
      </p:sp>
      <p:sp>
        <p:nvSpPr>
          <p:cNvPr id="3" name="Content Placeholder 2"/>
          <p:cNvSpPr>
            <a:spLocks noGrp="1"/>
          </p:cNvSpPr>
          <p:nvPr>
            <p:ph idx="1"/>
          </p:nvPr>
        </p:nvSpPr>
        <p:spPr/>
        <p:txBody>
          <a:bodyPr>
            <a:normAutofit/>
          </a:bodyPr>
          <a:lstStyle/>
          <a:p>
            <a:pPr algn="just"/>
            <a:r>
              <a:rPr lang="en-US" sz="2400" dirty="0" smtClean="0"/>
              <a:t>Data type is used to describe the type of data that variable may hold in the programming language.</a:t>
            </a:r>
          </a:p>
          <a:p>
            <a:pPr algn="just"/>
            <a:r>
              <a:rPr lang="en-US" sz="2400" dirty="0" smtClean="0"/>
              <a:t>Data type=Permitted data values + operations</a:t>
            </a:r>
          </a:p>
          <a:p>
            <a:pPr algn="just"/>
            <a:r>
              <a:rPr lang="en-US" sz="2400" dirty="0" smtClean="0"/>
              <a:t>Data type is also defined as set of values and set of operations that operate on those values.</a:t>
            </a:r>
          </a:p>
          <a:p>
            <a:pPr algn="just"/>
            <a:endParaRPr lang="en-US" sz="24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object </a:t>
            </a:r>
            <a:endParaRPr lang="en-US" dirty="0"/>
          </a:p>
        </p:txBody>
      </p:sp>
      <p:sp>
        <p:nvSpPr>
          <p:cNvPr id="3" name="Content Placeholder 2"/>
          <p:cNvSpPr>
            <a:spLocks noGrp="1"/>
          </p:cNvSpPr>
          <p:nvPr>
            <p:ph idx="1"/>
          </p:nvPr>
        </p:nvSpPr>
        <p:spPr/>
        <p:txBody>
          <a:bodyPr>
            <a:normAutofit lnSpcReduction="10000"/>
          </a:bodyPr>
          <a:lstStyle/>
          <a:p>
            <a:pPr algn="just"/>
            <a:r>
              <a:rPr lang="en-US" sz="2200" dirty="0" smtClean="0"/>
              <a:t>A data object represents a </a:t>
            </a:r>
            <a:r>
              <a:rPr lang="en-US" sz="2200" i="1" dirty="0" smtClean="0">
                <a:solidFill>
                  <a:srgbClr val="0000FF"/>
                </a:solidFill>
              </a:rPr>
              <a:t>container for data values – a place where data values are stored and later retrieved</a:t>
            </a:r>
            <a:r>
              <a:rPr lang="en-US" sz="2200" dirty="0" smtClean="0"/>
              <a:t>. OR</a:t>
            </a:r>
            <a:endParaRPr lang="en-US" sz="2200" dirty="0" smtClean="0"/>
          </a:p>
          <a:p>
            <a:pPr algn="just"/>
            <a:r>
              <a:rPr lang="en-US" sz="2200" i="1" dirty="0" smtClean="0">
                <a:solidFill>
                  <a:srgbClr val="0000FF"/>
                </a:solidFill>
              </a:rPr>
              <a:t>A storage location containing a value or group of values that can be accessed using an identifier or a complex expression</a:t>
            </a:r>
            <a:r>
              <a:rPr lang="en-US" sz="2400" dirty="0" smtClean="0"/>
              <a:t>. </a:t>
            </a:r>
            <a:endParaRPr lang="en-US" sz="2400" dirty="0" smtClean="0"/>
          </a:p>
          <a:p>
            <a:pPr algn="just"/>
            <a:r>
              <a:rPr lang="en-US" sz="2200" dirty="0" smtClean="0"/>
              <a:t>Data </a:t>
            </a:r>
            <a:r>
              <a:rPr lang="en-US" sz="2200" dirty="0" smtClean="0"/>
              <a:t>objects refers to the set of all elements say D, which may be finite or infinite.</a:t>
            </a:r>
          </a:p>
          <a:p>
            <a:pPr algn="just"/>
            <a:r>
              <a:rPr lang="en-US" sz="2200" dirty="0" smtClean="0"/>
              <a:t>Ex.: The data object of “alphabet” is defined as : </a:t>
            </a:r>
          </a:p>
          <a:p>
            <a:pPr algn="just">
              <a:buNone/>
            </a:pPr>
            <a:r>
              <a:rPr lang="en-US" sz="2200" dirty="0" smtClean="0"/>
              <a:t>		D={A, B,….Z}</a:t>
            </a:r>
          </a:p>
          <a:p>
            <a:pPr algn="just"/>
            <a:r>
              <a:rPr lang="en-US" sz="2200" dirty="0" smtClean="0"/>
              <a:t>Ex.: The data object of “integer” is defined as : </a:t>
            </a:r>
          </a:p>
          <a:p>
            <a:pPr algn="just">
              <a:buNone/>
            </a:pPr>
            <a:r>
              <a:rPr lang="en-US" sz="2200" dirty="0" smtClean="0"/>
              <a:t>		D={….-2,-1,0,1,2,….}</a:t>
            </a:r>
          </a:p>
          <a:p>
            <a:pPr algn="just"/>
            <a:r>
              <a:rPr lang="en-US" sz="2200" dirty="0" smtClean="0"/>
              <a:t>Data object is binded with type, location, value, name &amp; component.</a:t>
            </a:r>
          </a:p>
          <a:p>
            <a:pPr algn="just">
              <a:buNone/>
            </a:pPr>
            <a:endParaRPr lang="en-US" sz="2400" dirty="0" smtClean="0"/>
          </a:p>
          <a:p>
            <a:pPr algn="just">
              <a:buNone/>
            </a:pPr>
            <a:endParaRPr lang="en-US" sz="2400" dirty="0" smtClean="0"/>
          </a:p>
          <a:p>
            <a:pPr algn="just">
              <a:buNone/>
            </a:pPr>
            <a:endParaRPr lang="en-US" sz="2400" dirty="0" smtClean="0"/>
          </a:p>
          <a:p>
            <a:pPr algn="just"/>
            <a:endParaRPr lang="en-US" sz="24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ADT</a:t>
            </a:r>
            <a:endParaRPr lang="en-US" dirty="0"/>
          </a:p>
        </p:txBody>
      </p:sp>
      <p:sp>
        <p:nvSpPr>
          <p:cNvPr id="3" name="Content Placeholder 2"/>
          <p:cNvSpPr>
            <a:spLocks noGrp="1"/>
          </p:cNvSpPr>
          <p:nvPr>
            <p:ph idx="1"/>
          </p:nvPr>
        </p:nvSpPr>
        <p:spPr>
          <a:xfrm>
            <a:off x="457200" y="1600200"/>
            <a:ext cx="8305800" cy="3886200"/>
          </a:xfrm>
        </p:spPr>
        <p:txBody>
          <a:bodyPr>
            <a:normAutofit fontScale="85000" lnSpcReduction="10000"/>
          </a:bodyPr>
          <a:lstStyle/>
          <a:p>
            <a:pPr algn="just"/>
            <a:r>
              <a:rPr lang="en-US" sz="2400" dirty="0" smtClean="0"/>
              <a:t> concept or model of a data type that defines its behavior and operations independently of how it is implemented. ADTs focus on the what (the data and its operations) rather than the how (the implementation details).  </a:t>
            </a:r>
            <a:endParaRPr lang="en-US" sz="2400" smtClean="0"/>
          </a:p>
          <a:p>
            <a:pPr algn="just"/>
            <a:r>
              <a:rPr lang="en-US" sz="2200" smtClean="0"/>
              <a:t>Abstract </a:t>
            </a:r>
            <a:r>
              <a:rPr lang="en-US" sz="2200" dirty="0" smtClean="0"/>
              <a:t>Data type (ADT) specifies a set of data and set of operations that can be operated on that data.</a:t>
            </a:r>
          </a:p>
          <a:p>
            <a:pPr algn="just"/>
            <a:r>
              <a:rPr lang="en-US" sz="2200" dirty="0" smtClean="0"/>
              <a:t>The definition of ADT only mentions </a:t>
            </a:r>
            <a:r>
              <a:rPr lang="en-US" sz="2200" b="1" i="1" dirty="0" smtClean="0">
                <a:solidFill>
                  <a:srgbClr val="0000FF"/>
                </a:solidFill>
              </a:rPr>
              <a:t>what </a:t>
            </a:r>
            <a:r>
              <a:rPr lang="en-US" sz="2200" dirty="0" smtClean="0">
                <a:solidFill>
                  <a:srgbClr val="0000FF"/>
                </a:solidFill>
              </a:rPr>
              <a:t>operations are to be performed but </a:t>
            </a:r>
            <a:r>
              <a:rPr lang="en-US" sz="2200" b="1" i="1" dirty="0" smtClean="0">
                <a:solidFill>
                  <a:srgbClr val="0000FF"/>
                </a:solidFill>
              </a:rPr>
              <a:t>not how </a:t>
            </a:r>
            <a:r>
              <a:rPr lang="en-US" sz="2200" dirty="0" smtClean="0">
                <a:solidFill>
                  <a:srgbClr val="0000FF"/>
                </a:solidFill>
              </a:rPr>
              <a:t>these operations will be implemented.</a:t>
            </a:r>
            <a:r>
              <a:rPr lang="en-US" sz="2200" dirty="0" smtClean="0">
                <a:solidFill>
                  <a:srgbClr val="FF0000"/>
                </a:solidFill>
              </a:rPr>
              <a:t> </a:t>
            </a:r>
          </a:p>
          <a:p>
            <a:pPr algn="just"/>
            <a:r>
              <a:rPr lang="en-US" sz="2200" dirty="0" smtClean="0"/>
              <a:t>It does </a:t>
            </a:r>
            <a:r>
              <a:rPr lang="en-US" sz="2200" b="1" i="1" dirty="0" smtClean="0">
                <a:solidFill>
                  <a:srgbClr val="0000FF"/>
                </a:solidFill>
              </a:rPr>
              <a:t>not</a:t>
            </a:r>
            <a:r>
              <a:rPr lang="en-US" sz="2200" dirty="0" smtClean="0">
                <a:solidFill>
                  <a:srgbClr val="0000FF"/>
                </a:solidFill>
              </a:rPr>
              <a:t> specify how data will be organized in memory and what algorithms will be used for implementing the operations. </a:t>
            </a:r>
          </a:p>
          <a:p>
            <a:pPr algn="just"/>
            <a:r>
              <a:rPr lang="en-US" sz="2200" dirty="0" smtClean="0"/>
              <a:t>It is called “</a:t>
            </a:r>
            <a:r>
              <a:rPr lang="en-US" sz="2200" dirty="0" smtClean="0">
                <a:solidFill>
                  <a:srgbClr val="0000FF"/>
                </a:solidFill>
              </a:rPr>
              <a:t>abstract</a:t>
            </a:r>
            <a:r>
              <a:rPr lang="en-US" sz="2200" dirty="0" smtClean="0"/>
              <a:t>” because it gives an </a:t>
            </a:r>
            <a:r>
              <a:rPr lang="en-US" sz="2200" dirty="0" smtClean="0">
                <a:solidFill>
                  <a:srgbClr val="0000FF"/>
                </a:solidFill>
              </a:rPr>
              <a:t>implementation-independent view. </a:t>
            </a:r>
          </a:p>
          <a:p>
            <a:pPr algn="just"/>
            <a:r>
              <a:rPr lang="en-US" sz="2200" dirty="0" smtClean="0"/>
              <a:t>ADT acts as </a:t>
            </a:r>
            <a:r>
              <a:rPr lang="en-US" sz="2200" dirty="0" err="1" smtClean="0"/>
              <a:t>blackbox</a:t>
            </a:r>
            <a:r>
              <a:rPr lang="en-US" sz="2200" dirty="0" smtClean="0"/>
              <a:t>.</a:t>
            </a:r>
          </a:p>
          <a:p>
            <a:pPr algn="just"/>
            <a:r>
              <a:rPr lang="en-US" sz="2200" dirty="0" smtClean="0"/>
              <a:t>Ex. :List ADT, Stack ADT, Queue ADT</a:t>
            </a:r>
          </a:p>
          <a:p>
            <a:pPr algn="just"/>
            <a:endParaRPr lang="en-US" sz="2200" dirty="0" smtClean="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Advantages of ADT</a:t>
            </a:r>
            <a:endParaRPr lang="en-US" dirty="0"/>
          </a:p>
        </p:txBody>
      </p:sp>
      <p:sp>
        <p:nvSpPr>
          <p:cNvPr id="3" name="Content Placeholder 2"/>
          <p:cNvSpPr>
            <a:spLocks noGrp="1"/>
          </p:cNvSpPr>
          <p:nvPr>
            <p:ph idx="1"/>
          </p:nvPr>
        </p:nvSpPr>
        <p:spPr/>
        <p:txBody>
          <a:bodyPr>
            <a:normAutofit/>
          </a:bodyPr>
          <a:lstStyle/>
          <a:p>
            <a:pPr algn="just"/>
            <a:r>
              <a:rPr lang="en-US" sz="2200" b="1" dirty="0" smtClean="0"/>
              <a:t>Encapsulation</a:t>
            </a:r>
            <a:r>
              <a:rPr lang="en-US" sz="2200" dirty="0" smtClean="0"/>
              <a:t>: It ensures that data cannot be corrupted.</a:t>
            </a:r>
          </a:p>
          <a:p>
            <a:pPr algn="just"/>
            <a:r>
              <a:rPr lang="en-US" sz="2200" b="1" dirty="0" smtClean="0"/>
              <a:t>Reusability</a:t>
            </a:r>
            <a:r>
              <a:rPr lang="en-US" sz="2200" dirty="0" smtClean="0"/>
              <a:t>: ADT is reusable and ensures robust data structure.</a:t>
            </a:r>
          </a:p>
          <a:p>
            <a:pPr algn="just"/>
            <a:r>
              <a:rPr lang="en-US" sz="2200" dirty="0" smtClean="0"/>
              <a:t>It </a:t>
            </a:r>
            <a:r>
              <a:rPr lang="en-US" sz="2200" b="1" dirty="0" smtClean="0"/>
              <a:t>reduces coding efforts</a:t>
            </a:r>
            <a:r>
              <a:rPr lang="en-US" sz="2200" dirty="0" smtClean="0"/>
              <a:t>.</a:t>
            </a:r>
          </a:p>
          <a:p>
            <a:pPr algn="just"/>
            <a:r>
              <a:rPr lang="en-US" sz="2200" b="1" dirty="0" smtClean="0"/>
              <a:t>Hiding </a:t>
            </a:r>
            <a:r>
              <a:rPr lang="en-US" sz="2200" b="1" dirty="0" smtClean="0"/>
              <a:t>Implementation </a:t>
            </a:r>
            <a:r>
              <a:rPr lang="en-US" sz="2200" dirty="0" smtClean="0"/>
              <a:t>details.</a:t>
            </a:r>
            <a:endParaRPr lang="en-US" sz="2200" dirty="0" smtClean="0"/>
          </a:p>
          <a:p>
            <a:pPr algn="just"/>
            <a:r>
              <a:rPr lang="en-US" sz="2200" dirty="0" smtClean="0"/>
              <a:t>ADT is useful guidelines to implement and a useful tool for programmers who wish to use the data type correctly.</a:t>
            </a:r>
            <a:endParaRPr lang="en-US" sz="22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Structure</a:t>
            </a:r>
            <a:endParaRPr lang="en-US" dirty="0"/>
          </a:p>
        </p:txBody>
      </p:sp>
      <p:sp>
        <p:nvSpPr>
          <p:cNvPr id="3" name="Content Placeholder 2"/>
          <p:cNvSpPr>
            <a:spLocks noGrp="1"/>
          </p:cNvSpPr>
          <p:nvPr>
            <p:ph idx="1"/>
          </p:nvPr>
        </p:nvSpPr>
        <p:spPr/>
        <p:txBody>
          <a:bodyPr>
            <a:normAutofit/>
          </a:bodyPr>
          <a:lstStyle/>
          <a:p>
            <a:pPr algn="just" fontAlgn="base"/>
            <a:r>
              <a:rPr lang="en-US" sz="2400" i="1" dirty="0" smtClean="0"/>
              <a:t>A data structure is a storage that is used to store and organize data. It is a way of arranging data on a computer so that it can be accessed and updated efficiently. </a:t>
            </a:r>
          </a:p>
          <a:p>
            <a:pPr algn="just" fontAlgn="base"/>
            <a:endParaRPr lang="en-US" sz="2400" i="1" dirty="0" smtClean="0"/>
          </a:p>
          <a:p>
            <a:pPr algn="just" fontAlgn="base"/>
            <a:r>
              <a:rPr lang="en-US" sz="2400" dirty="0" smtClean="0"/>
              <a:t>Data </a:t>
            </a:r>
            <a:r>
              <a:rPr lang="en-US" sz="2400" dirty="0"/>
              <a:t>Structure is used for </a:t>
            </a:r>
            <a:r>
              <a:rPr lang="en-US" sz="2400" dirty="0">
                <a:solidFill>
                  <a:srgbClr val="C00000"/>
                </a:solidFill>
              </a:rPr>
              <a:t>organizing the data in </a:t>
            </a:r>
            <a:r>
              <a:rPr lang="en-US" sz="2400" dirty="0" smtClean="0">
                <a:solidFill>
                  <a:srgbClr val="C00000"/>
                </a:solidFill>
              </a:rPr>
              <a:t>memory</a:t>
            </a:r>
            <a:r>
              <a:rPr lang="en-US" sz="2400" dirty="0" smtClean="0"/>
              <a:t>.</a:t>
            </a:r>
          </a:p>
          <a:p>
            <a:pPr algn="just" fontAlgn="base"/>
            <a:r>
              <a:rPr lang="en-US" sz="2400" dirty="0" smtClean="0"/>
              <a:t>There </a:t>
            </a:r>
            <a:r>
              <a:rPr lang="en-US" sz="2400" dirty="0"/>
              <a:t>are various ways of organizing the data in the memory, </a:t>
            </a:r>
            <a:r>
              <a:rPr lang="en-US" sz="2400" dirty="0" smtClean="0"/>
              <a:t>like </a:t>
            </a:r>
            <a:r>
              <a:rPr lang="en-US" sz="2400" dirty="0"/>
              <a:t>array, list, stack, queue, and many more. </a:t>
            </a:r>
            <a:endParaRPr lang="en-US" sz="2400" dirty="0" smtClean="0"/>
          </a:p>
          <a:p>
            <a:pPr algn="just" fontAlgn="base"/>
            <a:r>
              <a:rPr lang="en-US" sz="2400" dirty="0" smtClean="0"/>
              <a:t>The </a:t>
            </a:r>
            <a:r>
              <a:rPr lang="en-US" sz="2400" dirty="0"/>
              <a:t>data structure isn’t a programming language like </a:t>
            </a:r>
            <a:r>
              <a:rPr lang="en-US" sz="2400" dirty="0" smtClean="0"/>
              <a:t>C, C++, Java, </a:t>
            </a:r>
            <a:r>
              <a:rPr lang="en-US" sz="2400" dirty="0"/>
              <a:t>etc. </a:t>
            </a:r>
            <a:r>
              <a:rPr lang="en-US" sz="2400" dirty="0" smtClean="0"/>
              <a:t>It </a:t>
            </a:r>
            <a:r>
              <a:rPr lang="en-US" sz="2400" dirty="0"/>
              <a:t>is a set of algorithms that can be used in any programming language to organize the data in the memory.</a:t>
            </a:r>
          </a:p>
          <a:p>
            <a:pPr algn="just"/>
            <a:endParaRPr lang="en-US"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Need of Data Structure</a:t>
            </a:r>
            <a:endParaRPr lang="en-US" dirty="0"/>
          </a:p>
        </p:txBody>
      </p:sp>
      <p:sp>
        <p:nvSpPr>
          <p:cNvPr id="3" name="Content Placeholder 2"/>
          <p:cNvSpPr>
            <a:spLocks noGrp="1"/>
          </p:cNvSpPr>
          <p:nvPr>
            <p:ph idx="1"/>
          </p:nvPr>
        </p:nvSpPr>
        <p:spPr/>
        <p:txBody>
          <a:bodyPr/>
          <a:lstStyle/>
          <a:p>
            <a:pPr fontAlgn="base"/>
            <a:r>
              <a:rPr lang="en-US" dirty="0" smtClean="0"/>
              <a:t>Data structure modification is easy. </a:t>
            </a:r>
          </a:p>
          <a:p>
            <a:pPr fontAlgn="base"/>
            <a:r>
              <a:rPr lang="en-US" dirty="0" smtClean="0"/>
              <a:t>It requires less time. </a:t>
            </a:r>
          </a:p>
          <a:p>
            <a:pPr fontAlgn="base"/>
            <a:r>
              <a:rPr lang="en-US" dirty="0" smtClean="0"/>
              <a:t>Save storage memory space. </a:t>
            </a:r>
          </a:p>
          <a:p>
            <a:pPr fontAlgn="base"/>
            <a:r>
              <a:rPr lang="en-US" dirty="0" smtClean="0"/>
              <a:t>Data representation is easy. </a:t>
            </a:r>
          </a:p>
          <a:p>
            <a:pPr fontAlgn="base"/>
            <a:r>
              <a:rPr lang="en-US" dirty="0" smtClean="0"/>
              <a:t>Easy access to the large database.</a:t>
            </a:r>
          </a:p>
          <a:p>
            <a:endParaRPr lang="en-US"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Need of Data Structure</a:t>
            </a:r>
            <a:endParaRPr lang="en-US" dirty="0"/>
          </a:p>
        </p:txBody>
      </p:sp>
      <p:sp>
        <p:nvSpPr>
          <p:cNvPr id="3" name="Content Placeholder 2"/>
          <p:cNvSpPr>
            <a:spLocks noGrp="1"/>
          </p:cNvSpPr>
          <p:nvPr>
            <p:ph idx="1"/>
          </p:nvPr>
        </p:nvSpPr>
        <p:spPr/>
        <p:txBody>
          <a:bodyPr>
            <a:normAutofit/>
          </a:bodyPr>
          <a:lstStyle/>
          <a:p>
            <a:pPr algn="just" fontAlgn="base"/>
            <a:r>
              <a:rPr lang="en-US" sz="2400" dirty="0"/>
              <a:t>As applications are becoming more </a:t>
            </a:r>
            <a:r>
              <a:rPr lang="en-US" sz="2400" dirty="0">
                <a:solidFill>
                  <a:srgbClr val="FF0000"/>
                </a:solidFill>
              </a:rPr>
              <a:t>complex and the amount of data is increasing day by day</a:t>
            </a:r>
            <a:r>
              <a:rPr lang="en-US" sz="2400" dirty="0"/>
              <a:t>, which may cause </a:t>
            </a:r>
            <a:r>
              <a:rPr lang="en-US" sz="2400" dirty="0">
                <a:solidFill>
                  <a:srgbClr val="FF0000"/>
                </a:solidFill>
              </a:rPr>
              <a:t>problems with processing speed, searching data, handling multiple requests</a:t>
            </a:r>
            <a:r>
              <a:rPr lang="en-US" sz="2400" dirty="0"/>
              <a:t> etc. </a:t>
            </a:r>
            <a:endParaRPr lang="en-US" sz="2400" dirty="0" smtClean="0"/>
          </a:p>
          <a:p>
            <a:pPr algn="just" fontAlgn="base"/>
            <a:r>
              <a:rPr lang="en-US" sz="2400" dirty="0" smtClean="0"/>
              <a:t>Data </a:t>
            </a:r>
            <a:r>
              <a:rPr lang="en-US" sz="2400" dirty="0"/>
              <a:t>structure provides a </a:t>
            </a:r>
            <a:r>
              <a:rPr lang="en-US" sz="2400" dirty="0">
                <a:solidFill>
                  <a:srgbClr val="FF0000"/>
                </a:solidFill>
              </a:rPr>
              <a:t>way of organizing, managing, and storing data efficiently</a:t>
            </a:r>
            <a:r>
              <a:rPr lang="en-US" sz="2400" dirty="0"/>
              <a:t>. With the help of data structure, the data items can be </a:t>
            </a:r>
            <a:r>
              <a:rPr lang="en-US" sz="2400" dirty="0">
                <a:solidFill>
                  <a:srgbClr val="FF0000"/>
                </a:solidFill>
              </a:rPr>
              <a:t>traversed easily</a:t>
            </a:r>
            <a:r>
              <a:rPr lang="en-US" sz="2400" dirty="0"/>
              <a:t>. Data structure provides </a:t>
            </a:r>
            <a:r>
              <a:rPr lang="en-US" sz="2400" dirty="0">
                <a:solidFill>
                  <a:srgbClr val="FF0000"/>
                </a:solidFill>
              </a:rPr>
              <a:t>efficiency, reusability and abstraction</a:t>
            </a:r>
            <a:r>
              <a:rPr lang="en-US" sz="2400" dirty="0"/>
              <a:t>. It plays an important role in enhancing the performance of a program because the main function of the program is to store and retrieve the user’s data as fast as possible.</a:t>
            </a: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Introduction to Data Structure</a:t>
            </a:r>
            <a:endParaRPr lang="en-US" dirty="0"/>
          </a:p>
        </p:txBody>
      </p:sp>
      <p:sp>
        <p:nvSpPr>
          <p:cNvPr id="3" name="Content Placeholder 2"/>
          <p:cNvSpPr>
            <a:spLocks noGrp="1"/>
          </p:cNvSpPr>
          <p:nvPr>
            <p:ph idx="1"/>
          </p:nvPr>
        </p:nvSpPr>
        <p:spPr/>
        <p:txBody>
          <a:bodyPr>
            <a:normAutofit/>
          </a:bodyPr>
          <a:lstStyle/>
          <a:p>
            <a:pPr algn="just"/>
            <a:r>
              <a:rPr lang="en-US" sz="2400" dirty="0" smtClean="0"/>
              <a:t>It is a programming construct </a:t>
            </a:r>
            <a:r>
              <a:rPr lang="en-US" sz="2400" dirty="0" smtClean="0">
                <a:solidFill>
                  <a:srgbClr val="C00000"/>
                </a:solidFill>
              </a:rPr>
              <a:t>to implement an ADT</a:t>
            </a:r>
            <a:r>
              <a:rPr lang="en-US" sz="2400" dirty="0" smtClean="0"/>
              <a:t>.</a:t>
            </a:r>
          </a:p>
          <a:p>
            <a:pPr algn="just"/>
            <a:r>
              <a:rPr lang="en-US" sz="2400" dirty="0" smtClean="0"/>
              <a:t>It is the physical implementation of ADT.</a:t>
            </a:r>
          </a:p>
          <a:p>
            <a:pPr algn="just"/>
            <a:r>
              <a:rPr lang="en-US" sz="2400" dirty="0" smtClean="0"/>
              <a:t>A DS that is implementing as ADT contains collection of variables for storing the data specified in ADT and the algorithms for implementing the operations specified in ADT.</a:t>
            </a:r>
          </a:p>
          <a:p>
            <a:pPr algn="just"/>
            <a:endParaRPr lang="en-US" sz="2400" dirty="0" smtClean="0"/>
          </a:p>
          <a:p>
            <a:endParaRPr lang="en-US" sz="24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smtClean="0"/>
              <a:t>Data Structure</a:t>
            </a:r>
            <a:endParaRPr lang="en-US" dirty="0"/>
          </a:p>
        </p:txBody>
      </p:sp>
      <p:sp>
        <p:nvSpPr>
          <p:cNvPr id="3" name="Content Placeholder 2"/>
          <p:cNvSpPr>
            <a:spLocks noGrp="1"/>
          </p:cNvSpPr>
          <p:nvPr>
            <p:ph idx="1"/>
          </p:nvPr>
        </p:nvSpPr>
        <p:spPr>
          <a:xfrm>
            <a:off x="457200" y="1600200"/>
            <a:ext cx="8382000" cy="4876800"/>
          </a:xfrm>
        </p:spPr>
        <p:txBody>
          <a:bodyPr>
            <a:normAutofit lnSpcReduction="10000"/>
          </a:bodyPr>
          <a:lstStyle/>
          <a:p>
            <a:pPr algn="just"/>
            <a:r>
              <a:rPr lang="en-US" sz="2400" dirty="0" smtClean="0"/>
              <a:t>Data structure is a </a:t>
            </a:r>
            <a:r>
              <a:rPr lang="en-US" sz="2400" dirty="0" smtClean="0">
                <a:solidFill>
                  <a:srgbClr val="FF0000"/>
                </a:solidFill>
              </a:rPr>
              <a:t>way of collecting and organizing data </a:t>
            </a:r>
            <a:r>
              <a:rPr lang="en-US" sz="2400" dirty="0" smtClean="0"/>
              <a:t>in such a way that operations can be performed on these data in an efficient way.</a:t>
            </a:r>
          </a:p>
          <a:p>
            <a:pPr algn="just"/>
            <a:r>
              <a:rPr lang="en-US" sz="2400" dirty="0" smtClean="0">
                <a:solidFill>
                  <a:srgbClr val="FF0000"/>
                </a:solidFill>
              </a:rPr>
              <a:t>Logical or mathematical model of a particular organization of data in main memory</a:t>
            </a:r>
            <a:r>
              <a:rPr lang="en-US" sz="2400" dirty="0" smtClean="0"/>
              <a:t> is called as a data structure.</a:t>
            </a:r>
          </a:p>
          <a:p>
            <a:pPr algn="just"/>
            <a:r>
              <a:rPr lang="en-US" sz="2400" dirty="0" smtClean="0"/>
              <a:t>A data structure is defined as, a set of domains D, a designated domain </a:t>
            </a:r>
            <a:r>
              <a:rPr lang="el-GR" sz="2400" dirty="0" smtClean="0"/>
              <a:t>ε</a:t>
            </a:r>
            <a:r>
              <a:rPr lang="en-US" sz="2400" dirty="0" smtClean="0"/>
              <a:t> D(belongs to D), a set of functions F, and a se of axioms A. The </a:t>
            </a:r>
            <a:r>
              <a:rPr lang="en-US" sz="2400" dirty="0" smtClean="0">
                <a:solidFill>
                  <a:srgbClr val="FF0000"/>
                </a:solidFill>
              </a:rPr>
              <a:t>triple(D,F,A)</a:t>
            </a:r>
            <a:r>
              <a:rPr lang="en-US" sz="2400" dirty="0" smtClean="0"/>
              <a:t> denotes the data structure d and it will usually have written as d, where,</a:t>
            </a:r>
          </a:p>
          <a:p>
            <a:pPr marL="857250" lvl="1" indent="-457200" algn="just">
              <a:buFont typeface="+mj-lt"/>
              <a:buAutoNum type="arabicPeriod"/>
            </a:pPr>
            <a:r>
              <a:rPr lang="en-US" sz="2000" b="1" dirty="0" smtClean="0"/>
              <a:t>Domain(D): </a:t>
            </a:r>
            <a:r>
              <a:rPr lang="en-US" sz="2000" dirty="0" smtClean="0"/>
              <a:t>Denotes data object.</a:t>
            </a:r>
          </a:p>
          <a:p>
            <a:pPr marL="857250" lvl="1" indent="-457200" algn="just">
              <a:buFont typeface="+mj-lt"/>
              <a:buAutoNum type="arabicPeriod"/>
            </a:pPr>
            <a:r>
              <a:rPr lang="en-US" sz="2000" b="1" dirty="0" smtClean="0"/>
              <a:t>Function(F): </a:t>
            </a:r>
            <a:r>
              <a:rPr lang="en-US" sz="2000" dirty="0" smtClean="0"/>
              <a:t>Denotes the set of operations that can be performed on the data objects</a:t>
            </a:r>
          </a:p>
          <a:p>
            <a:pPr marL="857250" lvl="1" indent="-457200" algn="just">
              <a:buFont typeface="+mj-lt"/>
              <a:buAutoNum type="arabicPeriod"/>
            </a:pPr>
            <a:r>
              <a:rPr lang="en-US" sz="2000" b="1" dirty="0" smtClean="0"/>
              <a:t>Axioms(A): </a:t>
            </a:r>
            <a:r>
              <a:rPr lang="en-US" sz="2000" dirty="0" smtClean="0"/>
              <a:t>Denotes the properties and rules of the operation.</a:t>
            </a:r>
          </a:p>
          <a:p>
            <a:pPr algn="just"/>
            <a:endParaRPr lang="en-US" sz="2400" dirty="0" smtClean="0"/>
          </a:p>
          <a:p>
            <a:pPr algn="just"/>
            <a:endParaRPr lang="en-US" sz="24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US" dirty="0" smtClean="0"/>
              <a:t>Operations on Data Structure</a:t>
            </a:r>
            <a:endParaRPr lang="en-US" dirty="0"/>
          </a:p>
        </p:txBody>
      </p:sp>
      <p:sp>
        <p:nvSpPr>
          <p:cNvPr id="3" name="Content Placeholder 2"/>
          <p:cNvSpPr>
            <a:spLocks noGrp="1"/>
          </p:cNvSpPr>
          <p:nvPr>
            <p:ph idx="1"/>
          </p:nvPr>
        </p:nvSpPr>
        <p:spPr/>
        <p:txBody>
          <a:bodyPr/>
          <a:lstStyle/>
          <a:p>
            <a:r>
              <a:rPr lang="en-US" dirty="0" smtClean="0"/>
              <a:t>Some common operations performed on Data Structure</a:t>
            </a:r>
          </a:p>
          <a:p>
            <a:pPr lvl="1"/>
            <a:r>
              <a:rPr lang="en-US" dirty="0" smtClean="0"/>
              <a:t>Insertion</a:t>
            </a:r>
          </a:p>
          <a:p>
            <a:pPr lvl="1"/>
            <a:r>
              <a:rPr lang="en-US" dirty="0" smtClean="0"/>
              <a:t>Deletion</a:t>
            </a:r>
          </a:p>
          <a:p>
            <a:pPr lvl="1"/>
            <a:r>
              <a:rPr lang="en-US" dirty="0" smtClean="0"/>
              <a:t>Traversal</a:t>
            </a:r>
          </a:p>
          <a:p>
            <a:pPr lvl="1"/>
            <a:r>
              <a:rPr lang="en-US" dirty="0" smtClean="0"/>
              <a:t>Search</a:t>
            </a:r>
          </a:p>
          <a:p>
            <a:endParaRPr lang="en-US" dirty="0" smtClean="0"/>
          </a:p>
          <a:p>
            <a:endParaRPr 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6" name="Picture 2" descr="E:\reshma\2023-24\SYBCS(DS)\ClassificationofDataStructure-660x347.jpg"/>
          <p:cNvPicPr>
            <a:picLocks noChangeAspect="1" noChangeArrowheads="1"/>
          </p:cNvPicPr>
          <p:nvPr/>
        </p:nvPicPr>
        <p:blipFill>
          <a:blip r:embed="rId2" cstate="print"/>
          <a:srcRect/>
          <a:stretch>
            <a:fillRect/>
          </a:stretch>
        </p:blipFill>
        <p:spPr bwMode="auto">
          <a:xfrm>
            <a:off x="276011" y="533400"/>
            <a:ext cx="8867989" cy="5181600"/>
          </a:xfrm>
          <a:prstGeom prst="rect">
            <a:avLst/>
          </a:prstGeom>
          <a:noFill/>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Linear data structure</a:t>
            </a:r>
            <a:endParaRPr lang="en-US" dirty="0"/>
          </a:p>
        </p:txBody>
      </p:sp>
      <p:sp>
        <p:nvSpPr>
          <p:cNvPr id="3" name="Content Placeholder 2"/>
          <p:cNvSpPr>
            <a:spLocks noGrp="1"/>
          </p:cNvSpPr>
          <p:nvPr>
            <p:ph idx="1"/>
          </p:nvPr>
        </p:nvSpPr>
        <p:spPr>
          <a:xfrm>
            <a:off x="457200" y="1600201"/>
            <a:ext cx="8229600" cy="2438399"/>
          </a:xfrm>
        </p:spPr>
        <p:txBody>
          <a:bodyPr>
            <a:normAutofit/>
          </a:bodyPr>
          <a:lstStyle/>
          <a:p>
            <a:pPr algn="just"/>
            <a:r>
              <a:rPr lang="en-US" sz="2400" dirty="0" smtClean="0"/>
              <a:t>Data structure is said to be linear if </a:t>
            </a:r>
            <a:r>
              <a:rPr lang="en-US" sz="2400" dirty="0" smtClean="0">
                <a:solidFill>
                  <a:srgbClr val="FF0000"/>
                </a:solidFill>
              </a:rPr>
              <a:t>data</a:t>
            </a:r>
            <a:r>
              <a:rPr lang="en-US" sz="2400" dirty="0" smtClean="0"/>
              <a:t> </a:t>
            </a:r>
            <a:r>
              <a:rPr lang="en-US" sz="2400" dirty="0" smtClean="0">
                <a:solidFill>
                  <a:srgbClr val="FF0000"/>
                </a:solidFill>
              </a:rPr>
              <a:t>elements are arranged sequentially</a:t>
            </a:r>
            <a:r>
              <a:rPr lang="en-US" sz="2400" dirty="0" smtClean="0"/>
              <a:t>. </a:t>
            </a:r>
          </a:p>
          <a:p>
            <a:pPr algn="just"/>
            <a:r>
              <a:rPr lang="en-US" sz="2400" dirty="0" smtClean="0"/>
              <a:t>Each element is attached to its </a:t>
            </a:r>
            <a:r>
              <a:rPr lang="en-US" sz="2400" dirty="0" smtClean="0">
                <a:solidFill>
                  <a:srgbClr val="C00000"/>
                </a:solidFill>
              </a:rPr>
              <a:t>previous and next adjacent </a:t>
            </a:r>
            <a:r>
              <a:rPr lang="en-US" sz="2400" dirty="0" smtClean="0"/>
              <a:t>elements.</a:t>
            </a:r>
          </a:p>
          <a:p>
            <a:pPr algn="just"/>
            <a:r>
              <a:rPr lang="en-US" sz="2400" i="1" dirty="0" smtClean="0"/>
              <a:t>Examples:  array, stack, queue, linked list, etc.</a:t>
            </a:r>
            <a:endParaRPr lang="en-US" sz="2400" dirty="0"/>
          </a:p>
        </p:txBody>
      </p:sp>
      <p:pic>
        <p:nvPicPr>
          <p:cNvPr id="2050" name="Picture 2"/>
          <p:cNvPicPr>
            <a:picLocks noChangeAspect="1" noChangeArrowheads="1"/>
          </p:cNvPicPr>
          <p:nvPr/>
        </p:nvPicPr>
        <p:blipFill>
          <a:blip r:embed="rId2" cstate="print"/>
          <a:srcRect/>
          <a:stretch>
            <a:fillRect/>
          </a:stretch>
        </p:blipFill>
        <p:spPr bwMode="auto">
          <a:xfrm>
            <a:off x="3200400" y="3810000"/>
            <a:ext cx="2514600" cy="2441359"/>
          </a:xfrm>
          <a:prstGeom prst="rect">
            <a:avLst/>
          </a:prstGeom>
          <a:noFill/>
          <a:ln w="9525">
            <a:noFill/>
            <a:miter lim="800000"/>
            <a:headEnd/>
            <a:tailEnd/>
          </a:ln>
          <a:effec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228600" y="381000"/>
            <a:ext cx="8686800" cy="5745163"/>
          </a:xfrm>
        </p:spPr>
        <p:txBody>
          <a:bodyPr>
            <a:normAutofit/>
          </a:bodyPr>
          <a:lstStyle/>
          <a:p>
            <a:r>
              <a:rPr lang="en-US" sz="2400" b="1" dirty="0" smtClean="0"/>
              <a:t>Static data structure: </a:t>
            </a:r>
            <a:r>
              <a:rPr lang="en-US" sz="2400" dirty="0" smtClean="0"/>
              <a:t>Static data structure has a </a:t>
            </a:r>
            <a:r>
              <a:rPr lang="en-US" sz="2400" i="1" dirty="0" smtClean="0">
                <a:solidFill>
                  <a:srgbClr val="C00000"/>
                </a:solidFill>
              </a:rPr>
              <a:t>fixed memory size</a:t>
            </a:r>
            <a:r>
              <a:rPr lang="en-US" sz="2400" dirty="0" smtClean="0"/>
              <a:t>. It is easier to access the elements in a static data structure. </a:t>
            </a:r>
            <a:br>
              <a:rPr lang="en-US" sz="2400" dirty="0" smtClean="0"/>
            </a:br>
            <a:r>
              <a:rPr lang="en-US" sz="2400" i="1" dirty="0" smtClean="0"/>
              <a:t>Example: array</a:t>
            </a:r>
          </a:p>
          <a:p>
            <a:endParaRPr lang="en-US" sz="2400" i="1" dirty="0" smtClean="0"/>
          </a:p>
          <a:p>
            <a:r>
              <a:rPr lang="en-US" sz="2400" b="1" dirty="0" smtClean="0"/>
              <a:t>Dynamic data structure: </a:t>
            </a:r>
            <a:r>
              <a:rPr lang="en-US" sz="2400" dirty="0" smtClean="0"/>
              <a:t>In the dynamic data structure, the </a:t>
            </a:r>
            <a:r>
              <a:rPr lang="en-US" sz="2400" i="1" dirty="0" smtClean="0">
                <a:solidFill>
                  <a:srgbClr val="C00000"/>
                </a:solidFill>
              </a:rPr>
              <a:t>size is not fixed</a:t>
            </a:r>
            <a:r>
              <a:rPr lang="en-US" sz="2400" dirty="0" smtClean="0"/>
              <a:t>. It can be </a:t>
            </a:r>
            <a:r>
              <a:rPr lang="en-US" sz="2400" i="1" dirty="0" smtClean="0">
                <a:solidFill>
                  <a:srgbClr val="C00000"/>
                </a:solidFill>
              </a:rPr>
              <a:t>randomly updated during the runtime </a:t>
            </a:r>
            <a:r>
              <a:rPr lang="en-US" sz="2400" dirty="0" smtClean="0"/>
              <a:t>which may be considered efficient concerning the memory (space) complexity of the code. </a:t>
            </a:r>
            <a:br>
              <a:rPr lang="en-US" sz="2400" dirty="0" smtClean="0"/>
            </a:br>
            <a:r>
              <a:rPr lang="en-US" sz="2400" i="1" dirty="0" smtClean="0"/>
              <a:t>Example: queue, stack, etc.</a:t>
            </a:r>
            <a:endParaRPr lang="en-US" sz="2400" dirty="0" smtClean="0"/>
          </a:p>
          <a:p>
            <a:endParaRPr lang="en-US" sz="2400" dirty="0" smtClean="0"/>
          </a:p>
          <a:p>
            <a:endParaRPr lang="en-US" sz="24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b="1" dirty="0" smtClean="0"/>
              <a:t>Non-Linear data structure</a:t>
            </a:r>
            <a:endParaRPr lang="en-US" dirty="0"/>
          </a:p>
        </p:txBody>
      </p:sp>
      <p:sp>
        <p:nvSpPr>
          <p:cNvPr id="3" name="Content Placeholder 2"/>
          <p:cNvSpPr>
            <a:spLocks noGrp="1"/>
          </p:cNvSpPr>
          <p:nvPr>
            <p:ph idx="1"/>
          </p:nvPr>
        </p:nvSpPr>
        <p:spPr/>
        <p:txBody>
          <a:bodyPr>
            <a:normAutofit/>
          </a:bodyPr>
          <a:lstStyle/>
          <a:p>
            <a:pPr algn="just"/>
            <a:r>
              <a:rPr lang="en-US" sz="2400" dirty="0" smtClean="0"/>
              <a:t>Data structure is said to be Non-linear if its elements</a:t>
            </a:r>
            <a:r>
              <a:rPr lang="en-US" sz="2400" dirty="0" smtClean="0">
                <a:solidFill>
                  <a:srgbClr val="FF0000"/>
                </a:solidFill>
              </a:rPr>
              <a:t> </a:t>
            </a:r>
            <a:r>
              <a:rPr lang="en-US" sz="2400" dirty="0" smtClean="0"/>
              <a:t>form a </a:t>
            </a:r>
            <a:r>
              <a:rPr lang="en-US" sz="2400" i="1" dirty="0" smtClean="0"/>
              <a:t>hierarchical classification </a:t>
            </a:r>
            <a:r>
              <a:rPr lang="en-US" sz="2400" dirty="0" smtClean="0"/>
              <a:t>where data elements are appears at various level.</a:t>
            </a:r>
          </a:p>
          <a:p>
            <a:pPr algn="just"/>
            <a:r>
              <a:rPr lang="en-US" sz="2400" dirty="0" smtClean="0"/>
              <a:t>we </a:t>
            </a:r>
            <a:r>
              <a:rPr lang="en-US" sz="2400" dirty="0" smtClean="0">
                <a:solidFill>
                  <a:srgbClr val="C00000"/>
                </a:solidFill>
              </a:rPr>
              <a:t>can’t traverse all the elements in a single run only.</a:t>
            </a:r>
          </a:p>
          <a:p>
            <a:pPr algn="just"/>
            <a:r>
              <a:rPr lang="en-US" sz="2400" dirty="0" smtClean="0"/>
              <a:t>Example: Tree, Graph</a:t>
            </a:r>
            <a:endParaRPr lang="en-US" sz="2400" dirty="0" smtClean="0">
              <a:solidFill>
                <a:srgbClr val="FF0000"/>
              </a:solidFill>
            </a:endParaRPr>
          </a:p>
          <a:p>
            <a:endParaRPr lang="en-US" sz="24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Table 1"/>
          <p:cNvGraphicFramePr>
            <a:graphicFrameLocks noGrp="1"/>
          </p:cNvGraphicFramePr>
          <p:nvPr/>
        </p:nvGraphicFramePr>
        <p:xfrm>
          <a:off x="228600" y="304800"/>
          <a:ext cx="8686800" cy="5815588"/>
        </p:xfrm>
        <a:graphic>
          <a:graphicData uri="http://schemas.openxmlformats.org/drawingml/2006/table">
            <a:tbl>
              <a:tblPr/>
              <a:tblGrid>
                <a:gridCol w="4343400"/>
                <a:gridCol w="4343400"/>
              </a:tblGrid>
              <a:tr h="529968">
                <a:tc>
                  <a:txBody>
                    <a:bodyPr/>
                    <a:lstStyle/>
                    <a:p>
                      <a:pPr algn="ctr"/>
                      <a:r>
                        <a:rPr lang="en-US" sz="1800" b="1" dirty="0"/>
                        <a:t>Linear Data Structures</a:t>
                      </a:r>
                      <a:endParaRPr lang="en-US" sz="1800" dirty="0"/>
                    </a:p>
                  </a:txBody>
                  <a:tcPr marL="109838" marR="109838" marT="54919" marB="54919" anchor="ctr">
                    <a:lnL>
                      <a:noFill/>
                    </a:lnL>
                    <a:lnR>
                      <a:noFill/>
                    </a:lnR>
                    <a:lnT>
                      <a:noFill/>
                    </a:lnT>
                    <a:lnB>
                      <a:noFill/>
                    </a:lnB>
                    <a:solidFill>
                      <a:srgbClr val="F8FAFF"/>
                    </a:solidFill>
                  </a:tcPr>
                </a:tc>
                <a:tc>
                  <a:txBody>
                    <a:bodyPr/>
                    <a:lstStyle/>
                    <a:p>
                      <a:pPr algn="ctr"/>
                      <a:r>
                        <a:rPr lang="en-US" sz="1800" b="1" dirty="0"/>
                        <a:t>Non Linear Data Structures</a:t>
                      </a:r>
                      <a:endParaRPr lang="en-US" sz="1800" dirty="0"/>
                    </a:p>
                  </a:txBody>
                  <a:tcPr marL="109838" marR="109838" marT="54919" marB="54919" anchor="ctr">
                    <a:lnL>
                      <a:noFill/>
                    </a:lnL>
                    <a:lnR>
                      <a:noFill/>
                    </a:lnR>
                    <a:lnT>
                      <a:noFill/>
                    </a:lnT>
                    <a:lnB>
                      <a:noFill/>
                    </a:lnB>
                    <a:solidFill>
                      <a:srgbClr val="F8FAFF"/>
                    </a:solidFill>
                  </a:tcPr>
                </a:tc>
              </a:tr>
              <a:tr h="908409">
                <a:tc>
                  <a:txBody>
                    <a:bodyPr/>
                    <a:lstStyle/>
                    <a:p>
                      <a:pPr algn="just"/>
                      <a:r>
                        <a:rPr lang="en-US" sz="1800" dirty="0"/>
                        <a:t>The data items are arranged in sequential order, one after the other.</a:t>
                      </a:r>
                    </a:p>
                  </a:txBody>
                  <a:tcPr marL="109838" marR="109838" marT="54919" marB="54919" anchor="ctr">
                    <a:lnL>
                      <a:noFill/>
                    </a:lnL>
                    <a:lnR>
                      <a:noFill/>
                    </a:lnR>
                    <a:lnT>
                      <a:noFill/>
                    </a:lnT>
                    <a:lnB>
                      <a:noFill/>
                    </a:lnB>
                    <a:solidFill>
                      <a:srgbClr val="F8FAFF"/>
                    </a:solidFill>
                  </a:tcPr>
                </a:tc>
                <a:tc>
                  <a:txBody>
                    <a:bodyPr/>
                    <a:lstStyle/>
                    <a:p>
                      <a:pPr algn="just"/>
                      <a:r>
                        <a:rPr lang="en-US" sz="1800" dirty="0"/>
                        <a:t>The data items are arranged in non-sequential order (hierarchical manner).</a:t>
                      </a:r>
                    </a:p>
                  </a:txBody>
                  <a:tcPr marL="109838" marR="109838" marT="54919" marB="54919" anchor="ctr">
                    <a:lnL>
                      <a:noFill/>
                    </a:lnL>
                    <a:lnR>
                      <a:noFill/>
                    </a:lnR>
                    <a:lnT>
                      <a:noFill/>
                    </a:lnT>
                    <a:lnB>
                      <a:noFill/>
                    </a:lnB>
                    <a:solidFill>
                      <a:srgbClr val="F8FAFF"/>
                    </a:solidFill>
                  </a:tcPr>
                </a:tc>
              </a:tr>
              <a:tr h="719188">
                <a:tc>
                  <a:txBody>
                    <a:bodyPr/>
                    <a:lstStyle/>
                    <a:p>
                      <a:pPr algn="just"/>
                      <a:r>
                        <a:rPr lang="en-US" sz="1800" dirty="0"/>
                        <a:t>All the items are present on the single layer.</a:t>
                      </a:r>
                    </a:p>
                  </a:txBody>
                  <a:tcPr marL="109838" marR="109838" marT="54919" marB="54919" anchor="ctr">
                    <a:lnL>
                      <a:noFill/>
                    </a:lnL>
                    <a:lnR>
                      <a:noFill/>
                    </a:lnR>
                    <a:lnT>
                      <a:noFill/>
                    </a:lnT>
                    <a:lnB>
                      <a:noFill/>
                    </a:lnB>
                    <a:solidFill>
                      <a:srgbClr val="F8FAFF"/>
                    </a:solidFill>
                  </a:tcPr>
                </a:tc>
                <a:tc>
                  <a:txBody>
                    <a:bodyPr/>
                    <a:lstStyle/>
                    <a:p>
                      <a:pPr algn="just"/>
                      <a:r>
                        <a:rPr lang="en-US" sz="1800" dirty="0"/>
                        <a:t>The data items are present at different layers.</a:t>
                      </a:r>
                    </a:p>
                  </a:txBody>
                  <a:tcPr marL="109838" marR="109838" marT="54919" marB="54919" anchor="ctr">
                    <a:lnL>
                      <a:noFill/>
                    </a:lnL>
                    <a:lnR>
                      <a:noFill/>
                    </a:lnR>
                    <a:lnT>
                      <a:noFill/>
                    </a:lnT>
                    <a:lnB>
                      <a:noFill/>
                    </a:lnB>
                    <a:solidFill>
                      <a:srgbClr val="F8FAFF"/>
                    </a:solidFill>
                  </a:tcPr>
                </a:tc>
              </a:tr>
              <a:tr h="1476069">
                <a:tc>
                  <a:txBody>
                    <a:bodyPr/>
                    <a:lstStyle/>
                    <a:p>
                      <a:pPr algn="just"/>
                      <a:r>
                        <a:rPr lang="en-US" sz="1800" dirty="0"/>
                        <a:t>It can be traversed on a single run. That is, if we start from the first element, we can traverse all the elements sequentially in a single pass.</a:t>
                      </a:r>
                    </a:p>
                  </a:txBody>
                  <a:tcPr marL="109838" marR="109838" marT="54919" marB="54919" anchor="ctr">
                    <a:lnL>
                      <a:noFill/>
                    </a:lnL>
                    <a:lnR>
                      <a:noFill/>
                    </a:lnR>
                    <a:lnT>
                      <a:noFill/>
                    </a:lnT>
                    <a:lnB>
                      <a:noFill/>
                    </a:lnB>
                    <a:solidFill>
                      <a:srgbClr val="F8FAFF"/>
                    </a:solidFill>
                  </a:tcPr>
                </a:tc>
                <a:tc>
                  <a:txBody>
                    <a:bodyPr/>
                    <a:lstStyle/>
                    <a:p>
                      <a:pPr algn="just"/>
                      <a:r>
                        <a:rPr lang="en-US" sz="1800" dirty="0"/>
                        <a:t>It requires multiple runs. That is, if we start from the first element it might not be possible to traverse all the elements in a single pass.</a:t>
                      </a:r>
                    </a:p>
                  </a:txBody>
                  <a:tcPr marL="109838" marR="109838" marT="54919" marB="54919" anchor="ctr">
                    <a:lnL>
                      <a:noFill/>
                    </a:lnL>
                    <a:lnR>
                      <a:noFill/>
                    </a:lnR>
                    <a:lnT>
                      <a:noFill/>
                    </a:lnT>
                    <a:lnB>
                      <a:noFill/>
                    </a:lnB>
                    <a:solidFill>
                      <a:srgbClr val="F8FAFF"/>
                    </a:solidFill>
                  </a:tcPr>
                </a:tc>
              </a:tr>
              <a:tr h="908409">
                <a:tc>
                  <a:txBody>
                    <a:bodyPr/>
                    <a:lstStyle/>
                    <a:p>
                      <a:pPr algn="just"/>
                      <a:r>
                        <a:rPr lang="en-US" sz="1800" dirty="0"/>
                        <a:t>The memory utilization is not efficient.</a:t>
                      </a:r>
                    </a:p>
                  </a:txBody>
                  <a:tcPr marL="109838" marR="109838" marT="54919" marB="54919" anchor="ctr">
                    <a:lnL>
                      <a:noFill/>
                    </a:lnL>
                    <a:lnR>
                      <a:noFill/>
                    </a:lnR>
                    <a:lnT>
                      <a:noFill/>
                    </a:lnT>
                    <a:lnB>
                      <a:noFill/>
                    </a:lnB>
                    <a:solidFill>
                      <a:srgbClr val="F8FAFF"/>
                    </a:solidFill>
                  </a:tcPr>
                </a:tc>
                <a:tc>
                  <a:txBody>
                    <a:bodyPr/>
                    <a:lstStyle/>
                    <a:p>
                      <a:pPr algn="just"/>
                      <a:r>
                        <a:rPr lang="en-US" sz="1800" dirty="0"/>
                        <a:t>Different structures utilize memory in different efficient ways depending on the need.</a:t>
                      </a:r>
                    </a:p>
                  </a:txBody>
                  <a:tcPr marL="109838" marR="109838" marT="54919" marB="54919" anchor="ctr">
                    <a:lnL>
                      <a:noFill/>
                    </a:lnL>
                    <a:lnR>
                      <a:noFill/>
                    </a:lnR>
                    <a:lnT>
                      <a:noFill/>
                    </a:lnT>
                    <a:lnB>
                      <a:noFill/>
                    </a:lnB>
                    <a:solidFill>
                      <a:srgbClr val="F8FAFF"/>
                    </a:solidFill>
                  </a:tcPr>
                </a:tc>
              </a:tr>
              <a:tr h="719188">
                <a:tc>
                  <a:txBody>
                    <a:bodyPr/>
                    <a:lstStyle/>
                    <a:p>
                      <a:pPr algn="just"/>
                      <a:r>
                        <a:rPr lang="en-US" sz="1800"/>
                        <a:t>The time complexity increase with the data size.</a:t>
                      </a:r>
                    </a:p>
                  </a:txBody>
                  <a:tcPr marL="109838" marR="109838" marT="54919" marB="54919" anchor="ctr">
                    <a:lnL>
                      <a:noFill/>
                    </a:lnL>
                    <a:lnR>
                      <a:noFill/>
                    </a:lnR>
                    <a:lnT>
                      <a:noFill/>
                    </a:lnT>
                    <a:lnB>
                      <a:noFill/>
                    </a:lnB>
                    <a:solidFill>
                      <a:srgbClr val="F8FAFF"/>
                    </a:solidFill>
                  </a:tcPr>
                </a:tc>
                <a:tc>
                  <a:txBody>
                    <a:bodyPr/>
                    <a:lstStyle/>
                    <a:p>
                      <a:pPr algn="just"/>
                      <a:r>
                        <a:rPr lang="en-US" sz="1800" dirty="0"/>
                        <a:t>Time complexity remains the same.</a:t>
                      </a:r>
                    </a:p>
                  </a:txBody>
                  <a:tcPr marL="109838" marR="109838" marT="54919" marB="54919" anchor="ctr">
                    <a:lnL>
                      <a:noFill/>
                    </a:lnL>
                    <a:lnR>
                      <a:noFill/>
                    </a:lnR>
                    <a:lnT>
                      <a:noFill/>
                    </a:lnT>
                    <a:lnB>
                      <a:noFill/>
                    </a:lnB>
                    <a:solidFill>
                      <a:srgbClr val="F8FAFF"/>
                    </a:solidFill>
                  </a:tcPr>
                </a:tc>
              </a:tr>
              <a:tr h="529968">
                <a:tc>
                  <a:txBody>
                    <a:bodyPr/>
                    <a:lstStyle/>
                    <a:p>
                      <a:pPr algn="just"/>
                      <a:r>
                        <a:rPr lang="en-US" sz="1800"/>
                        <a:t>Example: Arrays, Stack, Queue</a:t>
                      </a:r>
                    </a:p>
                  </a:txBody>
                  <a:tcPr marL="109838" marR="109838" marT="54919" marB="54919" anchor="ctr">
                    <a:lnL>
                      <a:noFill/>
                    </a:lnL>
                    <a:lnR>
                      <a:noFill/>
                    </a:lnR>
                    <a:lnT>
                      <a:noFill/>
                    </a:lnT>
                    <a:lnB>
                      <a:noFill/>
                    </a:lnB>
                    <a:solidFill>
                      <a:srgbClr val="F8FAFF"/>
                    </a:solidFill>
                  </a:tcPr>
                </a:tc>
                <a:tc>
                  <a:txBody>
                    <a:bodyPr/>
                    <a:lstStyle/>
                    <a:p>
                      <a:pPr algn="just"/>
                      <a:r>
                        <a:rPr lang="en-US" sz="1800" dirty="0"/>
                        <a:t>Example: Tree, Graph, Map</a:t>
                      </a:r>
                    </a:p>
                  </a:txBody>
                  <a:tcPr marL="109838" marR="109838" marT="54919" marB="54919" anchor="ctr">
                    <a:lnL>
                      <a:noFill/>
                    </a:lnL>
                    <a:lnR>
                      <a:noFill/>
                    </a:lnR>
                    <a:lnT>
                      <a:noFill/>
                    </a:lnT>
                    <a:lnB>
                      <a:noFill/>
                    </a:lnB>
                    <a:solidFill>
                      <a:srgbClr val="F8FAFF"/>
                    </a:solidFill>
                  </a:tcPr>
                </a:tc>
              </a:tr>
            </a:tbl>
          </a:graphicData>
        </a:graphic>
      </p:graphicFrame>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460</TotalTime>
  <Words>978</Words>
  <Application>Microsoft Office PowerPoint</Application>
  <PresentationFormat>On-screen Show (4:3)</PresentationFormat>
  <Paragraphs>127</Paragraphs>
  <Slides>20</Slides>
  <Notes>0</Notes>
  <HiddenSlides>0</HiddenSlides>
  <MMClips>0</MMClips>
  <ScaleCrop>false</ScaleCrop>
  <HeadingPairs>
    <vt:vector size="4" baseType="variant">
      <vt:variant>
        <vt:lpstr>Theme</vt:lpstr>
      </vt:variant>
      <vt:variant>
        <vt:i4>1</vt:i4>
      </vt:variant>
      <vt:variant>
        <vt:lpstr>Slide Titles</vt:lpstr>
      </vt:variant>
      <vt:variant>
        <vt:i4>20</vt:i4>
      </vt:variant>
    </vt:vector>
  </HeadingPairs>
  <TitlesOfParts>
    <vt:vector size="21" baseType="lpstr">
      <vt:lpstr>Office Theme</vt:lpstr>
      <vt:lpstr>S.Y.B.Sc.(DATA Science) Sem- III    Subject: Data Structure – I    Unit1 : Introduction to Data Structures and Algorithm Analysis </vt:lpstr>
      <vt:lpstr>Unit1 : Introduction to Data Structures and Algorithm Analysis</vt:lpstr>
      <vt:lpstr>Data</vt:lpstr>
      <vt:lpstr>Types of Data</vt:lpstr>
      <vt:lpstr>Information</vt:lpstr>
      <vt:lpstr>Data Types</vt:lpstr>
      <vt:lpstr>Data object </vt:lpstr>
      <vt:lpstr>ADT</vt:lpstr>
      <vt:lpstr>Advantages of ADT</vt:lpstr>
      <vt:lpstr>Data Structure</vt:lpstr>
      <vt:lpstr>Need of Data Structure</vt:lpstr>
      <vt:lpstr>Need of Data Structure</vt:lpstr>
      <vt:lpstr>Introduction to Data Structure</vt:lpstr>
      <vt:lpstr>Data Structure</vt:lpstr>
      <vt:lpstr>Operations on Data Structure</vt:lpstr>
      <vt:lpstr>Slide 16</vt:lpstr>
      <vt:lpstr>Linear data structure</vt:lpstr>
      <vt:lpstr>Slide 18</vt:lpstr>
      <vt:lpstr>Non-Linear data structure</vt:lpstr>
      <vt:lpstr>Slide 20</vt:lpstr>
    </vt:vector>
  </TitlesOfParts>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S.Y.B.Sc.(Computer Science) Sem- III     Subject: Data Structures and Algorithms – I   Ch1 : Introduction to Data Structures and Algorithm Analysis </dc:title>
  <dc:creator>admin</dc:creator>
  <cp:lastModifiedBy>Windows User</cp:lastModifiedBy>
  <cp:revision>173</cp:revision>
  <dcterms:created xsi:type="dcterms:W3CDTF">2023-07-15T16:58:36Z</dcterms:created>
  <dcterms:modified xsi:type="dcterms:W3CDTF">2025-06-03T09:19:30Z</dcterms:modified>
</cp:coreProperties>
</file>