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6" r:id="rId23"/>
    <p:sldId id="280" r:id="rId24"/>
    <p:sldId id="278" r:id="rId25"/>
    <p:sldId id="279" r:id="rId26"/>
    <p:sldId id="281" r:id="rId27"/>
    <p:sldId id="282" r:id="rId28"/>
    <p:sldId id="283" r:id="rId29"/>
    <p:sldId id="284" r:id="rId30"/>
    <p:sldId id="285" r:id="rId31"/>
    <p:sldId id="286" r:id="rId32"/>
    <p:sldId id="287" r:id="rId33"/>
    <p:sldId id="291" r:id="rId34"/>
    <p:sldId id="288" r:id="rId35"/>
    <p:sldId id="289" r:id="rId36"/>
    <p:sldId id="290"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293982-AB51-4D2E-BC39-60C33D10DC80}" type="datetimeFigureOut">
              <a:rPr lang="en-IN" smtClean="0"/>
              <a:t>03-08-2025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205107368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293982-AB51-4D2E-BC39-60C33D10DC80}" type="datetimeFigureOut">
              <a:rPr lang="en-IN" smtClean="0"/>
              <a:t>03-08-2025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379724599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293982-AB51-4D2E-BC39-60C33D10DC80}" type="datetimeFigureOut">
              <a:rPr lang="en-IN" smtClean="0"/>
              <a:t>03-08-2025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366382001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293982-AB51-4D2E-BC39-60C33D10DC80}" type="datetimeFigureOut">
              <a:rPr lang="en-IN" smtClean="0"/>
              <a:t>03-08-2025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206320530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293982-AB51-4D2E-BC39-60C33D10DC80}" type="datetimeFigureOut">
              <a:rPr lang="en-IN" smtClean="0"/>
              <a:t>03-08-2025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166736303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293982-AB51-4D2E-BC39-60C33D10DC80}" type="datetimeFigureOut">
              <a:rPr lang="en-IN" smtClean="0"/>
              <a:t>03-08-2025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413568988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293982-AB51-4D2E-BC39-60C33D10DC80}" type="datetimeFigureOut">
              <a:rPr lang="en-IN" smtClean="0"/>
              <a:t>03-08-2025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358770769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293982-AB51-4D2E-BC39-60C33D10DC80}" type="datetimeFigureOut">
              <a:rPr lang="en-IN" smtClean="0"/>
              <a:t>03-08-2025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344294757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293982-AB51-4D2E-BC39-60C33D10DC80}" type="datetimeFigureOut">
              <a:rPr lang="en-IN" smtClean="0"/>
              <a:t>03-08-2025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244274804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293982-AB51-4D2E-BC39-60C33D10DC80}" type="datetimeFigureOut">
              <a:rPr lang="en-IN" smtClean="0"/>
              <a:t>03-08-2025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200314098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293982-AB51-4D2E-BC39-60C33D10DC80}" type="datetimeFigureOut">
              <a:rPr lang="en-IN" smtClean="0"/>
              <a:t>03-08-2025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280556538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293982-AB51-4D2E-BC39-60C33D10DC80}" type="datetimeFigureOut">
              <a:rPr lang="en-IN" smtClean="0"/>
              <a:t>03-08-2025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65C20F-8683-41FA-A039-C4B883FD817F}" type="slidenum">
              <a:rPr lang="en-IN" smtClean="0"/>
              <a:t>‹#›</a:t>
            </a:fld>
            <a:endParaRPr lang="en-IN"/>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8018626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293982-AB51-4D2E-BC39-60C33D10DC80}" type="datetimeFigureOut">
              <a:rPr lang="en-IN" smtClean="0"/>
              <a:t>03-08-2025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200486819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D293982-AB51-4D2E-BC39-60C33D10DC80}" type="datetimeFigureOut">
              <a:rPr lang="en-IN" smtClean="0"/>
              <a:t>03-08-2025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1983782499"/>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D293982-AB51-4D2E-BC39-60C33D10DC80}" type="datetimeFigureOut">
              <a:rPr lang="en-IN" smtClean="0"/>
              <a:t>03-08-2025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263761325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293982-AB51-4D2E-BC39-60C33D10DC80}" type="datetimeFigureOut">
              <a:rPr lang="en-IN" smtClean="0"/>
              <a:t>03-08-2025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81871465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293982-AB51-4D2E-BC39-60C33D10DC80}" type="datetimeFigureOut">
              <a:rPr lang="en-IN" smtClean="0"/>
              <a:t>03-08-2025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5C20F-8683-41FA-A039-C4B883FD817F}" type="slidenum">
              <a:rPr lang="en-IN" smtClean="0"/>
              <a:t>‹#›</a:t>
            </a:fld>
            <a:endParaRPr lang="en-IN"/>
          </a:p>
        </p:txBody>
      </p:sp>
    </p:spTree>
    <p:extLst>
      <p:ext uri="{BB962C8B-B14F-4D97-AF65-F5344CB8AC3E}">
        <p14:creationId xmlns:p14="http://schemas.microsoft.com/office/powerpoint/2010/main" val="289290850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D293982-AB51-4D2E-BC39-60C33D10DC80}" type="datetimeFigureOut">
              <a:rPr lang="en-IN" smtClean="0"/>
              <a:t>03-08-2025</a:t>
            </a:fld>
            <a:endParaRPr lang="en-IN"/>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D65C20F-8683-41FA-A039-C4B883FD817F}" type="slidenum">
              <a:rPr lang="en-IN" smtClean="0"/>
              <a:t>‹#›</a:t>
            </a:fld>
            <a:endParaRPr lang="en-IN"/>
          </a:p>
        </p:txBody>
      </p:sp>
    </p:spTree>
    <p:extLst>
      <p:ext uri="{BB962C8B-B14F-4D97-AF65-F5344CB8AC3E}">
        <p14:creationId xmlns:p14="http://schemas.microsoft.com/office/powerpoint/2010/main" val="538522307"/>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geeksforgeeks.org/difference-between-entity-entity-set-and-entity-type/"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2204864"/>
            <a:ext cx="7851648" cy="1828800"/>
          </a:xfrm>
        </p:spPr>
        <p:txBody>
          <a:bodyPr/>
          <a:lstStyle/>
          <a:p>
            <a:r>
              <a:rPr lang="en-IN" dirty="0"/>
              <a:t>Entity-Relationship Model </a:t>
            </a:r>
          </a:p>
        </p:txBody>
      </p:sp>
    </p:spTree>
    <p:extLst>
      <p:ext uri="{BB962C8B-B14F-4D97-AF65-F5344CB8AC3E}">
        <p14:creationId xmlns:p14="http://schemas.microsoft.com/office/powerpoint/2010/main" val="377019857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92696"/>
            <a:ext cx="8229600" cy="578328"/>
          </a:xfrm>
        </p:spPr>
        <p:txBody>
          <a:bodyPr>
            <a:normAutofit fontScale="90000"/>
          </a:bodyPr>
          <a:lstStyle/>
          <a:p>
            <a:r>
              <a:rPr lang="en-IN" sz="3200" b="1" dirty="0">
                <a:latin typeface="Times New Roman" pitchFamily="18" charset="0"/>
                <a:cs typeface="Times New Roman" pitchFamily="18" charset="0"/>
              </a:rPr>
              <a:t>Introduction to Data Models </a:t>
            </a:r>
          </a:p>
        </p:txBody>
      </p:sp>
      <p:sp>
        <p:nvSpPr>
          <p:cNvPr id="3" name="Content Placeholder 2"/>
          <p:cNvSpPr>
            <a:spLocks noGrp="1"/>
          </p:cNvSpPr>
          <p:nvPr>
            <p:ph idx="1"/>
          </p:nvPr>
        </p:nvSpPr>
        <p:spPr>
          <a:xfrm>
            <a:off x="467544" y="1412776"/>
            <a:ext cx="8229600" cy="4389120"/>
          </a:xfrm>
        </p:spPr>
        <p:txBody>
          <a:bodyPr>
            <a:normAutofit/>
          </a:bodyPr>
          <a:lstStyle/>
          <a:p>
            <a:pPr marL="0" indent="0" algn="just">
              <a:buNone/>
            </a:pPr>
            <a:r>
              <a:rPr lang="en-US" sz="2400" dirty="0">
                <a:latin typeface="Times New Roman" pitchFamily="18" charset="0"/>
                <a:cs typeface="Times New Roman" pitchFamily="18" charset="0"/>
              </a:rPr>
              <a:t>In a </a:t>
            </a:r>
            <a:r>
              <a:rPr lang="en-US" sz="2400" b="1" dirty="0">
                <a:latin typeface="Times New Roman" pitchFamily="18" charset="0"/>
                <a:cs typeface="Times New Roman" pitchFamily="18" charset="0"/>
              </a:rPr>
              <a:t>Database Management System (DBMS)</a:t>
            </a:r>
            <a:r>
              <a:rPr lang="en-US" sz="2400" dirty="0">
                <a:latin typeface="Times New Roman" pitchFamily="18" charset="0"/>
                <a:cs typeface="Times New Roman" pitchFamily="18" charset="0"/>
              </a:rPr>
              <a:t>, a </a:t>
            </a:r>
            <a:r>
              <a:rPr lang="en-US" sz="2400" b="1" dirty="0">
                <a:latin typeface="Times New Roman" pitchFamily="18" charset="0"/>
                <a:cs typeface="Times New Roman" pitchFamily="18" charset="0"/>
              </a:rPr>
              <a:t>data model</a:t>
            </a:r>
            <a:r>
              <a:rPr lang="en-US" sz="2400" dirty="0">
                <a:latin typeface="Times New Roman" pitchFamily="18" charset="0"/>
                <a:cs typeface="Times New Roman" pitchFamily="18" charset="0"/>
              </a:rPr>
              <a:t> is a conceptual framework that determines how data is stored, connected, and manipulated. It provides the structure for a database and defines how data elements relate to each other.</a:t>
            </a:r>
          </a:p>
          <a:p>
            <a:pPr marL="0" indent="0" algn="just">
              <a:buNone/>
            </a:pPr>
            <a:endParaRPr lang="en-US" sz="2400" dirty="0">
              <a:latin typeface="Times New Roman" pitchFamily="18" charset="0"/>
              <a:cs typeface="Times New Roman" pitchFamily="18" charset="0"/>
            </a:endParaRPr>
          </a:p>
          <a:p>
            <a:pPr marL="0" indent="0" algn="just">
              <a:buNone/>
            </a:pPr>
            <a:r>
              <a:rPr lang="en-US" sz="2400" b="1" dirty="0">
                <a:latin typeface="Times New Roman" pitchFamily="18" charset="0"/>
                <a:cs typeface="Times New Roman" pitchFamily="18" charset="0"/>
              </a:rPr>
              <a:t>Definition of Data Model:</a:t>
            </a:r>
          </a:p>
          <a:p>
            <a:pPr marL="0" indent="0" algn="just">
              <a:buNone/>
            </a:pPr>
            <a:r>
              <a:rPr lang="en-US" sz="2400" dirty="0">
                <a:latin typeface="Times New Roman" pitchFamily="18" charset="0"/>
                <a:cs typeface="Times New Roman" pitchFamily="18" charset="0"/>
              </a:rPr>
              <a:t>A data model is a collection of conceptual tools for describing data, data relationships, data semantics, and data constraints.</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256878675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92696"/>
            <a:ext cx="8229600" cy="578328"/>
          </a:xfrm>
        </p:spPr>
        <p:txBody>
          <a:bodyPr>
            <a:normAutofit fontScale="90000"/>
          </a:bodyPr>
          <a:lstStyle/>
          <a:p>
            <a:r>
              <a:rPr lang="en-US" sz="3200" b="1" dirty="0">
                <a:latin typeface="Times New Roman" pitchFamily="18" charset="0"/>
                <a:cs typeface="Times New Roman" pitchFamily="18" charset="0"/>
              </a:rPr>
              <a:t>Types of Data Models</a:t>
            </a:r>
            <a:endParaRPr lang="en-IN"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67544" y="1556792"/>
            <a:ext cx="8229600" cy="4389120"/>
          </a:xfrm>
        </p:spPr>
        <p:txBody>
          <a:bodyPr/>
          <a:lstStyle/>
          <a:p>
            <a:r>
              <a:rPr lang="en-IN" dirty="0"/>
              <a:t>Relational Data Model:</a:t>
            </a:r>
          </a:p>
          <a:p>
            <a:pPr marL="0" indent="0">
              <a:buNone/>
            </a:pP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8275" y="2433638"/>
            <a:ext cx="6267450"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77111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20688"/>
            <a:ext cx="8229600" cy="578328"/>
          </a:xfrm>
        </p:spPr>
        <p:txBody>
          <a:bodyPr>
            <a:normAutofit fontScale="90000"/>
          </a:bodyPr>
          <a:lstStyle/>
          <a:p>
            <a:r>
              <a:rPr lang="en-US" sz="3200" b="1" dirty="0">
                <a:latin typeface="Times New Roman" pitchFamily="18" charset="0"/>
                <a:cs typeface="Times New Roman" pitchFamily="18" charset="0"/>
              </a:rPr>
              <a:t>Types of Data Models</a:t>
            </a:r>
            <a:endParaRPr lang="en-IN" sz="3200" dirty="0"/>
          </a:p>
        </p:txBody>
      </p:sp>
      <p:sp>
        <p:nvSpPr>
          <p:cNvPr id="3" name="Content Placeholder 2"/>
          <p:cNvSpPr>
            <a:spLocks noGrp="1"/>
          </p:cNvSpPr>
          <p:nvPr>
            <p:ph idx="1"/>
          </p:nvPr>
        </p:nvSpPr>
        <p:spPr>
          <a:xfrm>
            <a:off x="467544" y="1484784"/>
            <a:ext cx="8229600" cy="4389120"/>
          </a:xfrm>
        </p:spPr>
        <p:txBody>
          <a:bodyPr/>
          <a:lstStyle/>
          <a:p>
            <a:r>
              <a:rPr lang="en-IN" sz="2400" b="1" dirty="0">
                <a:latin typeface="Times New Roman" pitchFamily="18" charset="0"/>
                <a:cs typeface="Times New Roman" pitchFamily="18" charset="0"/>
              </a:rPr>
              <a:t>Network Model</a:t>
            </a:r>
          </a:p>
          <a:p>
            <a:pPr marL="0" indent="0">
              <a:buNone/>
            </a:pP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825" y="2492896"/>
            <a:ext cx="5086350" cy="262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30844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764704"/>
            <a:ext cx="8229600" cy="506320"/>
          </a:xfrm>
        </p:spPr>
        <p:txBody>
          <a:bodyPr>
            <a:normAutofit fontScale="90000"/>
          </a:bodyPr>
          <a:lstStyle/>
          <a:p>
            <a:r>
              <a:rPr lang="en-US" sz="3200" b="1" dirty="0">
                <a:latin typeface="Times New Roman" pitchFamily="18" charset="0"/>
                <a:cs typeface="Times New Roman" pitchFamily="18" charset="0"/>
              </a:rPr>
              <a:t>Types of Data Models</a:t>
            </a:r>
            <a:endParaRPr lang="en-IN" sz="3200" dirty="0"/>
          </a:p>
        </p:txBody>
      </p:sp>
      <p:sp>
        <p:nvSpPr>
          <p:cNvPr id="3" name="Content Placeholder 2"/>
          <p:cNvSpPr>
            <a:spLocks noGrp="1"/>
          </p:cNvSpPr>
          <p:nvPr>
            <p:ph idx="1"/>
          </p:nvPr>
        </p:nvSpPr>
        <p:spPr>
          <a:xfrm>
            <a:off x="467544" y="1484784"/>
            <a:ext cx="8229600" cy="4389120"/>
          </a:xfrm>
        </p:spPr>
        <p:txBody>
          <a:bodyPr/>
          <a:lstStyle/>
          <a:p>
            <a:r>
              <a:rPr lang="en-IN" sz="2400" b="1" dirty="0">
                <a:latin typeface="Times New Roman" pitchFamily="18" charset="0"/>
                <a:cs typeface="Times New Roman" pitchFamily="18" charset="0"/>
              </a:rPr>
              <a:t>Hierarchical Data Model</a:t>
            </a:r>
          </a:p>
          <a:p>
            <a:pPr marL="0" indent="0">
              <a:buNone/>
            </a:pP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 y="2636912"/>
            <a:ext cx="8058150" cy="296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619337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578328"/>
          </a:xfrm>
        </p:spPr>
        <p:txBody>
          <a:bodyPr>
            <a:normAutofit fontScale="90000"/>
          </a:bodyPr>
          <a:lstStyle/>
          <a:p>
            <a:r>
              <a:rPr lang="en-US" sz="3200" b="1" dirty="0">
                <a:latin typeface="Times New Roman" pitchFamily="18" charset="0"/>
                <a:cs typeface="Times New Roman" pitchFamily="18" charset="0"/>
              </a:rPr>
              <a:t>Types of Data Models</a:t>
            </a:r>
            <a:endParaRPr lang="en-IN" sz="3200" dirty="0"/>
          </a:p>
        </p:txBody>
      </p:sp>
      <p:sp>
        <p:nvSpPr>
          <p:cNvPr id="3" name="Content Placeholder 2"/>
          <p:cNvSpPr>
            <a:spLocks noGrp="1"/>
          </p:cNvSpPr>
          <p:nvPr>
            <p:ph idx="1"/>
          </p:nvPr>
        </p:nvSpPr>
        <p:spPr>
          <a:xfrm>
            <a:off x="467544" y="1556792"/>
            <a:ext cx="8229600" cy="4389120"/>
          </a:xfrm>
        </p:spPr>
        <p:txBody>
          <a:bodyPr>
            <a:normAutofit/>
          </a:bodyPr>
          <a:lstStyle/>
          <a:p>
            <a:r>
              <a:rPr lang="en-IN" sz="2400" b="1" dirty="0">
                <a:latin typeface="Times New Roman" pitchFamily="18" charset="0"/>
                <a:cs typeface="Times New Roman" pitchFamily="18" charset="0"/>
              </a:rPr>
              <a:t>Entity-Relationship (ER) Model:</a:t>
            </a:r>
          </a:p>
          <a:p>
            <a:pPr marL="0" indent="0">
              <a:buNone/>
            </a:pPr>
            <a:endParaRPr lang="en-IN" sz="2400" b="1"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636912"/>
            <a:ext cx="5886450"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90983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latin typeface="Times New Roman" pitchFamily="18" charset="0"/>
                <a:cs typeface="Times New Roman" pitchFamily="18" charset="0"/>
              </a:rPr>
              <a:t>Basic Concepts (entities, attributes, entity sets, relations, relationship sets)</a:t>
            </a:r>
          </a:p>
        </p:txBody>
      </p:sp>
      <p:sp>
        <p:nvSpPr>
          <p:cNvPr id="3" name="Content Placeholder 2"/>
          <p:cNvSpPr>
            <a:spLocks noGrp="1"/>
          </p:cNvSpPr>
          <p:nvPr>
            <p:ph idx="1"/>
          </p:nvPr>
        </p:nvSpPr>
        <p:spPr/>
        <p:txBody>
          <a:bodyPr>
            <a:normAutofit lnSpcReduction="10000"/>
          </a:bodyPr>
          <a:lstStyle/>
          <a:p>
            <a:pPr marL="0" indent="0" algn="just">
              <a:buNone/>
            </a:pPr>
            <a:r>
              <a:rPr lang="en-IN" sz="2400" b="1" dirty="0">
                <a:latin typeface="Times New Roman" pitchFamily="18" charset="0"/>
                <a:cs typeface="Times New Roman" pitchFamily="18" charset="0"/>
              </a:rPr>
              <a:t>What is an Entity?</a:t>
            </a:r>
          </a:p>
          <a:p>
            <a:pPr marL="0" indent="0" algn="just" fontAlgn="base">
              <a:buNone/>
            </a:pPr>
            <a:r>
              <a:rPr lang="en-US" sz="2400" dirty="0">
                <a:latin typeface="Times New Roman" pitchFamily="18" charset="0"/>
                <a:cs typeface="Times New Roman" pitchFamily="18" charset="0"/>
              </a:rPr>
              <a:t>An Entity represents a real-world object, concept or thing about which data is stored in a database. It act as a building block of a database. Tables in relational database represent these entities.</a:t>
            </a:r>
          </a:p>
          <a:p>
            <a:pPr marL="0" indent="0" algn="just" fontAlgn="base">
              <a:buNone/>
            </a:pPr>
            <a:r>
              <a:rPr lang="en-US" sz="2400" dirty="0">
                <a:latin typeface="Times New Roman" pitchFamily="18" charset="0"/>
                <a:cs typeface="Times New Roman" pitchFamily="18" charset="0"/>
              </a:rPr>
              <a:t>Example of entities:</a:t>
            </a:r>
          </a:p>
          <a:p>
            <a:pPr algn="just" fontAlgn="base"/>
            <a:r>
              <a:rPr lang="en-US" sz="2400" b="1" dirty="0">
                <a:latin typeface="Times New Roman" pitchFamily="18" charset="0"/>
                <a:cs typeface="Times New Roman" pitchFamily="18" charset="0"/>
              </a:rPr>
              <a:t>Real-World Objects:</a:t>
            </a:r>
            <a:r>
              <a:rPr lang="en-US" sz="2400" dirty="0">
                <a:latin typeface="Times New Roman" pitchFamily="18" charset="0"/>
                <a:cs typeface="Times New Roman" pitchFamily="18" charset="0"/>
              </a:rPr>
              <a:t> Person, Car, Employee etc.</a:t>
            </a:r>
          </a:p>
          <a:p>
            <a:pPr algn="just" fontAlgn="base"/>
            <a:r>
              <a:rPr lang="en-US" sz="2400" b="1" dirty="0">
                <a:latin typeface="Times New Roman" pitchFamily="18" charset="0"/>
                <a:cs typeface="Times New Roman" pitchFamily="18" charset="0"/>
              </a:rPr>
              <a:t>Concepts: </a:t>
            </a:r>
            <a:r>
              <a:rPr lang="en-US" sz="2400" dirty="0">
                <a:latin typeface="Times New Roman" pitchFamily="18" charset="0"/>
                <a:cs typeface="Times New Roman" pitchFamily="18" charset="0"/>
              </a:rPr>
              <a:t>Course, Event, Reservation etc.</a:t>
            </a:r>
          </a:p>
          <a:p>
            <a:pPr algn="just" fontAlgn="base"/>
            <a:r>
              <a:rPr lang="en-US" sz="2400" b="1" dirty="0">
                <a:latin typeface="Times New Roman" pitchFamily="18" charset="0"/>
                <a:cs typeface="Times New Roman" pitchFamily="18" charset="0"/>
              </a:rPr>
              <a:t>Things: </a:t>
            </a:r>
            <a:r>
              <a:rPr lang="en-US" sz="2400" dirty="0">
                <a:latin typeface="Times New Roman" pitchFamily="18" charset="0"/>
                <a:cs typeface="Times New Roman" pitchFamily="18" charset="0"/>
              </a:rPr>
              <a:t>Product, Document, Device etc.</a:t>
            </a:r>
          </a:p>
          <a:p>
            <a:pPr marL="0" indent="0">
              <a:buNone/>
            </a:pPr>
            <a:endParaRPr lang="en-IN" dirty="0"/>
          </a:p>
        </p:txBody>
      </p:sp>
    </p:spTree>
    <p:extLst>
      <p:ext uri="{BB962C8B-B14F-4D97-AF65-F5344CB8AC3E}">
        <p14:creationId xmlns:p14="http://schemas.microsoft.com/office/powerpoint/2010/main" val="170147464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latin typeface="Times New Roman" pitchFamily="18" charset="0"/>
                <a:cs typeface="Times New Roman" pitchFamily="18" charset="0"/>
              </a:rPr>
              <a:t>Basic Concepts (entities, attributes, entity sets, relations, relationship sets)</a:t>
            </a:r>
            <a:endParaRPr lang="en-IN" sz="3200" dirty="0"/>
          </a:p>
        </p:txBody>
      </p:sp>
      <p:sp>
        <p:nvSpPr>
          <p:cNvPr id="3" name="Content Placeholder 2"/>
          <p:cNvSpPr>
            <a:spLocks noGrp="1"/>
          </p:cNvSpPr>
          <p:nvPr>
            <p:ph idx="1"/>
          </p:nvPr>
        </p:nvSpPr>
        <p:spPr/>
        <p:txBody>
          <a:bodyPr/>
          <a:lstStyle/>
          <a:p>
            <a:r>
              <a:rPr lang="en-IN" sz="2400" b="1" dirty="0">
                <a:latin typeface="Times New Roman" pitchFamily="18" charset="0"/>
                <a:cs typeface="Times New Roman" pitchFamily="18" charset="0"/>
              </a:rPr>
              <a:t>Attributes</a:t>
            </a:r>
          </a:p>
          <a:p>
            <a:pPr marL="0" indent="0" algn="just">
              <a:buNone/>
            </a:pPr>
            <a:r>
              <a:rPr lang="en-US" sz="2400" dirty="0">
                <a:latin typeface="Times New Roman" pitchFamily="18" charset="0"/>
                <a:cs typeface="Times New Roman" pitchFamily="18" charset="0"/>
              </a:rPr>
              <a:t>Entities are represented by means of their properties, called </a:t>
            </a:r>
            <a:r>
              <a:rPr lang="en-US" sz="2400" b="1" dirty="0">
                <a:latin typeface="Times New Roman" pitchFamily="18" charset="0"/>
                <a:cs typeface="Times New Roman" pitchFamily="18" charset="0"/>
              </a:rPr>
              <a:t>attributes</a:t>
            </a:r>
            <a:r>
              <a:rPr lang="en-US" sz="2400" dirty="0">
                <a:latin typeface="Times New Roman" pitchFamily="18" charset="0"/>
                <a:cs typeface="Times New Roman" pitchFamily="18" charset="0"/>
              </a:rPr>
              <a:t>. All attributes have values. For example, a student entity may have name, class, and age as attributes.</a:t>
            </a:r>
          </a:p>
          <a:p>
            <a:pPr marL="0" indent="0" algn="just">
              <a:buNone/>
            </a:pPr>
            <a:endParaRPr lang="en-IN" sz="2400"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3789040"/>
            <a:ext cx="2600325"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846971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latin typeface="Times New Roman" pitchFamily="18" charset="0"/>
                <a:cs typeface="Times New Roman" pitchFamily="18" charset="0"/>
              </a:rPr>
              <a:t>Basic Concepts (entities, attributes, entity sets, relations, relationship sets)</a:t>
            </a:r>
            <a:endParaRPr lang="en-IN" sz="3200" dirty="0"/>
          </a:p>
        </p:txBody>
      </p:sp>
      <p:sp>
        <p:nvSpPr>
          <p:cNvPr id="3" name="Content Placeholder 2"/>
          <p:cNvSpPr>
            <a:spLocks noGrp="1"/>
          </p:cNvSpPr>
          <p:nvPr>
            <p:ph idx="1"/>
          </p:nvPr>
        </p:nvSpPr>
        <p:spPr/>
        <p:txBody>
          <a:bodyPr>
            <a:normAutofit/>
          </a:bodyPr>
          <a:lstStyle/>
          <a:p>
            <a:r>
              <a:rPr lang="en-US" sz="2400" b="1" dirty="0">
                <a:latin typeface="Times New Roman" pitchFamily="18" charset="0"/>
                <a:cs typeface="Times New Roman" pitchFamily="18" charset="0"/>
              </a:rPr>
              <a:t>Types of Attribute:</a:t>
            </a:r>
          </a:p>
          <a:p>
            <a:pPr marL="0" indent="0">
              <a:buNone/>
            </a:pPr>
            <a:r>
              <a:rPr lang="en-IN" sz="2400" b="1" dirty="0"/>
              <a:t>Key Attribute</a:t>
            </a:r>
          </a:p>
          <a:p>
            <a:pPr marL="0" indent="0" algn="just">
              <a:buNone/>
            </a:pPr>
            <a:r>
              <a:rPr lang="en-US" sz="2400" dirty="0">
                <a:latin typeface="Times New Roman" pitchFamily="18" charset="0"/>
                <a:cs typeface="Times New Roman" pitchFamily="18" charset="0"/>
              </a:rPr>
              <a:t>The attribute which uniquely identifies each entity in the entity set is called the key attribute. For example, </a:t>
            </a:r>
            <a:r>
              <a:rPr lang="en-US" sz="2400" dirty="0" err="1">
                <a:latin typeface="Times New Roman" pitchFamily="18" charset="0"/>
                <a:cs typeface="Times New Roman" pitchFamily="18" charset="0"/>
              </a:rPr>
              <a:t>Roll_No</a:t>
            </a:r>
            <a:r>
              <a:rPr lang="en-US" sz="2400" dirty="0">
                <a:latin typeface="Times New Roman" pitchFamily="18" charset="0"/>
                <a:cs typeface="Times New Roman" pitchFamily="18" charset="0"/>
              </a:rPr>
              <a:t> will be unique for each student.</a:t>
            </a:r>
          </a:p>
          <a:p>
            <a:pPr marL="0" indent="0" algn="just">
              <a:buNone/>
            </a:pPr>
            <a:endParaRPr lang="en-IN" sz="2400" b="1" dirty="0">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4509120"/>
            <a:ext cx="233362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985639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latin typeface="Times New Roman" pitchFamily="18" charset="0"/>
                <a:cs typeface="Times New Roman" pitchFamily="18" charset="0"/>
              </a:rPr>
              <a:t>Basic Concepts (entities, attributes, entity sets, relations, relationship sets)</a:t>
            </a:r>
            <a:endParaRPr lang="en-IN" sz="3200" dirty="0"/>
          </a:p>
        </p:txBody>
      </p:sp>
      <p:sp>
        <p:nvSpPr>
          <p:cNvPr id="3" name="Content Placeholder 2"/>
          <p:cNvSpPr>
            <a:spLocks noGrp="1"/>
          </p:cNvSpPr>
          <p:nvPr>
            <p:ph idx="1"/>
          </p:nvPr>
        </p:nvSpPr>
        <p:spPr/>
        <p:txBody>
          <a:bodyPr/>
          <a:lstStyle/>
          <a:p>
            <a:r>
              <a:rPr lang="en-IN" sz="2400" b="1" dirty="0">
                <a:latin typeface="Times New Roman" pitchFamily="18" charset="0"/>
                <a:cs typeface="Times New Roman" pitchFamily="18" charset="0"/>
              </a:rPr>
              <a:t>Composite Attribute:</a:t>
            </a:r>
          </a:p>
          <a:p>
            <a:pPr marL="0" indent="0" algn="just">
              <a:buNone/>
            </a:pPr>
            <a:r>
              <a:rPr lang="en-US" sz="2400" dirty="0">
                <a:latin typeface="Times New Roman" pitchFamily="18" charset="0"/>
                <a:cs typeface="Times New Roman" pitchFamily="18" charset="0"/>
              </a:rPr>
              <a:t>An attribute composed of many other attributes is called a composite attribute. For example, the Address attribute of the student Entity type consists of Street, City, State, and Country.</a:t>
            </a:r>
          </a:p>
          <a:p>
            <a:pPr marL="0" indent="0" algn="just">
              <a:buNone/>
            </a:pPr>
            <a:endParaRPr lang="en-IN" sz="2400" b="1" dirty="0">
              <a:latin typeface="Times New Roman" pitchFamily="18" charset="0"/>
              <a:cs typeface="Times New Roman" pitchFamily="18" charset="0"/>
            </a:endParaRPr>
          </a:p>
          <a:p>
            <a:pPr marL="0" indent="0">
              <a:buNone/>
            </a:pPr>
            <a:endParaRPr lang="en-I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033" y="3861048"/>
            <a:ext cx="7252295" cy="2543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720906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latin typeface="Times New Roman" pitchFamily="18" charset="0"/>
                <a:cs typeface="Times New Roman" pitchFamily="18" charset="0"/>
              </a:rPr>
              <a:t>Basic Concepts (entities, attributes, entity sets, relations, relationship sets)</a:t>
            </a:r>
            <a:endParaRPr lang="en-IN" sz="3200" dirty="0"/>
          </a:p>
        </p:txBody>
      </p:sp>
      <p:sp>
        <p:nvSpPr>
          <p:cNvPr id="3" name="Content Placeholder 2"/>
          <p:cNvSpPr>
            <a:spLocks noGrp="1"/>
          </p:cNvSpPr>
          <p:nvPr>
            <p:ph idx="1"/>
          </p:nvPr>
        </p:nvSpPr>
        <p:spPr/>
        <p:txBody>
          <a:bodyPr/>
          <a:lstStyle/>
          <a:p>
            <a:r>
              <a:rPr lang="en-IN" sz="2400" b="1" dirty="0">
                <a:latin typeface="Times New Roman" pitchFamily="18" charset="0"/>
                <a:cs typeface="Times New Roman" pitchFamily="18" charset="0"/>
              </a:rPr>
              <a:t>Multivalued Attribute:</a:t>
            </a:r>
          </a:p>
          <a:p>
            <a:pPr marL="0" indent="0" algn="just">
              <a:buNone/>
            </a:pPr>
            <a:r>
              <a:rPr lang="en-US" sz="2400" dirty="0">
                <a:latin typeface="Times New Roman" pitchFamily="18" charset="0"/>
                <a:cs typeface="Times New Roman" pitchFamily="18" charset="0"/>
              </a:rPr>
              <a:t>An attribute consisting of more than one value for a given entity. For example, </a:t>
            </a:r>
            <a:r>
              <a:rPr lang="en-US" sz="2400" dirty="0" err="1">
                <a:latin typeface="Times New Roman" pitchFamily="18" charset="0"/>
                <a:cs typeface="Times New Roman" pitchFamily="18" charset="0"/>
              </a:rPr>
              <a:t>Phone_No</a:t>
            </a:r>
            <a:r>
              <a:rPr lang="en-US" sz="2400" dirty="0">
                <a:latin typeface="Times New Roman" pitchFamily="18" charset="0"/>
                <a:cs typeface="Times New Roman" pitchFamily="18" charset="0"/>
              </a:rPr>
              <a:t> (can be more than one for a given student).</a:t>
            </a:r>
            <a:endParaRPr lang="en-IN" sz="2400" dirty="0">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3645024"/>
            <a:ext cx="29432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415069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latin typeface="Times New Roman" pitchFamily="18" charset="0"/>
                <a:cs typeface="Times New Roman" pitchFamily="18" charset="0"/>
              </a:rPr>
              <a:t>Basic Concepts (entities, attributes, entity sets, relations, relationship sets)</a:t>
            </a:r>
            <a:endParaRPr lang="en-IN" sz="3200" dirty="0"/>
          </a:p>
        </p:txBody>
      </p:sp>
      <p:sp>
        <p:nvSpPr>
          <p:cNvPr id="3" name="Content Placeholder 2"/>
          <p:cNvSpPr>
            <a:spLocks noGrp="1"/>
          </p:cNvSpPr>
          <p:nvPr>
            <p:ph idx="1"/>
          </p:nvPr>
        </p:nvSpPr>
        <p:spPr/>
        <p:txBody>
          <a:bodyPr/>
          <a:lstStyle/>
          <a:p>
            <a:r>
              <a:rPr lang="en-IN" b="1" dirty="0"/>
              <a:t>Derived Attribute</a:t>
            </a:r>
          </a:p>
          <a:p>
            <a:pPr marL="0" indent="0">
              <a:buNone/>
            </a:pPr>
            <a:r>
              <a:rPr lang="en-US" sz="2400" dirty="0">
                <a:latin typeface="Times New Roman" pitchFamily="18" charset="0"/>
                <a:cs typeface="Times New Roman" pitchFamily="18" charset="0"/>
              </a:rPr>
              <a:t>An attribute that can be derived from other attributes of the entity type is known as a derived attribute. e.g.; Age (can be derived from DOB).</a:t>
            </a:r>
            <a:endParaRPr lang="en-IN" sz="2400" dirty="0">
              <a:latin typeface="Times New Roman" pitchFamily="18" charset="0"/>
              <a:cs typeface="Times New Roman" pitchFamily="18"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4108326"/>
            <a:ext cx="2790825"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944866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latin typeface="Times New Roman" pitchFamily="18" charset="0"/>
                <a:cs typeface="Times New Roman" pitchFamily="18" charset="0"/>
              </a:rPr>
              <a:t>Basic Concepts (entities, attributes, entity sets, relations, relationship sets)</a:t>
            </a:r>
            <a:endParaRPr lang="en-IN" sz="3200" dirty="0"/>
          </a:p>
        </p:txBody>
      </p:sp>
      <p:sp>
        <p:nvSpPr>
          <p:cNvPr id="3" name="Content Placeholder 2"/>
          <p:cNvSpPr>
            <a:spLocks noGrp="1"/>
          </p:cNvSpPr>
          <p:nvPr>
            <p:ph idx="1"/>
          </p:nvPr>
        </p:nvSpPr>
        <p:spPr/>
        <p:txBody>
          <a:bodyPr>
            <a:normAutofit fontScale="92500" lnSpcReduction="20000"/>
          </a:bodyPr>
          <a:lstStyle/>
          <a:p>
            <a:pPr marL="0" indent="0">
              <a:buNone/>
            </a:pPr>
            <a:r>
              <a:rPr lang="en-US" sz="2400" b="1" dirty="0">
                <a:latin typeface="Times New Roman" pitchFamily="18" charset="0"/>
                <a:cs typeface="Times New Roman" pitchFamily="18" charset="0"/>
              </a:rPr>
              <a:t>What is an Entity Set?</a:t>
            </a:r>
          </a:p>
          <a:p>
            <a:pPr marL="0" indent="0">
              <a:buNone/>
            </a:pPr>
            <a:r>
              <a:rPr lang="en-US" sz="2400" dirty="0">
                <a:latin typeface="Times New Roman" pitchFamily="18" charset="0"/>
                <a:cs typeface="Times New Roman" pitchFamily="18" charset="0"/>
              </a:rPr>
              <a:t>An </a:t>
            </a:r>
            <a:r>
              <a:rPr lang="en-US" sz="2400" b="1" dirty="0">
                <a:latin typeface="Times New Roman" pitchFamily="18" charset="0"/>
                <a:cs typeface="Times New Roman" pitchFamily="18" charset="0"/>
              </a:rPr>
              <a:t>Entity Set</a:t>
            </a:r>
            <a:r>
              <a:rPr lang="en-US" sz="2400" dirty="0">
                <a:latin typeface="Times New Roman" pitchFamily="18" charset="0"/>
                <a:cs typeface="Times New Roman" pitchFamily="18" charset="0"/>
              </a:rPr>
              <a:t> is a </a:t>
            </a:r>
            <a:r>
              <a:rPr lang="en-US" sz="2400" b="1" dirty="0">
                <a:latin typeface="Times New Roman" pitchFamily="18" charset="0"/>
                <a:cs typeface="Times New Roman" pitchFamily="18" charset="0"/>
              </a:rPr>
              <a:t>collection of similar entities</a:t>
            </a:r>
            <a:r>
              <a:rPr lang="en-US" sz="2400" dirty="0">
                <a:latin typeface="Times New Roman" pitchFamily="18" charset="0"/>
                <a:cs typeface="Times New Roman" pitchFamily="18" charset="0"/>
              </a:rPr>
              <a:t> that share the same attributes. Each entity in the set represents a real-world object.</a:t>
            </a:r>
          </a:p>
          <a:p>
            <a:pPr marL="0" indent="0">
              <a:buNone/>
            </a:pPr>
            <a:r>
              <a:rPr lang="en-US" sz="2400" b="1" dirty="0">
                <a:latin typeface="Times New Roman" pitchFamily="18" charset="0"/>
                <a:cs typeface="Times New Roman" pitchFamily="18" charset="0"/>
              </a:rPr>
              <a:t>Example:</a:t>
            </a:r>
          </a:p>
          <a:p>
            <a:pPr marL="0" indent="0">
              <a:buNone/>
            </a:pPr>
            <a:r>
              <a:rPr lang="en-US" sz="2400" b="1" dirty="0">
                <a:latin typeface="Times New Roman" pitchFamily="18" charset="0"/>
                <a:cs typeface="Times New Roman" pitchFamily="18" charset="0"/>
              </a:rPr>
              <a:t>Student</a:t>
            </a:r>
          </a:p>
          <a:p>
            <a:pPr marL="0" indent="0">
              <a:buNone/>
            </a:pPr>
            <a:r>
              <a:rPr lang="en-US" sz="2400" dirty="0">
                <a:latin typeface="Times New Roman" pitchFamily="18" charset="0"/>
                <a:cs typeface="Times New Roman" pitchFamily="18" charset="0"/>
              </a:rPr>
              <a:t>Represents all students in a school or university.</a:t>
            </a:r>
          </a:p>
          <a:p>
            <a:pPr marL="0" indent="0">
              <a:buNone/>
            </a:pPr>
            <a:r>
              <a:rPr lang="en-US" sz="2400" b="1" dirty="0">
                <a:latin typeface="Times New Roman" pitchFamily="18" charset="0"/>
                <a:cs typeface="Times New Roman" pitchFamily="18" charset="0"/>
              </a:rPr>
              <a:t>Attributes</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StudentID</a:t>
            </a:r>
            <a:r>
              <a:rPr lang="en-US" sz="2400" dirty="0">
                <a:latin typeface="Times New Roman" pitchFamily="18" charset="0"/>
                <a:cs typeface="Times New Roman" pitchFamily="18" charset="0"/>
              </a:rPr>
              <a:t>, Name, Email, </a:t>
            </a:r>
            <a:r>
              <a:rPr lang="en-US" sz="2400" dirty="0" err="1">
                <a:latin typeface="Times New Roman" pitchFamily="18" charset="0"/>
                <a:cs typeface="Times New Roman" pitchFamily="18" charset="0"/>
              </a:rPr>
              <a:t>DateOfBirth</a:t>
            </a:r>
            <a:endParaRPr lang="en-US" sz="2400" dirty="0">
              <a:latin typeface="Times New Roman" pitchFamily="18" charset="0"/>
              <a:cs typeface="Times New Roman" pitchFamily="18" charset="0"/>
            </a:endParaRPr>
          </a:p>
          <a:p>
            <a:pPr marL="0" indent="0">
              <a:buNone/>
            </a:pPr>
            <a:r>
              <a:rPr lang="en-IN" sz="2400" dirty="0">
                <a:latin typeface="Times New Roman" pitchFamily="18" charset="0"/>
                <a:cs typeface="Times New Roman" pitchFamily="18" charset="0"/>
              </a:rPr>
              <a:t>(1, "Alice", "alice@email.com", "2002-04-15")</a:t>
            </a:r>
          </a:p>
          <a:p>
            <a:pPr marL="0" indent="0">
              <a:buNone/>
            </a:pPr>
            <a:r>
              <a:rPr lang="en-IN" sz="2400" dirty="0">
                <a:latin typeface="Times New Roman" pitchFamily="18" charset="0"/>
                <a:cs typeface="Times New Roman" pitchFamily="18" charset="0"/>
              </a:rPr>
              <a:t>(2, "Bob", "bob@email.com", "2001-09-03")</a:t>
            </a:r>
          </a:p>
          <a:p>
            <a:pPr marL="0" indent="0">
              <a:buNone/>
            </a:pP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244922341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latin typeface="Times New Roman" pitchFamily="18" charset="0"/>
                <a:cs typeface="Times New Roman" pitchFamily="18" charset="0"/>
              </a:rPr>
              <a:t>Basic Concepts (entities, attributes, entity sets, relations, relationship sets)</a:t>
            </a:r>
            <a:endParaRPr lang="en-IN" sz="3200" dirty="0"/>
          </a:p>
        </p:txBody>
      </p:sp>
      <p:sp>
        <p:nvSpPr>
          <p:cNvPr id="3" name="Content Placeholder 2"/>
          <p:cNvSpPr>
            <a:spLocks noGrp="1"/>
          </p:cNvSpPr>
          <p:nvPr>
            <p:ph idx="1"/>
          </p:nvPr>
        </p:nvSpPr>
        <p:spPr/>
        <p:txBody>
          <a:bodyPr>
            <a:normAutofit fontScale="92500"/>
          </a:bodyPr>
          <a:lstStyle/>
          <a:p>
            <a:r>
              <a:rPr lang="en-US" sz="2400" b="1" dirty="0">
                <a:latin typeface="Times New Roman" pitchFamily="18" charset="0"/>
                <a:cs typeface="Times New Roman" pitchFamily="18" charset="0"/>
              </a:rPr>
              <a:t>Types of Entity Set:</a:t>
            </a:r>
          </a:p>
          <a:p>
            <a:endParaRPr lang="en-US" sz="2400" b="1" dirty="0">
              <a:latin typeface="Times New Roman" pitchFamily="18" charset="0"/>
              <a:cs typeface="Times New Roman" pitchFamily="18" charset="0"/>
            </a:endParaRPr>
          </a:p>
          <a:p>
            <a:pPr marL="0" indent="0">
              <a:buNone/>
            </a:pPr>
            <a:endParaRPr lang="en-US" sz="2400" b="1" dirty="0">
              <a:latin typeface="Times New Roman" pitchFamily="18" charset="0"/>
              <a:cs typeface="Times New Roman" pitchFamily="18" charset="0"/>
            </a:endParaRPr>
          </a:p>
          <a:p>
            <a:pPr marL="0" indent="0">
              <a:buNone/>
            </a:pPr>
            <a:endParaRPr lang="en-IN" sz="2400" b="1" dirty="0">
              <a:latin typeface="Times New Roman" pitchFamily="18" charset="0"/>
              <a:cs typeface="Times New Roman" pitchFamily="18" charset="0"/>
            </a:endParaRPr>
          </a:p>
          <a:p>
            <a:pPr marL="0" indent="0">
              <a:buNone/>
            </a:pPr>
            <a:endParaRPr lang="en-IN" sz="2400" b="1" dirty="0">
              <a:latin typeface="Times New Roman" pitchFamily="18" charset="0"/>
              <a:cs typeface="Times New Roman" pitchFamily="18" charset="0"/>
            </a:endParaRPr>
          </a:p>
          <a:p>
            <a:pPr marL="0" indent="0">
              <a:buNone/>
            </a:pPr>
            <a:r>
              <a:rPr lang="en-IN" sz="2400" b="1" dirty="0">
                <a:latin typeface="Times New Roman" pitchFamily="18" charset="0"/>
                <a:cs typeface="Times New Roman" pitchFamily="18" charset="0"/>
              </a:rPr>
              <a:t>1. Weak Entity Set:</a:t>
            </a:r>
          </a:p>
          <a:p>
            <a:pPr marL="0" indent="0">
              <a:buNone/>
            </a:pPr>
            <a:r>
              <a:rPr lang="en-US" sz="2400" dirty="0">
                <a:latin typeface="Times New Roman" pitchFamily="18" charset="0"/>
                <a:cs typeface="Times New Roman" pitchFamily="18" charset="0"/>
              </a:rPr>
              <a:t>A weak entity cannot exist on its own; it is dependent on a strong entity to identify it. A weak entity does not have a single primary key that uniquely identifies it; instead, it has a partial key.</a:t>
            </a:r>
            <a:endParaRPr lang="en-IN" sz="2400" b="1" dirty="0">
              <a:latin typeface="Times New Roman" pitchFamily="18" charset="0"/>
              <a:cs typeface="Times New Roman" pitchFamily="18" charset="0"/>
            </a:endParaRPr>
          </a:p>
          <a:p>
            <a:pPr marL="0" indent="0">
              <a:buNone/>
            </a:pPr>
            <a:endParaRPr lang="en-IN" sz="2400" b="1" dirty="0">
              <a:latin typeface="Times New Roman" pitchFamily="18" charset="0"/>
              <a:cs typeface="Times New Roman" pitchFamily="18"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6795" y="2492896"/>
            <a:ext cx="3857625"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540826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latin typeface="Times New Roman" pitchFamily="18" charset="0"/>
                <a:cs typeface="Times New Roman" pitchFamily="18" charset="0"/>
              </a:rPr>
              <a:t>Basic Concepts (entities, attributes, entity sets, relations, relationship sets)</a:t>
            </a:r>
            <a:endParaRPr lang="en-IN" sz="3200" dirty="0"/>
          </a:p>
        </p:txBody>
      </p:sp>
      <p:sp>
        <p:nvSpPr>
          <p:cNvPr id="3" name="Content Placeholder 2"/>
          <p:cNvSpPr>
            <a:spLocks noGrp="1"/>
          </p:cNvSpPr>
          <p:nvPr>
            <p:ph idx="1"/>
          </p:nvPr>
        </p:nvSpPr>
        <p:spPr/>
        <p:txBody>
          <a:bodyPr/>
          <a:lstStyle/>
          <a:p>
            <a:pPr marL="0" indent="0">
              <a:buNone/>
            </a:pPr>
            <a:r>
              <a:rPr lang="en-US" sz="2400" b="1" dirty="0">
                <a:latin typeface="Times New Roman" pitchFamily="18" charset="0"/>
                <a:cs typeface="Times New Roman" pitchFamily="18" charset="0"/>
              </a:rPr>
              <a:t>2. </a:t>
            </a:r>
            <a:r>
              <a:rPr lang="en-IN" sz="2400" b="1" dirty="0">
                <a:latin typeface="Times New Roman" pitchFamily="18" charset="0"/>
                <a:cs typeface="Times New Roman" pitchFamily="18" charset="0"/>
              </a:rPr>
              <a:t>Strong Entity Set:</a:t>
            </a:r>
          </a:p>
          <a:p>
            <a:pPr marL="0" indent="0">
              <a:buNone/>
            </a:pPr>
            <a:r>
              <a:rPr lang="en-US" sz="2400" dirty="0">
                <a:latin typeface="Times New Roman" pitchFamily="18" charset="0"/>
                <a:cs typeface="Times New Roman" pitchFamily="18" charset="0"/>
              </a:rPr>
              <a:t>Strong entity sets exist independently and each instance of a strong entity set has a unique primary key.</a:t>
            </a:r>
            <a:endParaRPr lang="en-IN" sz="2400" b="1" dirty="0">
              <a:latin typeface="Times New Roman" pitchFamily="18" charset="0"/>
              <a:cs typeface="Times New Roman" pitchFamily="18" charset="0"/>
            </a:endParaRPr>
          </a:p>
          <a:p>
            <a:pPr marL="0" indent="0">
              <a:buNone/>
            </a:pPr>
            <a:endParaRPr lang="en-IN"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3501008"/>
            <a:ext cx="7947087" cy="2303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742449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latin typeface="Times New Roman" pitchFamily="18" charset="0"/>
                <a:cs typeface="Times New Roman" pitchFamily="18" charset="0"/>
              </a:rPr>
              <a:t>Basic Concepts (entities, attributes, entity sets, relations, relationship sets)</a:t>
            </a: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0" indent="0">
              <a:buNone/>
            </a:pPr>
            <a:r>
              <a:rPr lang="en-IN" sz="2400" b="1" dirty="0">
                <a:latin typeface="Times New Roman" pitchFamily="18" charset="0"/>
                <a:cs typeface="Times New Roman" pitchFamily="18" charset="0"/>
              </a:rPr>
              <a:t>Relationship:</a:t>
            </a:r>
          </a:p>
          <a:p>
            <a:pPr marL="0" indent="0">
              <a:buNone/>
            </a:pPr>
            <a:r>
              <a:rPr lang="en-US" sz="2400" dirty="0">
                <a:latin typeface="Times New Roman" pitchFamily="18" charset="0"/>
                <a:cs typeface="Times New Roman" pitchFamily="18" charset="0"/>
              </a:rPr>
              <a:t>A relationship is represented by diamond shape in ER diagram, it shows the relationship among entities. There are four types of relationships: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1. One to One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2. One to Many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3. Many to One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4. Many to Many</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70365287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latin typeface="Times New Roman" pitchFamily="18" charset="0"/>
                <a:cs typeface="Times New Roman" pitchFamily="18" charset="0"/>
              </a:rPr>
              <a:t>Basic Concepts (entities, attributes, entity sets, relations, relationship sets)</a:t>
            </a:r>
            <a:endParaRPr lang="en-IN" sz="3200" dirty="0"/>
          </a:p>
        </p:txBody>
      </p:sp>
      <p:sp>
        <p:nvSpPr>
          <p:cNvPr id="3" name="Content Placeholder 2"/>
          <p:cNvSpPr>
            <a:spLocks noGrp="1"/>
          </p:cNvSpPr>
          <p:nvPr>
            <p:ph idx="1"/>
          </p:nvPr>
        </p:nvSpPr>
        <p:spPr/>
        <p:txBody>
          <a:bodyPr/>
          <a:lstStyle/>
          <a:p>
            <a:r>
              <a:rPr lang="en-IN" b="1" dirty="0"/>
              <a:t>One to One Relationship</a:t>
            </a:r>
          </a:p>
          <a:p>
            <a:pPr marL="0" indent="0" algn="just">
              <a:buNone/>
            </a:pPr>
            <a:r>
              <a:rPr lang="en-US" sz="2400" dirty="0">
                <a:latin typeface="Times New Roman" pitchFamily="18" charset="0"/>
                <a:cs typeface="Times New Roman" pitchFamily="18" charset="0"/>
              </a:rPr>
              <a:t>When a single instance of an entity is associated with a single instance of another entity then it is called one to one relationship. For example, a person has only one passport and a passport is given to one person.</a:t>
            </a:r>
          </a:p>
          <a:p>
            <a:pPr marL="0" indent="0" algn="just">
              <a:buNone/>
            </a:pPr>
            <a:endParaRPr lang="en-IN" sz="2400" dirty="0">
              <a:latin typeface="Times New Roman" pitchFamily="18" charset="0"/>
              <a:cs typeface="Times New Roman" pitchFamily="18" charset="0"/>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4293096"/>
            <a:ext cx="53721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467615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latin typeface="Times New Roman" pitchFamily="18" charset="0"/>
                <a:cs typeface="Times New Roman" pitchFamily="18" charset="0"/>
              </a:rPr>
              <a:t>Basic Concepts (entities, attributes, entity sets, relations, relationship sets)</a:t>
            </a:r>
            <a:endParaRPr lang="en-IN" sz="3200" dirty="0"/>
          </a:p>
        </p:txBody>
      </p:sp>
      <p:sp>
        <p:nvSpPr>
          <p:cNvPr id="3" name="Content Placeholder 2"/>
          <p:cNvSpPr>
            <a:spLocks noGrp="1"/>
          </p:cNvSpPr>
          <p:nvPr>
            <p:ph idx="1"/>
          </p:nvPr>
        </p:nvSpPr>
        <p:spPr/>
        <p:txBody>
          <a:bodyPr/>
          <a:lstStyle/>
          <a:p>
            <a:r>
              <a:rPr lang="en-IN" b="1" dirty="0"/>
              <a:t>One to Many Relationship</a:t>
            </a:r>
          </a:p>
          <a:p>
            <a:pPr marL="0" indent="0" algn="just">
              <a:buNone/>
            </a:pPr>
            <a:r>
              <a:rPr lang="en-US" sz="2400" dirty="0">
                <a:latin typeface="Times New Roman" pitchFamily="18" charset="0"/>
                <a:cs typeface="Times New Roman" pitchFamily="18" charset="0"/>
              </a:rPr>
              <a:t>When a single instance of an entity is associated with more than one instances of another entity then it is called one to many relationship. For example – a customer can place many orders but a order cannot be placed by many customers.</a:t>
            </a:r>
            <a:endParaRPr lang="en-IN" sz="2400" dirty="0">
              <a:latin typeface="Times New Roman" pitchFamily="18" charset="0"/>
              <a:cs typeface="Times New Roman" pitchFamily="18" charset="0"/>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4509120"/>
            <a:ext cx="542925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268651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latin typeface="Times New Roman" pitchFamily="18" charset="0"/>
                <a:cs typeface="Times New Roman" pitchFamily="18" charset="0"/>
              </a:rPr>
              <a:t>Basic Concepts (entities, attributes, entity sets, relations, relationship sets)</a:t>
            </a:r>
            <a:endParaRPr lang="en-IN" sz="3200" dirty="0"/>
          </a:p>
        </p:txBody>
      </p:sp>
      <p:sp>
        <p:nvSpPr>
          <p:cNvPr id="3" name="Content Placeholder 2"/>
          <p:cNvSpPr>
            <a:spLocks noGrp="1"/>
          </p:cNvSpPr>
          <p:nvPr>
            <p:ph idx="1"/>
          </p:nvPr>
        </p:nvSpPr>
        <p:spPr/>
        <p:txBody>
          <a:bodyPr/>
          <a:lstStyle/>
          <a:p>
            <a:r>
              <a:rPr lang="en-IN" b="1" dirty="0"/>
              <a:t>Many to One Relationship</a:t>
            </a:r>
          </a:p>
          <a:p>
            <a:pPr marL="0" indent="0" algn="just">
              <a:buNone/>
            </a:pPr>
            <a:r>
              <a:rPr lang="en-US" sz="2400" dirty="0">
                <a:latin typeface="Times New Roman" pitchFamily="18" charset="0"/>
                <a:cs typeface="Times New Roman" pitchFamily="18" charset="0"/>
              </a:rPr>
              <a:t>When more than one instances of an entity is associated with a single instance of another entity then it is called many to one relationship. For example – many students can study in a single college but a student cannot study in many colleges at the same time.</a:t>
            </a:r>
          </a:p>
          <a:p>
            <a:pPr marL="0" indent="0" algn="just">
              <a:buNone/>
            </a:pPr>
            <a:endParaRPr lang="en-IN" sz="2400" dirty="0">
              <a:latin typeface="Times New Roman" pitchFamily="18" charset="0"/>
              <a:cs typeface="Times New Roman" pitchFamily="18" charset="0"/>
            </a:endParaRP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4581128"/>
            <a:ext cx="4981575"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4041619"/>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200" b="1" dirty="0">
                <a:latin typeface="Times New Roman" pitchFamily="18" charset="0"/>
                <a:cs typeface="Times New Roman" pitchFamily="18" charset="0"/>
              </a:rPr>
              <a:t>Basic Concepts (entities, attributes, entity sets, relations, relationship sets)</a:t>
            </a:r>
            <a:endParaRPr lang="en-IN" sz="3200" dirty="0"/>
          </a:p>
        </p:txBody>
      </p:sp>
      <p:sp>
        <p:nvSpPr>
          <p:cNvPr id="3" name="Content Placeholder 2"/>
          <p:cNvSpPr>
            <a:spLocks noGrp="1"/>
          </p:cNvSpPr>
          <p:nvPr>
            <p:ph idx="1"/>
          </p:nvPr>
        </p:nvSpPr>
        <p:spPr/>
        <p:txBody>
          <a:bodyPr/>
          <a:lstStyle/>
          <a:p>
            <a:r>
              <a:rPr lang="en-IN" b="1" dirty="0"/>
              <a:t>Many to Many Relationship</a:t>
            </a:r>
          </a:p>
          <a:p>
            <a:pPr marL="0" indent="0" algn="just">
              <a:buNone/>
            </a:pPr>
            <a:r>
              <a:rPr lang="en-US" sz="2400" dirty="0">
                <a:latin typeface="Times New Roman" pitchFamily="18" charset="0"/>
                <a:cs typeface="Times New Roman" pitchFamily="18" charset="0"/>
              </a:rPr>
              <a:t>When more than one instances of an entity is associated with more than one instances of another entity then it is called many to many relationship. For example, a can be assigned to many projects and a project can be assigned to many students.</a:t>
            </a:r>
            <a:endParaRPr lang="en-IN" sz="2400" dirty="0">
              <a:latin typeface="Times New Roman" pitchFamily="18" charset="0"/>
              <a:cs typeface="Times New Roman" pitchFamily="18" charset="0"/>
            </a:endParaRP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4149080"/>
            <a:ext cx="53721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156053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92696"/>
            <a:ext cx="8229600" cy="506320"/>
          </a:xfrm>
        </p:spPr>
        <p:txBody>
          <a:bodyPr>
            <a:normAutofit fontScale="90000"/>
          </a:bodyPr>
          <a:lstStyle/>
          <a:p>
            <a:r>
              <a:rPr lang="en-US" sz="3200" b="1" dirty="0">
                <a:latin typeface="Times New Roman" pitchFamily="18" charset="0"/>
                <a:cs typeface="Times New Roman" pitchFamily="18" charset="0"/>
              </a:rPr>
              <a:t>Example</a:t>
            </a:r>
            <a:endParaRPr lang="en-IN"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67544" y="1340768"/>
            <a:ext cx="8229600" cy="4389120"/>
          </a:xfrm>
        </p:spPr>
        <p:txBody>
          <a:bodyPr>
            <a:normAutofit/>
          </a:bodyPr>
          <a:lstStyle/>
          <a:p>
            <a:r>
              <a:rPr lang="en-US" dirty="0">
                <a:latin typeface="Times New Roman" pitchFamily="18" charset="0"/>
                <a:cs typeface="Times New Roman" pitchFamily="18" charset="0"/>
              </a:rPr>
              <a:t>The following information stored in the database:</a:t>
            </a:r>
          </a:p>
          <a:p>
            <a:pPr marL="514350" indent="-514350">
              <a:buAutoNum type="arabicPeriod"/>
            </a:pPr>
            <a:r>
              <a:rPr lang="en-US" dirty="0">
                <a:latin typeface="Times New Roman" pitchFamily="18" charset="0"/>
                <a:cs typeface="Times New Roman" pitchFamily="18" charset="0"/>
              </a:rPr>
              <a:t>Customer: name, address, gender and preferred sport</a:t>
            </a:r>
          </a:p>
          <a:p>
            <a:pPr marL="514350" indent="-514350">
              <a:buAutoNum type="arabicPeriod"/>
            </a:pPr>
            <a:r>
              <a:rPr lang="en-US" dirty="0">
                <a:latin typeface="Times New Roman" pitchFamily="18" charset="0"/>
                <a:cs typeface="Times New Roman" pitchFamily="18" charset="0"/>
              </a:rPr>
              <a:t>Supplier: Supplier identification number, price per unit, amount in the inventory.</a:t>
            </a:r>
          </a:p>
          <a:p>
            <a:pPr marL="514350" indent="-514350">
              <a:buAutoNum type="arabicPeriod"/>
            </a:pPr>
            <a:r>
              <a:rPr lang="en-US" dirty="0">
                <a:latin typeface="Times New Roman" pitchFamily="18" charset="0"/>
                <a:cs typeface="Times New Roman" pitchFamily="18" charset="0"/>
              </a:rPr>
              <a:t>Product: Product ID, price per unit, amount in the inventory.</a:t>
            </a:r>
          </a:p>
          <a:p>
            <a:pPr marL="0" indent="0">
              <a:buNone/>
            </a:pPr>
            <a:r>
              <a:rPr lang="en-US" dirty="0">
                <a:latin typeface="Times New Roman" pitchFamily="18" charset="0"/>
                <a:cs typeface="Times New Roman" pitchFamily="18" charset="0"/>
              </a:rPr>
              <a:t>A Customer may order one or more products, and a product may be ordered by one or more customers. Additionally, product may be provided by one or more suppliers, and a supplier may provide more than one product.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09903873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836712"/>
            <a:ext cx="8229600" cy="506320"/>
          </a:xfrm>
        </p:spPr>
        <p:txBody>
          <a:bodyPr>
            <a:normAutofit fontScale="90000"/>
          </a:bodyPr>
          <a:lstStyle/>
          <a:p>
            <a:r>
              <a:rPr lang="en-US" sz="3200" b="1" dirty="0">
                <a:latin typeface="Times New Roman" pitchFamily="18" charset="0"/>
                <a:cs typeface="Times New Roman" pitchFamily="18" charset="0"/>
              </a:rPr>
              <a:t>Example</a:t>
            </a:r>
            <a:endParaRPr lang="en-IN"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67544" y="1628800"/>
            <a:ext cx="8229600" cy="4389120"/>
          </a:xfrm>
        </p:spPr>
        <p:txBody>
          <a:bodyPr/>
          <a:lstStyle/>
          <a:p>
            <a:pPr marL="0" indent="0">
              <a:buNone/>
            </a:pPr>
            <a:r>
              <a:rPr lang="en-US" dirty="0"/>
              <a:t>In a university, a Student enrolls in Courses. A student must be assigned to at least one or more Courses. Each course is taught by a single Professor. To maintain instruction quality, a Professor can deliver only one course </a:t>
            </a:r>
          </a:p>
          <a:p>
            <a:pPr marL="0" indent="0">
              <a:buNone/>
            </a:pPr>
            <a:endParaRPr lang="en-IN" dirty="0"/>
          </a:p>
        </p:txBody>
      </p:sp>
      <p:pic>
        <p:nvPicPr>
          <p:cNvPr id="4" name="Picture 3"/>
          <p:cNvPicPr/>
          <p:nvPr/>
        </p:nvPicPr>
        <p:blipFill>
          <a:blip r:embed="rId2"/>
          <a:stretch>
            <a:fillRect/>
          </a:stretch>
        </p:blipFill>
        <p:spPr>
          <a:xfrm>
            <a:off x="539552" y="4005064"/>
            <a:ext cx="7848872" cy="1152128"/>
          </a:xfrm>
          <a:prstGeom prst="rect">
            <a:avLst/>
          </a:prstGeom>
        </p:spPr>
      </p:pic>
    </p:spTree>
    <p:extLst>
      <p:ext uri="{BB962C8B-B14F-4D97-AF65-F5344CB8AC3E}">
        <p14:creationId xmlns:p14="http://schemas.microsoft.com/office/powerpoint/2010/main" val="127110915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506320"/>
          </a:xfrm>
        </p:spPr>
        <p:txBody>
          <a:bodyPr>
            <a:normAutofit fontScale="90000"/>
          </a:bodyPr>
          <a:lstStyle/>
          <a:p>
            <a:r>
              <a:rPr lang="en-US" sz="3200" b="1" dirty="0">
                <a:latin typeface="Times New Roman" pitchFamily="18" charset="0"/>
                <a:cs typeface="Times New Roman" pitchFamily="18" charset="0"/>
              </a:rPr>
              <a:t>Practice Set</a:t>
            </a:r>
            <a:endParaRPr lang="en-IN"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67544" y="1484784"/>
            <a:ext cx="8229600" cy="4389120"/>
          </a:xfrm>
        </p:spPr>
        <p:txBody>
          <a:bodyPr>
            <a:noAutofit/>
          </a:bodyPr>
          <a:lstStyle/>
          <a:p>
            <a:pPr algn="just"/>
            <a:r>
              <a:rPr lang="en-IN" sz="2400" dirty="0">
                <a:latin typeface="Times New Roman" pitchFamily="18" charset="0"/>
                <a:cs typeface="Times New Roman" pitchFamily="18" charset="0"/>
              </a:rPr>
              <a:t>A female can marry to one male, and a male can marry to one female.</a:t>
            </a:r>
          </a:p>
          <a:p>
            <a:pPr algn="just"/>
            <a:r>
              <a:rPr lang="en-IN" sz="2400" dirty="0">
                <a:latin typeface="Times New Roman" pitchFamily="18" charset="0"/>
                <a:cs typeface="Times New Roman" pitchFamily="18" charset="0"/>
              </a:rPr>
              <a:t>Scientist can invent many inventions, but the invention is done by the only specific scientist.</a:t>
            </a:r>
          </a:p>
          <a:p>
            <a:pPr algn="just"/>
            <a:r>
              <a:rPr lang="en-IN" sz="2400" dirty="0">
                <a:latin typeface="Times New Roman" pitchFamily="18" charset="0"/>
                <a:cs typeface="Times New Roman" pitchFamily="18" charset="0"/>
              </a:rPr>
              <a:t>Student </a:t>
            </a:r>
            <a:r>
              <a:rPr lang="en-IN" sz="2400" dirty="0" err="1">
                <a:latin typeface="Times New Roman" pitchFamily="18" charset="0"/>
                <a:cs typeface="Times New Roman" pitchFamily="18" charset="0"/>
              </a:rPr>
              <a:t>enrolls</a:t>
            </a:r>
            <a:r>
              <a:rPr lang="en-IN" sz="2400" dirty="0">
                <a:latin typeface="Times New Roman" pitchFamily="18" charset="0"/>
                <a:cs typeface="Times New Roman" pitchFamily="18" charset="0"/>
              </a:rPr>
              <a:t> for only one course, but a course can have many students.</a:t>
            </a:r>
          </a:p>
          <a:p>
            <a:pPr algn="just"/>
            <a:r>
              <a:rPr lang="en-IN" sz="2400" dirty="0">
                <a:latin typeface="Times New Roman" pitchFamily="18" charset="0"/>
                <a:cs typeface="Times New Roman" pitchFamily="18" charset="0"/>
              </a:rPr>
              <a:t>Employee can assign by many projects and project can have many employees.</a:t>
            </a:r>
          </a:p>
          <a:p>
            <a:pPr algn="just"/>
            <a:r>
              <a:rPr lang="en-IN" sz="2400" dirty="0">
                <a:latin typeface="Times New Roman" pitchFamily="18" charset="0"/>
                <a:cs typeface="Times New Roman" pitchFamily="18" charset="0"/>
              </a:rPr>
              <a:t>An employee can work in many departments (≥ 0), and a department can have several employees(Many-To-Many)</a:t>
            </a:r>
          </a:p>
          <a:p>
            <a:pPr algn="just"/>
            <a:r>
              <a:rPr lang="en-IN" sz="2400" dirty="0">
                <a:latin typeface="Times New Roman" pitchFamily="18" charset="0"/>
                <a:cs typeface="Times New Roman" pitchFamily="18" charset="0"/>
              </a:rPr>
              <a:t>An employee can work in at most one department, and a department can have at most one employee.( One-To-One)</a:t>
            </a:r>
          </a:p>
          <a:p>
            <a:pPr marL="0" indent="0" algn="just">
              <a:buNone/>
            </a:pP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83787651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578328"/>
          </a:xfrm>
        </p:spPr>
        <p:txBody>
          <a:bodyPr>
            <a:normAutofit fontScale="90000"/>
          </a:bodyPr>
          <a:lstStyle/>
          <a:p>
            <a:r>
              <a:rPr lang="en-IN" sz="3200" b="1" dirty="0">
                <a:latin typeface="Times New Roman" pitchFamily="18" charset="0"/>
                <a:cs typeface="Times New Roman" pitchFamily="18" charset="0"/>
              </a:rPr>
              <a:t>Constraints</a:t>
            </a:r>
          </a:p>
        </p:txBody>
      </p:sp>
      <p:sp>
        <p:nvSpPr>
          <p:cNvPr id="3" name="Content Placeholder 2"/>
          <p:cNvSpPr>
            <a:spLocks noGrp="1"/>
          </p:cNvSpPr>
          <p:nvPr>
            <p:ph idx="1"/>
          </p:nvPr>
        </p:nvSpPr>
        <p:spPr>
          <a:xfrm>
            <a:off x="467544" y="1484784"/>
            <a:ext cx="8229600" cy="4389120"/>
          </a:xfrm>
        </p:spPr>
        <p:txBody>
          <a:bodyPr>
            <a:normAutofit/>
          </a:bodyPr>
          <a:lstStyle/>
          <a:p>
            <a:r>
              <a:rPr lang="en-IN" sz="2400" b="1" dirty="0">
                <a:latin typeface="Times New Roman" pitchFamily="18" charset="0"/>
                <a:cs typeface="Times New Roman" pitchFamily="18" charset="0"/>
              </a:rPr>
              <a:t>Primary Key:</a:t>
            </a:r>
          </a:p>
          <a:p>
            <a:pPr marL="0" indent="0">
              <a:buNone/>
            </a:pPr>
            <a:r>
              <a:rPr lang="en-US" sz="2400" dirty="0">
                <a:latin typeface="Times New Roman" pitchFamily="18" charset="0"/>
                <a:cs typeface="Times New Roman" pitchFamily="18" charset="0"/>
              </a:rPr>
              <a:t>	It is an attribute or set of attributes that uniquely identify an entity (row) in the entity set (table).</a:t>
            </a: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IN" sz="24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2780928"/>
            <a:ext cx="324802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452818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764704"/>
            <a:ext cx="8229600" cy="506320"/>
          </a:xfrm>
        </p:spPr>
        <p:txBody>
          <a:bodyPr>
            <a:normAutofit fontScale="90000"/>
          </a:bodyPr>
          <a:lstStyle/>
          <a:p>
            <a:r>
              <a:rPr lang="en-IN" sz="3200" b="1" dirty="0">
                <a:latin typeface="Times New Roman" pitchFamily="18" charset="0"/>
                <a:cs typeface="Times New Roman" pitchFamily="18" charset="0"/>
              </a:rPr>
              <a:t>Constraints</a:t>
            </a:r>
            <a:endParaRPr lang="en-IN" sz="3200" dirty="0"/>
          </a:p>
        </p:txBody>
      </p:sp>
      <p:sp>
        <p:nvSpPr>
          <p:cNvPr id="3" name="Content Placeholder 2"/>
          <p:cNvSpPr>
            <a:spLocks noGrp="1"/>
          </p:cNvSpPr>
          <p:nvPr>
            <p:ph idx="1"/>
          </p:nvPr>
        </p:nvSpPr>
        <p:spPr>
          <a:xfrm>
            <a:off x="395536" y="1412776"/>
            <a:ext cx="8229600" cy="4389120"/>
          </a:xfrm>
        </p:spPr>
        <p:txBody>
          <a:bodyPr/>
          <a:lstStyle/>
          <a:p>
            <a:r>
              <a:rPr lang="en-IN" sz="2400" b="1" dirty="0">
                <a:latin typeface="Times New Roman" pitchFamily="18" charset="0"/>
                <a:cs typeface="Times New Roman" pitchFamily="18" charset="0"/>
              </a:rPr>
              <a:t>Foreign Key (Referential Constraints):</a:t>
            </a:r>
          </a:p>
          <a:p>
            <a:pPr marL="0" indent="0">
              <a:buNone/>
            </a:pPr>
            <a:r>
              <a:rPr lang="en-US" sz="2400" dirty="0">
                <a:latin typeface="Times New Roman" pitchFamily="18" charset="0"/>
                <a:cs typeface="Times New Roman" pitchFamily="18" charset="0"/>
              </a:rPr>
              <a:t>	A foreign key is a set of attributes in a table that refers to the primary key of another table.</a:t>
            </a:r>
          </a:p>
          <a:p>
            <a:endParaRPr lang="en-IN"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9" y="2774804"/>
            <a:ext cx="5199086" cy="3678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24715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506320"/>
          </a:xfrm>
        </p:spPr>
        <p:txBody>
          <a:bodyPr>
            <a:normAutofit fontScale="90000"/>
          </a:bodyPr>
          <a:lstStyle/>
          <a:p>
            <a:r>
              <a:rPr lang="en-IN" sz="3200" b="1" dirty="0">
                <a:latin typeface="Times New Roman" pitchFamily="18" charset="0"/>
                <a:cs typeface="Times New Roman" pitchFamily="18" charset="0"/>
              </a:rPr>
              <a:t>Constraints</a:t>
            </a:r>
            <a:endParaRPr lang="en-IN" sz="3200" dirty="0"/>
          </a:p>
        </p:txBody>
      </p:sp>
      <p:sp>
        <p:nvSpPr>
          <p:cNvPr id="3" name="Content Placeholder 2"/>
          <p:cNvSpPr>
            <a:spLocks noGrp="1"/>
          </p:cNvSpPr>
          <p:nvPr>
            <p:ph idx="1"/>
          </p:nvPr>
        </p:nvSpPr>
        <p:spPr>
          <a:xfrm>
            <a:off x="467544" y="1484784"/>
            <a:ext cx="8229600" cy="5040560"/>
          </a:xfrm>
        </p:spPr>
        <p:txBody>
          <a:bodyPr>
            <a:normAutofit fontScale="92500"/>
          </a:bodyPr>
          <a:lstStyle/>
          <a:p>
            <a:r>
              <a:rPr lang="en-IN" sz="2400" b="1" dirty="0">
                <a:latin typeface="Times New Roman" pitchFamily="18" charset="0"/>
                <a:cs typeface="Times New Roman" pitchFamily="18" charset="0"/>
              </a:rPr>
              <a:t>Unique Key :</a:t>
            </a:r>
          </a:p>
          <a:p>
            <a:pPr marL="0" indent="0" algn="just">
              <a:buNone/>
            </a:pPr>
            <a:r>
              <a:rPr lang="en-US" sz="2400" dirty="0">
                <a:latin typeface="Times New Roman" pitchFamily="18" charset="0"/>
                <a:cs typeface="Times New Roman" pitchFamily="18" charset="0"/>
              </a:rPr>
              <a:t>A column or set of columns in a database system that uniquely identifies each tuple in the table is called a unique key.</a:t>
            </a:r>
          </a:p>
          <a:p>
            <a:pPr marL="0" indent="0" algn="just">
              <a:buNone/>
            </a:pPr>
            <a:r>
              <a:rPr lang="en-US" sz="2400" b="1" dirty="0">
                <a:latin typeface="Times New Roman" pitchFamily="18" charset="0"/>
                <a:cs typeface="Times New Roman" pitchFamily="18" charset="0"/>
              </a:rPr>
              <a:t>Example:</a:t>
            </a:r>
          </a:p>
          <a:p>
            <a:pPr marL="0" indent="0" algn="just">
              <a:buNone/>
            </a:pPr>
            <a:r>
              <a:rPr lang="en-US" sz="2400" dirty="0">
                <a:latin typeface="Times New Roman" pitchFamily="18" charset="0"/>
                <a:cs typeface="Times New Roman" pitchFamily="18" charset="0"/>
              </a:rPr>
              <a:t>Let's consider one example of books in the library. In the library, each book has a unique identification number called ISBN(International Standard Book Number). Just like how each book in the library has its own ISBN which ensures that no two books are similar. In the same way in the database of customers, everyone has their unique email id so from that we can get to know about that customer in detail. So these examples illustrate the concept of unique identification in a database system. So ISBN for the book and email ID for a customer here work as a unique key.</a:t>
            </a:r>
            <a:endParaRPr lang="en-IN" sz="2400" dirty="0">
              <a:latin typeface="Times New Roman" pitchFamily="18" charset="0"/>
              <a:cs typeface="Times New Roman" pitchFamily="18" charset="0"/>
            </a:endParaRPr>
          </a:p>
          <a:p>
            <a:pPr marL="0" indent="0">
              <a:buNone/>
            </a:pPr>
            <a:endParaRPr lang="en-IN" dirty="0"/>
          </a:p>
        </p:txBody>
      </p:sp>
    </p:spTree>
    <p:extLst>
      <p:ext uri="{BB962C8B-B14F-4D97-AF65-F5344CB8AC3E}">
        <p14:creationId xmlns:p14="http://schemas.microsoft.com/office/powerpoint/2010/main" val="179737321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548680"/>
            <a:ext cx="8229600" cy="1143000"/>
          </a:xfrm>
        </p:spPr>
        <p:txBody>
          <a:bodyPr>
            <a:normAutofit/>
          </a:bodyPr>
          <a:lstStyle/>
          <a:p>
            <a:r>
              <a:rPr lang="en-US" sz="3200" b="1" dirty="0">
                <a:latin typeface="Times New Roman" pitchFamily="18" charset="0"/>
                <a:cs typeface="Times New Roman" pitchFamily="18" charset="0"/>
              </a:rPr>
              <a:t>Difference Between Primary Key and Unique Key:</a:t>
            </a:r>
            <a:endParaRPr lang="en-IN" sz="3200"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23718798"/>
              </p:ext>
            </p:extLst>
          </p:nvPr>
        </p:nvGraphicFramePr>
        <p:xfrm>
          <a:off x="539552" y="1772816"/>
          <a:ext cx="8064896" cy="4914900"/>
        </p:xfrm>
        <a:graphic>
          <a:graphicData uri="http://schemas.openxmlformats.org/drawingml/2006/table">
            <a:tbl>
              <a:tblPr/>
              <a:tblGrid>
                <a:gridCol w="4032448">
                  <a:extLst>
                    <a:ext uri="{9D8B030D-6E8A-4147-A177-3AD203B41FA5}">
                      <a16:colId xmlns:a16="http://schemas.microsoft.com/office/drawing/2014/main" val="20000"/>
                    </a:ext>
                  </a:extLst>
                </a:gridCol>
                <a:gridCol w="4032448">
                  <a:extLst>
                    <a:ext uri="{9D8B030D-6E8A-4147-A177-3AD203B41FA5}">
                      <a16:colId xmlns:a16="http://schemas.microsoft.com/office/drawing/2014/main" val="20001"/>
                    </a:ext>
                  </a:extLst>
                </a:gridCol>
              </a:tblGrid>
              <a:tr h="0">
                <a:tc>
                  <a:txBody>
                    <a:bodyPr/>
                    <a:lstStyle/>
                    <a:p>
                      <a:pPr algn="ctr" rtl="0" fontAlgn="base"/>
                      <a:r>
                        <a:rPr lang="en-IN" sz="2000" b="1" dirty="0">
                          <a:effectLst/>
                          <a:latin typeface="Times New Roman" pitchFamily="18" charset="0"/>
                          <a:cs typeface="Times New Roman" pitchFamily="18" charset="0"/>
                        </a:rPr>
                        <a:t>Primary Key</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2000" b="1">
                          <a:effectLst/>
                          <a:latin typeface="Times New Roman" pitchFamily="18" charset="0"/>
                          <a:cs typeface="Times New Roman" pitchFamily="18" charset="0"/>
                        </a:rPr>
                        <a:t>Unique Key</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0000"/>
                  </a:ext>
                </a:extLst>
              </a:tr>
              <a:tr h="0">
                <a:tc>
                  <a:txBody>
                    <a:bodyPr/>
                    <a:lstStyle/>
                    <a:p>
                      <a:pPr algn="l" rtl="0" fontAlgn="base"/>
                      <a:r>
                        <a:rPr lang="en-US" sz="2000" b="0" dirty="0">
                          <a:effectLst/>
                          <a:latin typeface="Times New Roman" pitchFamily="18" charset="0"/>
                          <a:cs typeface="Times New Roman" pitchFamily="18" charset="0"/>
                        </a:rPr>
                        <a:t>A primary key cannot have a NULL value.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rtl="0" fontAlgn="base"/>
                      <a:r>
                        <a:rPr lang="en-US" sz="2000" b="0">
                          <a:effectLst/>
                          <a:latin typeface="Times New Roman" pitchFamily="18" charset="0"/>
                          <a:cs typeface="Times New Roman" pitchFamily="18" charset="0"/>
                        </a:rPr>
                        <a:t>Unique keys can have one NULL value.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algn="l" rtl="0" fontAlgn="base"/>
                      <a:r>
                        <a:rPr lang="en-US" sz="2000" b="0" dirty="0">
                          <a:effectLst/>
                          <a:latin typeface="Times New Roman" pitchFamily="18" charset="0"/>
                          <a:cs typeface="Times New Roman" pitchFamily="18" charset="0"/>
                        </a:rPr>
                        <a:t>The table can have only one primary key.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rtl="0" fontAlgn="base"/>
                      <a:r>
                        <a:rPr lang="en-US" sz="2000" b="0" dirty="0">
                          <a:effectLst/>
                          <a:latin typeface="Times New Roman" pitchFamily="18" charset="0"/>
                          <a:cs typeface="Times New Roman" pitchFamily="18" charset="0"/>
                        </a:rPr>
                        <a:t>The table can have more than one unique key.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algn="l" rtl="0" fontAlgn="base"/>
                      <a:r>
                        <a:rPr lang="en-US" sz="2000" b="0" dirty="0">
                          <a:effectLst/>
                          <a:latin typeface="Times New Roman" pitchFamily="18" charset="0"/>
                          <a:cs typeface="Times New Roman" pitchFamily="18" charset="0"/>
                        </a:rPr>
                        <a:t>Any change in primary key value may necessitate updates in related tables to maintain referential integrity.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rtl="0" fontAlgn="base"/>
                      <a:r>
                        <a:rPr lang="en-US" sz="2000" b="0" dirty="0">
                          <a:effectLst/>
                          <a:latin typeface="Times New Roman" pitchFamily="18" charset="0"/>
                          <a:cs typeface="Times New Roman" pitchFamily="18" charset="0"/>
                        </a:rPr>
                        <a:t>A unique key can be updated or deleted, it doesn't affect the table's integrity constraints.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algn="l" rtl="0" fontAlgn="base"/>
                      <a:r>
                        <a:rPr lang="en-US" sz="2000" b="0">
                          <a:effectLst/>
                          <a:latin typeface="Times New Roman" pitchFamily="18" charset="0"/>
                          <a:cs typeface="Times New Roman" pitchFamily="18" charset="0"/>
                        </a:rPr>
                        <a:t>In some databases, the primary key can generate a clustered index by default.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rtl="0" fontAlgn="base"/>
                      <a:r>
                        <a:rPr lang="en-US" sz="2000" b="0" dirty="0">
                          <a:effectLst/>
                          <a:latin typeface="Times New Roman" pitchFamily="18" charset="0"/>
                          <a:cs typeface="Times New Roman" pitchFamily="18" charset="0"/>
                        </a:rPr>
                        <a:t>In some databases</a:t>
                      </a:r>
                      <a:r>
                        <a:rPr kumimoji="0" lang="en-US" sz="2000" b="0" kern="1200" dirty="0">
                          <a:solidFill>
                            <a:schemeClr val="tx1"/>
                          </a:solidFill>
                          <a:effectLst/>
                          <a:latin typeface="Times New Roman" pitchFamily="18" charset="0"/>
                          <a:ea typeface="+mn-ea"/>
                          <a:cs typeface="Times New Roman" pitchFamily="18" charset="0"/>
                        </a:rPr>
                        <a:t>, a unique </a:t>
                      </a:r>
                      <a:r>
                        <a:rPr lang="en-US" sz="2000" b="0" dirty="0">
                          <a:effectLst/>
                          <a:latin typeface="Times New Roman" pitchFamily="18" charset="0"/>
                          <a:cs typeface="Times New Roman" pitchFamily="18" charset="0"/>
                        </a:rPr>
                        <a:t>key can generate a non-clustered index by default.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4068755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92696"/>
            <a:ext cx="8229600" cy="578328"/>
          </a:xfrm>
        </p:spPr>
        <p:txBody>
          <a:bodyPr>
            <a:normAutofit fontScale="90000"/>
          </a:bodyPr>
          <a:lstStyle/>
          <a:p>
            <a:r>
              <a:rPr lang="en-IN" sz="3200" b="1" dirty="0">
                <a:latin typeface="Times New Roman" pitchFamily="18" charset="0"/>
                <a:cs typeface="Times New Roman" pitchFamily="18" charset="0"/>
              </a:rPr>
              <a:t>NOT NULL Constraint</a:t>
            </a: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a:xfrm>
            <a:off x="467544" y="1412776"/>
            <a:ext cx="8229600" cy="4389120"/>
          </a:xfrm>
        </p:spPr>
        <p:txBody>
          <a:bodyPr>
            <a:normAutofit/>
          </a:bodyPr>
          <a:lstStyle/>
          <a:p>
            <a:pPr marL="0" indent="0" algn="just">
              <a:buNone/>
            </a:pPr>
            <a:r>
              <a:rPr lang="en-US" sz="2400" dirty="0">
                <a:latin typeface="Times New Roman" pitchFamily="18" charset="0"/>
                <a:cs typeface="Times New Roman" pitchFamily="18" charset="0"/>
              </a:rPr>
              <a:t>The </a:t>
            </a:r>
            <a:r>
              <a:rPr lang="en-US" sz="2400" b="1" dirty="0">
                <a:latin typeface="Times New Roman" pitchFamily="18" charset="0"/>
                <a:cs typeface="Times New Roman" pitchFamily="18" charset="0"/>
              </a:rPr>
              <a:t>NOT NULL constraint</a:t>
            </a:r>
            <a:r>
              <a:rPr lang="en-US" sz="2400" dirty="0">
                <a:latin typeface="Times New Roman" pitchFamily="18" charset="0"/>
                <a:cs typeface="Times New Roman" pitchFamily="18" charset="0"/>
              </a:rPr>
              <a:t> is used to enforce that a column in a table must always contain a value; it cannot contain a </a:t>
            </a:r>
            <a:r>
              <a:rPr lang="en-US" sz="2400" b="1" dirty="0">
                <a:latin typeface="Times New Roman" pitchFamily="18" charset="0"/>
                <a:cs typeface="Times New Roman" pitchFamily="18" charset="0"/>
              </a:rPr>
              <a:t>NULL value</a:t>
            </a:r>
            <a:r>
              <a:rPr lang="en-US" sz="2400" dirty="0">
                <a:latin typeface="Times New Roman" pitchFamily="18" charset="0"/>
                <a:cs typeface="Times New Roman" pitchFamily="18" charset="0"/>
              </a:rPr>
              <a:t>.</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58053598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578328"/>
          </a:xfrm>
        </p:spPr>
        <p:txBody>
          <a:bodyPr>
            <a:normAutofit fontScale="90000"/>
          </a:bodyPr>
          <a:lstStyle/>
          <a:p>
            <a:r>
              <a:rPr lang="en-US" sz="3200" b="1" dirty="0">
                <a:latin typeface="Times New Roman" pitchFamily="18" charset="0"/>
                <a:cs typeface="Times New Roman" pitchFamily="18" charset="0"/>
              </a:rPr>
              <a:t>Examples</a:t>
            </a:r>
            <a:endParaRPr lang="en-IN"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67544" y="1556792"/>
            <a:ext cx="8229600" cy="4389120"/>
          </a:xfrm>
        </p:spPr>
        <p:txBody>
          <a:bodyPr/>
          <a:lstStyle/>
          <a:p>
            <a:r>
              <a:rPr lang="en-US" dirty="0"/>
              <a:t>The entities in this ER model are Employee, Department and Project. These entities have the following attributes −</a:t>
            </a:r>
          </a:p>
          <a:p>
            <a:pPr marL="0" indent="0">
              <a:buNone/>
            </a:pPr>
            <a:r>
              <a:rPr lang="en-US" dirty="0"/>
              <a:t>	Employee - ENO(Primary Key) , Name, Salary</a:t>
            </a:r>
          </a:p>
          <a:p>
            <a:pPr marL="0" indent="0">
              <a:buNone/>
            </a:pPr>
            <a:r>
              <a:rPr lang="en-US" dirty="0"/>
              <a:t>	Department - DNO(Primary key), Name, 				   Locations</a:t>
            </a:r>
          </a:p>
          <a:p>
            <a:pPr marL="0" indent="0">
              <a:buNone/>
            </a:pPr>
            <a:r>
              <a:rPr lang="en-US" dirty="0"/>
              <a:t>	Project - PNO(Primary key), Name</a:t>
            </a:r>
          </a:p>
          <a:p>
            <a:endParaRPr lang="en-IN" dirty="0"/>
          </a:p>
        </p:txBody>
      </p:sp>
    </p:spTree>
    <p:extLst>
      <p:ext uri="{BB962C8B-B14F-4D97-AF65-F5344CB8AC3E}">
        <p14:creationId xmlns:p14="http://schemas.microsoft.com/office/powerpoint/2010/main" val="309863811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578328"/>
          </a:xfrm>
        </p:spPr>
        <p:txBody>
          <a:bodyPr>
            <a:normAutofit fontScale="90000"/>
          </a:bodyPr>
          <a:lstStyle/>
          <a:p>
            <a:r>
              <a:rPr lang="en-US" sz="3200" b="1" dirty="0">
                <a:latin typeface="Times New Roman" pitchFamily="18" charset="0"/>
                <a:cs typeface="Times New Roman" pitchFamily="18" charset="0"/>
              </a:rPr>
              <a:t>Examples</a:t>
            </a:r>
            <a:endParaRPr lang="en-IN" sz="32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772816"/>
            <a:ext cx="7002363" cy="4226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77246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457" y="836712"/>
            <a:ext cx="8229600" cy="506320"/>
          </a:xfrm>
        </p:spPr>
        <p:txBody>
          <a:bodyPr>
            <a:normAutofit fontScale="90000"/>
          </a:bodyPr>
          <a:lstStyle/>
          <a:p>
            <a:r>
              <a:rPr lang="en-US" sz="3200" b="1" dirty="0">
                <a:latin typeface="Times New Roman" pitchFamily="18" charset="0"/>
                <a:cs typeface="Times New Roman" pitchFamily="18" charset="0"/>
              </a:rPr>
              <a:t>Example:</a:t>
            </a:r>
            <a:endParaRPr lang="en-IN" sz="3200" b="1" dirty="0">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204864"/>
            <a:ext cx="8352928"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8200649"/>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4704"/>
            <a:ext cx="8229600" cy="578328"/>
          </a:xfrm>
        </p:spPr>
        <p:txBody>
          <a:bodyPr>
            <a:normAutofit fontScale="90000"/>
          </a:bodyPr>
          <a:lstStyle/>
          <a:p>
            <a:r>
              <a:rPr lang="en-US" sz="3200" b="1" dirty="0">
                <a:latin typeface="Times New Roman" pitchFamily="18" charset="0"/>
                <a:cs typeface="Times New Roman" pitchFamily="18" charset="0"/>
              </a:rPr>
              <a:t>Example</a:t>
            </a:r>
            <a:endParaRPr lang="en-IN" sz="3200" b="1"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204864"/>
            <a:ext cx="8162925" cy="163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52555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20283"/>
            <a:ext cx="8229600" cy="506320"/>
          </a:xfrm>
        </p:spPr>
        <p:txBody>
          <a:bodyPr>
            <a:normAutofit fontScale="90000"/>
          </a:bodyPr>
          <a:lstStyle/>
          <a:p>
            <a:r>
              <a:rPr lang="en-IN" sz="3200" b="1" dirty="0">
                <a:latin typeface="Times New Roman" panose="02020603050405020304" pitchFamily="18" charset="0"/>
                <a:cs typeface="Times New Roman" panose="02020603050405020304" pitchFamily="18" charset="0"/>
              </a:rPr>
              <a:t>Example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844824"/>
            <a:ext cx="8074329" cy="2664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8112770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92696"/>
            <a:ext cx="8229600" cy="578328"/>
          </a:xfrm>
        </p:spPr>
        <p:txBody>
          <a:bodyPr>
            <a:normAutofit fontScale="90000"/>
          </a:bodyPr>
          <a:lstStyle/>
          <a:p>
            <a:r>
              <a:rPr lang="en-US" sz="3200" b="1" dirty="0">
                <a:latin typeface="Times New Roman" pitchFamily="18" charset="0"/>
                <a:cs typeface="Times New Roman" pitchFamily="18" charset="0"/>
              </a:rPr>
              <a:t>Extended E- R Features:</a:t>
            </a:r>
            <a:endParaRPr lang="en-IN"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67544" y="1412776"/>
            <a:ext cx="8229600" cy="4389120"/>
          </a:xfrm>
        </p:spPr>
        <p:txBody>
          <a:bodyPr>
            <a:normAutofit/>
          </a:bodyPr>
          <a:lstStyle/>
          <a:p>
            <a:r>
              <a:rPr lang="en-IN" b="1" dirty="0"/>
              <a:t>Generalization</a:t>
            </a:r>
          </a:p>
          <a:p>
            <a:pPr marL="0" indent="0" algn="just">
              <a:buNone/>
            </a:pPr>
            <a:r>
              <a:rPr lang="en-US" sz="1900" dirty="0">
                <a:latin typeface="Times New Roman" pitchFamily="18" charset="0"/>
                <a:cs typeface="Times New Roman" pitchFamily="18" charset="0"/>
              </a:rPr>
              <a:t>Generalization is the process of extracting common properties from a set of entities and creating a generalized entity from it. It is a bottom-up approach in which two or more entities can be generalized to a higher-level entity if they have some attributes in common. For Example, STUDENT and FACULTY can be generalized to a higher-level entity called PERSON as shown in Figure 1. In this case, common attributes like P_NAME, and P_ADD become part of a higher entity (PERSON), and specialized attributes like S_FEE become part of a specialized entity (STUDENT). </a:t>
            </a:r>
            <a:endParaRPr lang="en-IN" sz="19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0806" y="4077072"/>
            <a:ext cx="3281560" cy="2584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298086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578328"/>
          </a:xfrm>
        </p:spPr>
        <p:txBody>
          <a:bodyPr>
            <a:normAutofit fontScale="90000"/>
          </a:bodyPr>
          <a:lstStyle/>
          <a:p>
            <a:r>
              <a:rPr lang="en-US" sz="3200" b="1" dirty="0">
                <a:latin typeface="Times New Roman" pitchFamily="18" charset="0"/>
                <a:cs typeface="Times New Roman" pitchFamily="18" charset="0"/>
              </a:rPr>
              <a:t>Extended E- R Features:</a:t>
            </a:r>
            <a:endParaRPr lang="en-IN" sz="3200" dirty="0"/>
          </a:p>
        </p:txBody>
      </p:sp>
      <p:sp>
        <p:nvSpPr>
          <p:cNvPr id="3" name="Content Placeholder 2"/>
          <p:cNvSpPr>
            <a:spLocks noGrp="1"/>
          </p:cNvSpPr>
          <p:nvPr>
            <p:ph idx="1"/>
          </p:nvPr>
        </p:nvSpPr>
        <p:spPr>
          <a:xfrm>
            <a:off x="467544" y="1484784"/>
            <a:ext cx="8229600" cy="4389120"/>
          </a:xfrm>
        </p:spPr>
        <p:txBody>
          <a:bodyPr>
            <a:normAutofit/>
          </a:bodyPr>
          <a:lstStyle/>
          <a:p>
            <a:r>
              <a:rPr lang="en-IN" b="1" dirty="0"/>
              <a:t>Specialization</a:t>
            </a:r>
          </a:p>
          <a:p>
            <a:pPr marL="0" indent="0" algn="just">
              <a:buNone/>
            </a:pPr>
            <a:r>
              <a:rPr lang="en-US" sz="2000" dirty="0">
                <a:latin typeface="Times New Roman" pitchFamily="18" charset="0"/>
                <a:cs typeface="Times New Roman" pitchFamily="18" charset="0"/>
              </a:rPr>
              <a:t>In specialization, an entity is divided into sub-entities based on its characteristics. It is a top-down approach where the higher-level entity is specialized into two or more lower-level </a:t>
            </a:r>
            <a:r>
              <a:rPr lang="en-US" sz="2000" u="sng" dirty="0">
                <a:latin typeface="Times New Roman" pitchFamily="18" charset="0"/>
                <a:cs typeface="Times New Roman" pitchFamily="18" charset="0"/>
                <a:hlinkClick r:id="rId2"/>
              </a:rPr>
              <a:t>entities</a:t>
            </a:r>
            <a:r>
              <a:rPr lang="en-US" sz="2000" dirty="0">
                <a:latin typeface="Times New Roman" pitchFamily="18" charset="0"/>
                <a:cs typeface="Times New Roman" pitchFamily="18" charset="0"/>
              </a:rPr>
              <a:t>. For Example, an EMPLOYEE entity in an Employee management system can be specialized into DEVELOPER, TESTER, etc. as shown in Figure 2. In this case, common attributes like E_NAME, E_SAL, etc. become part of a higher entity (EMPLOYEE), and specialized attributes like TES_TYPE become part of a specialized entity (TESTER).</a:t>
            </a:r>
            <a:r>
              <a:rPr lang="en-US" dirty="0"/>
              <a:t> </a:t>
            </a:r>
            <a:endParaRPr lang="en-IN" b="1" dirty="0"/>
          </a:p>
          <a:p>
            <a:pPr marL="0" indent="0">
              <a:buNone/>
            </a:pPr>
            <a:endParaRPr lang="en-IN"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920" y="4214216"/>
            <a:ext cx="3128392" cy="2597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781896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20688"/>
            <a:ext cx="8229600" cy="506320"/>
          </a:xfrm>
        </p:spPr>
        <p:txBody>
          <a:bodyPr>
            <a:normAutofit fontScale="90000"/>
          </a:bodyPr>
          <a:lstStyle/>
          <a:p>
            <a:r>
              <a:rPr lang="en-US" sz="3200" b="1" dirty="0">
                <a:latin typeface="Times New Roman" pitchFamily="18" charset="0"/>
                <a:cs typeface="Times New Roman" pitchFamily="18" charset="0"/>
              </a:rPr>
              <a:t>Extended E- R Features:</a:t>
            </a:r>
            <a:endParaRPr lang="en-IN" sz="3200" dirty="0"/>
          </a:p>
        </p:txBody>
      </p:sp>
      <p:sp>
        <p:nvSpPr>
          <p:cNvPr id="3" name="Content Placeholder 2"/>
          <p:cNvSpPr>
            <a:spLocks noGrp="1"/>
          </p:cNvSpPr>
          <p:nvPr>
            <p:ph idx="1"/>
          </p:nvPr>
        </p:nvSpPr>
        <p:spPr>
          <a:xfrm>
            <a:off x="467544" y="1124744"/>
            <a:ext cx="8229600" cy="4389120"/>
          </a:xfrm>
        </p:spPr>
        <p:txBody>
          <a:bodyPr/>
          <a:lstStyle/>
          <a:p>
            <a:r>
              <a:rPr lang="en-IN" b="1" dirty="0"/>
              <a:t>Aggregation</a:t>
            </a:r>
          </a:p>
          <a:p>
            <a:pPr marL="0" indent="0" algn="just">
              <a:buNone/>
            </a:pPr>
            <a:r>
              <a:rPr lang="en-US" sz="2000" dirty="0">
                <a:latin typeface="Times New Roman" pitchFamily="18" charset="0"/>
                <a:cs typeface="Times New Roman" pitchFamily="18" charset="0"/>
              </a:rPr>
              <a:t>An ER diagram is not capable of representing the relationship between an entity and a relationship which may be required in some scenarios. In those cases, a relationship with its corresponding entities is aggregated into a higher-level entity. Aggregation is an abstraction through which we can represent relationships as higher-level entity sets.</a:t>
            </a:r>
          </a:p>
          <a:p>
            <a:pPr marL="0" indent="0" algn="just">
              <a:buNone/>
            </a:pPr>
            <a:r>
              <a:rPr lang="en-US" sz="1800" dirty="0">
                <a:latin typeface="Times New Roman" pitchFamily="18" charset="0"/>
                <a:cs typeface="Times New Roman" pitchFamily="18" charset="0"/>
              </a:rPr>
              <a:t>For Example, an Employee working on a project may require some machinery. So, REQUIRE relationship is needed between the relationship WORKS_FOR and entity MACHINERY. Using aggregation, WORKS_FOR relationship with its entities EMPLOYEE and PROJECT is aggregated into a single entity and relationship REQUIRE is created between the aggregated entity and MACHINERY.</a:t>
            </a:r>
            <a:endParaRPr lang="en-IN" sz="1800"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3578" y="4653136"/>
            <a:ext cx="2878397" cy="2204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244207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3188</TotalTime>
  <Words>1975</Words>
  <Application>Microsoft Office PowerPoint</Application>
  <PresentationFormat>On-screen Show (4:3)</PresentationFormat>
  <Paragraphs>132</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Calisto MT</vt:lpstr>
      <vt:lpstr>Times New Roman</vt:lpstr>
      <vt:lpstr>Wingdings 2</vt:lpstr>
      <vt:lpstr>Slate</vt:lpstr>
      <vt:lpstr>Entity-Relationship Model </vt:lpstr>
      <vt:lpstr>Introduction to Data Models </vt:lpstr>
      <vt:lpstr>Types of Data Models</vt:lpstr>
      <vt:lpstr>Types of Data Models</vt:lpstr>
      <vt:lpstr>Types of Data Models</vt:lpstr>
      <vt:lpstr>Types of Data Models</vt:lpstr>
      <vt:lpstr>Basic Concepts (entities, attributes, entity sets, relations, relationship sets)</vt:lpstr>
      <vt:lpstr>Basic Concepts (entities, attributes, entity sets, relations, relationship sets)</vt:lpstr>
      <vt:lpstr>Basic Concepts (entities, attributes, entity sets, relations, relationship sets)</vt:lpstr>
      <vt:lpstr>Basic Concepts (entities, attributes, entity sets, relations, relationship sets)</vt:lpstr>
      <vt:lpstr>Basic Concepts (entities, attributes, entity sets, relations, relationship sets)</vt:lpstr>
      <vt:lpstr>Basic Concepts (entities, attributes, entity sets, relations, relationship sets)</vt:lpstr>
      <vt:lpstr>Basic Concepts (entities, attributes, entity sets, relations, relationship sets)</vt:lpstr>
      <vt:lpstr>Basic Concepts (entities, attributes, entity sets, relations, relationship sets)</vt:lpstr>
      <vt:lpstr>Basic Concepts (entities, attributes, entity sets, relations, relationship sets)</vt:lpstr>
      <vt:lpstr>Basic Concepts (entities, attributes, entity sets, relations, relationship sets)</vt:lpstr>
      <vt:lpstr>Basic Concepts (entities, attributes, entity sets, relations, relationship sets)</vt:lpstr>
      <vt:lpstr>Basic Concepts (entities, attributes, entity sets, relations, relationship sets)</vt:lpstr>
      <vt:lpstr>Basic Concepts (entities, attributes, entity sets, relations, relationship sets)</vt:lpstr>
      <vt:lpstr>Basic Concepts (entities, attributes, entity sets, relations, relationship sets)</vt:lpstr>
      <vt:lpstr>Example</vt:lpstr>
      <vt:lpstr>Example</vt:lpstr>
      <vt:lpstr>Practice Set</vt:lpstr>
      <vt:lpstr>Constraints</vt:lpstr>
      <vt:lpstr>Constraints</vt:lpstr>
      <vt:lpstr>Constraints</vt:lpstr>
      <vt:lpstr>Difference Between Primary Key and Unique Key:</vt:lpstr>
      <vt:lpstr>NOT NULL Constraint</vt:lpstr>
      <vt:lpstr>Examples</vt:lpstr>
      <vt:lpstr>Examples</vt:lpstr>
      <vt:lpstr>Example:</vt:lpstr>
      <vt:lpstr>Example</vt:lpstr>
      <vt:lpstr>Example</vt:lpstr>
      <vt:lpstr>Extended E- R Features:</vt:lpstr>
      <vt:lpstr>Extended E- R Features:</vt:lpstr>
      <vt:lpstr>Extended E- R Features: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Entity-Relationship Model </dc:title>
  <dc:creator>VIRGO-24</dc:creator>
  <cp:lastModifiedBy>Paras Dangi</cp:lastModifiedBy>
  <cp:revision>59</cp:revision>
  <dcterms:created xsi:type="dcterms:W3CDTF">2025-06-12T03:39:59Z</dcterms:created>
  <dcterms:modified xsi:type="dcterms:W3CDTF">2025-08-03T09:48:17Z</dcterms:modified>
</cp:coreProperties>
</file>