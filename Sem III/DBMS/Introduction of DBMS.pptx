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C4AAB4-EC71-4E11-ADAE-4D0912582BD8}"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3573665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C4AAB4-EC71-4E11-ADAE-4D0912582BD8}"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3968268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C4AAB4-EC71-4E11-ADAE-4D0912582BD8}"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2783758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C4AAB4-EC71-4E11-ADAE-4D0912582BD8}"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2532320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C4AAB4-EC71-4E11-ADAE-4D0912582BD8}" type="datetimeFigureOut">
              <a:rPr lang="en-IN" smtClean="0"/>
              <a:t>08-09-2025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4207067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C4AAB4-EC71-4E11-ADAE-4D0912582BD8}" type="datetimeFigureOut">
              <a:rPr lang="en-IN" smtClean="0"/>
              <a:t>08-09-2025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4274752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C4AAB4-EC71-4E11-ADAE-4D0912582BD8}" type="datetimeFigureOut">
              <a:rPr lang="en-IN" smtClean="0"/>
              <a:t>08-09-2025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414825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C4AAB4-EC71-4E11-ADAE-4D0912582BD8}"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2989121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C4AAB4-EC71-4E11-ADAE-4D0912582BD8}"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66931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C4AAB4-EC71-4E11-ADAE-4D0912582BD8}"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7809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C4AAB4-EC71-4E11-ADAE-4D0912582BD8}"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1258465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C4AAB4-EC71-4E11-ADAE-4D0912582BD8}"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EB33A8-7176-4335-ADD1-6C332ED906E2}" type="slidenum">
              <a:rPr lang="en-IN" smtClean="0"/>
              <a:t>‹#›</a:t>
            </a:fld>
            <a:endParaRPr lang="en-IN"/>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45821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C4AAB4-EC71-4E11-ADAE-4D0912582BD8}"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32467432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6C4AAB4-EC71-4E11-ADAE-4D0912582BD8}" type="datetimeFigureOut">
              <a:rPr lang="en-IN" smtClean="0"/>
              <a:t>08-09-2025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2864923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6C4AAB4-EC71-4E11-ADAE-4D0912582BD8}" type="datetimeFigureOut">
              <a:rPr lang="en-IN" smtClean="0"/>
              <a:t>08-09-2025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31092027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C4AAB4-EC71-4E11-ADAE-4D0912582BD8}"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4187878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C4AAB4-EC71-4E11-ADAE-4D0912582BD8}"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EB33A8-7176-4335-ADD1-6C332ED906E2}" type="slidenum">
              <a:rPr lang="en-IN" smtClean="0"/>
              <a:t>‹#›</a:t>
            </a:fld>
            <a:endParaRPr lang="en-IN"/>
          </a:p>
        </p:txBody>
      </p:sp>
    </p:spTree>
    <p:extLst>
      <p:ext uri="{BB962C8B-B14F-4D97-AF65-F5344CB8AC3E}">
        <p14:creationId xmlns:p14="http://schemas.microsoft.com/office/powerpoint/2010/main" val="2691111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6C4AAB4-EC71-4E11-ADAE-4D0912582BD8}" type="datetimeFigureOut">
              <a:rPr lang="en-IN" smtClean="0"/>
              <a:t>08-09-2025</a:t>
            </a:fld>
            <a:endParaRPr lang="en-IN"/>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EEB33A8-7176-4335-ADD1-6C332ED906E2}" type="slidenum">
              <a:rPr lang="en-IN" smtClean="0"/>
              <a:t>‹#›</a:t>
            </a:fld>
            <a:endParaRPr lang="en-IN"/>
          </a:p>
        </p:txBody>
      </p:sp>
    </p:spTree>
    <p:extLst>
      <p:ext uri="{BB962C8B-B14F-4D97-AF65-F5344CB8AC3E}">
        <p14:creationId xmlns:p14="http://schemas.microsoft.com/office/powerpoint/2010/main" val="105546118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2492896"/>
            <a:ext cx="7851648" cy="1828800"/>
          </a:xfrm>
        </p:spPr>
        <p:txBody>
          <a:bodyPr/>
          <a:lstStyle/>
          <a:p>
            <a:pPr algn="ctr"/>
            <a:r>
              <a:rPr lang="en-IN" dirty="0"/>
              <a:t>Introduction of DBMS</a:t>
            </a:r>
          </a:p>
        </p:txBody>
      </p:sp>
    </p:spTree>
    <p:extLst>
      <p:ext uri="{BB962C8B-B14F-4D97-AF65-F5344CB8AC3E}">
        <p14:creationId xmlns:p14="http://schemas.microsoft.com/office/powerpoint/2010/main" val="230464930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IN" sz="3200" b="1" dirty="0">
                <a:latin typeface="Times New Roman" pitchFamily="18" charset="0"/>
                <a:cs typeface="Times New Roman" pitchFamily="18" charset="0"/>
              </a:rPr>
              <a:t>Definition of file:</a:t>
            </a:r>
          </a:p>
        </p:txBody>
      </p:sp>
      <p:sp>
        <p:nvSpPr>
          <p:cNvPr id="3" name="Content Placeholder 2"/>
          <p:cNvSpPr>
            <a:spLocks noGrp="1"/>
          </p:cNvSpPr>
          <p:nvPr>
            <p:ph idx="1"/>
          </p:nvPr>
        </p:nvSpPr>
        <p:spPr>
          <a:xfrm>
            <a:off x="467544" y="1412776"/>
            <a:ext cx="8229600" cy="5328592"/>
          </a:xfrm>
        </p:spPr>
        <p:txBody>
          <a:bodyPr>
            <a:normAutofit/>
          </a:bodyPr>
          <a:lstStyle/>
          <a:p>
            <a:pPr algn="just"/>
            <a:r>
              <a:rPr lang="en-US" sz="2400" dirty="0">
                <a:latin typeface="Times New Roman" pitchFamily="18" charset="0"/>
                <a:cs typeface="Times New Roman" pitchFamily="18" charset="0"/>
              </a:rPr>
              <a:t>A file in a Database Management System (DBMS) is a collection of related records stored on a secondary storage device (like a hard disk), which is used by the DBMS to store and manage data permanently.</a:t>
            </a:r>
          </a:p>
          <a:p>
            <a:pPr marL="0" indent="0" algn="just">
              <a:buNone/>
            </a:pPr>
            <a:r>
              <a:rPr lang="en-US" b="1" dirty="0">
                <a:latin typeface="Times New Roman" pitchFamily="18" charset="0"/>
                <a:cs typeface="Times New Roman" pitchFamily="18" charset="0"/>
              </a:rPr>
              <a:t>Basic File Operations:</a:t>
            </a:r>
          </a:p>
          <a:p>
            <a:pPr marL="0" indent="0">
              <a:buNone/>
            </a:pPr>
            <a:r>
              <a:rPr lang="en-US" b="1" dirty="0">
                <a:latin typeface="Times New Roman" pitchFamily="18" charset="0"/>
                <a:cs typeface="Times New Roman" pitchFamily="18" charset="0"/>
              </a:rPr>
              <a:t>Open:</a:t>
            </a:r>
            <a:r>
              <a:rPr lang="en-US" dirty="0">
                <a:latin typeface="Times New Roman" pitchFamily="18" charset="0"/>
                <a:cs typeface="Times New Roman" pitchFamily="18" charset="0"/>
              </a:rPr>
              <a:t> Opens a file in either read or write mode.</a:t>
            </a:r>
          </a:p>
          <a:p>
            <a:pPr marL="0" indent="0">
              <a:buNone/>
            </a:pPr>
            <a:r>
              <a:rPr lang="en-US" b="1" dirty="0">
                <a:latin typeface="Times New Roman" pitchFamily="18" charset="0"/>
                <a:cs typeface="Times New Roman" pitchFamily="18" charset="0"/>
              </a:rPr>
              <a:t>Create:</a:t>
            </a:r>
            <a:r>
              <a:rPr lang="en-US" dirty="0">
                <a:latin typeface="Times New Roman" pitchFamily="18" charset="0"/>
                <a:cs typeface="Times New Roman" pitchFamily="18" charset="0"/>
              </a:rPr>
              <a:t> Creates a new database file.</a:t>
            </a:r>
          </a:p>
          <a:p>
            <a:pPr marL="0" indent="0">
              <a:buNone/>
            </a:pPr>
            <a:r>
              <a:rPr lang="en-US" b="1" dirty="0">
                <a:latin typeface="Times New Roman" pitchFamily="18" charset="0"/>
                <a:cs typeface="Times New Roman" pitchFamily="18" charset="0"/>
              </a:rPr>
              <a:t>Delete:</a:t>
            </a:r>
            <a:r>
              <a:rPr lang="en-US" dirty="0">
                <a:latin typeface="Times New Roman" pitchFamily="18" charset="0"/>
                <a:cs typeface="Times New Roman" pitchFamily="18" charset="0"/>
              </a:rPr>
              <a:t> Deletes an existing database file.</a:t>
            </a:r>
          </a:p>
          <a:p>
            <a:pPr marL="0" indent="0">
              <a:buNone/>
            </a:pPr>
            <a:r>
              <a:rPr lang="en-US" b="1" dirty="0">
                <a:latin typeface="Times New Roman" pitchFamily="18" charset="0"/>
                <a:cs typeface="Times New Roman" pitchFamily="18" charset="0"/>
              </a:rPr>
              <a:t>Read:</a:t>
            </a:r>
            <a:r>
              <a:rPr lang="en-US" dirty="0">
                <a:latin typeface="Times New Roman" pitchFamily="18" charset="0"/>
                <a:cs typeface="Times New Roman" pitchFamily="18" charset="0"/>
              </a:rPr>
              <a:t> Retrieves data from a file.</a:t>
            </a:r>
          </a:p>
          <a:p>
            <a:pPr marL="0" indent="0">
              <a:buNone/>
            </a:pPr>
            <a:r>
              <a:rPr lang="en-US" b="1" dirty="0">
                <a:latin typeface="Times New Roman" pitchFamily="18" charset="0"/>
                <a:cs typeface="Times New Roman" pitchFamily="18" charset="0"/>
              </a:rPr>
              <a:t>Write:</a:t>
            </a:r>
            <a:r>
              <a:rPr lang="en-US" dirty="0">
                <a:latin typeface="Times New Roman" pitchFamily="18" charset="0"/>
                <a:cs typeface="Times New Roman" pitchFamily="18" charset="0"/>
              </a:rPr>
              <a:t> Inserts or updates data in a file.</a:t>
            </a:r>
          </a:p>
          <a:p>
            <a:pPr marL="0" indent="0">
              <a:buNone/>
            </a:pPr>
            <a:r>
              <a:rPr lang="en-US" b="1" dirty="0">
                <a:latin typeface="Times New Roman" pitchFamily="18" charset="0"/>
                <a:cs typeface="Times New Roman" pitchFamily="18" charset="0"/>
              </a:rPr>
              <a:t>Update:</a:t>
            </a:r>
            <a:r>
              <a:rPr lang="en-US" dirty="0">
                <a:latin typeface="Times New Roman" pitchFamily="18" charset="0"/>
                <a:cs typeface="Times New Roman" pitchFamily="18" charset="0"/>
              </a:rPr>
              <a:t> Modifies existing data within a file.</a:t>
            </a:r>
          </a:p>
          <a:p>
            <a:pPr marL="0" indent="0">
              <a:buNone/>
            </a:pPr>
            <a:r>
              <a:rPr lang="en-US" dirty="0">
                <a:latin typeface="Times New Roman" pitchFamily="18" charset="0"/>
                <a:cs typeface="Times New Roman" pitchFamily="18" charset="0"/>
              </a:rPr>
              <a:t> </a:t>
            </a:r>
          </a:p>
          <a:p>
            <a:pPr marL="0" indent="0" algn="just">
              <a:buNone/>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36325378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US" sz="3200" b="1" dirty="0">
                <a:latin typeface="Times New Roman" pitchFamily="18" charset="0"/>
                <a:cs typeface="Times New Roman" pitchFamily="18" charset="0"/>
              </a:rPr>
              <a:t>Types of file (Logical &amp; Physical) </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67544" y="1412776"/>
            <a:ext cx="8229600" cy="5040560"/>
          </a:xfrm>
        </p:spPr>
        <p:txBody>
          <a:bodyPr>
            <a:normAutofit fontScale="92500" lnSpcReduction="20000"/>
          </a:bodyPr>
          <a:lstStyle/>
          <a:p>
            <a:pPr marL="0" indent="0" algn="just">
              <a:buNone/>
            </a:pPr>
            <a:r>
              <a:rPr lang="en-US" sz="2400" b="1" dirty="0">
                <a:latin typeface="Times New Roman" pitchFamily="18" charset="0"/>
                <a:cs typeface="Times New Roman" pitchFamily="18" charset="0"/>
              </a:rPr>
              <a:t>Logical File:</a:t>
            </a:r>
          </a:p>
          <a:p>
            <a:pPr marL="0" indent="0" algn="just">
              <a:buNone/>
            </a:pPr>
            <a:r>
              <a:rPr lang="en-US" sz="2400" dirty="0">
                <a:latin typeface="Times New Roman" pitchFamily="18" charset="0"/>
                <a:cs typeface="Times New Roman" pitchFamily="18" charset="0"/>
              </a:rPr>
              <a:t>	Data is organized for users or applications, independent of how it's stored physically on disk.</a:t>
            </a:r>
          </a:p>
          <a:p>
            <a:pPr marL="0" indent="0" algn="just">
              <a:buNone/>
            </a:pPr>
            <a:r>
              <a:rPr lang="en-IN" sz="2400" b="1" dirty="0">
                <a:latin typeface="Times New Roman" pitchFamily="18" charset="0"/>
                <a:cs typeface="Times New Roman" pitchFamily="18" charset="0"/>
              </a:rPr>
              <a:t>Examples of Logical Files:</a:t>
            </a:r>
          </a:p>
          <a:p>
            <a:pPr marL="0" indent="0" algn="just">
              <a:buNone/>
            </a:pPr>
            <a:r>
              <a:rPr lang="en-IN" sz="2400" dirty="0">
                <a:latin typeface="Times New Roman" pitchFamily="18" charset="0"/>
                <a:cs typeface="Times New Roman" pitchFamily="18" charset="0"/>
              </a:rPr>
              <a:t>Text Files: </a:t>
            </a:r>
            <a:r>
              <a:rPr lang="en-US" sz="2400" dirty="0">
                <a:latin typeface="Times New Roman" pitchFamily="18" charset="0"/>
                <a:cs typeface="Times New Roman" pitchFamily="18" charset="0"/>
              </a:rPr>
              <a:t>Contain readable characters (letters, numbers)</a:t>
            </a:r>
          </a:p>
          <a:p>
            <a:pPr marL="0" indent="0" algn="just">
              <a:buNone/>
            </a:pPr>
            <a:r>
              <a:rPr lang="en-US" sz="2400" dirty="0">
                <a:latin typeface="Times New Roman" pitchFamily="18" charset="0"/>
                <a:cs typeface="Times New Roman" pitchFamily="18" charset="0"/>
              </a:rPr>
              <a:t>Example: </a:t>
            </a:r>
            <a:r>
              <a:rPr lang="en-IN" sz="2400" dirty="0">
                <a:latin typeface="Times New Roman" pitchFamily="18" charset="0"/>
                <a:cs typeface="Times New Roman" pitchFamily="18" charset="0"/>
              </a:rPr>
              <a:t>.txt, .</a:t>
            </a:r>
            <a:r>
              <a:rPr lang="en-IN" sz="2400" dirty="0" err="1">
                <a:latin typeface="Times New Roman" pitchFamily="18" charset="0"/>
                <a:cs typeface="Times New Roman" pitchFamily="18" charset="0"/>
              </a:rPr>
              <a:t>csv</a:t>
            </a:r>
            <a:r>
              <a:rPr lang="en-IN" sz="2400" dirty="0">
                <a:latin typeface="Times New Roman" pitchFamily="18" charset="0"/>
                <a:cs typeface="Times New Roman" pitchFamily="18" charset="0"/>
              </a:rPr>
              <a:t>, .log</a:t>
            </a:r>
          </a:p>
          <a:p>
            <a:pPr marL="0" indent="0" algn="just">
              <a:buNone/>
            </a:pPr>
            <a:r>
              <a:rPr lang="en-IN" sz="2400" dirty="0">
                <a:latin typeface="Times New Roman" pitchFamily="18" charset="0"/>
                <a:cs typeface="Times New Roman" pitchFamily="18" charset="0"/>
              </a:rPr>
              <a:t>Binary Files: </a:t>
            </a:r>
            <a:r>
              <a:rPr lang="en-US" sz="2400" dirty="0">
                <a:latin typeface="Times New Roman" pitchFamily="18" charset="0"/>
                <a:cs typeface="Times New Roman" pitchFamily="18" charset="0"/>
              </a:rPr>
              <a:t>Contain data in binary form (not human-readable) </a:t>
            </a:r>
          </a:p>
          <a:p>
            <a:pPr marL="0" indent="0" algn="just">
              <a:buNone/>
            </a:pPr>
            <a:r>
              <a:rPr lang="en-US" sz="2400" dirty="0">
                <a:latin typeface="Times New Roman" pitchFamily="18" charset="0"/>
                <a:cs typeface="Times New Roman" pitchFamily="18" charset="0"/>
              </a:rPr>
              <a:t>Example: </a:t>
            </a:r>
            <a:r>
              <a:rPr lang="en-IN" sz="2400" dirty="0">
                <a:latin typeface="Times New Roman" pitchFamily="18" charset="0"/>
                <a:cs typeface="Times New Roman" pitchFamily="18" charset="0"/>
              </a:rPr>
              <a:t>.exe, .jpg, .</a:t>
            </a:r>
            <a:r>
              <a:rPr lang="en-IN" sz="2400" dirty="0" err="1">
                <a:latin typeface="Times New Roman" pitchFamily="18" charset="0"/>
                <a:cs typeface="Times New Roman" pitchFamily="18" charset="0"/>
              </a:rPr>
              <a:t>dat</a:t>
            </a:r>
            <a:endParaRPr lang="en-IN" sz="2400" dirty="0">
              <a:latin typeface="Times New Roman" pitchFamily="18" charset="0"/>
              <a:cs typeface="Times New Roman" pitchFamily="18" charset="0"/>
            </a:endParaRPr>
          </a:p>
          <a:p>
            <a:pPr marL="0" indent="0" algn="just">
              <a:buNone/>
            </a:pPr>
            <a:r>
              <a:rPr lang="en-IN" sz="2400" dirty="0">
                <a:latin typeface="Times New Roman" pitchFamily="18" charset="0"/>
                <a:cs typeface="Times New Roman" pitchFamily="18" charset="0"/>
              </a:rPr>
              <a:t>Database Files: </a:t>
            </a:r>
            <a:r>
              <a:rPr lang="en-US" sz="2400" dirty="0">
                <a:latin typeface="Times New Roman" pitchFamily="18" charset="0"/>
                <a:cs typeface="Times New Roman" pitchFamily="18" charset="0"/>
              </a:rPr>
              <a:t>Store structured data used by DBMS</a:t>
            </a:r>
          </a:p>
          <a:p>
            <a:pPr marL="0" indent="0" algn="just">
              <a:buNone/>
            </a:pPr>
            <a:r>
              <a:rPr lang="en-US" sz="2400" dirty="0">
                <a:latin typeface="Times New Roman" pitchFamily="18" charset="0"/>
                <a:cs typeface="Times New Roman" pitchFamily="18" charset="0"/>
              </a:rPr>
              <a:t>Example: </a:t>
            </a:r>
            <a:r>
              <a:rPr lang="en-IN" sz="2400" dirty="0">
                <a:latin typeface="Times New Roman" pitchFamily="18" charset="0"/>
                <a:cs typeface="Times New Roman" pitchFamily="18" charset="0"/>
              </a:rPr>
              <a:t>.</a:t>
            </a:r>
            <a:r>
              <a:rPr lang="en-IN" sz="2400" dirty="0" err="1">
                <a:latin typeface="Times New Roman" pitchFamily="18" charset="0"/>
                <a:cs typeface="Times New Roman" pitchFamily="18" charset="0"/>
              </a:rPr>
              <a:t>db</a:t>
            </a: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mdb</a:t>
            </a: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sqlite</a:t>
            </a:r>
            <a:endParaRPr lang="en-IN" sz="2400" dirty="0">
              <a:latin typeface="Times New Roman" pitchFamily="18" charset="0"/>
              <a:cs typeface="Times New Roman" pitchFamily="18" charset="0"/>
            </a:endParaRPr>
          </a:p>
          <a:p>
            <a:pPr marL="0" indent="0" algn="just">
              <a:buNone/>
            </a:pPr>
            <a:r>
              <a:rPr lang="en-IN" sz="2400" dirty="0">
                <a:latin typeface="Times New Roman" pitchFamily="18" charset="0"/>
                <a:cs typeface="Times New Roman" pitchFamily="18" charset="0"/>
              </a:rPr>
              <a:t>Multimedia Files: </a:t>
            </a:r>
            <a:r>
              <a:rPr lang="en-US" sz="2400" dirty="0">
                <a:latin typeface="Times New Roman" pitchFamily="18" charset="0"/>
                <a:cs typeface="Times New Roman" pitchFamily="18" charset="0"/>
              </a:rPr>
              <a:t>Store audio, video, or images</a:t>
            </a:r>
          </a:p>
          <a:p>
            <a:pPr marL="0" indent="0" algn="just">
              <a:buNone/>
            </a:pPr>
            <a:r>
              <a:rPr lang="en-US" sz="2400" dirty="0">
                <a:latin typeface="Times New Roman" pitchFamily="18" charset="0"/>
                <a:cs typeface="Times New Roman" pitchFamily="18" charset="0"/>
              </a:rPr>
              <a:t>Example: </a:t>
            </a:r>
            <a:r>
              <a:rPr lang="en-IN" sz="2400" dirty="0">
                <a:latin typeface="Times New Roman" pitchFamily="18" charset="0"/>
                <a:cs typeface="Times New Roman" pitchFamily="18" charset="0"/>
              </a:rPr>
              <a:t>.mp3, .mp4, .</a:t>
            </a:r>
            <a:r>
              <a:rPr lang="en-IN" sz="2400" dirty="0" err="1">
                <a:latin typeface="Times New Roman" pitchFamily="18" charset="0"/>
                <a:cs typeface="Times New Roman" pitchFamily="18" charset="0"/>
              </a:rPr>
              <a:t>png</a:t>
            </a:r>
            <a:endParaRPr lang="en-IN" sz="2400" dirty="0">
              <a:latin typeface="Times New Roman" pitchFamily="18" charset="0"/>
              <a:cs typeface="Times New Roman" pitchFamily="18" charset="0"/>
            </a:endParaRPr>
          </a:p>
          <a:p>
            <a:pPr marL="0" indent="0" algn="just">
              <a:buNone/>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40924498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US" sz="3200" b="1" dirty="0">
                <a:latin typeface="Times New Roman" pitchFamily="18" charset="0"/>
                <a:cs typeface="Times New Roman" pitchFamily="18" charset="0"/>
              </a:rPr>
              <a:t>Types of file (Logical &amp; Physical) </a:t>
            </a:r>
            <a:endParaRPr lang="en-IN" sz="3200" dirty="0"/>
          </a:p>
        </p:txBody>
      </p:sp>
      <p:sp>
        <p:nvSpPr>
          <p:cNvPr id="3" name="Content Placeholder 2"/>
          <p:cNvSpPr>
            <a:spLocks noGrp="1"/>
          </p:cNvSpPr>
          <p:nvPr>
            <p:ph idx="1"/>
          </p:nvPr>
        </p:nvSpPr>
        <p:spPr>
          <a:xfrm>
            <a:off x="467544" y="1412776"/>
            <a:ext cx="8229600" cy="5112568"/>
          </a:xfrm>
        </p:spPr>
        <p:txBody>
          <a:bodyPr>
            <a:normAutofit/>
          </a:bodyPr>
          <a:lstStyle/>
          <a:p>
            <a:pPr marL="0" indent="0">
              <a:buNone/>
            </a:pPr>
            <a:r>
              <a:rPr lang="en-IN" sz="2400" b="1" dirty="0">
                <a:latin typeface="Times New Roman" pitchFamily="18" charset="0"/>
                <a:cs typeface="Times New Roman" pitchFamily="18" charset="0"/>
              </a:rPr>
              <a:t>Physical File:</a:t>
            </a:r>
          </a:p>
          <a:p>
            <a:pPr marL="0" indent="0">
              <a:buNone/>
            </a:pPr>
            <a:r>
              <a:rPr lang="en-US" sz="2400" dirty="0">
                <a:latin typeface="Times New Roman" pitchFamily="18" charset="0"/>
                <a:cs typeface="Times New Roman" pitchFamily="18" charset="0"/>
              </a:rPr>
              <a:t>How data is actually stored on physical storage (hard disk, SSD, etc.) and how it's accessed by the system.</a:t>
            </a:r>
          </a:p>
          <a:p>
            <a:pPr marL="0" indent="0">
              <a:buNone/>
            </a:pPr>
            <a:r>
              <a:rPr lang="en-US" sz="2400" b="1" dirty="0">
                <a:latin typeface="Times New Roman" pitchFamily="18" charset="0"/>
                <a:cs typeface="Times New Roman" pitchFamily="18" charset="0"/>
              </a:rPr>
              <a:t>Example of </a:t>
            </a:r>
            <a:r>
              <a:rPr lang="en-IN" sz="2400" b="1" dirty="0">
                <a:latin typeface="Times New Roman" pitchFamily="18" charset="0"/>
                <a:cs typeface="Times New Roman" pitchFamily="18" charset="0"/>
              </a:rPr>
              <a:t>Physical Files:</a:t>
            </a:r>
          </a:p>
          <a:p>
            <a:pPr marL="0" indent="0">
              <a:buNone/>
            </a:pPr>
            <a:r>
              <a:rPr lang="en-IN" sz="2400" b="1" dirty="0">
                <a:latin typeface="Times New Roman" pitchFamily="18" charset="0"/>
                <a:cs typeface="Times New Roman" pitchFamily="18" charset="0"/>
              </a:rPr>
              <a:t>Sequential File: </a:t>
            </a:r>
            <a:r>
              <a:rPr lang="en-US" sz="2400" dirty="0">
                <a:latin typeface="Times New Roman" pitchFamily="18" charset="0"/>
                <a:cs typeface="Times New Roman" pitchFamily="18" charset="0"/>
              </a:rPr>
              <a:t>Data is stored and accessed in a linear order (one by one)</a:t>
            </a:r>
          </a:p>
          <a:p>
            <a:pPr marL="0" indent="0">
              <a:buNone/>
            </a:pPr>
            <a:r>
              <a:rPr lang="en-IN" sz="2400" b="1" dirty="0">
                <a:latin typeface="Times New Roman" pitchFamily="18" charset="0"/>
                <a:cs typeface="Times New Roman" pitchFamily="18" charset="0"/>
              </a:rPr>
              <a:t>Direct/Random Access File: </a:t>
            </a:r>
            <a:r>
              <a:rPr lang="en-US" sz="2400" dirty="0">
                <a:latin typeface="Times New Roman" pitchFamily="18" charset="0"/>
                <a:cs typeface="Times New Roman" pitchFamily="18" charset="0"/>
              </a:rPr>
              <a:t>Data can be accessed directly using an address or index</a:t>
            </a:r>
          </a:p>
          <a:p>
            <a:pPr marL="0" indent="0">
              <a:buNone/>
            </a:pPr>
            <a:r>
              <a:rPr lang="en-IN" sz="2400" b="1" dirty="0">
                <a:latin typeface="Times New Roman" pitchFamily="18" charset="0"/>
                <a:cs typeface="Times New Roman" pitchFamily="18" charset="0"/>
              </a:rPr>
              <a:t>Indexed File: </a:t>
            </a:r>
            <a:r>
              <a:rPr lang="en-US" sz="2400" dirty="0">
                <a:latin typeface="Times New Roman" pitchFamily="18" charset="0"/>
                <a:cs typeface="Times New Roman" pitchFamily="18" charset="0"/>
              </a:rPr>
              <a:t>Uses an index to speed up access to records</a:t>
            </a:r>
          </a:p>
          <a:p>
            <a:pPr marL="0" indent="0">
              <a:buNone/>
            </a:pPr>
            <a:r>
              <a:rPr lang="en-IN" sz="2400" b="1" dirty="0">
                <a:latin typeface="Times New Roman" pitchFamily="18" charset="0"/>
                <a:cs typeface="Times New Roman" pitchFamily="18" charset="0"/>
              </a:rPr>
              <a:t>Hashed File: </a:t>
            </a:r>
            <a:r>
              <a:rPr lang="en-US" sz="2400" dirty="0">
                <a:latin typeface="Times New Roman" pitchFamily="18" charset="0"/>
                <a:cs typeface="Times New Roman" pitchFamily="18" charset="0"/>
              </a:rPr>
              <a:t>Uses a hash function to calculate the location of records</a:t>
            </a:r>
            <a:endParaRPr lang="en-IN" sz="2400" dirty="0">
              <a:latin typeface="Times New Roman" pitchFamily="18" charset="0"/>
              <a:cs typeface="Times New Roman" pitchFamily="18" charset="0"/>
            </a:endParaRPr>
          </a:p>
          <a:p>
            <a:pPr marL="0" indent="0">
              <a:buNone/>
            </a:pPr>
            <a:endParaRPr lang="en-IN" dirty="0"/>
          </a:p>
        </p:txBody>
      </p:sp>
    </p:spTree>
    <p:extLst>
      <p:ext uri="{BB962C8B-B14F-4D97-AF65-F5344CB8AC3E}">
        <p14:creationId xmlns:p14="http://schemas.microsoft.com/office/powerpoint/2010/main" val="135039746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a:latin typeface="Times New Roman" pitchFamily="18" charset="0"/>
                <a:cs typeface="Times New Roman" pitchFamily="18" charset="0"/>
              </a:rPr>
              <a:t>Definition of DBMS (Database Management System)</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20000"/>
          </a:bodyPr>
          <a:lstStyle/>
          <a:p>
            <a:pPr marL="0" indent="0" algn="just">
              <a:buNone/>
            </a:pPr>
            <a:r>
              <a:rPr lang="en-US" sz="2400" dirty="0">
                <a:latin typeface="Times New Roman" pitchFamily="18" charset="0"/>
                <a:cs typeface="Times New Roman" pitchFamily="18" charset="0"/>
              </a:rPr>
              <a:t>A Database Management System (DBMS) is software that allows users to create, store, manage, retrieve, and manipulate data in a structured and organized way using databases.</a:t>
            </a:r>
          </a:p>
          <a:p>
            <a:pPr marL="0" indent="0" algn="just">
              <a:buNone/>
            </a:pPr>
            <a:r>
              <a:rPr lang="en-IN" sz="2400" b="1" dirty="0">
                <a:latin typeface="Times New Roman" pitchFamily="18" charset="0"/>
                <a:cs typeface="Times New Roman" pitchFamily="18" charset="0"/>
              </a:rPr>
              <a:t>Examples of DBMS:</a:t>
            </a:r>
          </a:p>
          <a:p>
            <a:pPr marL="0" indent="0" algn="just">
              <a:buNone/>
            </a:pPr>
            <a:r>
              <a:rPr lang="en-IN" b="1" dirty="0">
                <a:latin typeface="Times New Roman" pitchFamily="18" charset="0"/>
                <a:cs typeface="Times New Roman" pitchFamily="18" charset="0"/>
              </a:rPr>
              <a:t>Relational: </a:t>
            </a:r>
          </a:p>
          <a:p>
            <a:pPr marL="0" indent="0" algn="just">
              <a:buNone/>
            </a:pPr>
            <a:r>
              <a:rPr lang="en-IN" dirty="0">
                <a:latin typeface="Times New Roman" pitchFamily="18" charset="0"/>
                <a:cs typeface="Times New Roman" pitchFamily="18" charset="0"/>
              </a:rPr>
              <a:t>         MySQL, </a:t>
            </a:r>
            <a:r>
              <a:rPr lang="en-IN" dirty="0" err="1">
                <a:latin typeface="Times New Roman" pitchFamily="18" charset="0"/>
                <a:cs typeface="Times New Roman" pitchFamily="18" charset="0"/>
              </a:rPr>
              <a:t>PostgreSQL</a:t>
            </a:r>
            <a:r>
              <a:rPr lang="en-IN" dirty="0">
                <a:latin typeface="Times New Roman" pitchFamily="18" charset="0"/>
                <a:cs typeface="Times New Roman" pitchFamily="18" charset="0"/>
              </a:rPr>
              <a:t>, Oracle, SQL Server</a:t>
            </a:r>
          </a:p>
          <a:p>
            <a:pPr marL="0" indent="0" algn="just">
              <a:buNone/>
            </a:pPr>
            <a:r>
              <a:rPr lang="en-IN" b="1" dirty="0" err="1">
                <a:latin typeface="Times New Roman" pitchFamily="18" charset="0"/>
                <a:cs typeface="Times New Roman" pitchFamily="18" charset="0"/>
              </a:rPr>
              <a:t>NoSQL</a:t>
            </a:r>
            <a:r>
              <a:rPr lang="en-IN" b="1" dirty="0">
                <a:latin typeface="Times New Roman" pitchFamily="18" charset="0"/>
                <a:cs typeface="Times New Roman" pitchFamily="18" charset="0"/>
              </a:rPr>
              <a:t>:</a:t>
            </a:r>
          </a:p>
          <a:p>
            <a:pPr marL="0" indent="0" algn="just">
              <a:buNone/>
            </a:pP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MongoDB</a:t>
            </a:r>
            <a:r>
              <a:rPr lang="en-IN" dirty="0">
                <a:latin typeface="Times New Roman" pitchFamily="18" charset="0"/>
                <a:cs typeface="Times New Roman" pitchFamily="18" charset="0"/>
              </a:rPr>
              <a:t>, Cassandra, Firebase</a:t>
            </a:r>
          </a:p>
          <a:p>
            <a:pPr marL="0" indent="0" algn="just">
              <a:buNone/>
            </a:pPr>
            <a:r>
              <a:rPr lang="en-IN" b="1" dirty="0">
                <a:latin typeface="Times New Roman" pitchFamily="18" charset="0"/>
                <a:cs typeface="Times New Roman" pitchFamily="18" charset="0"/>
              </a:rPr>
              <a:t>Embedded:</a:t>
            </a:r>
          </a:p>
          <a:p>
            <a:pPr marL="0" indent="0" algn="just">
              <a:buNone/>
            </a:pPr>
            <a:r>
              <a:rPr lang="en-IN" dirty="0">
                <a:latin typeface="Times New Roman" pitchFamily="18" charset="0"/>
                <a:cs typeface="Times New Roman" pitchFamily="18" charset="0"/>
              </a:rPr>
              <a:t>         SQLite (used in mobile apps)</a:t>
            </a:r>
          </a:p>
          <a:p>
            <a:pPr marL="0" indent="0" algn="just">
              <a:buNone/>
            </a:pPr>
            <a:r>
              <a:rPr lang="en-IN" b="1" dirty="0">
                <a:latin typeface="Times New Roman" pitchFamily="18" charset="0"/>
                <a:cs typeface="Times New Roman" pitchFamily="18" charset="0"/>
              </a:rPr>
              <a:t>Cloud-Based:</a:t>
            </a:r>
          </a:p>
          <a:p>
            <a:pPr marL="0" indent="0" algn="just">
              <a:buNone/>
            </a:pPr>
            <a:r>
              <a:rPr lang="en-US" dirty="0">
                <a:latin typeface="Times New Roman" pitchFamily="18" charset="0"/>
                <a:cs typeface="Times New Roman" pitchFamily="18" charset="0"/>
              </a:rPr>
              <a:t>        Amazon RDS, Google Cloud </a:t>
            </a:r>
            <a:r>
              <a:rPr lang="en-US" dirty="0" err="1">
                <a:latin typeface="Times New Roman" pitchFamily="18" charset="0"/>
                <a:cs typeface="Times New Roman" pitchFamily="18" charset="0"/>
              </a:rPr>
              <a:t>Firestore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97946200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908720"/>
            <a:ext cx="8229600" cy="578328"/>
          </a:xfrm>
        </p:spPr>
        <p:txBody>
          <a:bodyPr>
            <a:normAutofit fontScale="90000"/>
          </a:bodyPr>
          <a:lstStyle/>
          <a:p>
            <a:r>
              <a:rPr lang="en-IN" sz="3200" b="1" dirty="0">
                <a:latin typeface="Times New Roman" pitchFamily="18" charset="0"/>
                <a:cs typeface="Times New Roman" pitchFamily="18" charset="0"/>
              </a:rPr>
              <a:t>File System Vs. DBMS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38696935"/>
              </p:ext>
            </p:extLst>
          </p:nvPr>
        </p:nvGraphicFramePr>
        <p:xfrm>
          <a:off x="467544" y="1844824"/>
          <a:ext cx="7416824" cy="3571240"/>
        </p:xfrm>
        <a:graphic>
          <a:graphicData uri="http://schemas.openxmlformats.org/drawingml/2006/table">
            <a:tbl>
              <a:tblPr firstRow="1" bandRow="1">
                <a:tableStyleId>{5C22544A-7EE6-4342-B048-85BDC9FD1C3A}</a:tableStyleId>
              </a:tblPr>
              <a:tblGrid>
                <a:gridCol w="3528392">
                  <a:extLst>
                    <a:ext uri="{9D8B030D-6E8A-4147-A177-3AD203B41FA5}">
                      <a16:colId xmlns:a16="http://schemas.microsoft.com/office/drawing/2014/main" val="20000"/>
                    </a:ext>
                  </a:extLst>
                </a:gridCol>
                <a:gridCol w="3888432">
                  <a:extLst>
                    <a:ext uri="{9D8B030D-6E8A-4147-A177-3AD203B41FA5}">
                      <a16:colId xmlns:a16="http://schemas.microsoft.com/office/drawing/2014/main" val="20001"/>
                    </a:ext>
                  </a:extLst>
                </a:gridCol>
              </a:tblGrid>
              <a:tr h="370840">
                <a:tc>
                  <a:txBody>
                    <a:bodyPr/>
                    <a:lstStyle/>
                    <a:p>
                      <a:r>
                        <a:rPr lang="en-US" dirty="0"/>
                        <a:t>File System</a:t>
                      </a:r>
                      <a:endParaRPr lang="en-IN" dirty="0"/>
                    </a:p>
                  </a:txBody>
                  <a:tcPr/>
                </a:tc>
                <a:tc>
                  <a:txBody>
                    <a:bodyPr/>
                    <a:lstStyle/>
                    <a:p>
                      <a:r>
                        <a:rPr lang="en-US" dirty="0"/>
                        <a:t>DBMS</a:t>
                      </a:r>
                      <a:endParaRPr lang="en-IN" dirty="0"/>
                    </a:p>
                  </a:txBody>
                  <a:tcPr/>
                </a:tc>
                <a:extLst>
                  <a:ext uri="{0D108BD9-81ED-4DB2-BD59-A6C34878D82A}">
                    <a16:rowId xmlns:a16="http://schemas.microsoft.com/office/drawing/2014/main" val="10000"/>
                  </a:ext>
                </a:extLst>
              </a:tr>
              <a:tr h="370840">
                <a:tc>
                  <a:txBody>
                    <a:bodyPr/>
                    <a:lstStyle/>
                    <a:p>
                      <a:r>
                        <a:rPr lang="en-US" dirty="0"/>
                        <a:t>Stores data in files (like text, CSV, Excel files).</a:t>
                      </a:r>
                      <a:endParaRPr lang="en-IN" dirty="0"/>
                    </a:p>
                  </a:txBody>
                  <a:tcPr/>
                </a:tc>
                <a:tc>
                  <a:txBody>
                    <a:bodyPr/>
                    <a:lstStyle/>
                    <a:p>
                      <a:r>
                        <a:rPr lang="en-US" dirty="0"/>
                        <a:t>Manages data in structured databases with software.</a:t>
                      </a:r>
                      <a:endParaRPr lang="en-IN" dirty="0"/>
                    </a:p>
                  </a:txBody>
                  <a:tcPr/>
                </a:tc>
                <a:extLst>
                  <a:ext uri="{0D108BD9-81ED-4DB2-BD59-A6C34878D82A}">
                    <a16:rowId xmlns:a16="http://schemas.microsoft.com/office/drawing/2014/main" val="10001"/>
                  </a:ext>
                </a:extLst>
              </a:tr>
              <a:tr h="370840">
                <a:tc>
                  <a:txBody>
                    <a:bodyPr/>
                    <a:lstStyle/>
                    <a:p>
                      <a:r>
                        <a:rPr lang="en-US" dirty="0"/>
                        <a:t>Data stored in flat files without relationships.</a:t>
                      </a:r>
                      <a:endParaRPr lang="en-IN" dirty="0"/>
                    </a:p>
                  </a:txBody>
                  <a:tcPr/>
                </a:tc>
                <a:tc>
                  <a:txBody>
                    <a:bodyPr/>
                    <a:lstStyle/>
                    <a:p>
                      <a:r>
                        <a:rPr lang="en-US" dirty="0"/>
                        <a:t>Data stored in tables with defined relationships.</a:t>
                      </a:r>
                      <a:endParaRPr lang="en-IN" dirty="0"/>
                    </a:p>
                  </a:txBody>
                  <a:tcPr/>
                </a:tc>
                <a:extLst>
                  <a:ext uri="{0D108BD9-81ED-4DB2-BD59-A6C34878D82A}">
                    <a16:rowId xmlns:a16="http://schemas.microsoft.com/office/drawing/2014/main" val="10002"/>
                  </a:ext>
                </a:extLst>
              </a:tr>
              <a:tr h="370840">
                <a:tc>
                  <a:txBody>
                    <a:bodyPr/>
                    <a:lstStyle/>
                    <a:p>
                      <a:r>
                        <a:rPr lang="en-US" dirty="0"/>
                        <a:t>Manual search or basic tools to find data.</a:t>
                      </a:r>
                      <a:endParaRPr lang="en-IN" dirty="0"/>
                    </a:p>
                  </a:txBody>
                  <a:tcPr/>
                </a:tc>
                <a:tc>
                  <a:txBody>
                    <a:bodyPr/>
                    <a:lstStyle/>
                    <a:p>
                      <a:r>
                        <a:rPr lang="en-US" dirty="0"/>
                        <a:t>Powerful query languages like SQL for quick retrieval.</a:t>
                      </a:r>
                      <a:endParaRPr lang="en-IN" dirty="0"/>
                    </a:p>
                  </a:txBody>
                  <a:tcPr/>
                </a:tc>
                <a:extLst>
                  <a:ext uri="{0D108BD9-81ED-4DB2-BD59-A6C34878D82A}">
                    <a16:rowId xmlns:a16="http://schemas.microsoft.com/office/drawing/2014/main" val="10003"/>
                  </a:ext>
                </a:extLst>
              </a:tr>
              <a:tr h="370840">
                <a:tc>
                  <a:txBody>
                    <a:bodyPr/>
                    <a:lstStyle/>
                    <a:p>
                      <a:r>
                        <a:rPr lang="en-US" dirty="0"/>
                        <a:t>High – same data might be repeated in many files.</a:t>
                      </a:r>
                      <a:endParaRPr lang="en-IN" dirty="0"/>
                    </a:p>
                  </a:txBody>
                  <a:tcPr/>
                </a:tc>
                <a:tc>
                  <a:txBody>
                    <a:bodyPr/>
                    <a:lstStyle/>
                    <a:p>
                      <a:r>
                        <a:rPr lang="en-US" dirty="0"/>
                        <a:t>Low – uses normalization to minimize duplication.</a:t>
                      </a:r>
                      <a:endParaRPr lang="en-IN" dirty="0"/>
                    </a:p>
                  </a:txBody>
                  <a:tcPr/>
                </a:tc>
                <a:extLst>
                  <a:ext uri="{0D108BD9-81ED-4DB2-BD59-A6C34878D82A}">
                    <a16:rowId xmlns:a16="http://schemas.microsoft.com/office/drawing/2014/main" val="10004"/>
                  </a:ext>
                </a:extLst>
              </a:tr>
              <a:tr h="370840">
                <a:tc>
                  <a:txBody>
                    <a:bodyPr/>
                    <a:lstStyle/>
                    <a:p>
                      <a:r>
                        <a:rPr lang="en-IN" dirty="0"/>
                        <a:t>Manual backup required.</a:t>
                      </a:r>
                      <a:r>
                        <a:rPr lang="en-US" dirty="0"/>
                        <a:t> </a:t>
                      </a:r>
                      <a:endParaRPr lang="en-IN" dirty="0"/>
                    </a:p>
                  </a:txBody>
                  <a:tcPr/>
                </a:tc>
                <a:tc>
                  <a:txBody>
                    <a:bodyPr/>
                    <a:lstStyle/>
                    <a:p>
                      <a:r>
                        <a:rPr lang="en-US" dirty="0"/>
                        <a:t>Automated backup and recovery tools.</a:t>
                      </a:r>
                      <a:endParaRPr lang="en-IN"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964459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IN" sz="3200" b="1" dirty="0">
                <a:latin typeface="Times New Roman" pitchFamily="18" charset="0"/>
                <a:cs typeface="Times New Roman" pitchFamily="18" charset="0"/>
              </a:rPr>
              <a:t>Applications of DBMS</a:t>
            </a: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467544" y="1412776"/>
            <a:ext cx="8229600" cy="5445224"/>
          </a:xfrm>
        </p:spPr>
        <p:txBody>
          <a:bodyPr>
            <a:normAutofit fontScale="92500" lnSpcReduction="20000"/>
          </a:bodyPr>
          <a:lstStyle/>
          <a:p>
            <a:pPr algn="just"/>
            <a:r>
              <a:rPr lang="en-US" b="1" dirty="0">
                <a:latin typeface="Times New Roman" pitchFamily="18" charset="0"/>
                <a:cs typeface="Times New Roman" pitchFamily="18" charset="0"/>
              </a:rPr>
              <a:t>Railway Reservation System</a:t>
            </a:r>
            <a:r>
              <a:rPr lang="en-US" dirty="0">
                <a:latin typeface="Times New Roman" pitchFamily="18" charset="0"/>
                <a:cs typeface="Times New Roman" pitchFamily="18" charset="0"/>
              </a:rPr>
              <a:t>: It is used to keep record of booking of tickets, departure of the train and the status of arrival and give updates to the passengers with the help of a database.</a:t>
            </a:r>
          </a:p>
          <a:p>
            <a:pPr algn="just"/>
            <a:r>
              <a:rPr lang="en-US" b="1" dirty="0">
                <a:latin typeface="Times New Roman" pitchFamily="18" charset="0"/>
                <a:cs typeface="Times New Roman" pitchFamily="18" charset="0"/>
              </a:rPr>
              <a:t>Library Management System</a:t>
            </a:r>
            <a:r>
              <a:rPr lang="en-US" dirty="0">
                <a:latin typeface="Times New Roman" pitchFamily="18" charset="0"/>
                <a:cs typeface="Times New Roman" pitchFamily="18" charset="0"/>
              </a:rPr>
              <a:t>: There will be so many numbers of books in the library and it is very hard to keep a record of all the books in a register or a copy. So, DBMS is necessary to keep track of all the book records, issue dates, name of the books, author and maintain the records.</a:t>
            </a:r>
          </a:p>
          <a:p>
            <a:pPr algn="just"/>
            <a:r>
              <a:rPr lang="en-US" b="1">
                <a:latin typeface="Times New Roman" pitchFamily="18" charset="0"/>
                <a:cs typeface="Times New Roman" pitchFamily="18" charset="0"/>
              </a:rPr>
              <a:t>Banking</a:t>
            </a:r>
            <a:r>
              <a:rPr lang="en-US">
                <a:latin typeface="Times New Roman" pitchFamily="18" charset="0"/>
                <a:cs typeface="Times New Roman" pitchFamily="18" charset="0"/>
              </a:rPr>
              <a:t>: </a:t>
            </a:r>
            <a:r>
              <a:rPr lang="en-US" dirty="0">
                <a:latin typeface="Times New Roman" pitchFamily="18" charset="0"/>
                <a:cs typeface="Times New Roman" pitchFamily="18" charset="0"/>
              </a:rPr>
              <a:t>We are doing a lot of transactions daily without directly going to the banks. The only reason is the usage of databases and it manages all the data of the customers over the database.</a:t>
            </a:r>
          </a:p>
          <a:p>
            <a:pPr algn="just"/>
            <a:r>
              <a:rPr lang="en-US" b="1" dirty="0">
                <a:latin typeface="Times New Roman" pitchFamily="18" charset="0"/>
                <a:cs typeface="Times New Roman" pitchFamily="18" charset="0"/>
              </a:rPr>
              <a:t>Educational Institutions</a:t>
            </a:r>
            <a:r>
              <a:rPr lang="en-US" dirty="0">
                <a:latin typeface="Times New Roman" pitchFamily="18" charset="0"/>
                <a:cs typeface="Times New Roman" pitchFamily="18" charset="0"/>
              </a:rPr>
              <a:t>: All the examinations and the data related to the students maintained over the internet with the help of a database management system. It contains registration details of the student, results, grades and courses available. All these works can be done online without visiting an institution.</a:t>
            </a:r>
          </a:p>
          <a:p>
            <a:pPr algn="just"/>
            <a:r>
              <a:rPr lang="en-US" b="1" dirty="0">
                <a:latin typeface="Times New Roman" pitchFamily="18" charset="0"/>
                <a:cs typeface="Times New Roman" pitchFamily="18" charset="0"/>
              </a:rPr>
              <a:t>Social Media Websites</a:t>
            </a:r>
            <a:r>
              <a:rPr lang="en-US" dirty="0">
                <a:latin typeface="Times New Roman" pitchFamily="18" charset="0"/>
                <a:cs typeface="Times New Roman" pitchFamily="18" charset="0"/>
              </a:rPr>
              <a:t>: By filling the required details we are able to access social media platforms. Many users daily sign up for social websites such as Facebook, Pinterest and Instagram. All the information related to the users are stored and maintained with the help of DBMS.</a:t>
            </a:r>
          </a:p>
          <a:p>
            <a:endParaRPr lang="en-IN" dirty="0"/>
          </a:p>
        </p:txBody>
      </p:sp>
    </p:spTree>
    <p:extLst>
      <p:ext uri="{BB962C8B-B14F-4D97-AF65-F5344CB8AC3E}">
        <p14:creationId xmlns:p14="http://schemas.microsoft.com/office/powerpoint/2010/main" val="405195706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78328"/>
          </a:xfrm>
        </p:spPr>
        <p:txBody>
          <a:bodyPr>
            <a:normAutofit fontScale="90000"/>
          </a:bodyPr>
          <a:lstStyle/>
          <a:p>
            <a:r>
              <a:rPr lang="en-IN" sz="3200" b="1" dirty="0">
                <a:latin typeface="Times New Roman" pitchFamily="18" charset="0"/>
                <a:cs typeface="Times New Roman" pitchFamily="18" charset="0"/>
              </a:rPr>
              <a:t>Purpose of Database Systems:</a:t>
            </a:r>
          </a:p>
        </p:txBody>
      </p:sp>
      <p:sp>
        <p:nvSpPr>
          <p:cNvPr id="3" name="Content Placeholder 2"/>
          <p:cNvSpPr>
            <a:spLocks noGrp="1"/>
          </p:cNvSpPr>
          <p:nvPr>
            <p:ph idx="1"/>
          </p:nvPr>
        </p:nvSpPr>
        <p:spPr>
          <a:xfrm>
            <a:off x="467544" y="1484784"/>
            <a:ext cx="8229600" cy="5184576"/>
          </a:xfrm>
        </p:spPr>
        <p:txBody>
          <a:bodyPr>
            <a:normAutofit fontScale="62500" lnSpcReduction="20000"/>
          </a:bodyPr>
          <a:lstStyle/>
          <a:p>
            <a:r>
              <a:rPr lang="en-US" sz="3100" b="1" dirty="0">
                <a:latin typeface="Times New Roman" pitchFamily="18" charset="0"/>
                <a:cs typeface="Times New Roman" pitchFamily="18" charset="0"/>
              </a:rPr>
              <a:t>Data Efficiency:</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Handle vast amounts of data without losing performance.</a:t>
            </a:r>
          </a:p>
          <a:p>
            <a:r>
              <a:rPr lang="en-US" sz="3100" b="1" dirty="0">
                <a:latin typeface="Times New Roman" pitchFamily="18" charset="0"/>
                <a:cs typeface="Times New Roman" pitchFamily="18" charset="0"/>
              </a:rPr>
              <a:t>Data Integrity and Accuracy</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Maintain consistent and accurate data using rules and constraints.</a:t>
            </a:r>
          </a:p>
          <a:p>
            <a:r>
              <a:rPr lang="en-US" sz="3100" b="1" dirty="0">
                <a:latin typeface="Times New Roman" pitchFamily="18" charset="0"/>
                <a:cs typeface="Times New Roman" pitchFamily="18" charset="0"/>
              </a:rPr>
              <a:t>Fast and Flexible Data Retrieval</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Enable quick searches, sorting, and filtering through queries.</a:t>
            </a:r>
          </a:p>
          <a:p>
            <a:r>
              <a:rPr lang="en-US" sz="3100" b="1" dirty="0">
                <a:latin typeface="Times New Roman" pitchFamily="18" charset="0"/>
                <a:cs typeface="Times New Roman" pitchFamily="18" charset="0"/>
              </a:rPr>
              <a:t>Multiple Users and Concurrent Access</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Let many users access and update data safely at the same time.</a:t>
            </a:r>
          </a:p>
          <a:p>
            <a:r>
              <a:rPr lang="en-US" sz="3100" b="1" dirty="0">
                <a:latin typeface="Times New Roman" pitchFamily="18" charset="0"/>
                <a:cs typeface="Times New Roman" pitchFamily="18" charset="0"/>
              </a:rPr>
              <a:t>Data Security and Privacy</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Control who can view or modify data through authentication and permissions.</a:t>
            </a:r>
          </a:p>
          <a:p>
            <a:r>
              <a:rPr lang="en-US" sz="3100" b="1" dirty="0">
                <a:latin typeface="Times New Roman" pitchFamily="18" charset="0"/>
                <a:cs typeface="Times New Roman" pitchFamily="18" charset="0"/>
              </a:rPr>
              <a:t>Backup and Recovery</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Protect data from loss by providing mechanisms to back up and restore it.</a:t>
            </a:r>
          </a:p>
          <a:p>
            <a:r>
              <a:rPr lang="en-US" sz="3100" b="1" dirty="0">
                <a:latin typeface="Times New Roman" pitchFamily="18" charset="0"/>
                <a:cs typeface="Times New Roman" pitchFamily="18" charset="0"/>
              </a:rPr>
              <a:t>Enforce Data Relationships</a:t>
            </a:r>
            <a:br>
              <a:rPr lang="en-US" sz="3100" dirty="0">
                <a:latin typeface="Times New Roman" pitchFamily="18" charset="0"/>
                <a:cs typeface="Times New Roman" pitchFamily="18" charset="0"/>
              </a:rPr>
            </a:br>
            <a:r>
              <a:rPr lang="en-US" sz="3100" dirty="0">
                <a:latin typeface="Times New Roman" pitchFamily="18" charset="0"/>
                <a:cs typeface="Times New Roman" pitchFamily="18" charset="0"/>
              </a:rPr>
              <a:t>Manage connections between different data entities (e.g., customers and orders).</a:t>
            </a:r>
          </a:p>
          <a:p>
            <a:endParaRPr lang="en-IN" dirty="0"/>
          </a:p>
        </p:txBody>
      </p:sp>
    </p:spTree>
    <p:extLst>
      <p:ext uri="{BB962C8B-B14F-4D97-AF65-F5344CB8AC3E}">
        <p14:creationId xmlns:p14="http://schemas.microsoft.com/office/powerpoint/2010/main" val="318284381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92696"/>
            <a:ext cx="8229600" cy="578328"/>
          </a:xfrm>
        </p:spPr>
        <p:txBody>
          <a:bodyPr>
            <a:normAutofit fontScale="90000"/>
          </a:bodyPr>
          <a:lstStyle/>
          <a:p>
            <a:r>
              <a:rPr lang="en-IN" sz="3200" b="1" dirty="0">
                <a:latin typeface="Times New Roman" pitchFamily="18" charset="0"/>
                <a:cs typeface="Times New Roman" pitchFamily="18" charset="0"/>
              </a:rPr>
              <a:t>Advantages of DBMS </a:t>
            </a:r>
          </a:p>
        </p:txBody>
      </p:sp>
      <p:sp>
        <p:nvSpPr>
          <p:cNvPr id="3" name="Content Placeholder 2"/>
          <p:cNvSpPr>
            <a:spLocks noGrp="1"/>
          </p:cNvSpPr>
          <p:nvPr>
            <p:ph idx="1"/>
          </p:nvPr>
        </p:nvSpPr>
        <p:spPr>
          <a:xfrm>
            <a:off x="467544" y="1412776"/>
            <a:ext cx="8229600" cy="5112568"/>
          </a:xfrm>
        </p:spPr>
        <p:txBody>
          <a:bodyPr>
            <a:noAutofit/>
          </a:bodyPr>
          <a:lstStyle/>
          <a:p>
            <a:r>
              <a:rPr lang="en-IN" sz="2000" b="1" dirty="0">
                <a:latin typeface="Times New Roman" pitchFamily="18" charset="0"/>
                <a:cs typeface="Times New Roman" pitchFamily="18" charset="0"/>
              </a:rPr>
              <a:t>Reduced Redundancy:</a:t>
            </a:r>
          </a:p>
          <a:p>
            <a:pPr marL="0" indent="0">
              <a:buNone/>
            </a:pPr>
            <a:r>
              <a:rPr lang="en-US" sz="2000" dirty="0">
                <a:latin typeface="Times New Roman" pitchFamily="18" charset="0"/>
                <a:cs typeface="Times New Roman" pitchFamily="18" charset="0"/>
              </a:rPr>
              <a:t>              Eliminates duplicate data using relational design.</a:t>
            </a:r>
            <a:endParaRPr lang="en-IN" sz="2000" dirty="0">
              <a:latin typeface="Times New Roman" pitchFamily="18" charset="0"/>
              <a:cs typeface="Times New Roman" pitchFamily="18" charset="0"/>
            </a:endParaRPr>
          </a:p>
          <a:p>
            <a:r>
              <a:rPr lang="en-IN" sz="2000" b="1" dirty="0">
                <a:latin typeface="Times New Roman" pitchFamily="18" charset="0"/>
                <a:cs typeface="Times New Roman" pitchFamily="18" charset="0"/>
              </a:rPr>
              <a:t>Data Consistency:</a:t>
            </a:r>
          </a:p>
          <a:p>
            <a:pPr marL="0" indent="0">
              <a:buNone/>
            </a:pPr>
            <a:r>
              <a:rPr lang="en-US" sz="2000" dirty="0">
                <a:latin typeface="Times New Roman" pitchFamily="18" charset="0"/>
                <a:cs typeface="Times New Roman" pitchFamily="18" charset="0"/>
              </a:rPr>
              <a:t>              Updates appear everywhere data is used.</a:t>
            </a:r>
            <a:endParaRPr lang="en-IN" sz="2000" dirty="0">
              <a:latin typeface="Times New Roman" pitchFamily="18" charset="0"/>
              <a:cs typeface="Times New Roman" pitchFamily="18" charset="0"/>
            </a:endParaRPr>
          </a:p>
          <a:p>
            <a:r>
              <a:rPr lang="en-IN" sz="2000" b="1" dirty="0">
                <a:latin typeface="Times New Roman" pitchFamily="18" charset="0"/>
                <a:cs typeface="Times New Roman" pitchFamily="18" charset="0"/>
              </a:rPr>
              <a:t>Better Data Security:</a:t>
            </a:r>
          </a:p>
          <a:p>
            <a:pPr marL="0" indent="0">
              <a:buNone/>
            </a:pPr>
            <a:r>
              <a:rPr lang="en-US" sz="2000" dirty="0">
                <a:latin typeface="Times New Roman" pitchFamily="18" charset="0"/>
                <a:cs typeface="Times New Roman" pitchFamily="18" charset="0"/>
              </a:rPr>
              <a:t>              Controls access using user roles and permissions.</a:t>
            </a:r>
            <a:endParaRPr lang="en-IN" sz="2000" b="1" dirty="0">
              <a:latin typeface="Times New Roman" pitchFamily="18" charset="0"/>
              <a:cs typeface="Times New Roman" pitchFamily="18" charset="0"/>
            </a:endParaRPr>
          </a:p>
          <a:p>
            <a:r>
              <a:rPr lang="en-IN" sz="2000" b="1" dirty="0">
                <a:latin typeface="Times New Roman" pitchFamily="18" charset="0"/>
                <a:cs typeface="Times New Roman" pitchFamily="18" charset="0"/>
              </a:rPr>
              <a:t>Data Sharing:</a:t>
            </a:r>
          </a:p>
          <a:p>
            <a:pPr marL="0" indent="0">
              <a:buNone/>
            </a:pPr>
            <a:r>
              <a:rPr lang="en-US" sz="2000" dirty="0">
                <a:latin typeface="Times New Roman" pitchFamily="18" charset="0"/>
                <a:cs typeface="Times New Roman" pitchFamily="18" charset="0"/>
              </a:rPr>
              <a:t>              Multiple users can access data at the same time.</a:t>
            </a:r>
            <a:endParaRPr lang="en-IN" sz="2000" dirty="0">
              <a:latin typeface="Times New Roman" pitchFamily="18" charset="0"/>
              <a:cs typeface="Times New Roman" pitchFamily="18" charset="0"/>
            </a:endParaRPr>
          </a:p>
          <a:p>
            <a:r>
              <a:rPr lang="en-IN" sz="2000" b="1" dirty="0">
                <a:latin typeface="Times New Roman" pitchFamily="18" charset="0"/>
                <a:cs typeface="Times New Roman" pitchFamily="18" charset="0"/>
              </a:rPr>
              <a:t>Backup &amp; Recovery:</a:t>
            </a:r>
          </a:p>
          <a:p>
            <a:pPr marL="0" indent="0">
              <a:buNone/>
            </a:pPr>
            <a:r>
              <a:rPr lang="en-US" sz="2000" dirty="0">
                <a:latin typeface="Times New Roman" pitchFamily="18" charset="0"/>
                <a:cs typeface="Times New Roman" pitchFamily="18" charset="0"/>
              </a:rPr>
              <a:t>               Automatically recovers data after crashes.</a:t>
            </a:r>
            <a:endParaRPr lang="en-IN" sz="2000" dirty="0">
              <a:latin typeface="Times New Roman" pitchFamily="18" charset="0"/>
              <a:cs typeface="Times New Roman" pitchFamily="18" charset="0"/>
            </a:endParaRPr>
          </a:p>
          <a:p>
            <a:r>
              <a:rPr lang="en-IN" sz="2000" b="1" dirty="0">
                <a:latin typeface="Times New Roman" pitchFamily="18" charset="0"/>
                <a:cs typeface="Times New Roman" pitchFamily="18" charset="0"/>
              </a:rPr>
              <a:t>Easy Querying:</a:t>
            </a:r>
          </a:p>
          <a:p>
            <a:pPr marL="0" indent="0">
              <a:buNone/>
            </a:pPr>
            <a:r>
              <a:rPr lang="en-US" sz="2000" dirty="0">
                <a:latin typeface="Times New Roman" pitchFamily="18" charset="0"/>
                <a:cs typeface="Times New Roman" pitchFamily="18" charset="0"/>
              </a:rPr>
              <a:t>              SQL makes data retrieval simple and fast.</a:t>
            </a:r>
            <a:endParaRPr lang="en-IN" sz="2000" dirty="0">
              <a:latin typeface="Times New Roman" pitchFamily="18" charset="0"/>
              <a:cs typeface="Times New Roman" pitchFamily="18" charset="0"/>
            </a:endParaRPr>
          </a:p>
          <a:p>
            <a:r>
              <a:rPr lang="en-IN" sz="2000" b="1" dirty="0">
                <a:latin typeface="Times New Roman" pitchFamily="18" charset="0"/>
                <a:cs typeface="Times New Roman" pitchFamily="18" charset="0"/>
              </a:rPr>
              <a:t>Relationship Management:</a:t>
            </a:r>
          </a:p>
          <a:p>
            <a:pPr marL="0" indent="0">
              <a:buNone/>
            </a:pPr>
            <a:r>
              <a:rPr lang="en-IN" sz="2000" dirty="0">
                <a:latin typeface="Times New Roman" pitchFamily="18" charset="0"/>
                <a:cs typeface="Times New Roman" pitchFamily="18" charset="0"/>
              </a:rPr>
              <a:t>              Handles linked data via foreign keys.</a:t>
            </a:r>
          </a:p>
        </p:txBody>
      </p:sp>
    </p:spTree>
    <p:extLst>
      <p:ext uri="{BB962C8B-B14F-4D97-AF65-F5344CB8AC3E}">
        <p14:creationId xmlns:p14="http://schemas.microsoft.com/office/powerpoint/2010/main" val="251923184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92696"/>
            <a:ext cx="8229600" cy="506320"/>
          </a:xfrm>
        </p:spPr>
        <p:txBody>
          <a:bodyPr>
            <a:normAutofit fontScale="90000"/>
          </a:bodyPr>
          <a:lstStyle/>
          <a:p>
            <a:r>
              <a:rPr lang="en-IN" sz="3200" b="1" dirty="0">
                <a:latin typeface="Times New Roman" pitchFamily="18" charset="0"/>
                <a:cs typeface="Times New Roman" pitchFamily="18" charset="0"/>
              </a:rPr>
              <a:t>Disadvantages of DBMS</a:t>
            </a:r>
          </a:p>
        </p:txBody>
      </p:sp>
      <p:sp>
        <p:nvSpPr>
          <p:cNvPr id="3" name="Content Placeholder 2"/>
          <p:cNvSpPr>
            <a:spLocks noGrp="1"/>
          </p:cNvSpPr>
          <p:nvPr>
            <p:ph idx="1"/>
          </p:nvPr>
        </p:nvSpPr>
        <p:spPr>
          <a:xfrm>
            <a:off x="467544" y="1268760"/>
            <a:ext cx="8229600" cy="4389120"/>
          </a:xfrm>
        </p:spPr>
        <p:txBody>
          <a:bodyPr/>
          <a:lstStyle/>
          <a:p>
            <a:r>
              <a:rPr lang="en-IN" sz="2400" b="1" dirty="0">
                <a:latin typeface="Times New Roman" pitchFamily="18" charset="0"/>
                <a:cs typeface="Times New Roman" pitchFamily="18" charset="0"/>
              </a:rPr>
              <a:t>High Cost</a:t>
            </a:r>
          </a:p>
          <a:p>
            <a:pPr marL="0" indent="0">
              <a:buNone/>
            </a:pPr>
            <a:r>
              <a:rPr lang="en-US" sz="2400" dirty="0">
                <a:latin typeface="Times New Roman" pitchFamily="18" charset="0"/>
                <a:cs typeface="Times New Roman" pitchFamily="18" charset="0"/>
              </a:rPr>
              <a:t>          Licensing and maintenance can be expensive.</a:t>
            </a:r>
            <a:endParaRPr lang="en-IN" sz="2400" dirty="0">
              <a:latin typeface="Times New Roman" pitchFamily="18" charset="0"/>
              <a:cs typeface="Times New Roman" pitchFamily="18" charset="0"/>
            </a:endParaRPr>
          </a:p>
          <a:p>
            <a:r>
              <a:rPr lang="en-IN" sz="2400" b="1" dirty="0">
                <a:latin typeface="Times New Roman" pitchFamily="18" charset="0"/>
                <a:cs typeface="Times New Roman" pitchFamily="18" charset="0"/>
              </a:rPr>
              <a:t>Complexity</a:t>
            </a:r>
          </a:p>
          <a:p>
            <a:pPr marL="0" indent="0">
              <a:buNone/>
            </a:pPr>
            <a:r>
              <a:rPr lang="en-US" sz="2400" dirty="0">
                <a:latin typeface="Times New Roman" pitchFamily="18" charset="0"/>
                <a:cs typeface="Times New Roman" pitchFamily="18" charset="0"/>
              </a:rPr>
              <a:t>          Requires trained personnel to set up and manage.</a:t>
            </a:r>
            <a:endParaRPr lang="en-IN" sz="2400" dirty="0">
              <a:latin typeface="Times New Roman" pitchFamily="18" charset="0"/>
              <a:cs typeface="Times New Roman" pitchFamily="18" charset="0"/>
            </a:endParaRPr>
          </a:p>
          <a:p>
            <a:r>
              <a:rPr lang="en-IN" sz="2400" b="1" dirty="0">
                <a:latin typeface="Times New Roman" pitchFamily="18" charset="0"/>
                <a:cs typeface="Times New Roman" pitchFamily="18" charset="0"/>
              </a:rPr>
              <a:t>Large Storage Needs</a:t>
            </a:r>
          </a:p>
          <a:p>
            <a:pPr marL="0" indent="0">
              <a:buNone/>
            </a:pPr>
            <a:r>
              <a:rPr lang="en-US" sz="2400" dirty="0">
                <a:latin typeface="Times New Roman" pitchFamily="18" charset="0"/>
                <a:cs typeface="Times New Roman" pitchFamily="18" charset="0"/>
              </a:rPr>
              <a:t>          DBMS software and logs take significant disk space.</a:t>
            </a:r>
            <a:endParaRPr lang="en-IN"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Higher impact of a failure</a:t>
            </a:r>
          </a:p>
          <a:p>
            <a:endParaRPr lang="en-IN" dirty="0"/>
          </a:p>
        </p:txBody>
      </p:sp>
    </p:spTree>
    <p:extLst>
      <p:ext uri="{BB962C8B-B14F-4D97-AF65-F5344CB8AC3E}">
        <p14:creationId xmlns:p14="http://schemas.microsoft.com/office/powerpoint/2010/main" val="80845290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836712"/>
            <a:ext cx="8229600" cy="578328"/>
          </a:xfrm>
        </p:spPr>
        <p:txBody>
          <a:bodyPr>
            <a:normAutofit fontScale="90000"/>
          </a:bodyPr>
          <a:lstStyle/>
          <a:p>
            <a:r>
              <a:rPr lang="en-IN" sz="3200" b="1" dirty="0">
                <a:latin typeface="Times New Roman" pitchFamily="18" charset="0"/>
                <a:cs typeface="Times New Roman" pitchFamily="18" charset="0"/>
              </a:rPr>
              <a:t>Structure of DBMS</a:t>
            </a:r>
          </a:p>
        </p:txBody>
      </p:sp>
      <p:pic>
        <p:nvPicPr>
          <p:cNvPr id="2050" name="Picture 2" descr="Structure of DBMS with Diagram | Board Infin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988840"/>
            <a:ext cx="7441627"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71209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578328"/>
          </a:xfrm>
        </p:spPr>
        <p:txBody>
          <a:bodyPr>
            <a:normAutofit fontScale="90000"/>
          </a:bodyPr>
          <a:lstStyle/>
          <a:p>
            <a:r>
              <a:rPr lang="en-IN" sz="3200" b="1" dirty="0">
                <a:latin typeface="Times New Roman" pitchFamily="18" charset="0"/>
                <a:cs typeface="Times New Roman" pitchFamily="18" charset="0"/>
              </a:rPr>
              <a:t>DBMS users</a:t>
            </a:r>
          </a:p>
        </p:txBody>
      </p:sp>
      <p:sp>
        <p:nvSpPr>
          <p:cNvPr id="3" name="Content Placeholder 2"/>
          <p:cNvSpPr>
            <a:spLocks noGrp="1"/>
          </p:cNvSpPr>
          <p:nvPr>
            <p:ph idx="1"/>
          </p:nvPr>
        </p:nvSpPr>
        <p:spPr>
          <a:xfrm>
            <a:off x="467544" y="1484784"/>
            <a:ext cx="8229600" cy="4389120"/>
          </a:xfrm>
        </p:spPr>
        <p:txBody>
          <a:bodyPr>
            <a:normAutofit/>
          </a:bodyPr>
          <a:lstStyle/>
          <a:p>
            <a:r>
              <a:rPr lang="en-IN" sz="2400" dirty="0">
                <a:latin typeface="Times New Roman" pitchFamily="18" charset="0"/>
                <a:cs typeface="Times New Roman" pitchFamily="18" charset="0"/>
              </a:rPr>
              <a:t>Database Administrator (DBA)</a:t>
            </a:r>
          </a:p>
          <a:p>
            <a:r>
              <a:rPr lang="en-IN" sz="2400" dirty="0">
                <a:latin typeface="Times New Roman" pitchFamily="18" charset="0"/>
                <a:cs typeface="Times New Roman" pitchFamily="18" charset="0"/>
              </a:rPr>
              <a:t>Database Designer</a:t>
            </a:r>
          </a:p>
          <a:p>
            <a:r>
              <a:rPr lang="en-IN" sz="2400" dirty="0">
                <a:latin typeface="Times New Roman" pitchFamily="18" charset="0"/>
                <a:cs typeface="Times New Roman" pitchFamily="18" charset="0"/>
              </a:rPr>
              <a:t>Application Programmer / Developer</a:t>
            </a:r>
          </a:p>
          <a:p>
            <a:r>
              <a:rPr lang="en-IN" sz="2400" dirty="0">
                <a:latin typeface="Times New Roman" pitchFamily="18" charset="0"/>
                <a:cs typeface="Times New Roman" pitchFamily="18" charset="0"/>
              </a:rPr>
              <a:t>End Users</a:t>
            </a:r>
          </a:p>
          <a:p>
            <a:pPr marL="0" indent="0">
              <a:buNone/>
            </a:pPr>
            <a:r>
              <a:rPr lang="en-IN" sz="2400" dirty="0">
                <a:latin typeface="Times New Roman" pitchFamily="18" charset="0"/>
                <a:cs typeface="Times New Roman" pitchFamily="18" charset="0"/>
              </a:rPr>
              <a:t>	Naive (Casual) Users</a:t>
            </a:r>
          </a:p>
          <a:p>
            <a:pPr marL="0" indent="0">
              <a:buNone/>
            </a:pPr>
            <a:r>
              <a:rPr lang="en-IN" sz="2400" dirty="0">
                <a:latin typeface="Times New Roman" pitchFamily="18" charset="0"/>
                <a:cs typeface="Times New Roman" pitchFamily="18" charset="0"/>
              </a:rPr>
              <a:t>	Sophisticated Users</a:t>
            </a:r>
          </a:p>
          <a:p>
            <a:pPr marL="0" indent="0">
              <a:buNone/>
            </a:pPr>
            <a:r>
              <a:rPr lang="en-IN" sz="2400" dirty="0">
                <a:latin typeface="Times New Roman" pitchFamily="18" charset="0"/>
                <a:cs typeface="Times New Roman" pitchFamily="18" charset="0"/>
              </a:rPr>
              <a:t>	Specialized Users</a:t>
            </a:r>
          </a:p>
          <a:p>
            <a:pPr marL="0" indent="0">
              <a:buNone/>
            </a:pPr>
            <a:r>
              <a:rPr lang="en-IN" sz="2400" dirty="0">
                <a:latin typeface="Times New Roman" pitchFamily="18" charset="0"/>
                <a:cs typeface="Times New Roman" pitchFamily="18" charset="0"/>
              </a:rPr>
              <a:t>	Stand-alone Users</a:t>
            </a:r>
          </a:p>
        </p:txBody>
      </p:sp>
    </p:spTree>
    <p:extLst>
      <p:ext uri="{BB962C8B-B14F-4D97-AF65-F5344CB8AC3E}">
        <p14:creationId xmlns:p14="http://schemas.microsoft.com/office/powerpoint/2010/main" val="17935959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1198</TotalTime>
  <Words>1026</Words>
  <Application>Microsoft Office PowerPoint</Application>
  <PresentationFormat>On-screen Show (4:3)</PresentationFormat>
  <Paragraphs>102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Calisto MT</vt:lpstr>
      <vt:lpstr>Times New Roman</vt:lpstr>
      <vt:lpstr>Wingdings 2</vt:lpstr>
      <vt:lpstr>Slate</vt:lpstr>
      <vt:lpstr>Introduction of DBMS</vt:lpstr>
      <vt:lpstr>Definition of file:</vt:lpstr>
      <vt:lpstr>Types of file (Logical &amp; Physical) </vt:lpstr>
      <vt:lpstr>Types of file (Logical &amp; Physical) </vt:lpstr>
      <vt:lpstr>Definition of DBMS (Database Management System)</vt:lpstr>
      <vt:lpstr>File System Vs. DBMS</vt:lpstr>
      <vt:lpstr>Applications of DBMS</vt:lpstr>
      <vt:lpstr>Purpose of Database Systems:</vt:lpstr>
      <vt:lpstr>Advantages of DBMS </vt:lpstr>
      <vt:lpstr>Disadvantages of DBMS</vt:lpstr>
      <vt:lpstr>Structure of DBMS</vt:lpstr>
      <vt:lpstr>DBMS users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of DBMS</dc:title>
  <dc:creator>VIRGO-24</dc:creator>
  <cp:lastModifiedBy>Paras Dangi</cp:lastModifiedBy>
  <cp:revision>19</cp:revision>
  <dcterms:created xsi:type="dcterms:W3CDTF">2025-06-02T10:58:57Z</dcterms:created>
  <dcterms:modified xsi:type="dcterms:W3CDTF">2025-09-08T14:52:04Z</dcterms:modified>
</cp:coreProperties>
</file>