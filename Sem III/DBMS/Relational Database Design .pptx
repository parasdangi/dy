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59" r:id="rId21"/>
    <p:sldId id="260" r:id="rId22"/>
    <p:sldId id="261" r:id="rId23"/>
    <p:sldId id="278" r:id="rId24"/>
    <p:sldId id="279" r:id="rId25"/>
    <p:sldId id="280" r:id="rId26"/>
    <p:sldId id="281"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7" d="100"/>
          <a:sy n="117" d="100"/>
        </p:scale>
        <p:origin x="-1464"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72804DC-96AE-4CBD-B176-8722F4A8A513}" type="datetimeFigureOut">
              <a:rPr lang="en-US" smtClean="0"/>
              <a:t>9/8/2025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D52420CB-5B85-4244-A5E2-4D1C3DBC7B35}"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72804DC-96AE-4CBD-B176-8722F4A8A51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72804DC-96AE-4CBD-B176-8722F4A8A51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20CB-5B85-4244-A5E2-4D1C3DBC7B35}"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72804DC-96AE-4CBD-B176-8722F4A8A513}"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72804DC-96AE-4CBD-B176-8722F4A8A513}" type="datetimeFigureOut">
              <a:rPr lang="en-US" smtClean="0"/>
              <a:t>9/8/2025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72804DC-96AE-4CBD-B176-8722F4A8A513}" type="datetimeFigureOut">
              <a:rPr lang="en-US" smtClean="0"/>
              <a:t>9/8/2025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2804DC-96AE-4CBD-B176-8722F4A8A513}" type="datetimeFigureOut">
              <a:rPr lang="en-US" smtClean="0"/>
              <a:t>9/8/2025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72804DC-96AE-4CBD-B176-8722F4A8A513}"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72804DC-96AE-4CBD-B176-8722F4A8A513}"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D52420CB-5B85-4244-A5E2-4D1C3DBC7B35}"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72804DC-96AE-4CBD-B176-8722F4A8A51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72804DC-96AE-4CBD-B176-8722F4A8A51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420CB-5B85-4244-A5E2-4D1C3DBC7B3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72804DC-96AE-4CBD-B176-8722F4A8A513}" type="datetimeFigureOut">
              <a:rPr lang="en-US" smtClean="0"/>
              <a:t>9/8/2025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52420CB-5B85-4244-A5E2-4D1C3DBC7B35}"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2362200"/>
            <a:ext cx="7851648" cy="1828800"/>
          </a:xfrm>
        </p:spPr>
        <p:txBody>
          <a:bodyPr/>
          <a:lstStyle/>
          <a:p>
            <a:pPr algn="ctr"/>
            <a:r>
              <a:rPr lang="en-US" dirty="0"/>
              <a:t>Relational Database </a:t>
            </a:r>
            <a:r>
              <a:rPr lang="en-US" dirty="0" smtClean="0"/>
              <a:t>Design</a:t>
            </a:r>
            <a:endParaRPr lang="en-US" dirty="0"/>
          </a:p>
        </p:txBody>
      </p:sp>
    </p:spTree>
    <p:extLst>
      <p:ext uri="{BB962C8B-B14F-4D97-AF65-F5344CB8AC3E}">
        <p14:creationId xmlns:p14="http://schemas.microsoft.com/office/powerpoint/2010/main" val="1475787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551688"/>
          </a:xfrm>
        </p:spPr>
        <p:txBody>
          <a:bodyPr>
            <a:normAutofit/>
          </a:bodyPr>
          <a:lstStyle/>
          <a:p>
            <a:r>
              <a:rPr lang="en-US" sz="3200" b="1" dirty="0">
                <a:latin typeface="Times New Roman" pitchFamily="18" charset="0"/>
                <a:cs typeface="Times New Roman" pitchFamily="18" charset="0"/>
              </a:rPr>
              <a:t>Introduction to Schema </a:t>
            </a:r>
            <a:r>
              <a:rPr lang="en-US" sz="3200" b="1" dirty="0" smtClean="0">
                <a:latin typeface="Times New Roman" pitchFamily="18" charset="0"/>
                <a:cs typeface="Times New Roman" pitchFamily="18" charset="0"/>
              </a:rPr>
              <a:t>Refinement</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389120"/>
          </a:xfrm>
        </p:spPr>
        <p:txBody>
          <a:bodyPr/>
          <a:lstStyle/>
          <a:p>
            <a:pPr marL="0" indent="0">
              <a:buNone/>
            </a:pPr>
            <a:r>
              <a:rPr lang="en-US" sz="2400" dirty="0">
                <a:latin typeface="Times New Roman" pitchFamily="18" charset="0"/>
                <a:cs typeface="Times New Roman" pitchFamily="18" charset="0"/>
              </a:rPr>
              <a:t>What is Schema Refinement</a:t>
            </a:r>
            <a:r>
              <a:rPr lang="en-US" sz="2400" dirty="0" smtClean="0">
                <a:latin typeface="Times New Roman" pitchFamily="18" charset="0"/>
                <a:cs typeface="Times New Roman" pitchFamily="18" charset="0"/>
              </a:rPr>
              <a:t>?</a:t>
            </a:r>
          </a:p>
          <a:p>
            <a:pPr marL="0" indent="0">
              <a:buNone/>
            </a:pPr>
            <a:r>
              <a:rPr lang="en-US" sz="2400" b="1" dirty="0">
                <a:latin typeface="Times New Roman" pitchFamily="18" charset="0"/>
                <a:cs typeface="Times New Roman" pitchFamily="18" charset="0"/>
              </a:rPr>
              <a:t>Schema refinement</a:t>
            </a:r>
            <a:r>
              <a:rPr lang="en-US" sz="2400" dirty="0">
                <a:latin typeface="Times New Roman" pitchFamily="18" charset="0"/>
                <a:cs typeface="Times New Roman" pitchFamily="18" charset="0"/>
              </a:rPr>
              <a:t> refers to the process of improving a relational database schema to ensure that:</a:t>
            </a:r>
          </a:p>
          <a:p>
            <a:r>
              <a:rPr lang="en-US" sz="2400" dirty="0">
                <a:latin typeface="Times New Roman" pitchFamily="18" charset="0"/>
                <a:cs typeface="Times New Roman" pitchFamily="18" charset="0"/>
              </a:rPr>
              <a:t>It avoids data anomalies (insertion, update, and deletion anomalies),</a:t>
            </a:r>
          </a:p>
          <a:p>
            <a:r>
              <a:rPr lang="en-US" sz="2400" dirty="0">
                <a:latin typeface="Times New Roman" pitchFamily="18" charset="0"/>
                <a:cs typeface="Times New Roman" pitchFamily="18" charset="0"/>
              </a:rPr>
              <a:t>It minimizes redundancy,</a:t>
            </a:r>
          </a:p>
          <a:p>
            <a:r>
              <a:rPr lang="en-US" sz="2400" dirty="0">
                <a:latin typeface="Times New Roman" pitchFamily="18" charset="0"/>
                <a:cs typeface="Times New Roman" pitchFamily="18" charset="0"/>
              </a:rPr>
              <a:t>It adheres to </a:t>
            </a:r>
            <a:r>
              <a:rPr lang="en-US" sz="2400" b="1" dirty="0">
                <a:latin typeface="Times New Roman" pitchFamily="18" charset="0"/>
                <a:cs typeface="Times New Roman" pitchFamily="18" charset="0"/>
              </a:rPr>
              <a:t>normal forms</a:t>
            </a:r>
            <a:r>
              <a:rPr lang="en-US" sz="2400" dirty="0">
                <a:latin typeface="Times New Roman" pitchFamily="18" charset="0"/>
                <a:cs typeface="Times New Roman" pitchFamily="18" charset="0"/>
              </a:rPr>
              <a:t>, and</a:t>
            </a:r>
          </a:p>
          <a:p>
            <a:r>
              <a:rPr lang="en-US" sz="2400" dirty="0">
                <a:latin typeface="Times New Roman" pitchFamily="18" charset="0"/>
                <a:cs typeface="Times New Roman" pitchFamily="18" charset="0"/>
              </a:rPr>
              <a:t>It maintains </a:t>
            </a:r>
            <a:r>
              <a:rPr lang="en-US" sz="2400" b="1" dirty="0">
                <a:latin typeface="Times New Roman" pitchFamily="18" charset="0"/>
                <a:cs typeface="Times New Roman" pitchFamily="18" charset="0"/>
              </a:rPr>
              <a:t>data integrity</a:t>
            </a:r>
            <a:r>
              <a:rPr lang="en-US" sz="2400" dirty="0">
                <a:latin typeface="Times New Roman" pitchFamily="18" charset="0"/>
                <a:cs typeface="Times New Roman" pitchFamily="18" charset="0"/>
              </a:rPr>
              <a:t>.</a:t>
            </a:r>
          </a:p>
          <a:p>
            <a:pPr marL="0" indent="0">
              <a:buNone/>
            </a:pPr>
            <a:endParaRPr lang="en-US" dirty="0"/>
          </a:p>
        </p:txBody>
      </p:sp>
    </p:spTree>
    <p:extLst>
      <p:ext uri="{BB962C8B-B14F-4D97-AF65-F5344CB8AC3E}">
        <p14:creationId xmlns:p14="http://schemas.microsoft.com/office/powerpoint/2010/main" val="3546041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71600"/>
            <a:ext cx="8610600" cy="3684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9801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475488"/>
          </a:xfrm>
        </p:spPr>
        <p:txBody>
          <a:bodyPr>
            <a:normAutofit fontScale="90000"/>
          </a:bodyPr>
          <a:lstStyle/>
          <a:p>
            <a:r>
              <a:rPr lang="en-US" sz="3200" b="1" dirty="0" smtClean="0">
                <a:latin typeface="Times New Roman" pitchFamily="18" charset="0"/>
                <a:cs typeface="Times New Roman" pitchFamily="18" charset="0"/>
              </a:rPr>
              <a:t>Functional </a:t>
            </a:r>
            <a:r>
              <a:rPr lang="en-US" sz="3200" b="1" dirty="0">
                <a:latin typeface="Times New Roman" pitchFamily="18" charset="0"/>
                <a:cs typeface="Times New Roman" pitchFamily="18" charset="0"/>
              </a:rPr>
              <a:t>Dependencies</a:t>
            </a:r>
          </a:p>
        </p:txBody>
      </p:sp>
      <p:sp>
        <p:nvSpPr>
          <p:cNvPr id="3" name="Content Placeholder 2"/>
          <p:cNvSpPr>
            <a:spLocks noGrp="1"/>
          </p:cNvSpPr>
          <p:nvPr>
            <p:ph idx="1"/>
          </p:nvPr>
        </p:nvSpPr>
        <p:spPr>
          <a:xfrm>
            <a:off x="533400" y="838200"/>
            <a:ext cx="8229600" cy="4389120"/>
          </a:xfrm>
        </p:spPr>
        <p:txBody>
          <a:bodyPr>
            <a:normAutofit fontScale="70000" lnSpcReduction="20000"/>
          </a:bodyPr>
          <a:lstStyle/>
          <a:p>
            <a:pPr algn="just"/>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functional dependency is a constraint that specifies the relationship between two sets of attributes where one set can accurately determine the value of other sets. </a:t>
            </a:r>
          </a:p>
          <a:p>
            <a:pPr algn="just"/>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denoted as X → Y, where X is a set of attributes that is capable of determining the value of Y. </a:t>
            </a:r>
          </a:p>
          <a:p>
            <a:pPr algn="just"/>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attribute set on the left side of the arrow, X is called Determinant, while on the right side, Y is called the Dependent</a:t>
            </a:r>
            <a:r>
              <a:rPr lang="en-US" sz="2400" dirty="0" smtClean="0">
                <a:latin typeface="Times New Roman" pitchFamily="18" charset="0"/>
                <a:cs typeface="Times New Roman" pitchFamily="18" charset="0"/>
              </a:rPr>
              <a:t>.</a:t>
            </a:r>
          </a:p>
          <a:p>
            <a:pPr marL="0" indent="0" fontAlgn="base">
              <a:buNone/>
            </a:pPr>
            <a:r>
              <a:rPr lang="en-US" sz="2400" dirty="0" smtClean="0"/>
              <a:t>Example:</a:t>
            </a:r>
          </a:p>
          <a:p>
            <a:pPr marL="0" indent="0" fontAlgn="base">
              <a:buNone/>
            </a:pPr>
            <a:r>
              <a:rPr lang="en-US" sz="2400" dirty="0" smtClean="0"/>
              <a:t>Consider </a:t>
            </a:r>
            <a:r>
              <a:rPr lang="en-US" sz="2400" dirty="0"/>
              <a:t>a table named Students with the following attributes:</a:t>
            </a:r>
          </a:p>
          <a:p>
            <a:pPr marL="0" indent="0" fontAlgn="base">
              <a:buNone/>
            </a:pPr>
            <a:r>
              <a:rPr lang="en-US" sz="2400" dirty="0" err="1"/>
              <a:t>StudentID</a:t>
            </a:r>
            <a:endParaRPr lang="en-US" sz="2400" dirty="0"/>
          </a:p>
          <a:p>
            <a:pPr marL="0" indent="0" fontAlgn="base">
              <a:buNone/>
            </a:pPr>
            <a:r>
              <a:rPr lang="en-US" sz="2400" dirty="0" err="1"/>
              <a:t>StudentName</a:t>
            </a:r>
            <a:endParaRPr lang="en-US" sz="2400" dirty="0"/>
          </a:p>
          <a:p>
            <a:pPr marL="0" indent="0" fontAlgn="base">
              <a:buNone/>
            </a:pPr>
            <a:r>
              <a:rPr lang="en-US" sz="2400" dirty="0" err="1"/>
              <a:t>StudentAge</a:t>
            </a:r>
            <a:endParaRPr lang="en-US" sz="2400" dirty="0"/>
          </a:p>
          <a:p>
            <a:pPr marL="0" indent="0" fontAlgn="base">
              <a:buNone/>
            </a:pPr>
            <a:endParaRPr lang="en-US" sz="2400" dirty="0" smtClean="0"/>
          </a:p>
          <a:p>
            <a:pPr marL="0" indent="0" fontAlgn="base">
              <a:buNone/>
            </a:pPr>
            <a:r>
              <a:rPr lang="en-US" sz="2400" dirty="0" smtClean="0"/>
              <a:t>If </a:t>
            </a:r>
            <a:r>
              <a:rPr lang="en-US" sz="2400" dirty="0"/>
              <a:t>each student has a unique </a:t>
            </a:r>
            <a:r>
              <a:rPr lang="en-US" sz="2400" dirty="0" err="1"/>
              <a:t>StudentID</a:t>
            </a:r>
            <a:r>
              <a:rPr lang="en-US" sz="2400" dirty="0"/>
              <a:t>, and this ID determines the student's name, we can express this functional dependency as:</a:t>
            </a:r>
          </a:p>
          <a:p>
            <a:pPr marL="0" indent="0" fontAlgn="base">
              <a:buNone/>
            </a:pPr>
            <a:r>
              <a:rPr lang="en-US" sz="2400" dirty="0" err="1"/>
              <a:t>StudentID</a:t>
            </a:r>
            <a:r>
              <a:rPr lang="en-US" sz="2400" dirty="0"/>
              <a:t> → </a:t>
            </a:r>
            <a:r>
              <a:rPr lang="en-US" sz="2400" dirty="0" err="1"/>
              <a:t>StudentName</a:t>
            </a:r>
            <a:endParaRPr lang="en-US" sz="2400" dirty="0"/>
          </a:p>
          <a:p>
            <a:pPr marL="0" indent="0" fontAlgn="base">
              <a:buNone/>
            </a:pPr>
            <a:r>
              <a:rPr lang="en-US" sz="2400" dirty="0"/>
              <a:t>This indicates that knowing the </a:t>
            </a:r>
            <a:r>
              <a:rPr lang="en-US" sz="2400" dirty="0" err="1"/>
              <a:t>StudentID</a:t>
            </a:r>
            <a:r>
              <a:rPr lang="en-US" sz="2400" dirty="0"/>
              <a:t> allows us to determine the </a:t>
            </a:r>
            <a:r>
              <a:rPr lang="en-US" sz="2400" dirty="0" err="1"/>
              <a:t>StudentName</a:t>
            </a:r>
            <a:r>
              <a:rPr lang="en-US" sz="2400" dirty="0"/>
              <a:t>.</a:t>
            </a:r>
          </a:p>
          <a:p>
            <a:pPr marL="0" indent="0" algn="just">
              <a:buNone/>
            </a:pPr>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9399" y="4800600"/>
            <a:ext cx="2533650" cy="1915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799" y="2133600"/>
            <a:ext cx="2124075" cy="1599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3962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863815"/>
            <a:ext cx="7935913" cy="5735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8224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smtClean="0">
                <a:latin typeface="Times New Roman" pitchFamily="18" charset="0"/>
                <a:cs typeface="Times New Roman" pitchFamily="18" charset="0"/>
              </a:rPr>
              <a:t>Example</a:t>
            </a:r>
            <a:endParaRPr lang="en-US" sz="3200" b="1" dirty="0">
              <a:latin typeface="Times New Roman" pitchFamily="18" charset="0"/>
              <a:cs typeface="Times New Roman" pitchFamily="18" charset="0"/>
            </a:endParaRP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3600" y="1579795"/>
            <a:ext cx="4415113" cy="401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89262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044" y="990600"/>
            <a:ext cx="6914082"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411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14400"/>
            <a:ext cx="6234113" cy="519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6562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09600"/>
            <a:ext cx="6145213"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4341423"/>
            <a:ext cx="5953956" cy="2372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3570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098" y="762000"/>
            <a:ext cx="6078537"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917" y="2028735"/>
            <a:ext cx="5859463"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5690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551688"/>
          </a:xfrm>
        </p:spPr>
        <p:txBody>
          <a:bodyPr>
            <a:normAutofit/>
          </a:bodyPr>
          <a:lstStyle/>
          <a:p>
            <a:r>
              <a:rPr lang="en-US" sz="3200" b="1" dirty="0" smtClean="0">
                <a:latin typeface="Times New Roman" pitchFamily="18" charset="0"/>
                <a:cs typeface="Times New Roman" pitchFamily="18" charset="0"/>
              </a:rPr>
              <a:t>Closure </a:t>
            </a:r>
            <a:r>
              <a:rPr lang="en-US" sz="3200" b="1" dirty="0">
                <a:latin typeface="Times New Roman" pitchFamily="18" charset="0"/>
                <a:cs typeface="Times New Roman" pitchFamily="18" charset="0"/>
              </a:rPr>
              <a:t>of a Set of </a:t>
            </a:r>
            <a:r>
              <a:rPr lang="en-US" sz="3200" b="1" dirty="0" smtClean="0">
                <a:latin typeface="Times New Roman" pitchFamily="18" charset="0"/>
                <a:cs typeface="Times New Roman" pitchFamily="18" charset="0"/>
              </a:rPr>
              <a:t>FDs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47800"/>
            <a:ext cx="8229600" cy="5105400"/>
          </a:xfrm>
        </p:spPr>
        <p:txBody>
          <a:bodyPr>
            <a:normAutofit fontScale="92500" lnSpcReduction="10000"/>
          </a:bodyPr>
          <a:lstStyle/>
          <a:p>
            <a:pPr marL="0" indent="0">
              <a:buNone/>
            </a:pPr>
            <a:r>
              <a:rPr lang="en-US" sz="2400" b="1" dirty="0">
                <a:latin typeface="Times New Roman" pitchFamily="18" charset="0"/>
                <a:cs typeface="Times New Roman" pitchFamily="18" charset="0"/>
              </a:rPr>
              <a:t>Definition:</a:t>
            </a:r>
          </a:p>
          <a:p>
            <a:pPr marL="0" indent="0">
              <a:buNone/>
            </a:pPr>
            <a:r>
              <a:rPr lang="en-US" sz="2400" dirty="0">
                <a:latin typeface="Times New Roman" pitchFamily="18" charset="0"/>
                <a:cs typeface="Times New Roman" pitchFamily="18" charset="0"/>
              </a:rPr>
              <a:t>Let </a:t>
            </a:r>
            <a:r>
              <a:rPr lang="en-US" sz="2400" b="1" dirty="0">
                <a:latin typeface="Times New Roman" pitchFamily="18" charset="0"/>
                <a:cs typeface="Times New Roman" pitchFamily="18" charset="0"/>
              </a:rPr>
              <a:t>F</a:t>
            </a:r>
            <a:r>
              <a:rPr lang="en-US" sz="2400" dirty="0">
                <a:latin typeface="Times New Roman" pitchFamily="18" charset="0"/>
                <a:cs typeface="Times New Roman" pitchFamily="18" charset="0"/>
              </a:rPr>
              <a:t> be a set of functional dependencies on a relation </a:t>
            </a:r>
            <a:r>
              <a:rPr lang="en-US" sz="2400" b="1" dirty="0">
                <a:latin typeface="Times New Roman" pitchFamily="18" charset="0"/>
                <a:cs typeface="Times New Roman" pitchFamily="18" charset="0"/>
              </a:rPr>
              <a:t>R</a:t>
            </a:r>
            <a:r>
              <a:rPr lang="en-US" sz="2400" dirty="0">
                <a:latin typeface="Times New Roman" pitchFamily="18" charset="0"/>
                <a:cs typeface="Times New Roman" pitchFamily="18" charset="0"/>
              </a:rPr>
              <a:t>. Then </a:t>
            </a:r>
            <a:r>
              <a:rPr lang="en-US" sz="2400" b="1" dirty="0">
                <a:latin typeface="Times New Roman" pitchFamily="18" charset="0"/>
                <a:cs typeface="Times New Roman" pitchFamily="18" charset="0"/>
              </a:rPr>
              <a:t>F⁺</a:t>
            </a:r>
            <a:r>
              <a:rPr lang="en-US" sz="2400" dirty="0">
                <a:latin typeface="Times New Roman" pitchFamily="18" charset="0"/>
                <a:cs typeface="Times New Roman" pitchFamily="18" charset="0"/>
              </a:rPr>
              <a:t> is the </a:t>
            </a:r>
            <a:r>
              <a:rPr lang="en-US" sz="2400" b="1" dirty="0">
                <a:latin typeface="Times New Roman" pitchFamily="18" charset="0"/>
                <a:cs typeface="Times New Roman" pitchFamily="18" charset="0"/>
              </a:rPr>
              <a:t>closure of F</a:t>
            </a:r>
            <a:r>
              <a:rPr lang="en-US" sz="2400" dirty="0">
                <a:latin typeface="Times New Roman" pitchFamily="18" charset="0"/>
                <a:cs typeface="Times New Roman" pitchFamily="18" charset="0"/>
              </a:rPr>
              <a:t>, i.e., all FDs that can be </a:t>
            </a:r>
            <a:r>
              <a:rPr lang="en-US" sz="2400" b="1" dirty="0">
                <a:latin typeface="Times New Roman" pitchFamily="18" charset="0"/>
                <a:cs typeface="Times New Roman" pitchFamily="18" charset="0"/>
              </a:rPr>
              <a:t>inferred</a:t>
            </a:r>
            <a:r>
              <a:rPr lang="en-US" sz="2400" dirty="0">
                <a:latin typeface="Times New Roman" pitchFamily="18" charset="0"/>
                <a:cs typeface="Times New Roman" pitchFamily="18" charset="0"/>
              </a:rPr>
              <a:t> from </a:t>
            </a:r>
            <a:r>
              <a:rPr lang="en-US" sz="2400" b="1" dirty="0">
                <a:latin typeface="Times New Roman" pitchFamily="18" charset="0"/>
                <a:cs typeface="Times New Roman" pitchFamily="18" charset="0"/>
              </a:rPr>
              <a:t>F</a:t>
            </a:r>
            <a:r>
              <a:rPr lang="en-US" sz="2400" dirty="0">
                <a:latin typeface="Times New Roman" pitchFamily="18" charset="0"/>
                <a:cs typeface="Times New Roman" pitchFamily="18" charset="0"/>
              </a:rPr>
              <a:t> using </a:t>
            </a:r>
            <a:r>
              <a:rPr lang="en-US" sz="2400" b="1" dirty="0">
                <a:latin typeface="Times New Roman" pitchFamily="18" charset="0"/>
                <a:cs typeface="Times New Roman" pitchFamily="18" charset="0"/>
              </a:rPr>
              <a:t>Armstrong’s Axioms</a:t>
            </a:r>
            <a:r>
              <a:rPr lang="en-US" sz="2400" dirty="0">
                <a:latin typeface="Times New Roman" pitchFamily="18" charset="0"/>
                <a:cs typeface="Times New Roman" pitchFamily="18" charset="0"/>
              </a:rPr>
              <a:t>.</a:t>
            </a:r>
          </a:p>
          <a:p>
            <a:pPr marL="0" indent="0">
              <a:buNone/>
            </a:pPr>
            <a:r>
              <a:rPr lang="en-US" dirty="0">
                <a:latin typeface="Times New Roman" pitchFamily="18" charset="0"/>
                <a:cs typeface="Times New Roman" pitchFamily="18" charset="0"/>
              </a:rPr>
              <a:t>These are the rules used to infer additional FDs from a given set:</a:t>
            </a:r>
          </a:p>
          <a:p>
            <a:pPr marL="0" indent="0">
              <a:buNone/>
            </a:pPr>
            <a:r>
              <a:rPr lang="en-US" b="1" dirty="0" smtClean="0">
                <a:latin typeface="Times New Roman" pitchFamily="18" charset="0"/>
                <a:cs typeface="Times New Roman" pitchFamily="18" charset="0"/>
              </a:rPr>
              <a:t>	Reflexivity</a:t>
            </a:r>
            <a:r>
              <a:rPr lang="en-US" dirty="0">
                <a:latin typeface="Times New Roman" pitchFamily="18" charset="0"/>
                <a:cs typeface="Times New Roman" pitchFamily="18" charset="0"/>
              </a:rPr>
              <a:t>: If Y ⊆ X, then X → Y</a:t>
            </a:r>
          </a:p>
          <a:p>
            <a:pPr marL="0" indent="0">
              <a:buNone/>
            </a:pPr>
            <a:r>
              <a:rPr lang="en-US" b="1" dirty="0" smtClean="0">
                <a:latin typeface="Times New Roman" pitchFamily="18" charset="0"/>
                <a:cs typeface="Times New Roman" pitchFamily="18" charset="0"/>
              </a:rPr>
              <a:t>	Augmentation</a:t>
            </a:r>
            <a:r>
              <a:rPr lang="en-US" dirty="0">
                <a:latin typeface="Times New Roman" pitchFamily="18" charset="0"/>
                <a:cs typeface="Times New Roman" pitchFamily="18" charset="0"/>
              </a:rPr>
              <a:t>: If X → Y, then XZ → YZ</a:t>
            </a:r>
          </a:p>
          <a:p>
            <a:pPr marL="0" indent="0">
              <a:buNone/>
            </a:pPr>
            <a:r>
              <a:rPr lang="en-US" b="1" dirty="0" smtClean="0">
                <a:latin typeface="Times New Roman" pitchFamily="18" charset="0"/>
                <a:cs typeface="Times New Roman" pitchFamily="18" charset="0"/>
              </a:rPr>
              <a:t>	Transitivity</a:t>
            </a:r>
            <a:r>
              <a:rPr lang="en-US" dirty="0">
                <a:latin typeface="Times New Roman" pitchFamily="18" charset="0"/>
                <a:cs typeface="Times New Roman" pitchFamily="18" charset="0"/>
              </a:rPr>
              <a:t>: If X → Y and Y → Z, then X → Z</a:t>
            </a:r>
          </a:p>
          <a:p>
            <a:pPr marL="0" indent="0">
              <a:buNone/>
            </a:pPr>
            <a:r>
              <a:rPr lang="en-US" dirty="0">
                <a:latin typeface="Times New Roman" pitchFamily="18" charset="0"/>
                <a:cs typeface="Times New Roman" pitchFamily="18" charset="0"/>
              </a:rPr>
              <a:t>Other derived rules:</a:t>
            </a:r>
          </a:p>
          <a:p>
            <a:pPr marL="0" indent="0">
              <a:buNone/>
            </a:pPr>
            <a:r>
              <a:rPr lang="en-US" b="1" dirty="0" smtClean="0">
                <a:latin typeface="Times New Roman" pitchFamily="18" charset="0"/>
                <a:cs typeface="Times New Roman" pitchFamily="18" charset="0"/>
              </a:rPr>
              <a:t>	Union</a:t>
            </a:r>
            <a:r>
              <a:rPr lang="en-US" dirty="0">
                <a:latin typeface="Times New Roman" pitchFamily="18" charset="0"/>
                <a:cs typeface="Times New Roman" pitchFamily="18" charset="0"/>
              </a:rPr>
              <a:t>: If X → Y and X → Z, then X → YZ</a:t>
            </a:r>
          </a:p>
          <a:p>
            <a:pPr marL="0" indent="0">
              <a:buNone/>
            </a:pPr>
            <a:r>
              <a:rPr lang="en-US" b="1" dirty="0" smtClean="0">
                <a:latin typeface="Times New Roman" pitchFamily="18" charset="0"/>
                <a:cs typeface="Times New Roman" pitchFamily="18" charset="0"/>
              </a:rPr>
              <a:t>	Decomposition</a:t>
            </a:r>
            <a:r>
              <a:rPr lang="en-US" dirty="0">
                <a:latin typeface="Times New Roman" pitchFamily="18" charset="0"/>
                <a:cs typeface="Times New Roman" pitchFamily="18" charset="0"/>
              </a:rPr>
              <a:t>: If X → YZ, then X → Y and X → Z</a:t>
            </a:r>
          </a:p>
          <a:p>
            <a:pPr marL="0" indent="0">
              <a:buNone/>
            </a:pPr>
            <a:r>
              <a:rPr lang="en-US" b="1" dirty="0" smtClean="0">
                <a:latin typeface="Times New Roman" pitchFamily="18" charset="0"/>
                <a:cs typeface="Times New Roman" pitchFamily="18" charset="0"/>
              </a:rPr>
              <a:t>	Pseudo </a:t>
            </a:r>
            <a:r>
              <a:rPr lang="en-US" b="1" dirty="0">
                <a:latin typeface="Times New Roman" pitchFamily="18" charset="0"/>
                <a:cs typeface="Times New Roman" pitchFamily="18" charset="0"/>
              </a:rPr>
              <a:t>Transitivity</a:t>
            </a:r>
            <a:r>
              <a:rPr lang="en-US" dirty="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If </a:t>
            </a:r>
            <a:r>
              <a:rPr lang="en-US" dirty="0">
                <a:latin typeface="Times New Roman" pitchFamily="18" charset="0"/>
                <a:cs typeface="Times New Roman" pitchFamily="18" charset="0"/>
              </a:rPr>
              <a:t>X → Y and YZ → W, then XZ → W</a:t>
            </a:r>
          </a:p>
          <a:p>
            <a:endParaRPr lang="en-US" dirty="0"/>
          </a:p>
        </p:txBody>
      </p:sp>
    </p:spTree>
    <p:extLst>
      <p:ext uri="{BB962C8B-B14F-4D97-AF65-F5344CB8AC3E}">
        <p14:creationId xmlns:p14="http://schemas.microsoft.com/office/powerpoint/2010/main" val="90530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75488"/>
          </a:xfrm>
        </p:spPr>
        <p:txBody>
          <a:bodyPr>
            <a:normAutofit fontScale="90000"/>
          </a:bodyPr>
          <a:lstStyle/>
          <a:p>
            <a:r>
              <a:rPr lang="en-US" sz="3200" b="1" dirty="0" smtClean="0">
                <a:latin typeface="Times New Roman" pitchFamily="18" charset="0"/>
                <a:cs typeface="Times New Roman" pitchFamily="18" charset="0"/>
              </a:rPr>
              <a:t>Find Candidate Keys in relation:</a:t>
            </a:r>
            <a:endParaRPr lang="en-US" sz="3200" b="1"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98637"/>
            <a:ext cx="6049963"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9969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smtClean="0">
                <a:latin typeface="Times New Roman" pitchFamily="18" charset="0"/>
                <a:cs typeface="Times New Roman" pitchFamily="18" charset="0"/>
              </a:rPr>
              <a:t>Normalization</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457200" y="1524000"/>
            <a:ext cx="8229600" cy="5181600"/>
          </a:xfrm>
        </p:spPr>
        <p:txBody>
          <a:bodyPr>
            <a:normAutofit fontScale="92500"/>
          </a:bodyPr>
          <a:lstStyle/>
          <a:p>
            <a:r>
              <a:rPr lang="en-US" sz="2400" dirty="0">
                <a:latin typeface="Times New Roman" pitchFamily="18" charset="0"/>
                <a:cs typeface="Times New Roman" pitchFamily="18" charset="0"/>
              </a:rPr>
              <a:t>There is less repetition of data,</a:t>
            </a:r>
          </a:p>
          <a:p>
            <a:r>
              <a:rPr lang="en-US" sz="2400" dirty="0">
                <a:latin typeface="Times New Roman" pitchFamily="18" charset="0"/>
                <a:cs typeface="Times New Roman" pitchFamily="18" charset="0"/>
              </a:rPr>
              <a:t>A large set of data is structured into a bunch of smaller tables,</a:t>
            </a:r>
          </a:p>
          <a:p>
            <a:r>
              <a:rPr lang="en-US" sz="2400" dirty="0">
                <a:latin typeface="Times New Roman" pitchFamily="18" charset="0"/>
                <a:cs typeface="Times New Roman" pitchFamily="18" charset="0"/>
              </a:rPr>
              <a:t>and the tables have a proper relationship between them.</a:t>
            </a:r>
          </a:p>
          <a:p>
            <a:pPr marL="0" indent="0">
              <a:buNone/>
            </a:pPr>
            <a:r>
              <a:rPr lang="en-US" sz="2400" b="1" dirty="0">
                <a:latin typeface="Times New Roman" pitchFamily="18" charset="0"/>
                <a:cs typeface="Times New Roman" pitchFamily="18" charset="0"/>
              </a:rPr>
              <a:t>Why we need Normalization in DBMS?</a:t>
            </a:r>
          </a:p>
          <a:p>
            <a:pPr marL="0" indent="0">
              <a:buNone/>
            </a:pPr>
            <a:r>
              <a:rPr lang="en-US" sz="2400" dirty="0">
                <a:latin typeface="Times New Roman" pitchFamily="18" charset="0"/>
                <a:cs typeface="Times New Roman" pitchFamily="18" charset="0"/>
              </a:rPr>
              <a:t>Normalization is required for,</a:t>
            </a:r>
          </a:p>
          <a:p>
            <a:r>
              <a:rPr lang="en-US" sz="2400" dirty="0">
                <a:latin typeface="Times New Roman" pitchFamily="18" charset="0"/>
                <a:cs typeface="Times New Roman" pitchFamily="18" charset="0"/>
              </a:rPr>
              <a:t>Eliminating redundant(useless) data, therefore handling </a:t>
            </a:r>
            <a:r>
              <a:rPr lang="en-US" sz="2400" b="1" dirty="0">
                <a:latin typeface="Times New Roman" pitchFamily="18" charset="0"/>
                <a:cs typeface="Times New Roman" pitchFamily="18" charset="0"/>
              </a:rPr>
              <a:t>data integrity</a:t>
            </a:r>
            <a:r>
              <a:rPr lang="en-US" sz="2400" dirty="0">
                <a:latin typeface="Times New Roman" pitchFamily="18" charset="0"/>
                <a:cs typeface="Times New Roman" pitchFamily="18" charset="0"/>
              </a:rPr>
              <a:t>, because if data is repeated it increases the chances of inconsistent data.</a:t>
            </a:r>
          </a:p>
          <a:p>
            <a:r>
              <a:rPr lang="en-US" sz="2400" dirty="0">
                <a:latin typeface="Times New Roman" pitchFamily="18" charset="0"/>
                <a:cs typeface="Times New Roman" pitchFamily="18" charset="0"/>
              </a:rPr>
              <a:t>Normalization helps in keeping </a:t>
            </a:r>
            <a:r>
              <a:rPr lang="en-US" sz="2400" b="1" dirty="0">
                <a:latin typeface="Times New Roman" pitchFamily="18" charset="0"/>
                <a:cs typeface="Times New Roman" pitchFamily="18" charset="0"/>
              </a:rPr>
              <a:t>data consistent</a:t>
            </a:r>
            <a:r>
              <a:rPr lang="en-US" sz="2400" dirty="0">
                <a:latin typeface="Times New Roman" pitchFamily="18" charset="0"/>
                <a:cs typeface="Times New Roman" pitchFamily="18" charset="0"/>
              </a:rPr>
              <a:t> by storing the data in one table and referencing it everywhere else.</a:t>
            </a:r>
          </a:p>
          <a:p>
            <a:r>
              <a:rPr lang="en-US" sz="2400" dirty="0" smtClean="0">
                <a:latin typeface="Times New Roman" pitchFamily="18" charset="0"/>
                <a:cs typeface="Times New Roman" pitchFamily="18" charset="0"/>
              </a:rPr>
              <a:t>Breaking </a:t>
            </a:r>
            <a:r>
              <a:rPr lang="en-US" sz="2400" dirty="0">
                <a:latin typeface="Times New Roman" pitchFamily="18" charset="0"/>
                <a:cs typeface="Times New Roman" pitchFamily="18" charset="0"/>
              </a:rPr>
              <a:t>down large tables into smaller tables with relationships, so it makes the database structure more scalable and adaptable.</a:t>
            </a:r>
          </a:p>
          <a:p>
            <a:r>
              <a:rPr lang="en-US" sz="2400" dirty="0" smtClean="0">
                <a:latin typeface="Times New Roman" pitchFamily="18" charset="0"/>
                <a:cs typeface="Times New Roman" pitchFamily="18" charset="0"/>
              </a:rPr>
              <a:t>Ensuring data dependencies make sense i.e. data is logically stored.</a:t>
            </a:r>
          </a:p>
          <a:p>
            <a:pPr marL="0" indent="0">
              <a:buNone/>
            </a:pPr>
            <a:endParaRPr lang="en-US" dirty="0"/>
          </a:p>
        </p:txBody>
      </p:sp>
    </p:spTree>
    <p:extLst>
      <p:ext uri="{BB962C8B-B14F-4D97-AF65-F5344CB8AC3E}">
        <p14:creationId xmlns:p14="http://schemas.microsoft.com/office/powerpoint/2010/main" val="2404021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09600"/>
            <a:ext cx="8229600" cy="475488"/>
          </a:xfrm>
        </p:spPr>
        <p:txBody>
          <a:bodyPr>
            <a:normAutofit fontScale="90000"/>
          </a:bodyPr>
          <a:lstStyle/>
          <a:p>
            <a:r>
              <a:rPr lang="en-US" sz="3200" b="1" dirty="0">
                <a:latin typeface="Times New Roman" pitchFamily="18" charset="0"/>
                <a:cs typeface="Times New Roman" pitchFamily="18" charset="0"/>
              </a:rPr>
              <a:t>Types of DBMS Normal </a:t>
            </a:r>
            <a:r>
              <a:rPr lang="en-US" sz="3200" b="1" dirty="0" smtClean="0">
                <a:latin typeface="Times New Roman" pitchFamily="18" charset="0"/>
                <a:cs typeface="Times New Roman" pitchFamily="18" charset="0"/>
              </a:rPr>
              <a:t>forms</a:t>
            </a: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386443" y="1066800"/>
            <a:ext cx="8229600" cy="4389120"/>
          </a:xfrm>
        </p:spPr>
        <p:txBody>
          <a:bodyPr>
            <a:normAutofit/>
          </a:bodyPr>
          <a:lstStyle/>
          <a:p>
            <a:pPr marL="0" indent="0">
              <a:buNone/>
            </a:pPr>
            <a:r>
              <a:rPr lang="en-US" sz="2000" b="1" dirty="0">
                <a:latin typeface="Times New Roman" pitchFamily="18" charset="0"/>
                <a:cs typeface="Times New Roman" pitchFamily="18" charset="0"/>
              </a:rPr>
              <a:t>1. First Normal Form (1NF)</a:t>
            </a:r>
          </a:p>
          <a:p>
            <a:pPr lvl="1"/>
            <a:r>
              <a:rPr lang="en-US" sz="2000" dirty="0">
                <a:latin typeface="Times New Roman" pitchFamily="18" charset="0"/>
                <a:cs typeface="Times New Roman" pitchFamily="18" charset="0"/>
              </a:rPr>
              <a:t>For a table to be in the First Normal Form, it should follow the following 4 rules:</a:t>
            </a:r>
          </a:p>
          <a:p>
            <a:pPr lvl="1"/>
            <a:r>
              <a:rPr lang="en-US" sz="2000" dirty="0">
                <a:latin typeface="Times New Roman" pitchFamily="18" charset="0"/>
                <a:cs typeface="Times New Roman" pitchFamily="18" charset="0"/>
              </a:rPr>
              <a:t>It should only have single(</a:t>
            </a:r>
            <a:r>
              <a:rPr lang="en-US" sz="2000" b="1" dirty="0">
                <a:latin typeface="Times New Roman" pitchFamily="18" charset="0"/>
                <a:cs typeface="Times New Roman" pitchFamily="18" charset="0"/>
              </a:rPr>
              <a:t>atomic</a:t>
            </a:r>
            <a:r>
              <a:rPr lang="en-US" sz="2000" dirty="0">
                <a:latin typeface="Times New Roman" pitchFamily="18" charset="0"/>
                <a:cs typeface="Times New Roman" pitchFamily="18" charset="0"/>
              </a:rPr>
              <a:t>) valued attributes/columns.</a:t>
            </a:r>
          </a:p>
          <a:p>
            <a:pPr lvl="1"/>
            <a:r>
              <a:rPr lang="en-US" sz="2000" dirty="0">
                <a:latin typeface="Times New Roman" pitchFamily="18" charset="0"/>
                <a:cs typeface="Times New Roman" pitchFamily="18" charset="0"/>
              </a:rPr>
              <a:t>Values stored in a column should be of the same domain.</a:t>
            </a:r>
          </a:p>
          <a:p>
            <a:pPr lvl="1"/>
            <a:r>
              <a:rPr lang="en-US" sz="2000" dirty="0">
                <a:latin typeface="Times New Roman" pitchFamily="18" charset="0"/>
                <a:cs typeface="Times New Roman" pitchFamily="18" charset="0"/>
              </a:rPr>
              <a:t>All the columns in a table should have unique names.</a:t>
            </a:r>
          </a:p>
          <a:p>
            <a:pPr lvl="1"/>
            <a:r>
              <a:rPr lang="en-US" sz="2000" dirty="0">
                <a:latin typeface="Times New Roman" pitchFamily="18" charset="0"/>
                <a:cs typeface="Times New Roman" pitchFamily="18" charset="0"/>
              </a:rPr>
              <a:t>And the order in which data is stored should not matter.</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9136" y="3505200"/>
            <a:ext cx="6248399"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87829" y="4884964"/>
            <a:ext cx="8534400" cy="2031325"/>
          </a:xfrm>
          <a:prstGeom prst="rect">
            <a:avLst/>
          </a:prstGeom>
        </p:spPr>
        <p:txBody>
          <a:bodyPr wrap="square">
            <a:spAutoFit/>
          </a:bodyPr>
          <a:lstStyle/>
          <a:p>
            <a:r>
              <a:rPr lang="en-US" dirty="0"/>
              <a:t>The above table has 4 columns:</a:t>
            </a:r>
          </a:p>
          <a:p>
            <a:r>
              <a:rPr lang="en-US" dirty="0"/>
              <a:t>All the columns have different names.</a:t>
            </a:r>
          </a:p>
          <a:p>
            <a:r>
              <a:rPr lang="en-US" dirty="0"/>
              <a:t>All the columns hold values of the same type like </a:t>
            </a:r>
            <a:r>
              <a:rPr lang="en-US" b="1" dirty="0" err="1"/>
              <a:t>emp_name</a:t>
            </a:r>
            <a:r>
              <a:rPr lang="en-US" dirty="0"/>
              <a:t> has all the names, </a:t>
            </a:r>
            <a:r>
              <a:rPr lang="en-US" b="1" dirty="0" err="1"/>
              <a:t>emp_mobile</a:t>
            </a:r>
            <a:r>
              <a:rPr lang="en-US" dirty="0"/>
              <a:t> has all the contact numbers, etc.</a:t>
            </a:r>
          </a:p>
          <a:p>
            <a:r>
              <a:rPr lang="en-US" dirty="0"/>
              <a:t>The order in which we save data doesn't matter</a:t>
            </a:r>
          </a:p>
          <a:p>
            <a:r>
              <a:rPr lang="en-US" dirty="0"/>
              <a:t>But the </a:t>
            </a:r>
            <a:r>
              <a:rPr lang="en-US" b="1" dirty="0" err="1"/>
              <a:t>emp_skills</a:t>
            </a:r>
            <a:r>
              <a:rPr lang="en-US" dirty="0"/>
              <a:t> column holds </a:t>
            </a:r>
            <a:r>
              <a:rPr lang="en-US" i="1" dirty="0"/>
              <a:t>multiple comma-separated values</a:t>
            </a:r>
            <a:r>
              <a:rPr lang="en-US" dirty="0"/>
              <a:t>, while as per the First Normal form, each column should have a single value.</a:t>
            </a:r>
          </a:p>
        </p:txBody>
      </p:sp>
    </p:spTree>
    <p:extLst>
      <p:ext uri="{BB962C8B-B14F-4D97-AF65-F5344CB8AC3E}">
        <p14:creationId xmlns:p14="http://schemas.microsoft.com/office/powerpoint/2010/main" val="471425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475488"/>
          </a:xfrm>
        </p:spPr>
        <p:txBody>
          <a:bodyPr>
            <a:normAutofit fontScale="90000"/>
          </a:bodyPr>
          <a:lstStyle/>
          <a:p>
            <a:r>
              <a:rPr lang="en-US" sz="3200" b="1" dirty="0">
                <a:latin typeface="Times New Roman" pitchFamily="18" charset="0"/>
                <a:cs typeface="Times New Roman" pitchFamily="18" charset="0"/>
              </a:rPr>
              <a:t>Types of DBMS Normal forms</a:t>
            </a:r>
            <a:endParaRPr lang="en-US" sz="3200" dirty="0"/>
          </a:p>
        </p:txBody>
      </p:sp>
      <p:sp>
        <p:nvSpPr>
          <p:cNvPr id="3" name="Content Placeholder 2"/>
          <p:cNvSpPr>
            <a:spLocks noGrp="1"/>
          </p:cNvSpPr>
          <p:nvPr>
            <p:ph idx="1"/>
          </p:nvPr>
        </p:nvSpPr>
        <p:spPr>
          <a:xfrm>
            <a:off x="457200" y="1219200"/>
            <a:ext cx="8229600" cy="4389120"/>
          </a:xfrm>
        </p:spPr>
        <p:txBody>
          <a:bodyPr/>
          <a:lstStyle/>
          <a:p>
            <a:pPr marL="0" indent="0">
              <a:buNone/>
            </a:pPr>
            <a:r>
              <a:rPr lang="en-US" dirty="0"/>
              <a:t>Create Separate tables for Employee and Employee Skills</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828800"/>
            <a:ext cx="7253658"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 y="3505200"/>
            <a:ext cx="7298771" cy="256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4794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475488"/>
          </a:xfrm>
        </p:spPr>
        <p:txBody>
          <a:bodyPr>
            <a:normAutofit fontScale="90000"/>
          </a:bodyPr>
          <a:lstStyle/>
          <a:p>
            <a:r>
              <a:rPr lang="en-US" sz="3200" b="1" dirty="0">
                <a:latin typeface="Times New Roman" pitchFamily="18" charset="0"/>
                <a:cs typeface="Times New Roman" pitchFamily="18" charset="0"/>
              </a:rPr>
              <a:t>Types of DBMS Normal forms</a:t>
            </a:r>
            <a:endParaRPr lang="en-US" sz="3200" dirty="0"/>
          </a:p>
        </p:txBody>
      </p:sp>
      <p:sp>
        <p:nvSpPr>
          <p:cNvPr id="3" name="Content Placeholder 2"/>
          <p:cNvSpPr>
            <a:spLocks noGrp="1"/>
          </p:cNvSpPr>
          <p:nvPr>
            <p:ph idx="1"/>
          </p:nvPr>
        </p:nvSpPr>
        <p:spPr>
          <a:xfrm>
            <a:off x="457200" y="1219200"/>
            <a:ext cx="8229600" cy="5486400"/>
          </a:xfrm>
        </p:spPr>
        <p:txBody>
          <a:bodyPr>
            <a:normAutofit/>
          </a:bodyPr>
          <a:lstStyle/>
          <a:p>
            <a:pPr marL="0" indent="0">
              <a:buNone/>
            </a:pPr>
            <a:r>
              <a:rPr lang="en-US" sz="2000" b="1" dirty="0">
                <a:latin typeface="Times New Roman" pitchFamily="18" charset="0"/>
                <a:cs typeface="Times New Roman" pitchFamily="18" charset="0"/>
              </a:rPr>
              <a:t>2. Second Normal Form (2NF)</a:t>
            </a:r>
          </a:p>
          <a:p>
            <a:r>
              <a:rPr lang="en-US" sz="2000" dirty="0">
                <a:latin typeface="Times New Roman" pitchFamily="18" charset="0"/>
                <a:cs typeface="Times New Roman" pitchFamily="18" charset="0"/>
              </a:rPr>
              <a:t>For a table to be in the Second Normal Form,</a:t>
            </a:r>
          </a:p>
          <a:p>
            <a:r>
              <a:rPr lang="en-US" sz="2000" dirty="0">
                <a:latin typeface="Times New Roman" pitchFamily="18" charset="0"/>
                <a:cs typeface="Times New Roman" pitchFamily="18" charset="0"/>
              </a:rPr>
              <a:t>It should be in the First Normal form.</a:t>
            </a:r>
          </a:p>
          <a:p>
            <a:r>
              <a:rPr lang="en-US" sz="2000" dirty="0">
                <a:latin typeface="Times New Roman" pitchFamily="18" charset="0"/>
                <a:cs typeface="Times New Roman" pitchFamily="18" charset="0"/>
              </a:rPr>
              <a:t>And, it should not have </a:t>
            </a:r>
            <a:r>
              <a:rPr lang="en-US" sz="2000" b="1" dirty="0">
                <a:latin typeface="Times New Roman" pitchFamily="18" charset="0"/>
                <a:cs typeface="Times New Roman" pitchFamily="18" charset="0"/>
              </a:rPr>
              <a:t>Partial Dependency</a:t>
            </a:r>
            <a:r>
              <a:rPr lang="en-US" sz="2000" dirty="0">
                <a:latin typeface="Times New Roman" pitchFamily="18" charset="0"/>
                <a:cs typeface="Times New Roman" pitchFamily="18" charset="0"/>
              </a:rPr>
              <a:t>.</a:t>
            </a:r>
          </a:p>
          <a:p>
            <a:pPr marL="0" indent="0">
              <a:buNone/>
            </a:pPr>
            <a:r>
              <a:rPr lang="en-US" sz="2000" b="1" dirty="0">
                <a:latin typeface="Times New Roman" pitchFamily="18" charset="0"/>
                <a:cs typeface="Times New Roman" pitchFamily="18" charset="0"/>
              </a:rPr>
              <a:t>What is Partial Dependency?</a:t>
            </a:r>
          </a:p>
          <a:p>
            <a:pPr marL="0" indent="0">
              <a:buNone/>
            </a:pPr>
            <a:r>
              <a:rPr lang="en-US" sz="2000" dirty="0" smtClean="0">
                <a:latin typeface="Times New Roman" pitchFamily="18" charset="0"/>
                <a:cs typeface="Times New Roman" pitchFamily="18" charset="0"/>
              </a:rPr>
              <a:t>When </a:t>
            </a:r>
            <a:r>
              <a:rPr lang="en-US" sz="2000" dirty="0">
                <a:latin typeface="Times New Roman" pitchFamily="18" charset="0"/>
                <a:cs typeface="Times New Roman" pitchFamily="18" charset="0"/>
              </a:rPr>
              <a:t>a table has a primary key that is made up of two or more columns, then all the columns(not included in the primary key) in that table should depend on the entire primary key and not on a part of it. If any column(which is not in the primary key) depends on a part of the primary key then we say we have Partial dependency in the table</a:t>
            </a:r>
            <a:r>
              <a:rPr lang="en-US" sz="2000" dirty="0" smtClean="0">
                <a:latin typeface="Times New Roman" pitchFamily="18" charset="0"/>
                <a:cs typeface="Times New Roman" pitchFamily="18" charset="0"/>
              </a:rPr>
              <a:t>.</a:t>
            </a:r>
          </a:p>
          <a:p>
            <a:pPr marL="0" indent="0">
              <a:buNone/>
            </a:pPr>
            <a:endParaRPr lang="en-US" sz="2000" dirty="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4876800"/>
            <a:ext cx="7264400" cy="1497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951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685800"/>
            <a:ext cx="8229600" cy="475488"/>
          </a:xfrm>
          <a:prstGeom prst="rect">
            <a:avLst/>
          </a:prstGeom>
        </p:spPr>
        <p:txBody>
          <a:bodyPr vert="horz" lIns="0" rIns="0" bIns="0" anchor="b">
            <a:normAutofit fontScale="90000" lnSpcReduction="10000"/>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dirty="0" smtClean="0">
                <a:latin typeface="Times New Roman" pitchFamily="18" charset="0"/>
                <a:cs typeface="Times New Roman" pitchFamily="18" charset="0"/>
              </a:rPr>
              <a:t>Types of DBMS Normal forms</a:t>
            </a:r>
            <a:endParaRPr lang="en-US" sz="32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950" y="1447800"/>
            <a:ext cx="8605097" cy="4525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7829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389120"/>
          </a:xfrm>
        </p:spPr>
        <p:txBody>
          <a:bodyPr/>
          <a:lstStyle/>
          <a:p>
            <a:pPr marL="0" indent="0">
              <a:buNone/>
            </a:pPr>
            <a:r>
              <a:rPr lang="en-US" sz="2000" b="1" dirty="0">
                <a:latin typeface="Times New Roman" pitchFamily="18" charset="0"/>
                <a:cs typeface="Times New Roman" pitchFamily="18" charset="0"/>
              </a:rPr>
              <a:t>3. Third Normal Form (3NF</a:t>
            </a:r>
            <a:r>
              <a:rPr lang="en-US" sz="2000" b="1" dirty="0" smtClean="0">
                <a:latin typeface="Times New Roman" pitchFamily="18" charset="0"/>
                <a:cs typeface="Times New Roman" pitchFamily="18" charset="0"/>
              </a:rPr>
              <a:t>)</a:t>
            </a:r>
          </a:p>
          <a:p>
            <a:pPr marL="0" indent="0">
              <a:buNone/>
            </a:pPr>
            <a:r>
              <a:rPr lang="en-US" sz="2000" dirty="0">
                <a:latin typeface="Times New Roman" pitchFamily="18" charset="0"/>
                <a:cs typeface="Times New Roman" pitchFamily="18" charset="0"/>
              </a:rPr>
              <a:t>A table is said to be in the Third Normal Form when,</a:t>
            </a:r>
          </a:p>
          <a:p>
            <a:r>
              <a:rPr lang="en-US" sz="2000" dirty="0">
                <a:latin typeface="Times New Roman" pitchFamily="18" charset="0"/>
                <a:cs typeface="Times New Roman" pitchFamily="18" charset="0"/>
              </a:rPr>
              <a:t>It satisfies the First Normal Form and the Second Normal form.</a:t>
            </a:r>
          </a:p>
          <a:p>
            <a:r>
              <a:rPr lang="en-US" sz="2000" dirty="0">
                <a:latin typeface="Times New Roman" pitchFamily="18" charset="0"/>
                <a:cs typeface="Times New Roman" pitchFamily="18" charset="0"/>
              </a:rPr>
              <a:t>And, it doesn't have Transitive Dependency.</a:t>
            </a:r>
          </a:p>
          <a:p>
            <a:pPr marL="0" indent="0">
              <a:buNone/>
            </a:pPr>
            <a:endParaRPr lang="en-US" dirty="0"/>
          </a:p>
          <a:p>
            <a:endParaRPr lang="en-US" dirty="0"/>
          </a:p>
        </p:txBody>
      </p:sp>
      <p:sp>
        <p:nvSpPr>
          <p:cNvPr id="4" name="Title 1"/>
          <p:cNvSpPr txBox="1">
            <a:spLocks/>
          </p:cNvSpPr>
          <p:nvPr/>
        </p:nvSpPr>
        <p:spPr>
          <a:xfrm>
            <a:off x="457200" y="685800"/>
            <a:ext cx="8229600" cy="475488"/>
          </a:xfrm>
          <a:prstGeom prst="rect">
            <a:avLst/>
          </a:prstGeom>
        </p:spPr>
        <p:txBody>
          <a:bodyPr vert="horz" lIns="0" rIns="0" bIns="0" anchor="b">
            <a:normAutofit fontScale="90000" lnSpcReduction="10000"/>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dirty="0" smtClean="0">
                <a:latin typeface="Times New Roman" pitchFamily="18" charset="0"/>
                <a:cs typeface="Times New Roman" pitchFamily="18" charset="0"/>
              </a:rPr>
              <a:t>Types of DBMS Normal forms</a:t>
            </a:r>
            <a:endParaRPr lang="en-US" sz="3200" dirty="0"/>
          </a:p>
        </p:txBody>
      </p:sp>
    </p:spTree>
    <p:extLst>
      <p:ext uri="{BB962C8B-B14F-4D97-AF65-F5344CB8AC3E}">
        <p14:creationId xmlns:p14="http://schemas.microsoft.com/office/powerpoint/2010/main" val="3486022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3529" y="1447800"/>
            <a:ext cx="8229600" cy="5334000"/>
          </a:xfrm>
        </p:spPr>
        <p:txBody>
          <a:bodyPr>
            <a:normAutofit/>
          </a:bodyPr>
          <a:lstStyle/>
          <a:p>
            <a:pPr marL="0" indent="0">
              <a:buNone/>
            </a:pPr>
            <a:r>
              <a:rPr lang="en-US" sz="2000" b="1" dirty="0">
                <a:latin typeface="Times New Roman" pitchFamily="18" charset="0"/>
                <a:cs typeface="Times New Roman" pitchFamily="18" charset="0"/>
              </a:rPr>
              <a:t>4. Boyce-</a:t>
            </a:r>
            <a:r>
              <a:rPr lang="en-US" sz="2000" b="1" dirty="0" err="1">
                <a:latin typeface="Times New Roman" pitchFamily="18" charset="0"/>
                <a:cs typeface="Times New Roman" pitchFamily="18" charset="0"/>
              </a:rPr>
              <a:t>Codd</a:t>
            </a:r>
            <a:r>
              <a:rPr lang="en-US" sz="2000" b="1" dirty="0">
                <a:latin typeface="Times New Roman" pitchFamily="18" charset="0"/>
                <a:cs typeface="Times New Roman" pitchFamily="18" charset="0"/>
              </a:rPr>
              <a:t> Normal Form (BCNF)</a:t>
            </a:r>
          </a:p>
          <a:p>
            <a:pPr marL="0" indent="0">
              <a:buNone/>
            </a:pPr>
            <a:r>
              <a:rPr lang="en-US" sz="2000" b="1" dirty="0">
                <a:latin typeface="Times New Roman" pitchFamily="18" charset="0"/>
                <a:cs typeface="Times New Roman" pitchFamily="18" charset="0"/>
              </a:rPr>
              <a:t>Boyce and </a:t>
            </a:r>
            <a:r>
              <a:rPr lang="en-US" sz="2000" b="1" dirty="0" err="1">
                <a:latin typeface="Times New Roman" pitchFamily="18" charset="0"/>
                <a:cs typeface="Times New Roman" pitchFamily="18" charset="0"/>
              </a:rPr>
              <a:t>Codd</a:t>
            </a:r>
            <a:r>
              <a:rPr lang="en-US" sz="2000" b="1" dirty="0">
                <a:latin typeface="Times New Roman" pitchFamily="18" charset="0"/>
                <a:cs typeface="Times New Roman" pitchFamily="18" charset="0"/>
              </a:rPr>
              <a:t> Normal Form</a:t>
            </a:r>
            <a:r>
              <a:rPr lang="en-US" sz="2000" dirty="0">
                <a:latin typeface="Times New Roman" pitchFamily="18" charset="0"/>
                <a:cs typeface="Times New Roman" pitchFamily="18" charset="0"/>
              </a:rPr>
              <a:t> is a higher version of the Third Normal Form.</a:t>
            </a:r>
          </a:p>
          <a:p>
            <a:pPr marL="0" indent="0">
              <a:buNone/>
            </a:pPr>
            <a:r>
              <a:rPr lang="en-US" sz="2000" dirty="0">
                <a:latin typeface="Times New Roman" pitchFamily="18" charset="0"/>
                <a:cs typeface="Times New Roman" pitchFamily="18" charset="0"/>
              </a:rPr>
              <a:t>This form deals with a certain type of anomaly that is not handled by 3NF.</a:t>
            </a:r>
          </a:p>
          <a:p>
            <a:pPr marL="0" indent="0">
              <a:buNone/>
            </a:pPr>
            <a:r>
              <a:rPr lang="en-US" sz="2000" dirty="0">
                <a:latin typeface="Times New Roman" pitchFamily="18" charset="0"/>
                <a:cs typeface="Times New Roman" pitchFamily="18" charset="0"/>
              </a:rPr>
              <a:t>A 3NF table that does not have </a:t>
            </a:r>
            <a:r>
              <a:rPr lang="en-US" sz="2000" b="1" dirty="0">
                <a:latin typeface="Times New Roman" pitchFamily="18" charset="0"/>
                <a:cs typeface="Times New Roman" pitchFamily="18" charset="0"/>
              </a:rPr>
              <a:t>multiple overlapping candidate keys</a:t>
            </a:r>
            <a:r>
              <a:rPr lang="en-US" sz="2000" dirty="0">
                <a:latin typeface="Times New Roman" pitchFamily="18" charset="0"/>
                <a:cs typeface="Times New Roman" pitchFamily="18" charset="0"/>
              </a:rPr>
              <a:t> is said to be in BCNF.</a:t>
            </a:r>
          </a:p>
          <a:p>
            <a:pPr marL="0" indent="0">
              <a:buNone/>
            </a:pPr>
            <a:r>
              <a:rPr lang="en-US" sz="2000" dirty="0">
                <a:latin typeface="Times New Roman" pitchFamily="18" charset="0"/>
                <a:cs typeface="Times New Roman" pitchFamily="18" charset="0"/>
              </a:rPr>
              <a:t>For a table to be in BCNF, the following conditions must be satisfied:</a:t>
            </a:r>
          </a:p>
          <a:p>
            <a:pPr lvl="1"/>
            <a:r>
              <a:rPr lang="en-US" sz="2000" dirty="0">
                <a:latin typeface="Times New Roman" pitchFamily="18" charset="0"/>
                <a:cs typeface="Times New Roman" pitchFamily="18" charset="0"/>
              </a:rPr>
              <a:t>R must be in the 3rd Normal Form</a:t>
            </a:r>
          </a:p>
          <a:p>
            <a:pPr lvl="1"/>
            <a:r>
              <a:rPr lang="en-US" sz="2000" dirty="0">
                <a:latin typeface="Times New Roman" pitchFamily="18" charset="0"/>
                <a:cs typeface="Times New Roman" pitchFamily="18" charset="0"/>
              </a:rPr>
              <a:t>and, for each functional dependency ( X → Y ), X should be a Super Key.</a:t>
            </a:r>
          </a:p>
          <a:p>
            <a:endParaRPr lang="en-US" dirty="0"/>
          </a:p>
        </p:txBody>
      </p:sp>
      <p:sp>
        <p:nvSpPr>
          <p:cNvPr id="4" name="Title 1"/>
          <p:cNvSpPr txBox="1">
            <a:spLocks/>
          </p:cNvSpPr>
          <p:nvPr/>
        </p:nvSpPr>
        <p:spPr>
          <a:xfrm>
            <a:off x="457200" y="685800"/>
            <a:ext cx="8229600" cy="475488"/>
          </a:xfrm>
          <a:prstGeom prst="rect">
            <a:avLst/>
          </a:prstGeom>
        </p:spPr>
        <p:txBody>
          <a:bodyPr vert="horz" lIns="0" rIns="0" bIns="0" anchor="b">
            <a:normAutofit fontScale="90000" lnSpcReduction="10000"/>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dirty="0" smtClean="0">
                <a:latin typeface="Times New Roman" pitchFamily="18" charset="0"/>
                <a:cs typeface="Times New Roman" pitchFamily="18" charset="0"/>
              </a:rPr>
              <a:t>Types of DBMS Normal forms</a:t>
            </a:r>
            <a:endParaRPr lang="en-US" sz="3200" dirty="0"/>
          </a:p>
        </p:txBody>
      </p:sp>
    </p:spTree>
    <p:extLst>
      <p:ext uri="{BB962C8B-B14F-4D97-AF65-F5344CB8AC3E}">
        <p14:creationId xmlns:p14="http://schemas.microsoft.com/office/powerpoint/2010/main" val="1845181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a:latin typeface="Times New Roman" pitchFamily="18" charset="0"/>
                <a:cs typeface="Times New Roman" pitchFamily="18" charset="0"/>
              </a:rPr>
              <a:t>Use of Decompositions</a:t>
            </a:r>
          </a:p>
        </p:txBody>
      </p:sp>
      <p:sp>
        <p:nvSpPr>
          <p:cNvPr id="3" name="Content Placeholder 2"/>
          <p:cNvSpPr>
            <a:spLocks noGrp="1"/>
          </p:cNvSpPr>
          <p:nvPr>
            <p:ph idx="1"/>
          </p:nvPr>
        </p:nvSpPr>
        <p:spPr>
          <a:xfrm>
            <a:off x="457200" y="1447800"/>
            <a:ext cx="8229600" cy="4389120"/>
          </a:xfrm>
        </p:spPr>
        <p:txBody>
          <a:bodyPr>
            <a:normAutofit/>
          </a:bodyPr>
          <a:lstStyle/>
          <a:p>
            <a:pPr marL="0" indent="0" algn="just">
              <a:buNone/>
            </a:pPr>
            <a:r>
              <a:rPr lang="en-US" sz="2400" b="1" dirty="0" smtClean="0">
                <a:latin typeface="Times New Roman" pitchFamily="18" charset="0"/>
                <a:cs typeface="Times New Roman" pitchFamily="18" charset="0"/>
              </a:rPr>
              <a:t>What is Decompositions?</a:t>
            </a:r>
          </a:p>
          <a:p>
            <a:pPr marL="0" indent="0" algn="just">
              <a:buNone/>
            </a:pPr>
            <a:r>
              <a:rPr lang="en-US" sz="2400" dirty="0">
                <a:latin typeface="Times New Roman" pitchFamily="18" charset="0"/>
                <a:cs typeface="Times New Roman" pitchFamily="18" charset="0"/>
              </a:rPr>
              <a:t>Decomposition in the context of database design refers to the process of breaking down a single table into multiple tables in order to eliminate redundancy, reduce data anomalies, and achieve normalization. </a:t>
            </a:r>
            <a:endParaRPr lang="en-US" sz="2400" dirty="0" smtClean="0">
              <a:latin typeface="Times New Roman" pitchFamily="18" charset="0"/>
              <a:cs typeface="Times New Roman" pitchFamily="18" charset="0"/>
            </a:endParaRPr>
          </a:p>
          <a:p>
            <a:pPr marL="0" indent="0" algn="just">
              <a:buNone/>
            </a:pPr>
            <a:r>
              <a:rPr lang="en-US" sz="2400" b="1" dirty="0" smtClean="0">
                <a:latin typeface="Times New Roman" pitchFamily="18" charset="0"/>
                <a:cs typeface="Times New Roman" pitchFamily="18" charset="0"/>
              </a:rPr>
              <a:t>Example:</a:t>
            </a:r>
          </a:p>
          <a:p>
            <a:pPr marL="0" indent="0" algn="just">
              <a:buNone/>
            </a:pPr>
            <a:r>
              <a:rPr lang="en-US" sz="2400" b="1" dirty="0" smtClean="0">
                <a:latin typeface="Times New Roman" pitchFamily="18" charset="0"/>
                <a:cs typeface="Times New Roman" pitchFamily="18" charset="0"/>
              </a:rPr>
              <a:t>Student Table</a:t>
            </a:r>
          </a:p>
          <a:p>
            <a:pPr marL="0" indent="0" algn="just">
              <a:buNone/>
            </a:pPr>
            <a:endParaRPr lang="en-US" sz="2400" b="1"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864379441"/>
              </p:ext>
            </p:extLst>
          </p:nvPr>
        </p:nvGraphicFramePr>
        <p:xfrm>
          <a:off x="381000" y="4495800"/>
          <a:ext cx="8229600" cy="1463040"/>
        </p:xfrm>
        <a:graphic>
          <a:graphicData uri="http://schemas.openxmlformats.org/drawingml/2006/table">
            <a:tbl>
              <a:tblPr/>
              <a:tblGrid>
                <a:gridCol w="2057400"/>
                <a:gridCol w="2057400"/>
                <a:gridCol w="2057400"/>
                <a:gridCol w="2057400"/>
              </a:tblGrid>
              <a:tr h="0">
                <a:tc>
                  <a:txBody>
                    <a:bodyPr/>
                    <a:lstStyle/>
                    <a:p>
                      <a:r>
                        <a:rPr lang="en-US" dirty="0" err="1"/>
                        <a:t>StudentID</a:t>
                      </a:r>
                      <a:endParaRPr lang="en-US" dirty="0"/>
                    </a:p>
                  </a:txBody>
                  <a:tcPr anchor="ctr">
                    <a:lnL>
                      <a:noFill/>
                    </a:lnL>
                    <a:lnR>
                      <a:noFill/>
                    </a:lnR>
                    <a:lnT>
                      <a:noFill/>
                    </a:lnT>
                    <a:lnB>
                      <a:noFill/>
                    </a:lnB>
                  </a:tcPr>
                </a:tc>
                <a:tc>
                  <a:txBody>
                    <a:bodyPr/>
                    <a:lstStyle/>
                    <a:p>
                      <a:r>
                        <a:rPr lang="en-US"/>
                        <a:t>Name</a:t>
                      </a:r>
                    </a:p>
                  </a:txBody>
                  <a:tcPr anchor="ctr">
                    <a:lnL>
                      <a:noFill/>
                    </a:lnL>
                    <a:lnR>
                      <a:noFill/>
                    </a:lnR>
                    <a:lnT>
                      <a:noFill/>
                    </a:lnT>
                    <a:lnB>
                      <a:noFill/>
                    </a:lnB>
                  </a:tcPr>
                </a:tc>
                <a:tc>
                  <a:txBody>
                    <a:bodyPr/>
                    <a:lstStyle/>
                    <a:p>
                      <a:r>
                        <a:rPr lang="en-US"/>
                        <a:t>Course</a:t>
                      </a:r>
                    </a:p>
                  </a:txBody>
                  <a:tcPr anchor="ctr">
                    <a:lnL>
                      <a:noFill/>
                    </a:lnL>
                    <a:lnR>
                      <a:noFill/>
                    </a:lnR>
                    <a:lnT>
                      <a:noFill/>
                    </a:lnT>
                    <a:lnB>
                      <a:noFill/>
                    </a:lnB>
                  </a:tcPr>
                </a:tc>
                <a:tc>
                  <a:txBody>
                    <a:bodyPr/>
                    <a:lstStyle/>
                    <a:p>
                      <a:r>
                        <a:rPr lang="en-US"/>
                        <a:t>Instructor</a:t>
                      </a:r>
                    </a:p>
                  </a:txBody>
                  <a:tcPr anchor="ctr">
                    <a:lnL>
                      <a:noFill/>
                    </a:lnL>
                    <a:lnR>
                      <a:noFill/>
                    </a:lnR>
                    <a:lnT>
                      <a:noFill/>
                    </a:lnT>
                    <a:lnB>
                      <a:noFill/>
                    </a:lnB>
                  </a:tcPr>
                </a:tc>
              </a:tr>
              <a:tr h="0">
                <a:tc>
                  <a:txBody>
                    <a:bodyPr/>
                    <a:lstStyle/>
                    <a:p>
                      <a:r>
                        <a:rPr lang="en-US" dirty="0"/>
                        <a:t>101</a:t>
                      </a:r>
                    </a:p>
                  </a:txBody>
                  <a:tcPr anchor="ctr">
                    <a:lnL>
                      <a:noFill/>
                    </a:lnL>
                    <a:lnR>
                      <a:noFill/>
                    </a:lnR>
                    <a:lnT>
                      <a:noFill/>
                    </a:lnT>
                    <a:lnB>
                      <a:noFill/>
                    </a:lnB>
                  </a:tcPr>
                </a:tc>
                <a:tc>
                  <a:txBody>
                    <a:bodyPr/>
                    <a:lstStyle/>
                    <a:p>
                      <a:r>
                        <a:rPr lang="en-US"/>
                        <a:t>Alice</a:t>
                      </a:r>
                    </a:p>
                  </a:txBody>
                  <a:tcPr anchor="ctr">
                    <a:lnL>
                      <a:noFill/>
                    </a:lnL>
                    <a:lnR>
                      <a:noFill/>
                    </a:lnR>
                    <a:lnT>
                      <a:noFill/>
                    </a:lnT>
                    <a:lnB>
                      <a:noFill/>
                    </a:lnB>
                  </a:tcPr>
                </a:tc>
                <a:tc>
                  <a:txBody>
                    <a:bodyPr/>
                    <a:lstStyle/>
                    <a:p>
                      <a:r>
                        <a:rPr lang="en-US"/>
                        <a:t>DBMS</a:t>
                      </a:r>
                    </a:p>
                  </a:txBody>
                  <a:tcPr anchor="ctr">
                    <a:lnL>
                      <a:noFill/>
                    </a:lnL>
                    <a:lnR>
                      <a:noFill/>
                    </a:lnR>
                    <a:lnT>
                      <a:noFill/>
                    </a:lnT>
                    <a:lnB>
                      <a:noFill/>
                    </a:lnB>
                  </a:tcPr>
                </a:tc>
                <a:tc>
                  <a:txBody>
                    <a:bodyPr/>
                    <a:lstStyle/>
                    <a:p>
                      <a:r>
                        <a:rPr lang="en-US"/>
                        <a:t>Dr. Smith</a:t>
                      </a:r>
                    </a:p>
                  </a:txBody>
                  <a:tcPr anchor="ctr">
                    <a:lnL>
                      <a:noFill/>
                    </a:lnL>
                    <a:lnR>
                      <a:noFill/>
                    </a:lnR>
                    <a:lnT>
                      <a:noFill/>
                    </a:lnT>
                    <a:lnB>
                      <a:noFill/>
                    </a:lnB>
                  </a:tcPr>
                </a:tc>
              </a:tr>
              <a:tr h="0">
                <a:tc>
                  <a:txBody>
                    <a:bodyPr/>
                    <a:lstStyle/>
                    <a:p>
                      <a:r>
                        <a:rPr lang="en-US"/>
                        <a:t>102</a:t>
                      </a:r>
                    </a:p>
                  </a:txBody>
                  <a:tcPr anchor="ctr">
                    <a:lnL>
                      <a:noFill/>
                    </a:lnL>
                    <a:lnR>
                      <a:noFill/>
                    </a:lnR>
                    <a:lnT>
                      <a:noFill/>
                    </a:lnT>
                    <a:lnB>
                      <a:noFill/>
                    </a:lnB>
                  </a:tcPr>
                </a:tc>
                <a:tc>
                  <a:txBody>
                    <a:bodyPr/>
                    <a:lstStyle/>
                    <a:p>
                      <a:r>
                        <a:rPr lang="en-US"/>
                        <a:t>Bob</a:t>
                      </a:r>
                    </a:p>
                  </a:txBody>
                  <a:tcPr anchor="ctr">
                    <a:lnL>
                      <a:noFill/>
                    </a:lnL>
                    <a:lnR>
                      <a:noFill/>
                    </a:lnR>
                    <a:lnT>
                      <a:noFill/>
                    </a:lnT>
                    <a:lnB>
                      <a:noFill/>
                    </a:lnB>
                  </a:tcPr>
                </a:tc>
                <a:tc>
                  <a:txBody>
                    <a:bodyPr/>
                    <a:lstStyle/>
                    <a:p>
                      <a:r>
                        <a:rPr lang="en-US"/>
                        <a:t>Networking</a:t>
                      </a:r>
                    </a:p>
                  </a:txBody>
                  <a:tcPr anchor="ctr">
                    <a:lnL>
                      <a:noFill/>
                    </a:lnL>
                    <a:lnR>
                      <a:noFill/>
                    </a:lnR>
                    <a:lnT>
                      <a:noFill/>
                    </a:lnT>
                    <a:lnB>
                      <a:noFill/>
                    </a:lnB>
                  </a:tcPr>
                </a:tc>
                <a:tc>
                  <a:txBody>
                    <a:bodyPr/>
                    <a:lstStyle/>
                    <a:p>
                      <a:r>
                        <a:rPr lang="en-US"/>
                        <a:t>Dr. Allen</a:t>
                      </a:r>
                    </a:p>
                  </a:txBody>
                  <a:tcPr anchor="ctr">
                    <a:lnL>
                      <a:noFill/>
                    </a:lnL>
                    <a:lnR>
                      <a:noFill/>
                    </a:lnR>
                    <a:lnT>
                      <a:noFill/>
                    </a:lnT>
                    <a:lnB>
                      <a:noFill/>
                    </a:lnB>
                  </a:tcPr>
                </a:tc>
              </a:tr>
              <a:tr h="0">
                <a:tc>
                  <a:txBody>
                    <a:bodyPr/>
                    <a:lstStyle/>
                    <a:p>
                      <a:r>
                        <a:rPr lang="en-US"/>
                        <a:t>103</a:t>
                      </a:r>
                    </a:p>
                  </a:txBody>
                  <a:tcPr anchor="ctr">
                    <a:lnL>
                      <a:noFill/>
                    </a:lnL>
                    <a:lnR>
                      <a:noFill/>
                    </a:lnR>
                    <a:lnT>
                      <a:noFill/>
                    </a:lnT>
                    <a:lnB>
                      <a:noFill/>
                    </a:lnB>
                  </a:tcPr>
                </a:tc>
                <a:tc>
                  <a:txBody>
                    <a:bodyPr/>
                    <a:lstStyle/>
                    <a:p>
                      <a:r>
                        <a:rPr lang="en-US"/>
                        <a:t>Carol</a:t>
                      </a:r>
                    </a:p>
                  </a:txBody>
                  <a:tcPr anchor="ctr">
                    <a:lnL>
                      <a:noFill/>
                    </a:lnL>
                    <a:lnR>
                      <a:noFill/>
                    </a:lnR>
                    <a:lnT>
                      <a:noFill/>
                    </a:lnT>
                    <a:lnB>
                      <a:noFill/>
                    </a:lnB>
                  </a:tcPr>
                </a:tc>
                <a:tc>
                  <a:txBody>
                    <a:bodyPr/>
                    <a:lstStyle/>
                    <a:p>
                      <a:r>
                        <a:rPr lang="en-US"/>
                        <a:t>DBMS</a:t>
                      </a:r>
                    </a:p>
                  </a:txBody>
                  <a:tcPr anchor="ctr">
                    <a:lnL>
                      <a:noFill/>
                    </a:lnL>
                    <a:lnR>
                      <a:noFill/>
                    </a:lnR>
                    <a:lnT>
                      <a:noFill/>
                    </a:lnT>
                    <a:lnB>
                      <a:noFill/>
                    </a:lnB>
                  </a:tcPr>
                </a:tc>
                <a:tc>
                  <a:txBody>
                    <a:bodyPr/>
                    <a:lstStyle/>
                    <a:p>
                      <a:r>
                        <a:rPr lang="en-US" dirty="0"/>
                        <a:t>Dr. Smith</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4225157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38200"/>
            <a:ext cx="8229600" cy="475488"/>
          </a:xfrm>
        </p:spPr>
        <p:txBody>
          <a:bodyPr>
            <a:normAutofit fontScale="90000"/>
          </a:bodyPr>
          <a:lstStyle/>
          <a:p>
            <a:r>
              <a:rPr lang="en-US" sz="3200" b="1" dirty="0">
                <a:latin typeface="Times New Roman" pitchFamily="18" charset="0"/>
                <a:cs typeface="Times New Roman" pitchFamily="18" charset="0"/>
              </a:rPr>
              <a:t>Use of Decompositions</a:t>
            </a:r>
            <a:endParaRPr lang="en-US" sz="3200" dirty="0"/>
          </a:p>
        </p:txBody>
      </p:sp>
      <p:sp>
        <p:nvSpPr>
          <p:cNvPr id="3" name="Content Placeholder 2"/>
          <p:cNvSpPr>
            <a:spLocks noGrp="1"/>
          </p:cNvSpPr>
          <p:nvPr>
            <p:ph idx="1"/>
          </p:nvPr>
        </p:nvSpPr>
        <p:spPr>
          <a:xfrm>
            <a:off x="457200" y="1524000"/>
            <a:ext cx="8229600" cy="4389120"/>
          </a:xfrm>
        </p:spPr>
        <p:txBody>
          <a:bodyPr>
            <a:normAutofit/>
          </a:bodyPr>
          <a:lstStyle/>
          <a:p>
            <a:r>
              <a:rPr lang="en-US" sz="2400" b="1" dirty="0" smtClean="0">
                <a:latin typeface="Times New Roman" pitchFamily="18" charset="0"/>
                <a:cs typeface="Times New Roman" pitchFamily="18" charset="0"/>
              </a:rPr>
              <a:t>Decomposition </a:t>
            </a:r>
            <a:r>
              <a:rPr lang="en-US" sz="2400" b="1" dirty="0">
                <a:latin typeface="Times New Roman" pitchFamily="18" charset="0"/>
                <a:cs typeface="Times New Roman" pitchFamily="18" charset="0"/>
              </a:rPr>
              <a:t>into 2 </a:t>
            </a:r>
            <a:r>
              <a:rPr lang="en-US" sz="2400" b="1" dirty="0" smtClean="0">
                <a:latin typeface="Times New Roman" pitchFamily="18" charset="0"/>
                <a:cs typeface="Times New Roman" pitchFamily="18" charset="0"/>
              </a:rPr>
              <a:t>Relations</a:t>
            </a:r>
          </a:p>
          <a:p>
            <a:pPr marL="0" indent="0">
              <a:buNone/>
            </a:pPr>
            <a:endParaRPr lang="en-US" sz="2400" b="1"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359442749"/>
              </p:ext>
            </p:extLst>
          </p:nvPr>
        </p:nvGraphicFramePr>
        <p:xfrm>
          <a:off x="304800" y="2286000"/>
          <a:ext cx="8229600" cy="1463040"/>
        </p:xfrm>
        <a:graphic>
          <a:graphicData uri="http://schemas.openxmlformats.org/drawingml/2006/table">
            <a:tbl>
              <a:tblPr/>
              <a:tblGrid>
                <a:gridCol w="2743200"/>
                <a:gridCol w="2743200"/>
                <a:gridCol w="2743200"/>
              </a:tblGrid>
              <a:tr h="0">
                <a:tc>
                  <a:txBody>
                    <a:bodyPr/>
                    <a:lstStyle/>
                    <a:p>
                      <a:r>
                        <a:rPr lang="en-US"/>
                        <a:t>StudentID</a:t>
                      </a:r>
                    </a:p>
                  </a:txBody>
                  <a:tcPr anchor="ctr">
                    <a:lnL>
                      <a:noFill/>
                    </a:lnL>
                    <a:lnR>
                      <a:noFill/>
                    </a:lnR>
                    <a:lnT>
                      <a:noFill/>
                    </a:lnT>
                    <a:lnB>
                      <a:noFill/>
                    </a:lnB>
                  </a:tcPr>
                </a:tc>
                <a:tc>
                  <a:txBody>
                    <a:bodyPr/>
                    <a:lstStyle/>
                    <a:p>
                      <a:r>
                        <a:rPr lang="en-US"/>
                        <a:t>Name</a:t>
                      </a:r>
                    </a:p>
                  </a:txBody>
                  <a:tcPr anchor="ctr">
                    <a:lnL>
                      <a:noFill/>
                    </a:lnL>
                    <a:lnR>
                      <a:noFill/>
                    </a:lnR>
                    <a:lnT>
                      <a:noFill/>
                    </a:lnT>
                    <a:lnB>
                      <a:noFill/>
                    </a:lnB>
                  </a:tcPr>
                </a:tc>
                <a:tc>
                  <a:txBody>
                    <a:bodyPr/>
                    <a:lstStyle/>
                    <a:p>
                      <a:r>
                        <a:rPr lang="en-US"/>
                        <a:t>Course</a:t>
                      </a:r>
                    </a:p>
                  </a:txBody>
                  <a:tcPr anchor="ctr">
                    <a:lnL>
                      <a:noFill/>
                    </a:lnL>
                    <a:lnR>
                      <a:noFill/>
                    </a:lnR>
                    <a:lnT>
                      <a:noFill/>
                    </a:lnT>
                    <a:lnB>
                      <a:noFill/>
                    </a:lnB>
                  </a:tcPr>
                </a:tc>
              </a:tr>
              <a:tr h="0">
                <a:tc>
                  <a:txBody>
                    <a:bodyPr/>
                    <a:lstStyle/>
                    <a:p>
                      <a:r>
                        <a:rPr lang="en-US"/>
                        <a:t>101</a:t>
                      </a:r>
                    </a:p>
                  </a:txBody>
                  <a:tcPr anchor="ctr">
                    <a:lnL>
                      <a:noFill/>
                    </a:lnL>
                    <a:lnR>
                      <a:noFill/>
                    </a:lnR>
                    <a:lnT>
                      <a:noFill/>
                    </a:lnT>
                    <a:lnB>
                      <a:noFill/>
                    </a:lnB>
                  </a:tcPr>
                </a:tc>
                <a:tc>
                  <a:txBody>
                    <a:bodyPr/>
                    <a:lstStyle/>
                    <a:p>
                      <a:r>
                        <a:rPr lang="en-US"/>
                        <a:t>Alice</a:t>
                      </a:r>
                    </a:p>
                  </a:txBody>
                  <a:tcPr anchor="ctr">
                    <a:lnL>
                      <a:noFill/>
                    </a:lnL>
                    <a:lnR>
                      <a:noFill/>
                    </a:lnR>
                    <a:lnT>
                      <a:noFill/>
                    </a:lnT>
                    <a:lnB>
                      <a:noFill/>
                    </a:lnB>
                  </a:tcPr>
                </a:tc>
                <a:tc>
                  <a:txBody>
                    <a:bodyPr/>
                    <a:lstStyle/>
                    <a:p>
                      <a:r>
                        <a:rPr lang="en-US"/>
                        <a:t>DBMS</a:t>
                      </a:r>
                    </a:p>
                  </a:txBody>
                  <a:tcPr anchor="ctr">
                    <a:lnL>
                      <a:noFill/>
                    </a:lnL>
                    <a:lnR>
                      <a:noFill/>
                    </a:lnR>
                    <a:lnT>
                      <a:noFill/>
                    </a:lnT>
                    <a:lnB>
                      <a:noFill/>
                    </a:lnB>
                  </a:tcPr>
                </a:tc>
              </a:tr>
              <a:tr h="0">
                <a:tc>
                  <a:txBody>
                    <a:bodyPr/>
                    <a:lstStyle/>
                    <a:p>
                      <a:r>
                        <a:rPr lang="en-US"/>
                        <a:t>102</a:t>
                      </a:r>
                    </a:p>
                  </a:txBody>
                  <a:tcPr anchor="ctr">
                    <a:lnL>
                      <a:noFill/>
                    </a:lnL>
                    <a:lnR>
                      <a:noFill/>
                    </a:lnR>
                    <a:lnT>
                      <a:noFill/>
                    </a:lnT>
                    <a:lnB>
                      <a:noFill/>
                    </a:lnB>
                  </a:tcPr>
                </a:tc>
                <a:tc>
                  <a:txBody>
                    <a:bodyPr/>
                    <a:lstStyle/>
                    <a:p>
                      <a:r>
                        <a:rPr lang="en-US"/>
                        <a:t>Bob</a:t>
                      </a:r>
                    </a:p>
                  </a:txBody>
                  <a:tcPr anchor="ctr">
                    <a:lnL>
                      <a:noFill/>
                    </a:lnL>
                    <a:lnR>
                      <a:noFill/>
                    </a:lnR>
                    <a:lnT>
                      <a:noFill/>
                    </a:lnT>
                    <a:lnB>
                      <a:noFill/>
                    </a:lnB>
                  </a:tcPr>
                </a:tc>
                <a:tc>
                  <a:txBody>
                    <a:bodyPr/>
                    <a:lstStyle/>
                    <a:p>
                      <a:r>
                        <a:rPr lang="en-US"/>
                        <a:t>Networking</a:t>
                      </a:r>
                    </a:p>
                  </a:txBody>
                  <a:tcPr anchor="ctr">
                    <a:lnL>
                      <a:noFill/>
                    </a:lnL>
                    <a:lnR>
                      <a:noFill/>
                    </a:lnR>
                    <a:lnT>
                      <a:noFill/>
                    </a:lnT>
                    <a:lnB>
                      <a:noFill/>
                    </a:lnB>
                  </a:tcPr>
                </a:tc>
              </a:tr>
              <a:tr h="0">
                <a:tc>
                  <a:txBody>
                    <a:bodyPr/>
                    <a:lstStyle/>
                    <a:p>
                      <a:r>
                        <a:rPr lang="en-US"/>
                        <a:t>103</a:t>
                      </a:r>
                    </a:p>
                  </a:txBody>
                  <a:tcPr anchor="ctr">
                    <a:lnL>
                      <a:noFill/>
                    </a:lnL>
                    <a:lnR>
                      <a:noFill/>
                    </a:lnR>
                    <a:lnT>
                      <a:noFill/>
                    </a:lnT>
                    <a:lnB>
                      <a:noFill/>
                    </a:lnB>
                  </a:tcPr>
                </a:tc>
                <a:tc>
                  <a:txBody>
                    <a:bodyPr/>
                    <a:lstStyle/>
                    <a:p>
                      <a:r>
                        <a:rPr lang="en-US"/>
                        <a:t>Carol</a:t>
                      </a:r>
                    </a:p>
                  </a:txBody>
                  <a:tcPr anchor="ctr">
                    <a:lnL>
                      <a:noFill/>
                    </a:lnL>
                    <a:lnR>
                      <a:noFill/>
                    </a:lnR>
                    <a:lnT>
                      <a:noFill/>
                    </a:lnT>
                    <a:lnB>
                      <a:noFill/>
                    </a:lnB>
                  </a:tcPr>
                </a:tc>
                <a:tc>
                  <a:txBody>
                    <a:bodyPr/>
                    <a:lstStyle/>
                    <a:p>
                      <a:r>
                        <a:rPr lang="en-US" dirty="0"/>
                        <a:t>DBMS</a:t>
                      </a:r>
                    </a:p>
                  </a:txBody>
                  <a:tcPr anchor="ctr">
                    <a:lnL>
                      <a:noFill/>
                    </a:lnL>
                    <a:lnR>
                      <a:noFill/>
                    </a:lnR>
                    <a:lnT>
                      <a:noFill/>
                    </a:lnT>
                    <a:lnB>
                      <a:noFill/>
                    </a:lnB>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926798126"/>
              </p:ext>
            </p:extLst>
          </p:nvPr>
        </p:nvGraphicFramePr>
        <p:xfrm>
          <a:off x="228600" y="4495800"/>
          <a:ext cx="8229600" cy="1097280"/>
        </p:xfrm>
        <a:graphic>
          <a:graphicData uri="http://schemas.openxmlformats.org/drawingml/2006/table">
            <a:tbl>
              <a:tblPr/>
              <a:tblGrid>
                <a:gridCol w="4114800"/>
                <a:gridCol w="4114800"/>
              </a:tblGrid>
              <a:tr h="137001">
                <a:tc>
                  <a:txBody>
                    <a:bodyPr/>
                    <a:lstStyle/>
                    <a:p>
                      <a:r>
                        <a:rPr lang="en-US"/>
                        <a:t>Course</a:t>
                      </a:r>
                    </a:p>
                  </a:txBody>
                  <a:tcPr anchor="ctr">
                    <a:lnL>
                      <a:noFill/>
                    </a:lnL>
                    <a:lnR>
                      <a:noFill/>
                    </a:lnR>
                    <a:lnT>
                      <a:noFill/>
                    </a:lnT>
                    <a:lnB>
                      <a:noFill/>
                    </a:lnB>
                  </a:tcPr>
                </a:tc>
                <a:tc>
                  <a:txBody>
                    <a:bodyPr/>
                    <a:lstStyle/>
                    <a:p>
                      <a:r>
                        <a:rPr lang="en-US"/>
                        <a:t>Instructor</a:t>
                      </a:r>
                    </a:p>
                  </a:txBody>
                  <a:tcPr anchor="ctr">
                    <a:lnL>
                      <a:noFill/>
                    </a:lnL>
                    <a:lnR>
                      <a:noFill/>
                    </a:lnR>
                    <a:lnT>
                      <a:noFill/>
                    </a:lnT>
                    <a:lnB>
                      <a:noFill/>
                    </a:lnB>
                  </a:tcPr>
                </a:tc>
              </a:tr>
              <a:tr h="0">
                <a:tc>
                  <a:txBody>
                    <a:bodyPr/>
                    <a:lstStyle/>
                    <a:p>
                      <a:r>
                        <a:rPr lang="en-US"/>
                        <a:t>DBMS</a:t>
                      </a:r>
                    </a:p>
                  </a:txBody>
                  <a:tcPr anchor="ctr">
                    <a:lnL>
                      <a:noFill/>
                    </a:lnL>
                    <a:lnR>
                      <a:noFill/>
                    </a:lnR>
                    <a:lnT>
                      <a:noFill/>
                    </a:lnT>
                    <a:lnB>
                      <a:noFill/>
                    </a:lnB>
                  </a:tcPr>
                </a:tc>
                <a:tc>
                  <a:txBody>
                    <a:bodyPr/>
                    <a:lstStyle/>
                    <a:p>
                      <a:r>
                        <a:rPr lang="en-US"/>
                        <a:t>Dr. Smith</a:t>
                      </a:r>
                    </a:p>
                  </a:txBody>
                  <a:tcPr anchor="ctr">
                    <a:lnL>
                      <a:noFill/>
                    </a:lnL>
                    <a:lnR>
                      <a:noFill/>
                    </a:lnR>
                    <a:lnT>
                      <a:noFill/>
                    </a:lnT>
                    <a:lnB>
                      <a:noFill/>
                    </a:lnB>
                  </a:tcPr>
                </a:tc>
              </a:tr>
              <a:tr h="0">
                <a:tc>
                  <a:txBody>
                    <a:bodyPr/>
                    <a:lstStyle/>
                    <a:p>
                      <a:r>
                        <a:rPr lang="en-US"/>
                        <a:t>Networking</a:t>
                      </a:r>
                    </a:p>
                  </a:txBody>
                  <a:tcPr anchor="ctr">
                    <a:lnL>
                      <a:noFill/>
                    </a:lnL>
                    <a:lnR>
                      <a:noFill/>
                    </a:lnR>
                    <a:lnT>
                      <a:noFill/>
                    </a:lnT>
                    <a:lnB>
                      <a:noFill/>
                    </a:lnB>
                  </a:tcPr>
                </a:tc>
                <a:tc>
                  <a:txBody>
                    <a:bodyPr/>
                    <a:lstStyle/>
                    <a:p>
                      <a:r>
                        <a:rPr lang="en-US" dirty="0"/>
                        <a:t>Dr. Allen</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0954256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a:latin typeface="Times New Roman" pitchFamily="18" charset="0"/>
                <a:cs typeface="Times New Roman" pitchFamily="18" charset="0"/>
              </a:rPr>
              <a:t>Types of Decomposition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286000"/>
            <a:ext cx="5839962" cy="227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7678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75488"/>
          </a:xfrm>
        </p:spPr>
        <p:txBody>
          <a:bodyPr>
            <a:normAutofit fontScale="90000"/>
          </a:bodyPr>
          <a:lstStyle/>
          <a:p>
            <a:r>
              <a:rPr lang="en-US" sz="3200" b="1" dirty="0">
                <a:latin typeface="Times New Roman" pitchFamily="18" charset="0"/>
                <a:cs typeface="Times New Roman" pitchFamily="18" charset="0"/>
              </a:rPr>
              <a:t>Lossless </a:t>
            </a:r>
            <a:r>
              <a:rPr lang="en-US" sz="3200" b="1" dirty="0" smtClean="0">
                <a:latin typeface="Times New Roman" pitchFamily="18" charset="0"/>
                <a:cs typeface="Times New Roman" pitchFamily="18" charset="0"/>
              </a:rPr>
              <a:t>Decomposition</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389120"/>
          </a:xfrm>
        </p:spPr>
        <p:txBody>
          <a:bodyPr>
            <a:normAutofit/>
          </a:bodyPr>
          <a:lstStyle/>
          <a:p>
            <a:pPr algn="just" fontAlgn="base"/>
            <a:r>
              <a:rPr lang="en-US" sz="2000" dirty="0">
                <a:latin typeface="Times New Roman" pitchFamily="18" charset="0"/>
                <a:cs typeface="Times New Roman" pitchFamily="18" charset="0"/>
              </a:rPr>
              <a:t>The process in which where we can regain the original relation R with the help of joins from the multiple relations formed after decomposition. This process is termed as lossless decomposition. It is used to remove the redundant data from the database while retaining the useful information. The lossless decomposition tries to ensure following things:</a:t>
            </a:r>
          </a:p>
          <a:p>
            <a:pPr lvl="1" algn="just" fontAlgn="base"/>
            <a:r>
              <a:rPr lang="en-US" sz="1800" dirty="0">
                <a:latin typeface="Times New Roman" pitchFamily="18" charset="0"/>
                <a:cs typeface="Times New Roman" pitchFamily="18" charset="0"/>
              </a:rPr>
              <a:t>While regaining the original relation, no information should be lost.</a:t>
            </a:r>
          </a:p>
          <a:p>
            <a:pPr lvl="1" algn="just" fontAlgn="base"/>
            <a:r>
              <a:rPr lang="en-US" sz="1800" dirty="0">
                <a:latin typeface="Times New Roman" pitchFamily="18" charset="0"/>
                <a:cs typeface="Times New Roman" pitchFamily="18" charset="0"/>
              </a:rPr>
              <a:t>If we perform join operation on the sub-divided relations, we must get the original relation.</a:t>
            </a:r>
          </a:p>
          <a:p>
            <a:pPr marL="0" indent="0">
              <a:buNone/>
            </a:pP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1" y="3962400"/>
            <a:ext cx="2971800"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733800"/>
            <a:ext cx="2895600"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00" y="3976007"/>
            <a:ext cx="1152525"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4930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551688"/>
          </a:xfrm>
        </p:spPr>
        <p:txBody>
          <a:bodyPr>
            <a:normAutofit/>
          </a:bodyPr>
          <a:lstStyle/>
          <a:p>
            <a:r>
              <a:rPr lang="en-US" sz="3200" b="1" dirty="0" err="1">
                <a:latin typeface="Times New Roman" pitchFamily="18" charset="0"/>
                <a:cs typeface="Times New Roman" pitchFamily="18" charset="0"/>
              </a:rPr>
              <a:t>Lossy</a:t>
            </a:r>
            <a:r>
              <a:rPr lang="en-US" sz="3200" b="1" dirty="0">
                <a:latin typeface="Times New Roman" pitchFamily="18" charset="0"/>
                <a:cs typeface="Times New Roman" pitchFamily="18" charset="0"/>
              </a:rPr>
              <a:t> </a:t>
            </a:r>
            <a:r>
              <a:rPr lang="en-US" sz="3200" b="1" dirty="0" smtClean="0">
                <a:latin typeface="Times New Roman" pitchFamily="18" charset="0"/>
                <a:cs typeface="Times New Roman" pitchFamily="18" charset="0"/>
              </a:rPr>
              <a:t>Decomposition</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371600"/>
            <a:ext cx="8229600" cy="4389120"/>
          </a:xfrm>
        </p:spPr>
        <p:txBody>
          <a:bodyPr>
            <a:normAutofit/>
          </a:bodyPr>
          <a:lstStyle/>
          <a:p>
            <a:pPr marL="0" indent="0" algn="just">
              <a:buNone/>
            </a:pPr>
            <a:r>
              <a:rPr lang="en-US" sz="2000" dirty="0" err="1">
                <a:latin typeface="Times New Roman" pitchFamily="18" charset="0"/>
                <a:cs typeface="Times New Roman" pitchFamily="18" charset="0"/>
              </a:rPr>
              <a:t>lossy</a:t>
            </a:r>
            <a:r>
              <a:rPr lang="en-US" sz="2000" dirty="0">
                <a:latin typeface="Times New Roman" pitchFamily="18" charset="0"/>
                <a:cs typeface="Times New Roman" pitchFamily="18" charset="0"/>
              </a:rPr>
              <a:t> decomposition means when we perform join operation on the sub-relations it doesn't result to the same relation which was decomposed. After the join operation, we always found some extraneous tuples. These extra tuples </a:t>
            </a:r>
            <a:r>
              <a:rPr lang="en-US" sz="2000" dirty="0" err="1">
                <a:latin typeface="Times New Roman" pitchFamily="18" charset="0"/>
                <a:cs typeface="Times New Roman" pitchFamily="18" charset="0"/>
              </a:rPr>
              <a:t>genrates</a:t>
            </a:r>
            <a:r>
              <a:rPr lang="en-US" sz="2000" dirty="0">
                <a:latin typeface="Times New Roman" pitchFamily="18" charset="0"/>
                <a:cs typeface="Times New Roman" pitchFamily="18" charset="0"/>
              </a:rPr>
              <a:t> difficulty for the user to identify the original tuples.</a:t>
            </a:r>
            <a:endParaRPr lang="en-US" sz="2000" dirty="0">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971800"/>
            <a:ext cx="2305050"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266700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3124200"/>
            <a:ext cx="962025"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124200"/>
            <a:ext cx="885825"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7618" y="3273425"/>
            <a:ext cx="2876550"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3043" y="3559175"/>
            <a:ext cx="985700" cy="325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1208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399288"/>
          </a:xfrm>
        </p:spPr>
        <p:txBody>
          <a:bodyPr>
            <a:normAutofit fontScale="90000"/>
          </a:bodyPr>
          <a:lstStyle/>
          <a:p>
            <a:r>
              <a:rPr lang="en-US" sz="3200" b="1" dirty="0" smtClean="0">
                <a:latin typeface="Times New Roman" pitchFamily="18" charset="0"/>
                <a:cs typeface="Times New Roman" pitchFamily="18" charset="0"/>
              </a:rPr>
              <a:t>Dependency </a:t>
            </a:r>
            <a:r>
              <a:rPr lang="en-US" sz="3200" b="1" dirty="0">
                <a:latin typeface="Times New Roman" pitchFamily="18" charset="0"/>
                <a:cs typeface="Times New Roman" pitchFamily="18" charset="0"/>
              </a:rPr>
              <a:t>preserving property</a:t>
            </a:r>
          </a:p>
        </p:txBody>
      </p:sp>
      <p:sp>
        <p:nvSpPr>
          <p:cNvPr id="3" name="Content Placeholder 2"/>
          <p:cNvSpPr>
            <a:spLocks noGrp="1"/>
          </p:cNvSpPr>
          <p:nvPr>
            <p:ph idx="1"/>
          </p:nvPr>
        </p:nvSpPr>
        <p:spPr>
          <a:xfrm>
            <a:off x="457200" y="1295400"/>
            <a:ext cx="8229600" cy="5410200"/>
          </a:xfrm>
        </p:spPr>
        <p:txBody>
          <a:bodyPr>
            <a:normAutofit fontScale="92500" lnSpcReduction="10000"/>
          </a:bodyPr>
          <a:lstStyle/>
          <a:p>
            <a:pPr marL="0" indent="0" algn="just">
              <a:buNone/>
            </a:pPr>
            <a:r>
              <a:rPr lang="en-US" sz="2000" dirty="0">
                <a:latin typeface="Times New Roman" pitchFamily="18" charset="0"/>
                <a:cs typeface="Times New Roman" pitchFamily="18" charset="0"/>
              </a:rPr>
              <a:t>Dependency preservation in a Database Management System (DBMS) refers to the property of a relational schema decomposition where all original functional dependencies (FDs) are either directly present in one of the decomposed relations or can be inferred from the FDs of the decomposed relations</a:t>
            </a:r>
            <a:r>
              <a:rPr lang="en-US" sz="2000" dirty="0" smtClean="0">
                <a:latin typeface="Times New Roman" pitchFamily="18" charset="0"/>
                <a:cs typeface="Times New Roman" pitchFamily="18" charset="0"/>
              </a:rPr>
              <a:t>.</a:t>
            </a:r>
          </a:p>
          <a:p>
            <a:pPr marL="0" indent="0" algn="just">
              <a:buNone/>
            </a:pPr>
            <a:r>
              <a:rPr lang="en-US" sz="2100" dirty="0">
                <a:latin typeface="Times New Roman" pitchFamily="18" charset="0"/>
                <a:cs typeface="Times New Roman" pitchFamily="18" charset="0"/>
              </a:rPr>
              <a:t>Example:</a:t>
            </a:r>
          </a:p>
          <a:p>
            <a:pPr marL="0" indent="0" fontAlgn="ctr">
              <a:buNone/>
            </a:pPr>
            <a:r>
              <a:rPr lang="en-US" sz="2100" dirty="0">
                <a:latin typeface="Times New Roman" pitchFamily="18" charset="0"/>
                <a:cs typeface="Times New Roman" pitchFamily="18" charset="0"/>
              </a:rPr>
              <a:t>Consider a relation R(A, B, C) with the following functional dependencies: A -&gt; B and B -&gt; C. </a:t>
            </a:r>
          </a:p>
          <a:p>
            <a:pPr marL="0" indent="0" fontAlgn="ctr">
              <a:buNone/>
            </a:pPr>
            <a:r>
              <a:rPr lang="en-US" sz="2100" dirty="0">
                <a:latin typeface="Times New Roman" pitchFamily="18" charset="0"/>
                <a:cs typeface="Times New Roman" pitchFamily="18" charset="0"/>
              </a:rPr>
              <a:t>Now, let's decompose R into two relations:</a:t>
            </a:r>
          </a:p>
          <a:p>
            <a:pPr marL="0" indent="0">
              <a:buNone/>
            </a:pPr>
            <a:r>
              <a:rPr lang="en-US" sz="2100" dirty="0">
                <a:latin typeface="Times New Roman" pitchFamily="18" charset="0"/>
                <a:cs typeface="Times New Roman" pitchFamily="18" charset="0"/>
              </a:rPr>
              <a:t>R1(A, B)</a:t>
            </a:r>
          </a:p>
          <a:p>
            <a:pPr marL="0" indent="0">
              <a:buNone/>
            </a:pPr>
            <a:r>
              <a:rPr lang="en-US" sz="2100" dirty="0">
                <a:latin typeface="Times New Roman" pitchFamily="18" charset="0"/>
                <a:cs typeface="Times New Roman" pitchFamily="18" charset="0"/>
              </a:rPr>
              <a:t>R2(B, C)</a:t>
            </a:r>
          </a:p>
          <a:p>
            <a:pPr marL="0" indent="0" fontAlgn="ctr">
              <a:buNone/>
            </a:pPr>
            <a:r>
              <a:rPr lang="en-US" sz="2100" dirty="0">
                <a:latin typeface="Times New Roman" pitchFamily="18" charset="0"/>
                <a:cs typeface="Times New Roman" pitchFamily="18" charset="0"/>
              </a:rPr>
              <a:t>To check for dependency preservation, we examine the FDs in the decomposed relations:</a:t>
            </a:r>
          </a:p>
          <a:p>
            <a:pPr marL="0" indent="0">
              <a:buNone/>
            </a:pPr>
            <a:r>
              <a:rPr lang="en-US" sz="2100" dirty="0">
                <a:latin typeface="Times New Roman" pitchFamily="18" charset="0"/>
                <a:cs typeface="Times New Roman" pitchFamily="18" charset="0"/>
              </a:rPr>
              <a:t>In R1(A, B), the FD A -&gt; B is preserved.</a:t>
            </a:r>
          </a:p>
          <a:p>
            <a:pPr marL="0" indent="0">
              <a:buNone/>
            </a:pPr>
            <a:r>
              <a:rPr lang="en-US" sz="2100" dirty="0">
                <a:latin typeface="Times New Roman" pitchFamily="18" charset="0"/>
                <a:cs typeface="Times New Roman" pitchFamily="18" charset="0"/>
              </a:rPr>
              <a:t>In R2(B, C), the FD B -&gt; C is preserved.</a:t>
            </a:r>
          </a:p>
          <a:p>
            <a:pPr marL="0" indent="0">
              <a:buNone/>
            </a:pPr>
            <a:r>
              <a:rPr lang="en-US" sz="2100" dirty="0">
                <a:latin typeface="Times New Roman" pitchFamily="18" charset="0"/>
                <a:cs typeface="Times New Roman" pitchFamily="18" charset="0"/>
              </a:rPr>
              <a:t>Since both original FDs (A -&gt; B and B -&gt; C) are directly present in the decomposed relations, this decomposition is dependency-preserving. We can verify these dependencies by checking only R1 and R2 individually, without requiring a join operation.</a:t>
            </a: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967955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389120"/>
          </a:xfrm>
        </p:spPr>
        <p:txBody>
          <a:bodyPr>
            <a:normAutofit/>
          </a:bodyPr>
          <a:lstStyle/>
          <a:p>
            <a:pPr marL="0" indent="0" algn="just">
              <a:buNone/>
            </a:pPr>
            <a:r>
              <a:rPr lang="en-US" sz="2200" dirty="0" smtClean="0">
                <a:latin typeface="Times New Roman" pitchFamily="18" charset="0"/>
                <a:cs typeface="Times New Roman" pitchFamily="18" charset="0"/>
              </a:rPr>
              <a:t>Example</a:t>
            </a:r>
          </a:p>
          <a:p>
            <a:pPr marL="0" indent="0" algn="just" fontAlgn="ctr">
              <a:buNone/>
            </a:pPr>
            <a:r>
              <a:rPr lang="en-US" sz="2200" dirty="0">
                <a:latin typeface="Times New Roman" pitchFamily="18" charset="0"/>
                <a:cs typeface="Times New Roman" pitchFamily="18" charset="0"/>
              </a:rPr>
              <a:t>Consider a relation R(A, B, C, D) with the FD A -&gt; CD. If we decompose R into: </a:t>
            </a:r>
          </a:p>
          <a:p>
            <a:pPr marL="0" indent="0" algn="just">
              <a:buNone/>
            </a:pPr>
            <a:r>
              <a:rPr lang="en-US" sz="2200" dirty="0">
                <a:latin typeface="Times New Roman" pitchFamily="18" charset="0"/>
                <a:cs typeface="Times New Roman" pitchFamily="18" charset="0"/>
              </a:rPr>
              <a:t>R1(A, B)</a:t>
            </a:r>
          </a:p>
          <a:p>
            <a:pPr marL="0" indent="0" algn="just">
              <a:buNone/>
            </a:pPr>
            <a:r>
              <a:rPr lang="en-US" sz="2200" dirty="0">
                <a:latin typeface="Times New Roman" pitchFamily="18" charset="0"/>
                <a:cs typeface="Times New Roman" pitchFamily="18" charset="0"/>
              </a:rPr>
              <a:t>R2(C, D)</a:t>
            </a:r>
          </a:p>
          <a:p>
            <a:pPr marL="0" indent="0" algn="just">
              <a:buNone/>
            </a:pPr>
            <a:r>
              <a:rPr lang="en-US" sz="2200" dirty="0">
                <a:latin typeface="Times New Roman" pitchFamily="18" charset="0"/>
                <a:cs typeface="Times New Roman" pitchFamily="18" charset="0"/>
              </a:rPr>
              <a:t>In this case, the original FD A -&gt; CD is not directly present in either R1 or R2. Furthermore, it cannot be inferred from the FDs within R1 or R2 (since A is only in R1 and C, D are only in R2). Therefore, this decomposition is not dependency-preserving, as we would need to join R1 and R2 to enforce the A -&gt; CD dependency.</a:t>
            </a:r>
          </a:p>
          <a:p>
            <a:pPr marL="0" indent="0">
              <a:buNone/>
            </a:pPr>
            <a:endParaRPr lang="en-US" dirty="0"/>
          </a:p>
        </p:txBody>
      </p:sp>
      <p:sp>
        <p:nvSpPr>
          <p:cNvPr id="4" name="Title 1"/>
          <p:cNvSpPr txBox="1">
            <a:spLocks/>
          </p:cNvSpPr>
          <p:nvPr/>
        </p:nvSpPr>
        <p:spPr>
          <a:xfrm>
            <a:off x="457200" y="885444"/>
            <a:ext cx="8229600" cy="399288"/>
          </a:xfrm>
          <a:prstGeom prst="rect">
            <a:avLst/>
          </a:prstGeom>
        </p:spPr>
        <p:txBody>
          <a:bodyPr vert="horz" lIns="0" rIns="0" bIns="0" anchor="b">
            <a:normAutofit fontScale="90000" lnSpcReduction="20000"/>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US" sz="3200" b="1" dirty="0" smtClean="0">
                <a:latin typeface="Times New Roman" pitchFamily="18" charset="0"/>
                <a:cs typeface="Times New Roman" pitchFamily="18" charset="0"/>
              </a:rPr>
              <a:t>Dependency preserving property</a:t>
            </a:r>
            <a:endParaRPr lang="en-US" sz="3200" b="1" dirty="0">
              <a:latin typeface="Times New Roman" pitchFamily="18" charset="0"/>
              <a:cs typeface="Times New Roman" pitchFamily="18" charset="0"/>
            </a:endParaRPr>
          </a:p>
        </p:txBody>
      </p:sp>
    </p:spTree>
    <p:extLst>
      <p:ext uri="{BB962C8B-B14F-4D97-AF65-F5344CB8AC3E}">
        <p14:creationId xmlns:p14="http://schemas.microsoft.com/office/powerpoint/2010/main" val="38356442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203</TotalTime>
  <Words>831</Words>
  <Application>Microsoft Office PowerPoint</Application>
  <PresentationFormat>On-screen Show (4:3)</PresentationFormat>
  <Paragraphs>146</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Flow</vt:lpstr>
      <vt:lpstr>Relational Database Design</vt:lpstr>
      <vt:lpstr>Introduction to Schema Refinement</vt:lpstr>
      <vt:lpstr>PowerPoint Presentation</vt:lpstr>
      <vt:lpstr>Functional Dependencies</vt:lpstr>
      <vt:lpstr>PowerPoint Presentation</vt:lpstr>
      <vt:lpstr>Example</vt:lpstr>
      <vt:lpstr>PowerPoint Presentation</vt:lpstr>
      <vt:lpstr>PowerPoint Presentation</vt:lpstr>
      <vt:lpstr>PowerPoint Presentation</vt:lpstr>
      <vt:lpstr>PowerPoint Presentation</vt:lpstr>
      <vt:lpstr>Closure of a Set of FDs</vt:lpstr>
      <vt:lpstr>Find Candidate Keys in relation:</vt:lpstr>
      <vt:lpstr>Normalization</vt:lpstr>
      <vt:lpstr>Types of DBMS Normal forms</vt:lpstr>
      <vt:lpstr>Types of DBMS Normal forms</vt:lpstr>
      <vt:lpstr>Types of DBMS Normal forms</vt:lpstr>
      <vt:lpstr>PowerPoint Presentation</vt:lpstr>
      <vt:lpstr>PowerPoint Presentation</vt:lpstr>
      <vt:lpstr>PowerPoint Presentation</vt:lpstr>
      <vt:lpstr>Use of Decompositions</vt:lpstr>
      <vt:lpstr>Use of Decompositions</vt:lpstr>
      <vt:lpstr>Types of Decomposition</vt:lpstr>
      <vt:lpstr>Lossless Decomposition</vt:lpstr>
      <vt:lpstr>Lossy Decomposition</vt:lpstr>
      <vt:lpstr>Dependency preserving property</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Relational Database Design</dc:title>
  <dc:creator>Animation-16</dc:creator>
  <cp:lastModifiedBy>Animation-16</cp:lastModifiedBy>
  <cp:revision>33</cp:revision>
  <dcterms:created xsi:type="dcterms:W3CDTF">2025-08-19T11:08:55Z</dcterms:created>
  <dcterms:modified xsi:type="dcterms:W3CDTF">2025-09-08T04:30:29Z</dcterms:modified>
</cp:coreProperties>
</file>