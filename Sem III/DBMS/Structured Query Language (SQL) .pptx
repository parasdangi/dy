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4" r:id="rId38"/>
    <p:sldId id="295" r:id="rId39"/>
    <p:sldId id="296" r:id="rId40"/>
    <p:sldId id="292" r:id="rId41"/>
    <p:sldId id="293"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0" autoAdjust="0"/>
    <p:restoredTop sz="94660"/>
  </p:normalViewPr>
  <p:slideViewPr>
    <p:cSldViewPr snapToGrid="0">
      <p:cViewPr varScale="1">
        <p:scale>
          <a:sx n="69" d="100"/>
          <a:sy n="69" d="100"/>
        </p:scale>
        <p:origin x="78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320864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94221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2650175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7A943-CD1C-4BA8-8404-09BFB74129BC}" type="datetimeFigureOut">
              <a:rPr lang="en-US" smtClean="0"/>
              <a:t>03-Aug-25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1805246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7A943-CD1C-4BA8-8404-09BFB74129BC}" type="datetimeFigureOut">
              <a:rPr lang="en-US" smtClean="0"/>
              <a:t>03-Aug-25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1784034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758973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205798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2026757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7A943-CD1C-4BA8-8404-09BFB74129BC}" type="datetimeFigureOut">
              <a:rPr lang="en-US" smtClean="0"/>
              <a:t>03-Aug-25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3703724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7A943-CD1C-4BA8-8404-09BFB74129BC}" type="datetimeFigureOut">
              <a:rPr lang="en-US" smtClean="0"/>
              <a:t>03-Aug-25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3071107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1067714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33447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3043394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2053697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3738231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769376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7A943-CD1C-4BA8-8404-09BFB74129BC}" type="datetimeFigureOut">
              <a:rPr lang="en-US" smtClean="0"/>
              <a:t>03-Aug-25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4D953C-0D42-40CF-98FD-B334607BA2D2}" type="slidenum">
              <a:rPr lang="en-US" smtClean="0"/>
              <a:t>‹#›</a:t>
            </a:fld>
            <a:endParaRPr lang="en-US"/>
          </a:p>
        </p:txBody>
      </p:sp>
    </p:spTree>
    <p:extLst>
      <p:ext uri="{BB962C8B-B14F-4D97-AF65-F5344CB8AC3E}">
        <p14:creationId xmlns:p14="http://schemas.microsoft.com/office/powerpoint/2010/main" val="4062333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7A943-CD1C-4BA8-8404-09BFB74129BC}" type="datetimeFigureOut">
              <a:rPr lang="en-US" smtClean="0"/>
              <a:t>03-Aug-25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64D953C-0D42-40CF-98FD-B334607BA2D2}" type="slidenum">
              <a:rPr lang="en-US" smtClean="0"/>
              <a:t>‹#›</a:t>
            </a:fld>
            <a:endParaRPr lang="en-US"/>
          </a:p>
        </p:txBody>
      </p:sp>
    </p:spTree>
    <p:extLst>
      <p:ext uri="{BB962C8B-B14F-4D97-AF65-F5344CB8AC3E}">
        <p14:creationId xmlns:p14="http://schemas.microsoft.com/office/powerpoint/2010/main" val="4172163852"/>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postgresql/postgresql-select/#:~:text=The%20SELECT%20statement%20in%20PostgreSQL,data%20from%20a%20database%20tabl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0257" y="2775098"/>
            <a:ext cx="8825658" cy="1119781"/>
          </a:xfrm>
        </p:spPr>
        <p:txBody>
          <a:bodyPr/>
          <a:lstStyle/>
          <a:p>
            <a:r>
              <a:rPr lang="en-US" sz="4400" b="1" dirty="0">
                <a:latin typeface="Times New Roman" panose="02020603050405020304" pitchFamily="18" charset="0"/>
                <a:cs typeface="Times New Roman" panose="02020603050405020304" pitchFamily="18" charset="0"/>
              </a:rPr>
              <a:t>Structured Query Language (SQL)</a:t>
            </a:r>
          </a:p>
        </p:txBody>
      </p:sp>
    </p:spTree>
    <p:extLst>
      <p:ext uri="{BB962C8B-B14F-4D97-AF65-F5344CB8AC3E}">
        <p14:creationId xmlns:p14="http://schemas.microsoft.com/office/powerpoint/2010/main" val="54315946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99905"/>
          </a:xfrm>
        </p:spPr>
        <p:txBody>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104293" y="1425597"/>
            <a:ext cx="8946541" cy="4195481"/>
          </a:xfrm>
        </p:spPr>
        <p:txBody>
          <a:bodyPr/>
          <a:lstStyle/>
          <a:p>
            <a:r>
              <a:rPr lang="en-US" sz="2400" dirty="0">
                <a:latin typeface="Times New Roman" panose="02020603050405020304" pitchFamily="18" charset="0"/>
                <a:cs typeface="Times New Roman" panose="02020603050405020304" pitchFamily="18" charset="0"/>
              </a:rPr>
              <a:t>SQL stands for Structured Query Language</a:t>
            </a:r>
          </a:p>
          <a:p>
            <a:r>
              <a:rPr lang="en-US" sz="2400" dirty="0">
                <a:latin typeface="Times New Roman" panose="02020603050405020304" pitchFamily="18" charset="0"/>
                <a:cs typeface="Times New Roman" panose="02020603050405020304" pitchFamily="18" charset="0"/>
              </a:rPr>
              <a:t>SQL lets you access and manipulate databases</a:t>
            </a:r>
          </a:p>
          <a:p>
            <a:r>
              <a:rPr lang="en-US" sz="2400" dirty="0">
                <a:latin typeface="Times New Roman" panose="02020603050405020304" pitchFamily="18" charset="0"/>
                <a:cs typeface="Times New Roman" panose="02020603050405020304" pitchFamily="18" charset="0"/>
              </a:rPr>
              <a:t>SQL became a standard of the American National Standards Institute (ANSI) in 1986, and of the International Organization for Standardization (ISO) in 1987</a:t>
            </a:r>
          </a:p>
          <a:p>
            <a:r>
              <a:rPr lang="en-US" sz="2400" dirty="0">
                <a:latin typeface="Times New Roman" panose="02020603050405020304" pitchFamily="18" charset="0"/>
                <a:cs typeface="Times New Roman" panose="02020603050405020304" pitchFamily="18" charset="0"/>
              </a:rPr>
              <a:t>Structured Query Language is a standard Database language that is used to create, maintain, and retrieve the relational database. SQL is case insensitive.</a:t>
            </a:r>
          </a:p>
          <a:p>
            <a:endParaRPr lang="en-US" dirty="0"/>
          </a:p>
        </p:txBody>
      </p:sp>
    </p:spTree>
    <p:extLst>
      <p:ext uri="{BB962C8B-B14F-4D97-AF65-F5344CB8AC3E}">
        <p14:creationId xmlns:p14="http://schemas.microsoft.com/office/powerpoint/2010/main" val="8423784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21170"/>
          </a:xfrm>
        </p:spPr>
        <p:txBody>
          <a:bodyPr/>
          <a:lstStyle/>
          <a:p>
            <a:r>
              <a:rPr lang="en-US" sz="3200" dirty="0">
                <a:latin typeface="Times New Roman" panose="02020603050405020304" pitchFamily="18" charset="0"/>
                <a:cs typeface="Times New Roman" panose="02020603050405020304" pitchFamily="18" charset="0"/>
              </a:rPr>
              <a:t>Basic Structure:</a:t>
            </a:r>
          </a:p>
        </p:txBody>
      </p:sp>
      <p:pic>
        <p:nvPicPr>
          <p:cNvPr id="8" name="Picture 7"/>
          <p:cNvPicPr>
            <a:picLocks noChangeAspect="1"/>
          </p:cNvPicPr>
          <p:nvPr/>
        </p:nvPicPr>
        <p:blipFill>
          <a:blip r:embed="rId2"/>
          <a:stretch>
            <a:fillRect/>
          </a:stretch>
        </p:blipFill>
        <p:spPr>
          <a:xfrm>
            <a:off x="4827768" y="1444277"/>
            <a:ext cx="7133859" cy="4673357"/>
          </a:xfrm>
          <a:prstGeom prst="rect">
            <a:avLst/>
          </a:prstGeom>
        </p:spPr>
      </p:pic>
      <p:sp>
        <p:nvSpPr>
          <p:cNvPr id="9" name="Rectangle 8"/>
          <p:cNvSpPr/>
          <p:nvPr/>
        </p:nvSpPr>
        <p:spPr>
          <a:xfrm>
            <a:off x="646111" y="1259611"/>
            <a:ext cx="3655809" cy="369332"/>
          </a:xfrm>
          <a:prstGeom prst="rect">
            <a:avLst/>
          </a:prstGeom>
        </p:spPr>
        <p:txBody>
          <a:bodyPr wrap="none">
            <a:spAutoFit/>
          </a:bodyPr>
          <a:lstStyle/>
          <a:p>
            <a:r>
              <a:rPr lang="en-US" b="1" dirty="0">
                <a:latin typeface="Roboto"/>
              </a:rPr>
              <a:t>DDL (Data Definition Language)</a:t>
            </a:r>
            <a:endParaRPr lang="en-US" dirty="0"/>
          </a:p>
        </p:txBody>
      </p:sp>
      <p:sp>
        <p:nvSpPr>
          <p:cNvPr id="10" name="Rectangle 9"/>
          <p:cNvSpPr/>
          <p:nvPr/>
        </p:nvSpPr>
        <p:spPr>
          <a:xfrm>
            <a:off x="646111" y="1814666"/>
            <a:ext cx="4040530" cy="369332"/>
          </a:xfrm>
          <a:prstGeom prst="rect">
            <a:avLst/>
          </a:prstGeom>
        </p:spPr>
        <p:txBody>
          <a:bodyPr wrap="none">
            <a:spAutoFit/>
          </a:bodyPr>
          <a:lstStyle/>
          <a:p>
            <a:r>
              <a:rPr lang="en-US" b="1" dirty="0">
                <a:latin typeface="Roboto"/>
              </a:rPr>
              <a:t>DML (Data Manipulation Language)</a:t>
            </a:r>
            <a:endParaRPr lang="en-US" dirty="0"/>
          </a:p>
        </p:txBody>
      </p:sp>
      <p:sp>
        <p:nvSpPr>
          <p:cNvPr id="11" name="Rectangle 10"/>
          <p:cNvSpPr/>
          <p:nvPr/>
        </p:nvSpPr>
        <p:spPr>
          <a:xfrm>
            <a:off x="646111" y="2266139"/>
            <a:ext cx="3271088" cy="369332"/>
          </a:xfrm>
          <a:prstGeom prst="rect">
            <a:avLst/>
          </a:prstGeom>
        </p:spPr>
        <p:txBody>
          <a:bodyPr wrap="none">
            <a:spAutoFit/>
          </a:bodyPr>
          <a:lstStyle/>
          <a:p>
            <a:r>
              <a:rPr lang="en-US" b="1" dirty="0">
                <a:latin typeface="Roboto"/>
              </a:rPr>
              <a:t>DQL (Data Query Language)</a:t>
            </a:r>
            <a:endParaRPr lang="en-US" dirty="0"/>
          </a:p>
        </p:txBody>
      </p:sp>
      <p:sp>
        <p:nvSpPr>
          <p:cNvPr id="12" name="Rectangle 11"/>
          <p:cNvSpPr/>
          <p:nvPr/>
        </p:nvSpPr>
        <p:spPr>
          <a:xfrm>
            <a:off x="646111" y="2717612"/>
            <a:ext cx="3412153" cy="369332"/>
          </a:xfrm>
          <a:prstGeom prst="rect">
            <a:avLst/>
          </a:prstGeom>
        </p:spPr>
        <p:txBody>
          <a:bodyPr wrap="none">
            <a:spAutoFit/>
          </a:bodyPr>
          <a:lstStyle/>
          <a:p>
            <a:r>
              <a:rPr lang="en-US" b="1" dirty="0">
                <a:latin typeface="Roboto"/>
              </a:rPr>
              <a:t>DCL (Data Control Language)</a:t>
            </a:r>
            <a:endParaRPr lang="en-US" dirty="0"/>
          </a:p>
        </p:txBody>
      </p:sp>
      <p:sp>
        <p:nvSpPr>
          <p:cNvPr id="13" name="Rectangle 12"/>
          <p:cNvSpPr/>
          <p:nvPr/>
        </p:nvSpPr>
        <p:spPr>
          <a:xfrm>
            <a:off x="646111" y="3208397"/>
            <a:ext cx="4181658" cy="369332"/>
          </a:xfrm>
          <a:prstGeom prst="rect">
            <a:avLst/>
          </a:prstGeom>
        </p:spPr>
        <p:txBody>
          <a:bodyPr wrap="none">
            <a:spAutoFit/>
          </a:bodyPr>
          <a:lstStyle/>
          <a:p>
            <a:r>
              <a:rPr lang="en-US" b="1" dirty="0">
                <a:latin typeface="Roboto"/>
              </a:rPr>
              <a:t>TCL (Transaction Control Language)</a:t>
            </a:r>
            <a:endParaRPr lang="en-US" dirty="0"/>
          </a:p>
        </p:txBody>
      </p:sp>
    </p:spTree>
    <p:extLst>
      <p:ext uri="{BB962C8B-B14F-4D97-AF65-F5344CB8AC3E}">
        <p14:creationId xmlns:p14="http://schemas.microsoft.com/office/powerpoint/2010/main" val="231833927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10538"/>
          </a:xfrm>
        </p:spPr>
        <p:txBody>
          <a:bodyPr/>
          <a:lstStyle/>
          <a:p>
            <a:r>
              <a:rPr lang="en-US" sz="3200" b="1" dirty="0">
                <a:latin typeface="Times New Roman" panose="02020603050405020304" pitchFamily="18" charset="0"/>
                <a:cs typeface="Times New Roman" panose="02020603050405020304" pitchFamily="18" charset="0"/>
              </a:rPr>
              <a:t>Basic Data Types</a:t>
            </a:r>
          </a:p>
        </p:txBody>
      </p:sp>
      <p:sp>
        <p:nvSpPr>
          <p:cNvPr id="3" name="Content Placeholder 2"/>
          <p:cNvSpPr>
            <a:spLocks noGrp="1"/>
          </p:cNvSpPr>
          <p:nvPr>
            <p:ph idx="1"/>
          </p:nvPr>
        </p:nvSpPr>
        <p:spPr>
          <a:xfrm>
            <a:off x="773703" y="1319272"/>
            <a:ext cx="8946541" cy="4195481"/>
          </a:xfrm>
        </p:spPr>
        <p:txBody>
          <a:bodyPr/>
          <a:lstStyle/>
          <a:p>
            <a:r>
              <a:rPr lang="en-US" dirty="0"/>
              <a:t>Numeric Types</a:t>
            </a:r>
          </a:p>
          <a:p>
            <a:endParaRPr lang="en-US" dirty="0"/>
          </a:p>
        </p:txBody>
      </p:sp>
      <p:pic>
        <p:nvPicPr>
          <p:cNvPr id="6" name="Picture 5"/>
          <p:cNvPicPr>
            <a:picLocks noChangeAspect="1"/>
          </p:cNvPicPr>
          <p:nvPr/>
        </p:nvPicPr>
        <p:blipFill>
          <a:blip r:embed="rId2"/>
          <a:stretch>
            <a:fillRect/>
          </a:stretch>
        </p:blipFill>
        <p:spPr>
          <a:xfrm>
            <a:off x="3274828" y="1410790"/>
            <a:ext cx="7549116" cy="5200004"/>
          </a:xfrm>
          <a:prstGeom prst="rect">
            <a:avLst/>
          </a:prstGeom>
        </p:spPr>
      </p:pic>
    </p:spTree>
    <p:extLst>
      <p:ext uri="{BB962C8B-B14F-4D97-AF65-F5344CB8AC3E}">
        <p14:creationId xmlns:p14="http://schemas.microsoft.com/office/powerpoint/2010/main" val="4944636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21170"/>
          </a:xfrm>
        </p:spPr>
        <p:txBody>
          <a:bodyPr/>
          <a:lstStyle/>
          <a:p>
            <a:r>
              <a:rPr lang="en-US" sz="3200" b="1" dirty="0">
                <a:latin typeface="Times New Roman" panose="02020603050405020304" pitchFamily="18" charset="0"/>
                <a:cs typeface="Times New Roman" panose="02020603050405020304" pitchFamily="18" charset="0"/>
              </a:rPr>
              <a:t>Basic Data Types</a:t>
            </a:r>
            <a:endParaRPr lang="en-US" sz="3200" dirty="0"/>
          </a:p>
        </p:txBody>
      </p:sp>
      <p:sp>
        <p:nvSpPr>
          <p:cNvPr id="3" name="Content Placeholder 2"/>
          <p:cNvSpPr>
            <a:spLocks noGrp="1"/>
          </p:cNvSpPr>
          <p:nvPr>
            <p:ph idx="1"/>
          </p:nvPr>
        </p:nvSpPr>
        <p:spPr>
          <a:xfrm>
            <a:off x="731172" y="1202314"/>
            <a:ext cx="8946541" cy="4195481"/>
          </a:xfrm>
        </p:spPr>
        <p:txBody>
          <a:bodyPr>
            <a:normAutofit/>
          </a:bodyPr>
          <a:lstStyle/>
          <a:p>
            <a:r>
              <a:rPr lang="en-US" sz="2400" b="1" dirty="0">
                <a:latin typeface="Times New Roman" panose="02020603050405020304" pitchFamily="18" charset="0"/>
                <a:cs typeface="Times New Roman" panose="02020603050405020304" pitchFamily="18" charset="0"/>
              </a:rPr>
              <a:t>Character Types</a:t>
            </a:r>
          </a:p>
          <a:p>
            <a:endParaRPr lang="en-US" sz="2400" b="1" dirty="0">
              <a:latin typeface="Times New Roman" panose="02020603050405020304" pitchFamily="18" charset="0"/>
              <a:cs typeface="Times New Roman" panose="02020603050405020304" pitchFamily="18" charset="0"/>
            </a:endParaRPr>
          </a:p>
          <a:p>
            <a:pPr lvl="1"/>
            <a:r>
              <a:rPr lang="en-US" sz="2200" b="1" dirty="0">
                <a:latin typeface="Times New Roman" panose="02020603050405020304" pitchFamily="18" charset="0"/>
                <a:cs typeface="Times New Roman" panose="02020603050405020304" pitchFamily="18" charset="0"/>
              </a:rPr>
              <a:t>character varying(n), varchar(n)</a:t>
            </a:r>
            <a:endParaRPr lang="en-US" sz="22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variable-length with limit</a:t>
            </a:r>
          </a:p>
          <a:p>
            <a:pPr lvl="1"/>
            <a:r>
              <a:rPr lang="en-US" sz="2200" b="1" dirty="0">
                <a:latin typeface="Times New Roman" panose="02020603050405020304" pitchFamily="18" charset="0"/>
                <a:cs typeface="Times New Roman" panose="02020603050405020304" pitchFamily="18" charset="0"/>
              </a:rPr>
              <a:t>character(n), char(n)</a:t>
            </a:r>
            <a:endParaRPr lang="en-US" sz="22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fixed-length, blank padded</a:t>
            </a:r>
          </a:p>
          <a:p>
            <a:pPr lvl="1"/>
            <a:r>
              <a:rPr lang="en-US" sz="2200" b="1" dirty="0">
                <a:latin typeface="Times New Roman" panose="02020603050405020304" pitchFamily="18" charset="0"/>
                <a:cs typeface="Times New Roman" panose="02020603050405020304" pitchFamily="18" charset="0"/>
              </a:rPr>
              <a:t>text</a:t>
            </a:r>
            <a:endParaRPr lang="en-US" sz="22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variable unlimited length</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453473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21170"/>
          </a:xfrm>
        </p:spPr>
        <p:txBody>
          <a:bodyPr/>
          <a:lstStyle/>
          <a:p>
            <a:r>
              <a:rPr lang="en-US" sz="3200" b="1" dirty="0">
                <a:latin typeface="Times New Roman" panose="02020603050405020304" pitchFamily="18" charset="0"/>
                <a:cs typeface="Times New Roman" panose="02020603050405020304" pitchFamily="18" charset="0"/>
              </a:rPr>
              <a:t>Date/Time Types</a:t>
            </a:r>
            <a:br>
              <a:rPr lang="en-US" dirty="0"/>
            </a:br>
            <a:endParaRPr lang="en-US" dirty="0"/>
          </a:p>
        </p:txBody>
      </p:sp>
      <p:pic>
        <p:nvPicPr>
          <p:cNvPr id="4" name="Picture 3"/>
          <p:cNvPicPr>
            <a:picLocks noChangeAspect="1"/>
          </p:cNvPicPr>
          <p:nvPr/>
        </p:nvPicPr>
        <p:blipFill>
          <a:blip r:embed="rId2"/>
          <a:stretch>
            <a:fillRect/>
          </a:stretch>
        </p:blipFill>
        <p:spPr>
          <a:xfrm>
            <a:off x="1392865" y="1351169"/>
            <a:ext cx="9069571" cy="5177222"/>
          </a:xfrm>
          <a:prstGeom prst="rect">
            <a:avLst/>
          </a:prstGeom>
        </p:spPr>
      </p:pic>
    </p:spTree>
    <p:extLst>
      <p:ext uri="{BB962C8B-B14F-4D97-AF65-F5344CB8AC3E}">
        <p14:creationId xmlns:p14="http://schemas.microsoft.com/office/powerpoint/2010/main" val="355014570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99905"/>
          </a:xfrm>
        </p:spPr>
        <p:txBody>
          <a:bodyPr/>
          <a:lstStyle/>
          <a:p>
            <a:r>
              <a:rPr lang="en-US" sz="3200" b="1" dirty="0">
                <a:latin typeface="Times New Roman" panose="02020603050405020304" pitchFamily="18" charset="0"/>
                <a:cs typeface="Times New Roman" panose="02020603050405020304" pitchFamily="18" charset="0"/>
              </a:rPr>
              <a:t>Binary Data Types &amp; Boolean Type</a:t>
            </a:r>
            <a:br>
              <a:rPr lang="en-US" dirty="0"/>
            </a:br>
            <a:endParaRPr lang="en-US" dirty="0"/>
          </a:p>
        </p:txBody>
      </p:sp>
      <p:pic>
        <p:nvPicPr>
          <p:cNvPr id="4" name="Picture 3"/>
          <p:cNvPicPr>
            <a:picLocks noChangeAspect="1"/>
          </p:cNvPicPr>
          <p:nvPr/>
        </p:nvPicPr>
        <p:blipFill>
          <a:blip r:embed="rId2"/>
          <a:stretch>
            <a:fillRect/>
          </a:stretch>
        </p:blipFill>
        <p:spPr>
          <a:xfrm>
            <a:off x="646111" y="1457827"/>
            <a:ext cx="7563906" cy="752580"/>
          </a:xfrm>
          <a:prstGeom prst="rect">
            <a:avLst/>
          </a:prstGeom>
        </p:spPr>
      </p:pic>
      <p:pic>
        <p:nvPicPr>
          <p:cNvPr id="5" name="Picture 4"/>
          <p:cNvPicPr>
            <a:picLocks noChangeAspect="1"/>
          </p:cNvPicPr>
          <p:nvPr/>
        </p:nvPicPr>
        <p:blipFill>
          <a:blip r:embed="rId3"/>
          <a:stretch>
            <a:fillRect/>
          </a:stretch>
        </p:blipFill>
        <p:spPr>
          <a:xfrm>
            <a:off x="588953" y="3106978"/>
            <a:ext cx="7621064" cy="771633"/>
          </a:xfrm>
          <a:prstGeom prst="rect">
            <a:avLst/>
          </a:prstGeom>
        </p:spPr>
      </p:pic>
      <p:sp>
        <p:nvSpPr>
          <p:cNvPr id="6" name="Rectangle 5"/>
          <p:cNvSpPr/>
          <p:nvPr/>
        </p:nvSpPr>
        <p:spPr>
          <a:xfrm>
            <a:off x="646111" y="4264762"/>
            <a:ext cx="2934329"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Enumerated Type</a:t>
            </a:r>
            <a:endParaRPr lang="en-US" sz="2800" b="1" i="0" dirty="0">
              <a:effectLst/>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stretch>
            <a:fillRect/>
          </a:stretch>
        </p:blipFill>
        <p:spPr>
          <a:xfrm>
            <a:off x="588953" y="5389965"/>
            <a:ext cx="7497221" cy="543001"/>
          </a:xfrm>
          <a:prstGeom prst="rect">
            <a:avLst/>
          </a:prstGeom>
        </p:spPr>
      </p:pic>
    </p:spTree>
    <p:extLst>
      <p:ext uri="{BB962C8B-B14F-4D97-AF65-F5344CB8AC3E}">
        <p14:creationId xmlns:p14="http://schemas.microsoft.com/office/powerpoint/2010/main" val="122657149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21170"/>
          </a:xfrm>
        </p:spPr>
        <p:txBody>
          <a:bodyPr/>
          <a:lstStyle/>
          <a:p>
            <a:r>
              <a:rPr lang="en-US" sz="3200" b="1" dirty="0">
                <a:latin typeface="Times New Roman" panose="02020603050405020304" pitchFamily="18" charset="0"/>
                <a:cs typeface="Times New Roman" panose="02020603050405020304" pitchFamily="18" charset="0"/>
              </a:rPr>
              <a:t>PostgreSQL - Operators</a:t>
            </a:r>
            <a:br>
              <a:rPr lang="en-US" b="1" dirty="0"/>
            </a:br>
            <a:endParaRPr lang="en-US" dirty="0"/>
          </a:p>
        </p:txBody>
      </p:sp>
      <p:sp>
        <p:nvSpPr>
          <p:cNvPr id="3" name="Content Placeholder 2"/>
          <p:cNvSpPr>
            <a:spLocks noGrp="1"/>
          </p:cNvSpPr>
          <p:nvPr>
            <p:ph idx="1"/>
          </p:nvPr>
        </p:nvSpPr>
        <p:spPr>
          <a:xfrm>
            <a:off x="646111" y="1404332"/>
            <a:ext cx="8946541" cy="4195481"/>
          </a:xfrm>
        </p:spPr>
        <p:txBody>
          <a:bodyPr/>
          <a:lstStyle/>
          <a:p>
            <a:r>
              <a:rPr lang="en-US" sz="2400" dirty="0">
                <a:latin typeface="Times New Roman" panose="02020603050405020304" pitchFamily="18" charset="0"/>
                <a:cs typeface="Times New Roman" panose="02020603050405020304" pitchFamily="18" charset="0"/>
              </a:rPr>
              <a:t>Arithmetic operators</a:t>
            </a:r>
          </a:p>
          <a:p>
            <a:r>
              <a:rPr lang="en-US" sz="2400" dirty="0">
                <a:latin typeface="Times New Roman" panose="02020603050405020304" pitchFamily="18" charset="0"/>
                <a:cs typeface="Times New Roman" panose="02020603050405020304" pitchFamily="18" charset="0"/>
              </a:rPr>
              <a:t>Comparison operators</a:t>
            </a:r>
          </a:p>
          <a:p>
            <a:r>
              <a:rPr lang="en-US" sz="2400" dirty="0">
                <a:latin typeface="Times New Roman" panose="02020603050405020304" pitchFamily="18" charset="0"/>
                <a:cs typeface="Times New Roman" panose="02020603050405020304" pitchFamily="18" charset="0"/>
              </a:rPr>
              <a:t>Logical operators</a:t>
            </a:r>
          </a:p>
          <a:p>
            <a:r>
              <a:rPr lang="en-US" sz="2400" dirty="0">
                <a:latin typeface="Times New Roman" panose="02020603050405020304" pitchFamily="18" charset="0"/>
                <a:cs typeface="Times New Roman" panose="02020603050405020304" pitchFamily="18" charset="0"/>
              </a:rPr>
              <a:t>Bitwise operators</a:t>
            </a:r>
          </a:p>
          <a:p>
            <a:endParaRPr lang="en-US" dirty="0"/>
          </a:p>
        </p:txBody>
      </p:sp>
      <p:pic>
        <p:nvPicPr>
          <p:cNvPr id="4" name="Picture 3"/>
          <p:cNvPicPr>
            <a:picLocks noChangeAspect="1"/>
          </p:cNvPicPr>
          <p:nvPr/>
        </p:nvPicPr>
        <p:blipFill>
          <a:blip r:embed="rId2"/>
          <a:stretch>
            <a:fillRect/>
          </a:stretch>
        </p:blipFill>
        <p:spPr>
          <a:xfrm>
            <a:off x="3831276" y="1073888"/>
            <a:ext cx="7783011" cy="5630061"/>
          </a:xfrm>
          <a:prstGeom prst="rect">
            <a:avLst/>
          </a:prstGeom>
        </p:spPr>
      </p:pic>
    </p:spTree>
    <p:extLst>
      <p:ext uri="{BB962C8B-B14F-4D97-AF65-F5344CB8AC3E}">
        <p14:creationId xmlns:p14="http://schemas.microsoft.com/office/powerpoint/2010/main" val="404139273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14845"/>
          </a:xfrm>
        </p:spPr>
        <p:txBody>
          <a:bodyPr/>
          <a:lstStyle/>
          <a:p>
            <a:r>
              <a:rPr lang="en-US" sz="3200" b="1" dirty="0">
                <a:latin typeface="Times New Roman" panose="02020603050405020304" pitchFamily="18" charset="0"/>
                <a:cs typeface="Times New Roman" panose="02020603050405020304" pitchFamily="18" charset="0"/>
              </a:rPr>
              <a:t>PostgreSQL - CREATE Database</a:t>
            </a:r>
            <a:br>
              <a:rPr lang="en-US" b="1" dirty="0"/>
            </a:br>
            <a:endParaRPr lang="en-US" dirty="0"/>
          </a:p>
        </p:txBody>
      </p:sp>
      <p:sp>
        <p:nvSpPr>
          <p:cNvPr id="5" name="Content Placeholder 4"/>
          <p:cNvSpPr>
            <a:spLocks noGrp="1"/>
          </p:cNvSpPr>
          <p:nvPr>
            <p:ph idx="1"/>
          </p:nvPr>
        </p:nvSpPr>
        <p:spPr>
          <a:xfrm>
            <a:off x="646111" y="1276741"/>
            <a:ext cx="8946541" cy="5379240"/>
          </a:xfrm>
        </p:spPr>
        <p:txBody>
          <a:bodyPr/>
          <a:lstStyle/>
          <a:p>
            <a:r>
              <a:rPr lang="en-US" dirty="0"/>
              <a:t>Syntax</a:t>
            </a:r>
          </a:p>
          <a:p>
            <a:pPr marL="0" indent="0">
              <a:buNone/>
            </a:pPr>
            <a:r>
              <a:rPr lang="en-US" dirty="0"/>
              <a:t>		CREATE DATABASE </a:t>
            </a:r>
            <a:r>
              <a:rPr lang="en-US" dirty="0" err="1"/>
              <a:t>dbname</a:t>
            </a:r>
            <a:r>
              <a:rPr lang="en-US" dirty="0"/>
              <a:t>;</a:t>
            </a:r>
          </a:p>
          <a:p>
            <a:pPr marL="0" indent="0">
              <a:buNone/>
            </a:pPr>
            <a:r>
              <a:rPr lang="en-US" dirty="0"/>
              <a:t>Example</a:t>
            </a:r>
          </a:p>
          <a:p>
            <a:pPr marL="0" indent="0">
              <a:buNone/>
            </a:pPr>
            <a:r>
              <a:rPr lang="en-US" dirty="0"/>
              <a:t>		</a:t>
            </a:r>
            <a:r>
              <a:rPr lang="en-US" dirty="0" err="1"/>
              <a:t>postgres</a:t>
            </a:r>
            <a:r>
              <a:rPr lang="en-US" dirty="0"/>
              <a:t>=# CREATE DATABASE </a:t>
            </a:r>
            <a:r>
              <a:rPr lang="en-US" dirty="0" err="1"/>
              <a:t>testdb</a:t>
            </a:r>
            <a:r>
              <a:rPr lang="en-US" dirty="0"/>
              <a:t>;</a:t>
            </a:r>
          </a:p>
          <a:p>
            <a:pPr marL="0" indent="0">
              <a:buNone/>
            </a:pPr>
            <a:r>
              <a:rPr lang="en-US" dirty="0"/>
              <a:t>		</a:t>
            </a:r>
            <a:r>
              <a:rPr lang="en-US" dirty="0" err="1"/>
              <a:t>postgres</a:t>
            </a:r>
            <a:r>
              <a:rPr lang="en-US" dirty="0"/>
              <a:t>-# </a:t>
            </a:r>
          </a:p>
          <a:p>
            <a:pPr marL="0" indent="0">
              <a:buNone/>
            </a:pPr>
            <a:r>
              <a:rPr lang="en-US" sz="2400" b="1" dirty="0">
                <a:latin typeface="Times New Roman" panose="02020603050405020304" pitchFamily="18" charset="0"/>
                <a:cs typeface="Times New Roman" panose="02020603050405020304" pitchFamily="18" charset="0"/>
              </a:rPr>
              <a:t>ALTER DATA BASE:</a:t>
            </a:r>
          </a:p>
          <a:p>
            <a:pPr marL="0" indent="0">
              <a:buNone/>
            </a:pPr>
            <a:r>
              <a:rPr lang="en-US" sz="2400" b="1" dirty="0">
                <a:latin typeface="Times New Roman" panose="02020603050405020304" pitchFamily="18" charset="0"/>
                <a:cs typeface="Times New Roman" panose="02020603050405020304" pitchFamily="18" charset="0"/>
              </a:rPr>
              <a:t>ALTER DATABASE</a:t>
            </a:r>
            <a:r>
              <a:rPr lang="en-US" sz="2400" dirty="0">
                <a:latin typeface="Times New Roman" panose="02020603050405020304" pitchFamily="18" charset="0"/>
                <a:cs typeface="Times New Roman" panose="02020603050405020304" pitchFamily="18" charset="0"/>
              </a:rPr>
              <a:t> is used to modify the properties of an existing database, such as renaming the database, changing the owner of the database</a:t>
            </a:r>
          </a:p>
          <a:p>
            <a:pPr marL="0" indent="0">
              <a:buNone/>
            </a:pPr>
            <a:r>
              <a:rPr lang="en-US" dirty="0"/>
              <a:t>Syntax</a:t>
            </a:r>
          </a:p>
          <a:p>
            <a:pPr marL="0" indent="0">
              <a:buNone/>
            </a:pPr>
            <a:r>
              <a:rPr lang="en-US" sz="2400" dirty="0">
                <a:latin typeface="Times New Roman" panose="02020603050405020304" pitchFamily="18" charset="0"/>
                <a:cs typeface="Times New Roman" panose="02020603050405020304" pitchFamily="18" charset="0"/>
              </a:rPr>
              <a:t>	ALTER DATABASE name ACTION</a:t>
            </a:r>
          </a:p>
        </p:txBody>
      </p:sp>
    </p:spTree>
    <p:extLst>
      <p:ext uri="{BB962C8B-B14F-4D97-AF65-F5344CB8AC3E}">
        <p14:creationId xmlns:p14="http://schemas.microsoft.com/office/powerpoint/2010/main" val="133855202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42435"/>
          </a:xfrm>
        </p:spPr>
        <p:txBody>
          <a:bodyPr/>
          <a:lstStyle/>
          <a:p>
            <a:r>
              <a:rPr lang="en-US" sz="3200" b="1" dirty="0">
                <a:latin typeface="Times New Roman" panose="02020603050405020304" pitchFamily="18" charset="0"/>
                <a:cs typeface="Times New Roman" panose="02020603050405020304" pitchFamily="18" charset="0"/>
              </a:rPr>
              <a:t>PostgreSQL Database</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1805" y="1340536"/>
            <a:ext cx="8946541" cy="5400506"/>
          </a:xfrm>
        </p:spPr>
        <p:txBody>
          <a:bodyPr/>
          <a:lstStyle/>
          <a:p>
            <a:r>
              <a:rPr lang="en-US" sz="2400" b="1" dirty="0">
                <a:latin typeface="Times New Roman" panose="02020603050405020304" pitchFamily="18" charset="0"/>
                <a:cs typeface="Times New Roman" panose="02020603050405020304" pitchFamily="18" charset="0"/>
              </a:rPr>
              <a:t>DROP Database</a:t>
            </a:r>
          </a:p>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	DROP DATABASE [ IF EXISTS ] name</a:t>
            </a:r>
          </a:p>
          <a:p>
            <a:pPr marL="0" indent="0">
              <a:buNone/>
            </a:pPr>
            <a:r>
              <a:rPr lang="en-US" b="1" dirty="0"/>
              <a:t>Where,</a:t>
            </a:r>
          </a:p>
          <a:p>
            <a:pPr marL="0" indent="0">
              <a:buNone/>
            </a:pPr>
            <a:r>
              <a:rPr lang="en-US" b="1" dirty="0"/>
              <a:t>	IF EXISTS</a:t>
            </a:r>
            <a:endParaRPr lang="en-US" dirty="0"/>
          </a:p>
          <a:p>
            <a:pPr marL="0" indent="0">
              <a:buNone/>
            </a:pPr>
            <a:r>
              <a:rPr lang="en-US" dirty="0"/>
              <a:t>		Do not throw an error if the database does not exist.</a:t>
            </a:r>
          </a:p>
          <a:p>
            <a:pPr marL="0" indent="0">
              <a:buNone/>
            </a:pPr>
            <a:r>
              <a:rPr lang="en-US" b="1" dirty="0"/>
              <a:t>	name</a:t>
            </a:r>
            <a:endParaRPr lang="en-US" dirty="0"/>
          </a:p>
          <a:p>
            <a:pPr marL="0" indent="0">
              <a:buNone/>
            </a:pPr>
            <a:r>
              <a:rPr lang="en-US" dirty="0"/>
              <a:t>		The name of the database to remove.</a:t>
            </a:r>
          </a:p>
          <a:p>
            <a:pPr marL="0" indent="0">
              <a:buNone/>
            </a:pPr>
            <a:r>
              <a:rPr lang="en-US" dirty="0"/>
              <a:t>Example</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postgres</a:t>
            </a:r>
            <a:r>
              <a:rPr lang="en-US" sz="2400" dirty="0">
                <a:latin typeface="Times New Roman" panose="02020603050405020304" pitchFamily="18" charset="0"/>
                <a:cs typeface="Times New Roman" panose="02020603050405020304" pitchFamily="18" charset="0"/>
              </a:rPr>
              <a:t>=# DROP DATABASE </a:t>
            </a:r>
            <a:r>
              <a:rPr lang="en-US" sz="2400" dirty="0" err="1">
                <a:latin typeface="Times New Roman" panose="02020603050405020304" pitchFamily="18" charset="0"/>
                <a:cs typeface="Times New Roman" panose="02020603050405020304" pitchFamily="18" charset="0"/>
              </a:rPr>
              <a:t>testdb</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postgres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0647205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99905"/>
          </a:xfrm>
        </p:spPr>
        <p:txBody>
          <a:bodyPr/>
          <a:lstStyle/>
          <a:p>
            <a:r>
              <a:rPr lang="en-US" sz="3200" b="1" dirty="0">
                <a:latin typeface="Times New Roman" panose="02020603050405020304" pitchFamily="18" charset="0"/>
                <a:cs typeface="Times New Roman" panose="02020603050405020304" pitchFamily="18" charset="0"/>
              </a:rPr>
              <a:t>PostgreSQL Database</a:t>
            </a:r>
            <a:endParaRPr lang="en-US" sz="3200" dirty="0"/>
          </a:p>
        </p:txBody>
      </p:sp>
      <p:sp>
        <p:nvSpPr>
          <p:cNvPr id="3" name="Content Placeholder 2"/>
          <p:cNvSpPr>
            <a:spLocks noGrp="1"/>
          </p:cNvSpPr>
          <p:nvPr>
            <p:ph idx="1"/>
          </p:nvPr>
        </p:nvSpPr>
        <p:spPr>
          <a:xfrm>
            <a:off x="646111" y="1298007"/>
            <a:ext cx="10230996" cy="5485565"/>
          </a:xfrm>
        </p:spPr>
        <p:txBody>
          <a:bodyPr/>
          <a:lstStyle/>
          <a:p>
            <a:r>
              <a:rPr lang="en-US" sz="2400" b="1" dirty="0">
                <a:latin typeface="Times New Roman" panose="02020603050405020304" pitchFamily="18" charset="0"/>
                <a:cs typeface="Times New Roman" panose="02020603050405020304" pitchFamily="18" charset="0"/>
              </a:rPr>
              <a:t>RENAME DATABASE</a:t>
            </a:r>
          </a:p>
          <a:p>
            <a:pPr marL="0" indent="0">
              <a:buNone/>
            </a:pPr>
            <a:r>
              <a:rPr lang="en-US" dirty="0"/>
              <a:t>	The </a:t>
            </a:r>
            <a:r>
              <a:rPr lang="en-US" b="1" dirty="0"/>
              <a:t>RENAME DATABASE</a:t>
            </a:r>
            <a:r>
              <a:rPr lang="en-US" dirty="0"/>
              <a:t> is used to change the name of the database. </a:t>
            </a:r>
          </a:p>
          <a:p>
            <a:pPr marL="0" indent="0">
              <a:buNone/>
            </a:pPr>
            <a:r>
              <a:rPr lang="en-US" dirty="0"/>
              <a:t>Syntax:</a:t>
            </a:r>
          </a:p>
          <a:p>
            <a:pPr marL="0" indent="0">
              <a:buNone/>
            </a:pPr>
            <a:r>
              <a:rPr lang="en-US" dirty="0"/>
              <a:t>	ALTER DATABASE </a:t>
            </a:r>
            <a:r>
              <a:rPr lang="en-US" dirty="0" err="1"/>
              <a:t>old_database_name</a:t>
            </a:r>
            <a:r>
              <a:rPr lang="en-US" dirty="0"/>
              <a:t> RENAME TO </a:t>
            </a:r>
            <a:r>
              <a:rPr lang="en-US" dirty="0" err="1"/>
              <a:t>new_database_name</a:t>
            </a:r>
            <a:r>
              <a:rPr lang="en-US" dirty="0"/>
              <a:t>;</a:t>
            </a:r>
          </a:p>
          <a:p>
            <a:pPr marL="0" indent="0">
              <a:buNone/>
            </a:pPr>
            <a:r>
              <a:rPr lang="en-US" dirty="0"/>
              <a:t>Where,</a:t>
            </a:r>
          </a:p>
          <a:p>
            <a:pPr marL="0" indent="0">
              <a:buNone/>
            </a:pPr>
            <a:r>
              <a:rPr lang="en-US" dirty="0"/>
              <a:t>	</a:t>
            </a:r>
            <a:r>
              <a:rPr lang="en-US" dirty="0" err="1"/>
              <a:t>old_database_name</a:t>
            </a:r>
            <a:r>
              <a:rPr lang="en-US" dirty="0"/>
              <a:t> : The database which is already exists.</a:t>
            </a:r>
          </a:p>
          <a:p>
            <a:pPr marL="0" indent="0">
              <a:buNone/>
            </a:pPr>
            <a:r>
              <a:rPr lang="en-US" dirty="0"/>
              <a:t>	</a:t>
            </a:r>
            <a:r>
              <a:rPr lang="en-US" dirty="0" err="1"/>
              <a:t>new_database_name</a:t>
            </a:r>
            <a:r>
              <a:rPr lang="en-US" dirty="0"/>
              <a:t> : The new name of the database.</a:t>
            </a:r>
          </a:p>
          <a:p>
            <a:r>
              <a:rPr lang="en-US" sz="2400" b="1" dirty="0">
                <a:latin typeface="Times New Roman" panose="02020603050405020304" pitchFamily="18" charset="0"/>
                <a:cs typeface="Times New Roman" panose="02020603050405020304" pitchFamily="18" charset="0"/>
              </a:rPr>
              <a:t>SELECT Database</a:t>
            </a:r>
          </a:p>
          <a:p>
            <a:pPr marL="0" indent="0">
              <a:buNone/>
            </a:pPr>
            <a:r>
              <a:rPr lang="en-US" dirty="0"/>
              <a:t>		check the available database list using </a:t>
            </a:r>
            <a:r>
              <a:rPr lang="en-US" b="1" dirty="0"/>
              <a:t>\l</a:t>
            </a:r>
            <a:r>
              <a:rPr lang="en-US" dirty="0"/>
              <a:t>, i.e., backslash</a:t>
            </a:r>
          </a:p>
          <a:p>
            <a:pPr marL="0" indent="0">
              <a:buNone/>
            </a:pPr>
            <a:r>
              <a:rPr lang="en-US" dirty="0"/>
              <a:t>		to connect/select a desired database </a:t>
            </a:r>
          </a:p>
        </p:txBody>
      </p:sp>
    </p:spTree>
    <p:extLst>
      <p:ext uri="{BB962C8B-B14F-4D97-AF65-F5344CB8AC3E}">
        <p14:creationId xmlns:p14="http://schemas.microsoft.com/office/powerpoint/2010/main" val="342504136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46742"/>
          </a:xfrm>
        </p:spPr>
        <p:txBody>
          <a:bodyPr/>
          <a:lstStyle/>
          <a:p>
            <a:r>
              <a:rPr lang="en-US" sz="3200" b="1" dirty="0">
                <a:latin typeface="Times New Roman" panose="02020603050405020304" pitchFamily="18" charset="0"/>
                <a:cs typeface="Times New Roman" panose="02020603050405020304" pitchFamily="18" charset="0"/>
              </a:rPr>
              <a:t>CREATE TABLE</a:t>
            </a:r>
            <a:br>
              <a:rPr lang="en-US" b="1" dirty="0"/>
            </a:br>
            <a:endParaRPr lang="en-US" dirty="0"/>
          </a:p>
        </p:txBody>
      </p:sp>
      <p:sp>
        <p:nvSpPr>
          <p:cNvPr id="3" name="Content Placeholder 2"/>
          <p:cNvSpPr>
            <a:spLocks noGrp="1"/>
          </p:cNvSpPr>
          <p:nvPr>
            <p:ph idx="1"/>
          </p:nvPr>
        </p:nvSpPr>
        <p:spPr>
          <a:xfrm>
            <a:off x="646111" y="1298007"/>
            <a:ext cx="8946541" cy="4195481"/>
          </a:xfrm>
        </p:spPr>
        <p:txBody>
          <a:bodyPr>
            <a:normAutofit fontScale="92500" lnSpcReduction="20000"/>
          </a:bodyPr>
          <a:lstStyle/>
          <a:p>
            <a:r>
              <a:rPr lang="en-US" sz="2400" b="1" dirty="0">
                <a:latin typeface="Times New Roman" panose="02020603050405020304" pitchFamily="18" charset="0"/>
                <a:cs typeface="Times New Roman" panose="02020603050405020304" pitchFamily="18" charset="0"/>
              </a:rPr>
              <a:t>CREATE TABLE</a:t>
            </a:r>
            <a:r>
              <a:rPr lang="en-US" sz="2400" dirty="0">
                <a:latin typeface="Times New Roman" panose="02020603050405020304" pitchFamily="18" charset="0"/>
                <a:cs typeface="Times New Roman" panose="02020603050405020304" pitchFamily="18" charset="0"/>
              </a:rPr>
              <a:t> statement is used to create a new table in any of the given database.</a:t>
            </a:r>
          </a:p>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		CREATE TABLE </a:t>
            </a:r>
            <a:r>
              <a:rPr lang="en-US" sz="2400" dirty="0" err="1">
                <a:latin typeface="Times New Roman" panose="02020603050405020304" pitchFamily="18" charset="0"/>
                <a:cs typeface="Times New Roman" panose="02020603050405020304" pitchFamily="18" charset="0"/>
              </a:rPr>
              <a:t>table_name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column1 datatype,</a:t>
            </a:r>
          </a:p>
          <a:p>
            <a:pPr marL="0" indent="0">
              <a:buNone/>
            </a:pPr>
            <a:r>
              <a:rPr lang="en-US" sz="2400" dirty="0">
                <a:latin typeface="Times New Roman" panose="02020603050405020304" pitchFamily="18" charset="0"/>
                <a:cs typeface="Times New Roman" panose="02020603050405020304" pitchFamily="18" charset="0"/>
              </a:rPr>
              <a:t>   			column2 datatype,</a:t>
            </a:r>
          </a:p>
          <a:p>
            <a:pPr marL="0" indent="0">
              <a:buNone/>
            </a:pPr>
            <a:r>
              <a:rPr lang="en-US" sz="2400" dirty="0">
                <a:latin typeface="Times New Roman" panose="02020603050405020304" pitchFamily="18" charset="0"/>
                <a:cs typeface="Times New Roman" panose="02020603050405020304" pitchFamily="18" charset="0"/>
              </a:rPr>
              <a:t>  		  	column3 datatype,</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columnN</a:t>
            </a:r>
            <a:r>
              <a:rPr lang="en-US" sz="2400" dirty="0">
                <a:latin typeface="Times New Roman" panose="02020603050405020304" pitchFamily="18" charset="0"/>
                <a:cs typeface="Times New Roman" panose="02020603050405020304" pitchFamily="18" charset="0"/>
              </a:rPr>
              <a:t> datatype,</a:t>
            </a:r>
          </a:p>
          <a:p>
            <a:pPr marL="0" indent="0">
              <a:buNone/>
            </a:pPr>
            <a:r>
              <a:rPr lang="en-US" sz="2400" dirty="0">
                <a:latin typeface="Times New Roman" panose="02020603050405020304" pitchFamily="18" charset="0"/>
                <a:cs typeface="Times New Roman" panose="02020603050405020304" pitchFamily="18" charset="0"/>
              </a:rPr>
              <a:t>   			PRIMARY KEY( one or more columns )</a:t>
            </a:r>
          </a:p>
          <a:p>
            <a:pPr marL="0" indent="0">
              <a:buNone/>
            </a:pPr>
            <a:r>
              <a:rPr lang="en-US" sz="2400" dirty="0">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408264139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31803"/>
          </a:xfrm>
        </p:spPr>
        <p:txBody>
          <a:bodyPr/>
          <a:lstStyle/>
          <a:p>
            <a:r>
              <a:rPr lang="en-US" sz="3200" b="1" dirty="0">
                <a:latin typeface="Times New Roman" panose="02020603050405020304" pitchFamily="18" charset="0"/>
                <a:cs typeface="Times New Roman" panose="02020603050405020304" pitchFamily="18" charset="0"/>
              </a:rPr>
              <a:t>CREATE TABLE</a:t>
            </a:r>
            <a:endParaRPr lang="en-US" sz="3200" dirty="0"/>
          </a:p>
        </p:txBody>
      </p:sp>
      <p:sp>
        <p:nvSpPr>
          <p:cNvPr id="3" name="Content Placeholder 2"/>
          <p:cNvSpPr>
            <a:spLocks noGrp="1"/>
          </p:cNvSpPr>
          <p:nvPr>
            <p:ph idx="1"/>
          </p:nvPr>
        </p:nvSpPr>
        <p:spPr>
          <a:xfrm>
            <a:off x="646111" y="1478760"/>
            <a:ext cx="8946541" cy="4195481"/>
          </a:xfrm>
        </p:spPr>
        <p:txBody>
          <a:bodyPr/>
          <a:lstStyle/>
          <a:p>
            <a:pPr marL="0" indent="0">
              <a:buNone/>
            </a:pPr>
            <a:r>
              <a:rPr lang="en-US" sz="2400" b="1" dirty="0">
                <a:latin typeface="Times New Roman" panose="02020603050405020304" pitchFamily="18" charset="0"/>
                <a:cs typeface="Times New Roman" panose="02020603050405020304" pitchFamily="18" charset="0"/>
              </a:rPr>
              <a:t>Example of CREATE TABLE</a:t>
            </a:r>
          </a:p>
          <a:p>
            <a:pPr marL="0" indent="0">
              <a:buNone/>
            </a:pPr>
            <a:r>
              <a:rPr lang="en-US" dirty="0"/>
              <a:t>		CREATE TABLE COMPANY(</a:t>
            </a:r>
          </a:p>
          <a:p>
            <a:pPr marL="0" indent="0">
              <a:buNone/>
            </a:pPr>
            <a:r>
              <a:rPr lang="en-US" dirty="0"/>
              <a:t>			ID INT PRIMARY KEY     NOT NULL,</a:t>
            </a:r>
          </a:p>
          <a:p>
            <a:pPr marL="0" indent="0">
              <a:buNone/>
            </a:pPr>
            <a:r>
              <a:rPr lang="en-US" dirty="0"/>
              <a:t>			NAME           TEXT    NOT NULL,</a:t>
            </a:r>
          </a:p>
          <a:p>
            <a:pPr marL="0" indent="0">
              <a:buNone/>
            </a:pPr>
            <a:r>
              <a:rPr lang="en-US" dirty="0"/>
              <a:t>			AGE            INT     NOT NULL,</a:t>
            </a:r>
          </a:p>
          <a:p>
            <a:pPr marL="0" indent="0">
              <a:buNone/>
            </a:pPr>
            <a:r>
              <a:rPr lang="en-US" dirty="0"/>
              <a:t>			ADDRESS        CHAR(50),</a:t>
            </a:r>
          </a:p>
          <a:p>
            <a:pPr marL="0" indent="0">
              <a:buNone/>
            </a:pPr>
            <a:r>
              <a:rPr lang="en-US" dirty="0"/>
              <a:t>			SALARY         REAL</a:t>
            </a:r>
          </a:p>
          <a:p>
            <a:pPr marL="0" indent="0">
              <a:buNone/>
            </a:pPr>
            <a:r>
              <a:rPr lang="en-US" dirty="0"/>
              <a:t>			);</a:t>
            </a:r>
          </a:p>
        </p:txBody>
      </p:sp>
    </p:spTree>
    <p:extLst>
      <p:ext uri="{BB962C8B-B14F-4D97-AF65-F5344CB8AC3E}">
        <p14:creationId xmlns:p14="http://schemas.microsoft.com/office/powerpoint/2010/main" val="148454232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31803"/>
          </a:xfrm>
        </p:spPr>
        <p:txBody>
          <a:bodyPr/>
          <a:lstStyle/>
          <a:p>
            <a:r>
              <a:rPr lang="en-US" sz="3200" b="1" dirty="0">
                <a:latin typeface="Times New Roman" panose="02020603050405020304" pitchFamily="18" charset="0"/>
                <a:cs typeface="Times New Roman" panose="02020603050405020304" pitchFamily="18" charset="0"/>
              </a:rPr>
              <a:t>INSERT</a:t>
            </a:r>
            <a:br>
              <a:rPr lang="en-US" b="1" dirty="0"/>
            </a:br>
            <a:endParaRPr lang="en-US" dirty="0"/>
          </a:p>
        </p:txBody>
      </p:sp>
      <p:sp>
        <p:nvSpPr>
          <p:cNvPr id="3" name="Content Placeholder 2"/>
          <p:cNvSpPr>
            <a:spLocks noGrp="1"/>
          </p:cNvSpPr>
          <p:nvPr>
            <p:ph idx="1"/>
          </p:nvPr>
        </p:nvSpPr>
        <p:spPr>
          <a:xfrm>
            <a:off x="646111" y="1319271"/>
            <a:ext cx="10433015" cy="5421771"/>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INSERT INTO</a:t>
            </a:r>
            <a:r>
              <a:rPr lang="en-US" sz="2400" dirty="0">
                <a:latin typeface="Times New Roman" panose="02020603050405020304" pitchFamily="18" charset="0"/>
                <a:cs typeface="Times New Roman" panose="02020603050405020304" pitchFamily="18" charset="0"/>
              </a:rPr>
              <a:t> statement allows user to insert one or new rows into a table. One can insert a single row at a time or several rows as a result of a query.</a:t>
            </a:r>
          </a:p>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INSERT INTO TABLE_NAME (column1, column2, column3, ..., </a:t>
            </a:r>
            <a:r>
              <a:rPr lang="en-US" sz="2400" dirty="0" err="1">
                <a:latin typeface="Times New Roman" panose="02020603050405020304" pitchFamily="18" charset="0"/>
                <a:cs typeface="Times New Roman" panose="02020603050405020304" pitchFamily="18" charset="0"/>
              </a:rPr>
              <a:t>columnN</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VALUES (value1, value2, value3, ..., </a:t>
            </a:r>
            <a:r>
              <a:rPr lang="en-US" sz="2400" dirty="0" err="1">
                <a:latin typeface="Times New Roman" panose="02020603050405020304" pitchFamily="18" charset="0"/>
                <a:cs typeface="Times New Roman" panose="02020603050405020304" pitchFamily="18" charset="0"/>
              </a:rPr>
              <a:t>valueN</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Where,</a:t>
            </a:r>
          </a:p>
          <a:p>
            <a:r>
              <a:rPr lang="en-US" sz="2400" dirty="0">
                <a:latin typeface="Times New Roman" panose="02020603050405020304" pitchFamily="18" charset="0"/>
                <a:cs typeface="Times New Roman" panose="02020603050405020304" pitchFamily="18" charset="0"/>
              </a:rPr>
              <a:t>column1, column2,...</a:t>
            </a:r>
            <a:r>
              <a:rPr lang="en-US" sz="2400" dirty="0" err="1">
                <a:latin typeface="Times New Roman" panose="02020603050405020304" pitchFamily="18" charset="0"/>
                <a:cs typeface="Times New Roman" panose="02020603050405020304" pitchFamily="18" charset="0"/>
              </a:rPr>
              <a:t>columnN</a:t>
            </a:r>
            <a:r>
              <a:rPr lang="en-US" sz="2400" dirty="0">
                <a:latin typeface="Times New Roman" panose="02020603050405020304" pitchFamily="18" charset="0"/>
                <a:cs typeface="Times New Roman" panose="02020603050405020304" pitchFamily="18" charset="0"/>
              </a:rPr>
              <a:t> are the names of the columns in the table into which you want to insert data.</a:t>
            </a:r>
          </a:p>
          <a:p>
            <a:r>
              <a:rPr lang="en-US" sz="2400" dirty="0">
                <a:latin typeface="Times New Roman" panose="02020603050405020304" pitchFamily="18" charset="0"/>
                <a:cs typeface="Times New Roman" panose="02020603050405020304" pitchFamily="18" charset="0"/>
              </a:rPr>
              <a:t>The target column names can be listed in any order. The values supplied by the VALUES clause or query are associated with the explicit or implicit column list left-to-right.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0064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377" y="665370"/>
            <a:ext cx="9404723" cy="568008"/>
          </a:xfrm>
        </p:spPr>
        <p:txBody>
          <a:bodyPr/>
          <a:lstStyle/>
          <a:p>
            <a:r>
              <a:rPr lang="en-US" sz="3200" b="1" dirty="0">
                <a:latin typeface="Times New Roman" panose="02020603050405020304" pitchFamily="18" charset="0"/>
                <a:cs typeface="Times New Roman" panose="02020603050405020304" pitchFamily="18" charset="0"/>
              </a:rPr>
              <a:t>INSERT</a:t>
            </a:r>
            <a:endParaRPr lang="en-US" sz="3200" dirty="0"/>
          </a:p>
        </p:txBody>
      </p:sp>
      <p:sp>
        <p:nvSpPr>
          <p:cNvPr id="3" name="Content Placeholder 2"/>
          <p:cNvSpPr>
            <a:spLocks noGrp="1"/>
          </p:cNvSpPr>
          <p:nvPr>
            <p:ph idx="1"/>
          </p:nvPr>
        </p:nvSpPr>
        <p:spPr>
          <a:xfrm>
            <a:off x="741805" y="1755206"/>
            <a:ext cx="8946541" cy="4195481"/>
          </a:xfrm>
        </p:spPr>
        <p:txBody>
          <a:bodyPr>
            <a:normAutofit/>
          </a:bodyPr>
          <a:lstStyle/>
          <a:p>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		INSERT INTO COMPANY (ID, NAME, AGE, ADDRESS, 			SALARY, JOIN_DATE) VALUES (1, 'Paul', 32, 'California', 			20000.00, '2001-07-13');</a:t>
            </a:r>
          </a:p>
        </p:txBody>
      </p:sp>
    </p:spTree>
    <p:extLst>
      <p:ext uri="{BB962C8B-B14F-4D97-AF65-F5344CB8AC3E}">
        <p14:creationId xmlns:p14="http://schemas.microsoft.com/office/powerpoint/2010/main" val="385400722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47662"/>
          </a:xfrm>
        </p:spPr>
        <p:txBody>
          <a:bodyPr/>
          <a:lstStyle/>
          <a:p>
            <a:r>
              <a:rPr lang="en-US" sz="3200" b="1" dirty="0">
                <a:latin typeface="Times New Roman" pitchFamily="18" charset="0"/>
                <a:cs typeface="Times New Roman" pitchFamily="18" charset="0"/>
              </a:rPr>
              <a:t>WHERE clause</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708105" y="1138518"/>
            <a:ext cx="10295692" cy="5719482"/>
          </a:xfrm>
        </p:spPr>
        <p:txBody>
          <a:bodyPr>
            <a:normAutofit fontScale="85000" lnSpcReduction="20000"/>
          </a:bodyPr>
          <a:lstStyle/>
          <a:p>
            <a:pPr marL="0" indent="0" algn="just">
              <a:buNone/>
            </a:pPr>
            <a:r>
              <a:rPr lang="en-US" sz="2400" b="1" dirty="0">
                <a:latin typeface="Times New Roman" pitchFamily="18" charset="0"/>
                <a:cs typeface="Times New Roman" pitchFamily="18" charset="0"/>
              </a:rPr>
              <a:t>WHERE clause</a:t>
            </a:r>
            <a:r>
              <a:rPr lang="en-US" sz="2400" dirty="0">
                <a:latin typeface="Times New Roman" pitchFamily="18" charset="0"/>
                <a:cs typeface="Times New Roman" pitchFamily="18" charset="0"/>
              </a:rPr>
              <a:t> is a critical component of SQL queries, allowing users to filter records based on specified conditions. By using the </a:t>
            </a:r>
            <a:r>
              <a:rPr lang="en-US" sz="2400" b="1" dirty="0">
                <a:latin typeface="Times New Roman" pitchFamily="18" charset="0"/>
                <a:cs typeface="Times New Roman" pitchFamily="18" charset="0"/>
              </a:rPr>
              <a:t>WHERE clause</a:t>
            </a:r>
            <a:r>
              <a:rPr lang="en-US" sz="2400" dirty="0">
                <a:latin typeface="Times New Roman" pitchFamily="18" charset="0"/>
                <a:cs typeface="Times New Roman" pitchFamily="18" charset="0"/>
              </a:rPr>
              <a:t>, we can retrieve only the rows that meet our specific criteria, making it an essential tool for data manipulation and querying in </a:t>
            </a:r>
            <a:r>
              <a:rPr lang="en-US" sz="2400" dirty="0" err="1">
                <a:latin typeface="Times New Roman" pitchFamily="18" charset="0"/>
                <a:cs typeface="Times New Roman" pitchFamily="18" charset="0"/>
              </a:rPr>
              <a:t>PostgreSQL</a:t>
            </a:r>
            <a:r>
              <a:rPr lang="en-US" sz="2400" dirty="0">
                <a:latin typeface="Times New Roman" pitchFamily="18" charset="0"/>
                <a:cs typeface="Times New Roman" pitchFamily="18" charset="0"/>
              </a:rPr>
              <a:t>. The WHERE clause can be used in </a:t>
            </a:r>
            <a:r>
              <a:rPr lang="en-US" sz="2400" dirty="0">
                <a:latin typeface="Times New Roman" pitchFamily="18" charset="0"/>
                <a:cs typeface="Times New Roman" pitchFamily="18" charset="0"/>
                <a:hlinkClick r:id="rId2"/>
              </a:rPr>
              <a:t>SELECT</a:t>
            </a:r>
            <a:r>
              <a:rPr lang="en-US" sz="2400" dirty="0">
                <a:latin typeface="Times New Roman" pitchFamily="18" charset="0"/>
                <a:cs typeface="Times New Roman" pitchFamily="18" charset="0"/>
              </a:rPr>
              <a:t>, UPDATE, DELETE and other SQL statements to control which records are affected or returned.</a:t>
            </a:r>
          </a:p>
          <a:p>
            <a:pPr marL="0" indent="0" algn="just">
              <a:buNone/>
            </a:pPr>
            <a:r>
              <a:rPr lang="en-US" sz="2400" b="1" dirty="0">
                <a:latin typeface="Times New Roman" pitchFamily="18" charset="0"/>
                <a:cs typeface="Times New Roman" pitchFamily="18" charset="0"/>
              </a:rPr>
              <a:t>Syntax:</a:t>
            </a:r>
          </a:p>
          <a:p>
            <a:pPr marL="0" indent="0">
              <a:buNone/>
            </a:pPr>
            <a:r>
              <a:rPr lang="en-US" sz="2400" b="1" dirty="0">
                <a:latin typeface="Times New Roman" pitchFamily="18" charset="0"/>
                <a:cs typeface="Times New Roman" pitchFamily="18" charset="0"/>
              </a:rPr>
              <a:t>SELECT column1, column2,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FROM </a:t>
            </a:r>
            <a:r>
              <a:rPr lang="en-US" sz="2400" dirty="0" err="1">
                <a:latin typeface="Times New Roman" pitchFamily="18" charset="0"/>
                <a:cs typeface="Times New Roman" pitchFamily="18" charset="0"/>
              </a:rPr>
              <a:t>table_name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WHERE condition;</a:t>
            </a:r>
          </a:p>
          <a:p>
            <a:pPr marL="0" indent="0" fontAlgn="base">
              <a:buNone/>
            </a:pPr>
            <a:r>
              <a:rPr lang="en-US" sz="2600" b="1" dirty="0">
                <a:latin typeface="Times New Roman" pitchFamily="18" charset="0"/>
                <a:cs typeface="Times New Roman" pitchFamily="18" charset="0"/>
              </a:rPr>
              <a:t>SELECT column1, column2, ...</a:t>
            </a:r>
            <a:r>
              <a:rPr lang="en-US" sz="2600" dirty="0">
                <a:latin typeface="Times New Roman" pitchFamily="18" charset="0"/>
                <a:cs typeface="Times New Roman" pitchFamily="18" charset="0"/>
              </a:rPr>
              <a:t>: Specifies the columns that you want to retrieve. You can select one or more columns from a table.</a:t>
            </a:r>
            <a:br>
              <a:rPr lang="en-US" sz="2600" dirty="0">
                <a:latin typeface="Times New Roman" pitchFamily="18" charset="0"/>
                <a:cs typeface="Times New Roman" pitchFamily="18" charset="0"/>
              </a:rPr>
            </a:br>
            <a:endParaRPr lang="en-US" sz="2600" dirty="0">
              <a:latin typeface="Times New Roman" pitchFamily="18" charset="0"/>
              <a:cs typeface="Times New Roman" pitchFamily="18" charset="0"/>
            </a:endParaRPr>
          </a:p>
          <a:p>
            <a:pPr marL="0" indent="0" fontAlgn="base">
              <a:buNone/>
            </a:pPr>
            <a:r>
              <a:rPr lang="en-US" sz="2600" b="1" dirty="0">
                <a:latin typeface="Times New Roman" pitchFamily="18" charset="0"/>
                <a:cs typeface="Times New Roman" pitchFamily="18" charset="0"/>
              </a:rPr>
              <a:t>FROM </a:t>
            </a:r>
            <a:r>
              <a:rPr lang="en-US" sz="2600" b="1" dirty="0" err="1">
                <a:latin typeface="Times New Roman" pitchFamily="18" charset="0"/>
                <a:cs typeface="Times New Roman" pitchFamily="18" charset="0"/>
              </a:rPr>
              <a:t>table_name</a:t>
            </a:r>
            <a:r>
              <a:rPr lang="en-US" sz="2600" dirty="0">
                <a:latin typeface="Times New Roman" pitchFamily="18" charset="0"/>
                <a:cs typeface="Times New Roman" pitchFamily="18" charset="0"/>
              </a:rPr>
              <a:t>: Indicates the table from which the data will be selected. This is the table that contains the rows to be filtered.</a:t>
            </a:r>
            <a:br>
              <a:rPr lang="en-US" sz="2600" dirty="0">
                <a:latin typeface="Times New Roman" pitchFamily="18" charset="0"/>
                <a:cs typeface="Times New Roman" pitchFamily="18" charset="0"/>
              </a:rPr>
            </a:br>
            <a:endParaRPr lang="en-US" sz="2600" dirty="0">
              <a:latin typeface="Times New Roman" pitchFamily="18" charset="0"/>
              <a:cs typeface="Times New Roman" pitchFamily="18" charset="0"/>
            </a:endParaRPr>
          </a:p>
          <a:p>
            <a:pPr marL="0" indent="0" fontAlgn="base">
              <a:buNone/>
            </a:pPr>
            <a:r>
              <a:rPr lang="en-US" sz="2600" b="1" dirty="0">
                <a:latin typeface="Times New Roman" pitchFamily="18" charset="0"/>
                <a:cs typeface="Times New Roman" pitchFamily="18" charset="0"/>
              </a:rPr>
              <a:t>WHERE condition</a:t>
            </a:r>
            <a:r>
              <a:rPr lang="en-US" sz="2600" dirty="0">
                <a:latin typeface="Times New Roman" pitchFamily="18" charset="0"/>
                <a:cs typeface="Times New Roman" pitchFamily="18" charset="0"/>
              </a:rPr>
              <a:t>: This is the core of the WHERE clause, where you define the condition that must be met for rows to be included in the result set. Only rows that satisfy the condition will be returned by the query.</a:t>
            </a: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87129692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01167"/>
          </a:xfrm>
        </p:spPr>
        <p:txBody>
          <a:bodyPr/>
          <a:lstStyle/>
          <a:p>
            <a:r>
              <a:rPr lang="en-US" sz="3200" b="1" dirty="0">
                <a:latin typeface="Times New Roman" pitchFamily="18" charset="0"/>
                <a:cs typeface="Times New Roman" pitchFamily="18" charset="0"/>
              </a:rPr>
              <a:t>WHERE Clause with the Equal (=) Operator</a:t>
            </a:r>
            <a:br>
              <a:rPr lang="en-US" b="1" dirty="0"/>
            </a:br>
            <a:endParaRPr lang="en-US" dirty="0"/>
          </a:p>
        </p:txBody>
      </p:sp>
      <p:sp>
        <p:nvSpPr>
          <p:cNvPr id="3" name="Content Placeholder 2"/>
          <p:cNvSpPr>
            <a:spLocks noGrp="1"/>
          </p:cNvSpPr>
          <p:nvPr>
            <p:ph idx="1"/>
          </p:nvPr>
        </p:nvSpPr>
        <p:spPr>
          <a:xfrm>
            <a:off x="754600" y="1278002"/>
            <a:ext cx="8946541" cy="5200290"/>
          </a:xfrm>
        </p:spPr>
        <p:txBody>
          <a:bodyPr>
            <a:normAutofit fontScale="92500" lnSpcReduction="10000"/>
          </a:bodyPr>
          <a:lstStyle/>
          <a:p>
            <a:pPr marL="0" indent="0">
              <a:buNone/>
            </a:pPr>
            <a:r>
              <a:rPr lang="en-US" sz="2400" dirty="0">
                <a:latin typeface="Times New Roman" pitchFamily="18" charset="0"/>
                <a:cs typeface="Times New Roman" pitchFamily="18" charset="0"/>
              </a:rPr>
              <a:t>SELECT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last_name</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customer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 ‘ABC';</a:t>
            </a:r>
          </a:p>
          <a:p>
            <a:pPr marL="0" indent="0">
              <a:buNone/>
            </a:pPr>
            <a:r>
              <a:rPr lang="en-US" sz="3200" b="1" dirty="0">
                <a:solidFill>
                  <a:schemeClr val="tx2"/>
                </a:solidFill>
                <a:latin typeface="Times New Roman" pitchFamily="18" charset="0"/>
                <a:cs typeface="Times New Roman" pitchFamily="18" charset="0"/>
              </a:rPr>
              <a:t>WHERE Clause with the AND Operator</a:t>
            </a:r>
          </a:p>
          <a:p>
            <a:pPr marL="0" indent="0">
              <a:buNone/>
            </a:pPr>
            <a:r>
              <a:rPr lang="en-US" dirty="0"/>
              <a:t>SELECT</a:t>
            </a:r>
            <a:br>
              <a:rPr lang="en-US" dirty="0"/>
            </a:br>
            <a:r>
              <a:rPr lang="en-US" dirty="0"/>
              <a:t>		</a:t>
            </a:r>
            <a:r>
              <a:rPr lang="en-US" dirty="0" err="1"/>
              <a:t>last_name</a:t>
            </a:r>
            <a:r>
              <a:rPr lang="en-US" dirty="0"/>
              <a:t>,</a:t>
            </a:r>
            <a:br>
              <a:rPr lang="en-US" dirty="0"/>
            </a:br>
            <a:r>
              <a:rPr lang="en-US" dirty="0"/>
              <a:t>		</a:t>
            </a:r>
            <a:r>
              <a:rPr lang="en-US" dirty="0" err="1"/>
              <a:t>first_name</a:t>
            </a:r>
            <a:br>
              <a:rPr lang="en-US" dirty="0"/>
            </a:br>
            <a:r>
              <a:rPr lang="en-US" dirty="0"/>
              <a:t>	FROM</a:t>
            </a:r>
            <a:br>
              <a:rPr lang="en-US" dirty="0"/>
            </a:br>
            <a:r>
              <a:rPr lang="en-US" dirty="0"/>
              <a:t>		customer</a:t>
            </a:r>
            <a:br>
              <a:rPr lang="en-US" dirty="0"/>
            </a:br>
            <a:r>
              <a:rPr lang="en-US" dirty="0"/>
              <a:t>	WHERE</a:t>
            </a:r>
            <a:br>
              <a:rPr lang="en-US" dirty="0"/>
            </a:br>
            <a:r>
              <a:rPr lang="en-US" dirty="0"/>
              <a:t>		</a:t>
            </a:r>
            <a:r>
              <a:rPr lang="en-US" dirty="0" err="1"/>
              <a:t>first_name</a:t>
            </a:r>
            <a:r>
              <a:rPr lang="en-US" dirty="0"/>
              <a:t> = ‘Swati'</a:t>
            </a:r>
            <a:br>
              <a:rPr lang="en-US" dirty="0"/>
            </a:br>
            <a:r>
              <a:rPr lang="en-US" dirty="0"/>
              <a:t>	AND </a:t>
            </a:r>
            <a:r>
              <a:rPr lang="en-US" dirty="0" err="1"/>
              <a:t>last_name</a:t>
            </a:r>
            <a:r>
              <a:rPr lang="en-US" dirty="0"/>
              <a:t> = ‘Patil';</a:t>
            </a:r>
          </a:p>
        </p:txBody>
      </p:sp>
    </p:spTree>
    <p:extLst>
      <p:ext uri="{BB962C8B-B14F-4D97-AF65-F5344CB8AC3E}">
        <p14:creationId xmlns:p14="http://schemas.microsoft.com/office/powerpoint/2010/main" val="17269200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09655"/>
          </a:xfrm>
        </p:spPr>
        <p:txBody>
          <a:bodyPr/>
          <a:lstStyle/>
          <a:p>
            <a:r>
              <a:rPr lang="en-US" sz="3200" b="1" dirty="0">
                <a:latin typeface="Times New Roman" pitchFamily="18" charset="0"/>
                <a:cs typeface="Times New Roman" pitchFamily="18" charset="0"/>
              </a:rPr>
              <a:t>WHERE Clause with the OR Operator</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777847" y="1254755"/>
            <a:ext cx="8946541" cy="5603245"/>
          </a:xfrm>
        </p:spPr>
        <p:txBody>
          <a:bodyPr>
            <a:normAutofit fontScale="92500" lnSpcReduction="10000"/>
          </a:bodyPr>
          <a:lstStyle/>
          <a:p>
            <a:pPr marL="0" indent="0">
              <a:buNone/>
            </a:pPr>
            <a:r>
              <a:rPr lang="en-US" sz="2400" dirty="0">
                <a:latin typeface="Times New Roman" pitchFamily="18" charset="0"/>
                <a:cs typeface="Times New Roman" pitchFamily="18" charset="0"/>
              </a:rPr>
              <a:t>SELECT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customer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last_name</a:t>
            </a:r>
            <a:r>
              <a:rPr lang="en-US" sz="2400" dirty="0">
                <a:latin typeface="Times New Roman" pitchFamily="18" charset="0"/>
                <a:cs typeface="Times New Roman" pitchFamily="18" charset="0"/>
              </a:rPr>
              <a:t> = 'Cooper' OR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 'Jo';</a:t>
            </a:r>
          </a:p>
          <a:p>
            <a:pPr marL="0" indent="0">
              <a:buNone/>
            </a:pPr>
            <a:r>
              <a:rPr lang="en-US" sz="3200" b="1" dirty="0">
                <a:solidFill>
                  <a:schemeClr val="tx2"/>
                </a:solidFill>
                <a:latin typeface="Times New Roman" pitchFamily="18" charset="0"/>
                <a:cs typeface="Times New Roman" pitchFamily="18" charset="0"/>
              </a:rPr>
              <a:t>WHERE Clause with the IN Operator</a:t>
            </a:r>
          </a:p>
          <a:p>
            <a:pPr marL="0" indent="0">
              <a:buNone/>
            </a:pPr>
            <a:r>
              <a:rPr lang="en-US" sz="2600" dirty="0">
                <a:latin typeface="Times New Roman" pitchFamily="18" charset="0"/>
                <a:cs typeface="Times New Roman" pitchFamily="18" charset="0"/>
              </a:rPr>
              <a:t>SELECT</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first_name</a:t>
            </a:r>
            <a:r>
              <a:rPr lang="en-US" sz="2600" dirty="0">
                <a:latin typeface="Times New Roman" pitchFamily="18" charset="0"/>
                <a:cs typeface="Times New Roman" pitchFamily="18" charset="0"/>
              </a:rPr>
              <a:t>,</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last_name</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	FROM</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		customer</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	WHERE </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first_name</a:t>
            </a:r>
            <a:r>
              <a:rPr lang="en-US" sz="2600" dirty="0">
                <a:latin typeface="Times New Roman" pitchFamily="18" charset="0"/>
                <a:cs typeface="Times New Roman" pitchFamily="18" charset="0"/>
              </a:rPr>
              <a:t> IN ('Kelly', 'Jo', ' Alexander');</a:t>
            </a:r>
            <a:endParaRPr lang="en-US" sz="2600" b="1"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371825884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01906"/>
          </a:xfrm>
        </p:spPr>
        <p:txBody>
          <a:bodyPr/>
          <a:lstStyle/>
          <a:p>
            <a:r>
              <a:rPr lang="en-US" sz="3200" b="1" dirty="0">
                <a:latin typeface="Times New Roman" pitchFamily="18" charset="0"/>
                <a:cs typeface="Times New Roman" pitchFamily="18" charset="0"/>
              </a:rPr>
              <a:t>WHERE Clause with the LIKE Operator</a:t>
            </a:r>
            <a:br>
              <a:rPr lang="en-US" b="1" dirty="0"/>
            </a:br>
            <a:endParaRPr lang="en-US" dirty="0"/>
          </a:p>
        </p:txBody>
      </p:sp>
      <p:sp>
        <p:nvSpPr>
          <p:cNvPr id="3" name="Content Placeholder 2"/>
          <p:cNvSpPr>
            <a:spLocks noGrp="1"/>
          </p:cNvSpPr>
          <p:nvPr>
            <p:ph idx="1"/>
          </p:nvPr>
        </p:nvSpPr>
        <p:spPr>
          <a:xfrm>
            <a:off x="801095" y="1278003"/>
            <a:ext cx="8946541" cy="5579997"/>
          </a:xfrm>
        </p:spPr>
        <p:txBody>
          <a:bodyPr>
            <a:normAutofit fontScale="92500" lnSpcReduction="10000"/>
          </a:bodyPr>
          <a:lstStyle/>
          <a:p>
            <a:pPr marL="0" indent="0">
              <a:buNone/>
            </a:pPr>
            <a:r>
              <a:rPr lang="en-US" sz="2400" dirty="0">
                <a:latin typeface="Times New Roman" pitchFamily="18" charset="0"/>
                <a:cs typeface="Times New Roman" pitchFamily="18" charset="0"/>
              </a:rPr>
              <a:t>SELECT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customer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LIKE 'Kath%';</a:t>
            </a:r>
          </a:p>
          <a:p>
            <a:pPr marL="0" indent="0">
              <a:buNone/>
            </a:pPr>
            <a:r>
              <a:rPr lang="en-US" sz="3200" b="1" dirty="0">
                <a:solidFill>
                  <a:schemeClr val="tx2"/>
                </a:solidFill>
                <a:latin typeface="Times New Roman" pitchFamily="18" charset="0"/>
                <a:cs typeface="Times New Roman" pitchFamily="18" charset="0"/>
              </a:rPr>
              <a:t>WHERE Clause with the BETWEEN Operator</a:t>
            </a:r>
          </a:p>
          <a:p>
            <a:pPr marL="0" indent="0">
              <a:buNone/>
            </a:pPr>
            <a:r>
              <a:rPr lang="en-US" sz="2400" dirty="0">
                <a:latin typeface="Times New Roman" pitchFamily="18" charset="0"/>
                <a:cs typeface="Times New Roman" pitchFamily="18" charset="0"/>
              </a:rPr>
              <a:t>SELECT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LENGTH(</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name_length</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customer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LIKE 'K%' AND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LENGTH(</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BETWEEN 3 AND 7</a:t>
            </a:r>
          </a:p>
        </p:txBody>
      </p:sp>
    </p:spTree>
    <p:extLst>
      <p:ext uri="{BB962C8B-B14F-4D97-AF65-F5344CB8AC3E}">
        <p14:creationId xmlns:p14="http://schemas.microsoft.com/office/powerpoint/2010/main" val="17149858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62421"/>
          </a:xfrm>
        </p:spPr>
        <p:txBody>
          <a:bodyPr/>
          <a:lstStyle/>
          <a:p>
            <a:r>
              <a:rPr lang="en-US" sz="3200" b="1" dirty="0">
                <a:latin typeface="Times New Roman" pitchFamily="18" charset="0"/>
                <a:cs typeface="Times New Roman" pitchFamily="18" charset="0"/>
              </a:rPr>
              <a:t>WHERE Clause with the Not Equal Operator (&lt;&gt;)</a:t>
            </a:r>
            <a:br>
              <a:rPr lang="en-US" b="1" dirty="0"/>
            </a:br>
            <a:endParaRPr lang="en-US" dirty="0"/>
          </a:p>
        </p:txBody>
      </p:sp>
      <p:sp>
        <p:nvSpPr>
          <p:cNvPr id="3" name="Content Placeholder 2"/>
          <p:cNvSpPr>
            <a:spLocks noGrp="1"/>
          </p:cNvSpPr>
          <p:nvPr>
            <p:ph idx="1"/>
          </p:nvPr>
        </p:nvSpPr>
        <p:spPr>
          <a:xfrm>
            <a:off x="832092" y="1254755"/>
            <a:ext cx="8946541" cy="5603245"/>
          </a:xfrm>
        </p:spPr>
        <p:txBody>
          <a:bodyPr>
            <a:normAutofit/>
          </a:bodyPr>
          <a:lstStyle/>
          <a:p>
            <a:pPr marL="0" indent="0">
              <a:buNone/>
            </a:pPr>
            <a:r>
              <a:rPr lang="en-US" sz="2400" dirty="0">
                <a:latin typeface="Times New Roman" pitchFamily="18" charset="0"/>
                <a:cs typeface="Times New Roman" pitchFamily="18" charset="0"/>
              </a:rPr>
              <a:t>SELECT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customer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first_name</a:t>
            </a:r>
            <a:r>
              <a:rPr lang="en-US" sz="2400" dirty="0">
                <a:latin typeface="Times New Roman" pitchFamily="18" charset="0"/>
                <a:cs typeface="Times New Roman" pitchFamily="18" charset="0"/>
              </a:rPr>
              <a:t> LIKE 'Bra%'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AND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last_name</a:t>
            </a:r>
            <a:r>
              <a:rPr lang="en-US" sz="2400" dirty="0">
                <a:latin typeface="Times New Roman" pitchFamily="18" charset="0"/>
                <a:cs typeface="Times New Roman" pitchFamily="18" charset="0"/>
              </a:rPr>
              <a:t> &lt;&gt; 'Motley';</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21936886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63160"/>
          </a:xfrm>
        </p:spPr>
        <p:txBody>
          <a:bodyPr/>
          <a:lstStyle/>
          <a:p>
            <a:r>
              <a:rPr lang="en-US" sz="3200" b="1" dirty="0">
                <a:latin typeface="Times New Roman" pitchFamily="18" charset="0"/>
                <a:cs typeface="Times New Roman" pitchFamily="18" charset="0"/>
              </a:rPr>
              <a:t>AVG Function</a:t>
            </a:r>
          </a:p>
        </p:txBody>
      </p:sp>
      <p:sp>
        <p:nvSpPr>
          <p:cNvPr id="3" name="Content Placeholder 2"/>
          <p:cNvSpPr>
            <a:spLocks noGrp="1"/>
          </p:cNvSpPr>
          <p:nvPr>
            <p:ph idx="1"/>
          </p:nvPr>
        </p:nvSpPr>
        <p:spPr>
          <a:xfrm>
            <a:off x="746851" y="1309000"/>
            <a:ext cx="8946541" cy="5549000"/>
          </a:xfrm>
        </p:spPr>
        <p:txBody>
          <a:bodyPr>
            <a:normAutofit/>
          </a:bodyPr>
          <a:lstStyle/>
          <a:p>
            <a:pPr marL="0" indent="0">
              <a:buNone/>
            </a:pPr>
            <a:r>
              <a:rPr lang="en-US" sz="2400" dirty="0">
                <a:latin typeface="Times New Roman" pitchFamily="18" charset="0"/>
                <a:cs typeface="Times New Roman" pitchFamily="18" charset="0"/>
              </a:rPr>
              <a:t>The AVG() function returns the average value of a numeric column.</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	SELECT AVG(price)</a:t>
            </a:r>
          </a:p>
          <a:p>
            <a:pPr marL="0" indent="0">
              <a:buNone/>
            </a:pPr>
            <a:r>
              <a:rPr lang="en-US" sz="2400" dirty="0">
                <a:latin typeface="Times New Roman" pitchFamily="18" charset="0"/>
                <a:cs typeface="Times New Roman" pitchFamily="18" charset="0"/>
              </a:rPr>
              <a:t>	FROM products;</a:t>
            </a:r>
          </a:p>
          <a:p>
            <a:pPr marL="0" indent="0">
              <a:buNone/>
            </a:pPr>
            <a:endParaRPr lang="en-US" sz="2400" dirty="0">
              <a:latin typeface="Times New Roman" pitchFamily="18" charset="0"/>
              <a:cs typeface="Times New Roman" pitchFamily="18" charset="0"/>
            </a:endParaRPr>
          </a:p>
          <a:p>
            <a:pPr marL="0" indent="0">
              <a:spcBef>
                <a:spcPct val="0"/>
              </a:spcBef>
              <a:buNone/>
            </a:pPr>
            <a:r>
              <a:rPr lang="en-US" sz="3200" b="1" dirty="0">
                <a:solidFill>
                  <a:schemeClr val="tx2"/>
                </a:solidFill>
                <a:latin typeface="Times New Roman" pitchFamily="18" charset="0"/>
                <a:cs typeface="Times New Roman" pitchFamily="18" charset="0"/>
              </a:rPr>
              <a:t>With 2 Decimals</a:t>
            </a:r>
          </a:p>
          <a:p>
            <a:pPr marL="0" indent="0">
              <a:buNone/>
            </a:pPr>
            <a:r>
              <a:rPr lang="en-US" sz="2400" dirty="0">
                <a:latin typeface="Times New Roman" pitchFamily="18" charset="0"/>
                <a:cs typeface="Times New Roman" pitchFamily="18" charset="0"/>
              </a:rPr>
              <a:t>We can use the ::NUMERIC operator to round the average price to a number with 2 decimals:</a:t>
            </a:r>
          </a:p>
          <a:p>
            <a:pPr marL="0" indent="0">
              <a:buNone/>
            </a:pPr>
            <a:r>
              <a:rPr lang="en-US" sz="2400" b="1"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SELECT AVG(price)::NUMERIC(10,2)</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FROM products;</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35545081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32163"/>
          </a:xfrm>
        </p:spPr>
        <p:txBody>
          <a:bodyPr/>
          <a:lstStyle/>
          <a:p>
            <a:r>
              <a:rPr lang="en-US" sz="3200" b="1" dirty="0">
                <a:latin typeface="Times New Roman" pitchFamily="18" charset="0"/>
                <a:cs typeface="Times New Roman" pitchFamily="18" charset="0"/>
              </a:rPr>
              <a:t>MIN and MAX Functions</a:t>
            </a:r>
          </a:p>
        </p:txBody>
      </p:sp>
      <p:sp>
        <p:nvSpPr>
          <p:cNvPr id="3" name="Content Placeholder 2"/>
          <p:cNvSpPr>
            <a:spLocks noGrp="1"/>
          </p:cNvSpPr>
          <p:nvPr>
            <p:ph idx="1"/>
          </p:nvPr>
        </p:nvSpPr>
        <p:spPr>
          <a:xfrm>
            <a:off x="723603" y="1239257"/>
            <a:ext cx="8946541" cy="5153794"/>
          </a:xfrm>
        </p:spPr>
        <p:txBody>
          <a:bodyPr>
            <a:normAutofit/>
          </a:bodyPr>
          <a:lstStyle/>
          <a:p>
            <a:r>
              <a:rPr lang="en-US" sz="2400" b="1" dirty="0">
                <a:latin typeface="Times New Roman" pitchFamily="18" charset="0"/>
                <a:cs typeface="Times New Roman" pitchFamily="18" charset="0"/>
              </a:rPr>
              <a:t>MIN</a:t>
            </a:r>
          </a:p>
          <a:p>
            <a:pPr marL="0" indent="0">
              <a:buNone/>
            </a:pPr>
            <a:r>
              <a:rPr lang="en-US" sz="2400" dirty="0">
                <a:latin typeface="Times New Roman" pitchFamily="18" charset="0"/>
                <a:cs typeface="Times New Roman" pitchFamily="18" charset="0"/>
              </a:rPr>
              <a:t>The MIN() function returns the smallest value of the selected column.</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SELECT MIN(price)</a:t>
            </a:r>
          </a:p>
          <a:p>
            <a:pPr marL="0" indent="0">
              <a:buNone/>
            </a:pPr>
            <a:r>
              <a:rPr lang="en-US" sz="2400" dirty="0">
                <a:latin typeface="Times New Roman" pitchFamily="18" charset="0"/>
                <a:cs typeface="Times New Roman" pitchFamily="18" charset="0"/>
              </a:rPr>
              <a:t>		FROM products;</a:t>
            </a:r>
          </a:p>
          <a:p>
            <a:r>
              <a:rPr lang="en-US" sz="2400" b="1" dirty="0">
                <a:latin typeface="Times New Roman" pitchFamily="18" charset="0"/>
                <a:cs typeface="Times New Roman" pitchFamily="18" charset="0"/>
              </a:rPr>
              <a:t>MAX</a:t>
            </a:r>
          </a:p>
          <a:p>
            <a:pPr marL="0" indent="0">
              <a:buNone/>
            </a:pPr>
            <a:r>
              <a:rPr lang="en-US" sz="2400" dirty="0">
                <a:latin typeface="Times New Roman" pitchFamily="18" charset="0"/>
                <a:cs typeface="Times New Roman" pitchFamily="18" charset="0"/>
              </a:rPr>
              <a:t>The MAX() function returns the largest value of the selected column.</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SELECT MAX(price)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products;</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67269064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70909"/>
          </a:xfrm>
        </p:spPr>
        <p:txBody>
          <a:bodyPr/>
          <a:lstStyle/>
          <a:p>
            <a:r>
              <a:rPr lang="en-US" sz="3200" b="1" dirty="0">
                <a:latin typeface="Times New Roman" pitchFamily="18" charset="0"/>
                <a:cs typeface="Times New Roman" pitchFamily="18" charset="0"/>
              </a:rPr>
              <a:t>COUNT Function</a:t>
            </a:r>
          </a:p>
        </p:txBody>
      </p:sp>
      <p:sp>
        <p:nvSpPr>
          <p:cNvPr id="3" name="Content Placeholder 2"/>
          <p:cNvSpPr>
            <a:spLocks noGrp="1"/>
          </p:cNvSpPr>
          <p:nvPr>
            <p:ph idx="1"/>
          </p:nvPr>
        </p:nvSpPr>
        <p:spPr>
          <a:xfrm>
            <a:off x="801095" y="1185013"/>
            <a:ext cx="8946541" cy="5355272"/>
          </a:xfrm>
        </p:spPr>
        <p:txBody>
          <a:bodyPr>
            <a:normAutofit/>
          </a:bodyPr>
          <a:lstStyle/>
          <a:p>
            <a:pPr marL="0" indent="0">
              <a:buNone/>
            </a:pPr>
            <a:r>
              <a:rPr lang="en-US" sz="2400" dirty="0">
                <a:latin typeface="Times New Roman" pitchFamily="18" charset="0"/>
                <a:cs typeface="Times New Roman" pitchFamily="18" charset="0"/>
              </a:rPr>
              <a:t>The COUNT() function returns the number of rows that matches a specified criterion.</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SELECT COUNT(</a:t>
            </a:r>
            <a:r>
              <a:rPr lang="en-US" sz="2400" dirty="0" err="1">
                <a:latin typeface="Times New Roman" pitchFamily="18" charset="0"/>
                <a:cs typeface="Times New Roman" pitchFamily="18" charset="0"/>
              </a:rPr>
              <a:t>customer_id</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customers;</a:t>
            </a:r>
          </a:p>
          <a:p>
            <a:pPr marL="0" indent="0">
              <a:buNone/>
            </a:pPr>
            <a:r>
              <a:rPr lang="en-US" sz="2400" b="1" dirty="0">
                <a:latin typeface="Times New Roman" pitchFamily="18" charset="0"/>
                <a:cs typeface="Times New Roman" pitchFamily="18" charset="0"/>
              </a:rPr>
              <a:t>Note:</a:t>
            </a:r>
            <a:r>
              <a:rPr lang="en-US" sz="2400" dirty="0">
                <a:latin typeface="Times New Roman" pitchFamily="18" charset="0"/>
                <a:cs typeface="Times New Roman" pitchFamily="18" charset="0"/>
              </a:rPr>
              <a:t> NULL values are not counted.</a:t>
            </a:r>
          </a:p>
          <a:p>
            <a:pPr marL="0" indent="0">
              <a:buNone/>
            </a:pPr>
            <a:r>
              <a:rPr lang="en-US" sz="2400" dirty="0">
                <a:latin typeface="Times New Roman" pitchFamily="18" charset="0"/>
                <a:cs typeface="Times New Roman" pitchFamily="18" charset="0"/>
              </a:rPr>
              <a:t>By specifying a WHERE clause, you can e.g. return the number of customers that comes from London:</a:t>
            </a:r>
          </a:p>
          <a:p>
            <a:pPr marL="0" indent="0">
              <a:buNone/>
            </a:pPr>
            <a:r>
              <a:rPr lang="en-US" sz="2400" b="1"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	SELECT COUNT(</a:t>
            </a:r>
            <a:r>
              <a:rPr lang="en-US" sz="2400" dirty="0" err="1">
                <a:latin typeface="Times New Roman" pitchFamily="18" charset="0"/>
                <a:cs typeface="Times New Roman" pitchFamily="18" charset="0"/>
              </a:rPr>
              <a:t>customer_id</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customers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city = 'London';</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110442608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39913"/>
          </a:xfrm>
        </p:spPr>
        <p:txBody>
          <a:bodyPr/>
          <a:lstStyle/>
          <a:p>
            <a:r>
              <a:rPr lang="en-US" sz="3200" b="1" dirty="0">
                <a:latin typeface="Times New Roman" pitchFamily="18" charset="0"/>
                <a:cs typeface="Times New Roman" pitchFamily="18" charset="0"/>
              </a:rPr>
              <a:t>SUM Function</a:t>
            </a:r>
          </a:p>
        </p:txBody>
      </p:sp>
      <p:sp>
        <p:nvSpPr>
          <p:cNvPr id="3" name="Content Placeholder 2"/>
          <p:cNvSpPr>
            <a:spLocks noGrp="1"/>
          </p:cNvSpPr>
          <p:nvPr>
            <p:ph idx="1"/>
          </p:nvPr>
        </p:nvSpPr>
        <p:spPr>
          <a:xfrm>
            <a:off x="723603" y="1239257"/>
            <a:ext cx="8946541" cy="4195481"/>
          </a:xfrm>
        </p:spPr>
        <p:txBody>
          <a:bodyPr/>
          <a:lstStyle/>
          <a:p>
            <a:pPr marL="0" indent="0">
              <a:buNone/>
            </a:pPr>
            <a:r>
              <a:rPr lang="en-US" dirty="0"/>
              <a:t>The SUM() function returns the total sum of a numeric column.</a:t>
            </a:r>
          </a:p>
          <a:p>
            <a:pPr marL="0" indent="0">
              <a:buNone/>
            </a:pPr>
            <a:r>
              <a:rPr lang="en-US" dirty="0"/>
              <a:t>Example</a:t>
            </a:r>
          </a:p>
          <a:p>
            <a:pPr marL="0" indent="0">
              <a:buNone/>
            </a:pPr>
            <a:r>
              <a:rPr lang="en-US" dirty="0"/>
              <a:t>SELECT SUM(quantity) FROM </a:t>
            </a:r>
            <a:r>
              <a:rPr lang="en-US" dirty="0" err="1"/>
              <a:t>order_details</a:t>
            </a:r>
            <a:r>
              <a:rPr lang="en-US" dirty="0"/>
              <a:t>;</a:t>
            </a:r>
          </a:p>
          <a:p>
            <a:pPr marL="0" indent="0">
              <a:buNone/>
            </a:pPr>
            <a:endParaRPr lang="en-US" dirty="0"/>
          </a:p>
        </p:txBody>
      </p:sp>
    </p:spTree>
    <p:extLst>
      <p:ext uri="{BB962C8B-B14F-4D97-AF65-F5344CB8AC3E}">
        <p14:creationId xmlns:p14="http://schemas.microsoft.com/office/powerpoint/2010/main" val="37815435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85668"/>
          </a:xfrm>
        </p:spPr>
        <p:txBody>
          <a:bodyPr/>
          <a:lstStyle/>
          <a:p>
            <a:r>
              <a:rPr lang="en-US" sz="3200" b="1" dirty="0">
                <a:latin typeface="Times New Roman" pitchFamily="18" charset="0"/>
                <a:cs typeface="Times New Roman" pitchFamily="18" charset="0"/>
              </a:rPr>
              <a:t>ORDER BY</a:t>
            </a:r>
          </a:p>
        </p:txBody>
      </p:sp>
      <p:sp>
        <p:nvSpPr>
          <p:cNvPr id="3" name="Content Placeholder 2"/>
          <p:cNvSpPr>
            <a:spLocks noGrp="1"/>
          </p:cNvSpPr>
          <p:nvPr>
            <p:ph idx="1"/>
          </p:nvPr>
        </p:nvSpPr>
        <p:spPr>
          <a:xfrm>
            <a:off x="731352" y="1247006"/>
            <a:ext cx="8946541" cy="5347523"/>
          </a:xfrm>
        </p:spPr>
        <p:txBody>
          <a:bodyPr>
            <a:normAutofit lnSpcReduction="10000"/>
          </a:bodyPr>
          <a:lstStyle/>
          <a:p>
            <a:pPr marL="0" indent="0">
              <a:buNone/>
            </a:pPr>
            <a:r>
              <a:rPr lang="en-US" sz="2400" dirty="0">
                <a:latin typeface="Times New Roman" pitchFamily="18" charset="0"/>
                <a:cs typeface="Times New Roman" pitchFamily="18" charset="0"/>
              </a:rPr>
              <a:t>Sort Data</a:t>
            </a:r>
          </a:p>
          <a:p>
            <a:pPr marL="0" indent="0">
              <a:buNone/>
            </a:pPr>
            <a:r>
              <a:rPr lang="en-US" sz="2400" dirty="0">
                <a:latin typeface="Times New Roman" pitchFamily="18" charset="0"/>
                <a:cs typeface="Times New Roman" pitchFamily="18" charset="0"/>
              </a:rPr>
              <a:t>The ORDER BY keyword is used to sort the result in ascending or descending order.</a:t>
            </a:r>
          </a:p>
          <a:p>
            <a:pPr marL="0" indent="0">
              <a:buNone/>
            </a:pPr>
            <a:r>
              <a:rPr lang="en-US" sz="2400" dirty="0">
                <a:latin typeface="Times New Roman" pitchFamily="18" charset="0"/>
                <a:cs typeface="Times New Roman" pitchFamily="18" charset="0"/>
              </a:rPr>
              <a:t>The ORDER BY keyword sorts the records in ascending order by default. To sort the records in descending order, use the DESC keyword. </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	SELECT * FROM products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ORDER BY price;</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Sort the table by price, in descending order:</a:t>
            </a:r>
          </a:p>
          <a:p>
            <a:pPr marL="0" indent="0">
              <a:buNone/>
            </a:pPr>
            <a:r>
              <a:rPr lang="en-US" sz="2400" dirty="0">
                <a:latin typeface="Times New Roman" pitchFamily="18" charset="0"/>
                <a:cs typeface="Times New Roman" pitchFamily="18" charset="0"/>
              </a:rPr>
              <a:t>	SELECT * FROM products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ORDER BY price DESC;</a:t>
            </a:r>
          </a:p>
        </p:txBody>
      </p:sp>
    </p:spTree>
    <p:extLst>
      <p:ext uri="{BB962C8B-B14F-4D97-AF65-F5344CB8AC3E}">
        <p14:creationId xmlns:p14="http://schemas.microsoft.com/office/powerpoint/2010/main" val="195818744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23675"/>
          </a:xfrm>
        </p:spPr>
        <p:txBody>
          <a:bodyPr/>
          <a:lstStyle/>
          <a:p>
            <a:r>
              <a:rPr lang="en-US" sz="3200" b="1" dirty="0">
                <a:latin typeface="Times New Roman" pitchFamily="18" charset="0"/>
                <a:cs typeface="Times New Roman" pitchFamily="18" charset="0"/>
              </a:rPr>
              <a:t>Sort Alphabetically</a:t>
            </a:r>
            <a:br>
              <a:rPr lang="en-US" dirty="0"/>
            </a:br>
            <a:endParaRPr lang="en-US" dirty="0"/>
          </a:p>
        </p:txBody>
      </p:sp>
      <p:sp>
        <p:nvSpPr>
          <p:cNvPr id="3" name="Content Placeholder 2"/>
          <p:cNvSpPr>
            <a:spLocks noGrp="1"/>
          </p:cNvSpPr>
          <p:nvPr>
            <p:ph idx="1"/>
          </p:nvPr>
        </p:nvSpPr>
        <p:spPr>
          <a:xfrm>
            <a:off x="661610" y="1138518"/>
            <a:ext cx="8946541" cy="5192540"/>
          </a:xfrm>
        </p:spPr>
        <p:txBody>
          <a:bodyPr>
            <a:normAutofit/>
          </a:bodyPr>
          <a:lstStyle/>
          <a:p>
            <a:pPr marL="0" indent="0">
              <a:buNone/>
            </a:pPr>
            <a:r>
              <a:rPr lang="en-US" sz="2400" dirty="0">
                <a:latin typeface="Times New Roman" pitchFamily="18" charset="0"/>
                <a:cs typeface="Times New Roman" pitchFamily="18" charset="0"/>
              </a:rPr>
              <a:t>For string values the ORDER BY keyword will order alphabetically:</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Sort the table by product name:</a:t>
            </a:r>
          </a:p>
          <a:p>
            <a:pPr marL="0" indent="0">
              <a:buNone/>
            </a:pPr>
            <a:r>
              <a:rPr lang="en-US" sz="2400" dirty="0">
                <a:latin typeface="Times New Roman" pitchFamily="18" charset="0"/>
                <a:cs typeface="Times New Roman" pitchFamily="18" charset="0"/>
              </a:rPr>
              <a:t>	SELECT * FROM products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ORDER BY </a:t>
            </a:r>
            <a:r>
              <a:rPr lang="en-US" sz="2400" dirty="0" err="1">
                <a:latin typeface="Times New Roman" pitchFamily="18" charset="0"/>
                <a:cs typeface="Times New Roman" pitchFamily="18" charset="0"/>
              </a:rPr>
              <a:t>product_name</a:t>
            </a:r>
            <a:r>
              <a:rPr lang="en-US" sz="2400" dirty="0">
                <a:latin typeface="Times New Roman" pitchFamily="18" charset="0"/>
                <a:cs typeface="Times New Roman" pitchFamily="18" charset="0"/>
              </a:rPr>
              <a:t>;</a:t>
            </a:r>
          </a:p>
          <a:p>
            <a:pPr marL="0" indent="0">
              <a:buNone/>
            </a:pPr>
            <a:r>
              <a:rPr lang="en-US" sz="2400" dirty="0">
                <a:latin typeface="Times New Roman" pitchFamily="18" charset="0"/>
                <a:cs typeface="Times New Roman" pitchFamily="18" charset="0"/>
              </a:rPr>
              <a:t>Alphabetically DESC</a:t>
            </a:r>
          </a:p>
          <a:p>
            <a:pPr marL="0" indent="0">
              <a:buNone/>
            </a:pPr>
            <a:r>
              <a:rPr lang="en-US" sz="2400" dirty="0">
                <a:latin typeface="Times New Roman" pitchFamily="18" charset="0"/>
                <a:cs typeface="Times New Roman" pitchFamily="18" charset="0"/>
              </a:rPr>
              <a:t>To sort the table reverse alphabetically, use the DESC keyword:</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Sort the table by product name, in descending order:</a:t>
            </a:r>
          </a:p>
          <a:p>
            <a:pPr marL="0" indent="0">
              <a:buNone/>
            </a:pPr>
            <a:r>
              <a:rPr lang="en-US" sz="2400" dirty="0">
                <a:latin typeface="Times New Roman" pitchFamily="18" charset="0"/>
                <a:cs typeface="Times New Roman" pitchFamily="18" charset="0"/>
              </a:rPr>
              <a:t>	SELECT * FROM products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ORDER BY </a:t>
            </a:r>
            <a:r>
              <a:rPr lang="en-US" sz="2400" dirty="0" err="1">
                <a:latin typeface="Times New Roman" pitchFamily="18" charset="0"/>
                <a:cs typeface="Times New Roman" pitchFamily="18" charset="0"/>
              </a:rPr>
              <a:t>product_name</a:t>
            </a:r>
            <a:r>
              <a:rPr lang="en-US" sz="2400" dirty="0">
                <a:latin typeface="Times New Roman" pitchFamily="18" charset="0"/>
                <a:cs typeface="Times New Roman" pitchFamily="18" charset="0"/>
              </a:rPr>
              <a:t> DESC;</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3637793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93418"/>
          </a:xfrm>
        </p:spPr>
        <p:txBody>
          <a:bodyPr/>
          <a:lstStyle/>
          <a:p>
            <a:r>
              <a:rPr lang="en-US" sz="3200" b="1" dirty="0">
                <a:latin typeface="Times New Roman" pitchFamily="18" charset="0"/>
                <a:cs typeface="Times New Roman" pitchFamily="18" charset="0"/>
              </a:rPr>
              <a:t>SELECT DISTINCT</a:t>
            </a:r>
          </a:p>
        </p:txBody>
      </p:sp>
      <p:sp>
        <p:nvSpPr>
          <p:cNvPr id="3" name="Content Placeholder 2"/>
          <p:cNvSpPr>
            <a:spLocks noGrp="1"/>
          </p:cNvSpPr>
          <p:nvPr>
            <p:ph idx="1"/>
          </p:nvPr>
        </p:nvSpPr>
        <p:spPr>
          <a:xfrm>
            <a:off x="731352" y="1192762"/>
            <a:ext cx="8946541" cy="5363021"/>
          </a:xfrm>
        </p:spPr>
        <p:txBody>
          <a:bodyPr>
            <a:normAutofit fontScale="92500" lnSpcReduction="10000"/>
          </a:bodyPr>
          <a:lstStyle/>
          <a:p>
            <a:pPr marL="0" indent="0">
              <a:buNone/>
            </a:pPr>
            <a:r>
              <a:rPr lang="en-US" sz="2400" dirty="0">
                <a:latin typeface="Times New Roman" pitchFamily="18" charset="0"/>
                <a:cs typeface="Times New Roman" pitchFamily="18" charset="0"/>
              </a:rPr>
              <a:t>The SELECT DISTINCT statement is used to return only distinct (different) values.</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Select only the DISTINCT values from the country column in the customers table:</a:t>
            </a:r>
          </a:p>
          <a:p>
            <a:pPr marL="0" indent="0">
              <a:buNone/>
            </a:pPr>
            <a:r>
              <a:rPr lang="en-US" sz="2400" dirty="0">
                <a:latin typeface="Times New Roman" pitchFamily="18" charset="0"/>
                <a:cs typeface="Times New Roman" pitchFamily="18" charset="0"/>
              </a:rPr>
              <a:t>	SELECT DISTINCT country FROM customers;</a:t>
            </a:r>
          </a:p>
          <a:p>
            <a:pPr marL="0" indent="0">
              <a:buNone/>
            </a:pPr>
            <a:r>
              <a:rPr lang="en-US" sz="2400" dirty="0">
                <a:latin typeface="Times New Roman" pitchFamily="18" charset="0"/>
                <a:cs typeface="Times New Roman" pitchFamily="18" charset="0"/>
              </a:rPr>
              <a:t>SELECT COUNT(DISTINCT)</a:t>
            </a:r>
          </a:p>
          <a:p>
            <a:pPr marL="0" indent="0">
              <a:buNone/>
            </a:pPr>
            <a:r>
              <a:rPr lang="en-US" sz="2400" dirty="0">
                <a:latin typeface="Times New Roman" pitchFamily="18" charset="0"/>
                <a:cs typeface="Times New Roman" pitchFamily="18" charset="0"/>
              </a:rPr>
              <a:t>We can also use the DISTINCT keyword in combination with the COUNT statement, which in the example below will return the number of different countries there are in the customers table.</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Return the number of different countries there are in the customers table:</a:t>
            </a:r>
          </a:p>
          <a:p>
            <a:pPr marL="0" indent="0">
              <a:buNone/>
            </a:pPr>
            <a:r>
              <a:rPr lang="en-US" sz="2400" dirty="0">
                <a:latin typeface="Times New Roman" pitchFamily="18" charset="0"/>
                <a:cs typeface="Times New Roman" pitchFamily="18" charset="0"/>
              </a:rPr>
              <a:t>	SELECT COUNT(DISTINCT country) FROM customers;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6086403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32163"/>
          </a:xfrm>
        </p:spPr>
        <p:txBody>
          <a:bodyPr/>
          <a:lstStyle/>
          <a:p>
            <a:r>
              <a:rPr lang="en-US" sz="3200" b="1" dirty="0">
                <a:latin typeface="Times New Roman" pitchFamily="18" charset="0"/>
                <a:cs typeface="Times New Roman" pitchFamily="18" charset="0"/>
              </a:rPr>
              <a:t>The LIMIT Clause</a:t>
            </a:r>
          </a:p>
        </p:txBody>
      </p:sp>
      <p:sp>
        <p:nvSpPr>
          <p:cNvPr id="3" name="Content Placeholder 2"/>
          <p:cNvSpPr>
            <a:spLocks noGrp="1"/>
          </p:cNvSpPr>
          <p:nvPr>
            <p:ph idx="1"/>
          </p:nvPr>
        </p:nvSpPr>
        <p:spPr>
          <a:xfrm>
            <a:off x="746851" y="1239257"/>
            <a:ext cx="8946541" cy="5541251"/>
          </a:xfrm>
        </p:spPr>
        <p:txBody>
          <a:bodyPr/>
          <a:lstStyle/>
          <a:p>
            <a:pPr marL="0" indent="0">
              <a:buNone/>
            </a:pPr>
            <a:r>
              <a:rPr lang="en-US" sz="2400" dirty="0">
                <a:latin typeface="Times New Roman" pitchFamily="18" charset="0"/>
                <a:cs typeface="Times New Roman" pitchFamily="18" charset="0"/>
              </a:rPr>
              <a:t>The LIMIT clause is used to limit the maximum number of records to return.</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Return only the 20 first records from the customers table:</a:t>
            </a:r>
          </a:p>
          <a:p>
            <a:pPr marL="0" indent="0">
              <a:buNone/>
            </a:pPr>
            <a:r>
              <a:rPr lang="en-US" sz="2400" dirty="0">
                <a:latin typeface="Times New Roman" pitchFamily="18" charset="0"/>
                <a:cs typeface="Times New Roman" pitchFamily="18" charset="0"/>
              </a:rPr>
              <a:t>	SELECT * FROM customers LIMIT 20;</a:t>
            </a:r>
          </a:p>
          <a:p>
            <a:pPr marL="0" indent="0">
              <a:spcBef>
                <a:spcPct val="0"/>
              </a:spcBef>
              <a:buNone/>
            </a:pPr>
            <a:r>
              <a:rPr lang="en-US" sz="2400" b="1" dirty="0">
                <a:solidFill>
                  <a:schemeClr val="tx2"/>
                </a:solidFill>
                <a:latin typeface="Times New Roman" pitchFamily="18" charset="0"/>
                <a:cs typeface="Times New Roman" pitchFamily="18" charset="0"/>
              </a:rPr>
              <a:t>The OFFSET Clause</a:t>
            </a:r>
          </a:p>
          <a:p>
            <a:pPr marL="0" indent="0">
              <a:buNone/>
            </a:pPr>
            <a:r>
              <a:rPr lang="en-US" sz="2400" dirty="0">
                <a:latin typeface="Times New Roman" pitchFamily="18" charset="0"/>
                <a:cs typeface="Times New Roman" pitchFamily="18" charset="0"/>
              </a:rPr>
              <a:t>The OFFSET clause is used to specify where to start selecting the records to return.</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Return 20 records, starting from the 41th record:</a:t>
            </a:r>
          </a:p>
          <a:p>
            <a:pPr marL="0" indent="0">
              <a:buNone/>
            </a:pPr>
            <a:r>
              <a:rPr lang="en-US" sz="2400" dirty="0">
                <a:latin typeface="Times New Roman" pitchFamily="18" charset="0"/>
                <a:cs typeface="Times New Roman" pitchFamily="18" charset="0"/>
              </a:rPr>
              <a:t>SELECT * FROM customers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LIMIT 20 OFFSET 40;</a:t>
            </a:r>
          </a:p>
          <a:p>
            <a:pPr marL="0" indent="0">
              <a:buNone/>
            </a:pPr>
            <a:endParaRPr lang="en-US" dirty="0"/>
          </a:p>
        </p:txBody>
      </p:sp>
    </p:spTree>
    <p:extLst>
      <p:ext uri="{BB962C8B-B14F-4D97-AF65-F5344CB8AC3E}">
        <p14:creationId xmlns:p14="http://schemas.microsoft.com/office/powerpoint/2010/main" val="243131167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08916"/>
          </a:xfrm>
        </p:spPr>
        <p:txBody>
          <a:bodyPr/>
          <a:lstStyle/>
          <a:p>
            <a:r>
              <a:rPr lang="en-US" sz="3200" b="1" dirty="0">
                <a:latin typeface="Times New Roman" pitchFamily="18" charset="0"/>
                <a:cs typeface="Times New Roman" pitchFamily="18" charset="0"/>
              </a:rPr>
              <a:t>HAVING Clause</a:t>
            </a:r>
          </a:p>
        </p:txBody>
      </p:sp>
      <p:sp>
        <p:nvSpPr>
          <p:cNvPr id="3" name="Content Placeholder 2"/>
          <p:cNvSpPr>
            <a:spLocks noGrp="1"/>
          </p:cNvSpPr>
          <p:nvPr>
            <p:ph idx="1"/>
          </p:nvPr>
        </p:nvSpPr>
        <p:spPr>
          <a:xfrm>
            <a:off x="692607" y="1138518"/>
            <a:ext cx="10628905" cy="5564499"/>
          </a:xfrm>
        </p:spPr>
        <p:txBody>
          <a:bodyPr/>
          <a:lstStyle/>
          <a:p>
            <a:pPr marL="0" indent="0">
              <a:buNone/>
            </a:pPr>
            <a:r>
              <a:rPr lang="en-US" sz="2400" dirty="0">
                <a:latin typeface="Times New Roman" pitchFamily="18" charset="0"/>
                <a:cs typeface="Times New Roman" pitchFamily="18" charset="0"/>
              </a:rPr>
              <a:t>The HAVING clause was added to SQL because the WHERE clause cannot be used with aggregate functions.</a:t>
            </a:r>
          </a:p>
          <a:p>
            <a:pPr marL="0" indent="0">
              <a:buNone/>
            </a:pPr>
            <a:r>
              <a:rPr lang="en-US" sz="2400" dirty="0">
                <a:latin typeface="Times New Roman" pitchFamily="18" charset="0"/>
                <a:cs typeface="Times New Roman" pitchFamily="18" charset="0"/>
              </a:rPr>
              <a:t>Aggregate functions are often used with GROUP BY clauses, and by adding HAVING we can write condition like we do with WHERE clauses.</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List only countries that are represented more than 5 times:</a:t>
            </a:r>
          </a:p>
          <a:p>
            <a:pPr marL="0" indent="0">
              <a:buNone/>
            </a:pPr>
            <a:r>
              <a:rPr lang="en-US" sz="2400" dirty="0">
                <a:latin typeface="Times New Roman" pitchFamily="18" charset="0"/>
                <a:cs typeface="Times New Roman" pitchFamily="18" charset="0"/>
              </a:rPr>
              <a:t>	SELECT COUNT(</a:t>
            </a:r>
            <a:r>
              <a:rPr lang="en-US" sz="2400" dirty="0" err="1">
                <a:latin typeface="Times New Roman" pitchFamily="18" charset="0"/>
                <a:cs typeface="Times New Roman" pitchFamily="18" charset="0"/>
              </a:rPr>
              <a:t>customer_id</a:t>
            </a:r>
            <a:r>
              <a:rPr lang="en-US" sz="2400" dirty="0">
                <a:latin typeface="Times New Roman" pitchFamily="18" charset="0"/>
                <a:cs typeface="Times New Roman" pitchFamily="18" charset="0"/>
              </a:rPr>
              <a:t>), country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customers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GROUP BY country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HAVING COUNT(</a:t>
            </a:r>
            <a:r>
              <a:rPr lang="en-US" sz="2400" dirty="0" err="1">
                <a:latin typeface="Times New Roman" pitchFamily="18" charset="0"/>
                <a:cs typeface="Times New Roman" pitchFamily="18" charset="0"/>
              </a:rPr>
              <a:t>customer_id</a:t>
            </a:r>
            <a:r>
              <a:rPr lang="en-US" sz="2400" dirty="0">
                <a:latin typeface="Times New Roman" pitchFamily="18" charset="0"/>
                <a:cs typeface="Times New Roman" pitchFamily="18" charset="0"/>
              </a:rPr>
              <a:t>) &gt; 5;</a:t>
            </a:r>
          </a:p>
          <a:p>
            <a:pPr marL="0" indent="0">
              <a:buNone/>
            </a:pPr>
            <a:endParaRPr lang="en-US" dirty="0"/>
          </a:p>
          <a:p>
            <a:endParaRPr lang="en-US" dirty="0"/>
          </a:p>
        </p:txBody>
      </p:sp>
    </p:spTree>
    <p:extLst>
      <p:ext uri="{BB962C8B-B14F-4D97-AF65-F5344CB8AC3E}">
        <p14:creationId xmlns:p14="http://schemas.microsoft.com/office/powerpoint/2010/main" val="409296193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62421"/>
          </a:xfrm>
        </p:spPr>
        <p:txBody>
          <a:bodyPr/>
          <a:lstStyle/>
          <a:p>
            <a:r>
              <a:rPr lang="en-US" sz="3200" b="1" dirty="0">
                <a:latin typeface="Times New Roman" pitchFamily="18" charset="0"/>
                <a:cs typeface="Times New Roman" pitchFamily="18" charset="0"/>
              </a:rPr>
              <a:t>EXISTS Operator</a:t>
            </a:r>
          </a:p>
        </p:txBody>
      </p:sp>
      <p:sp>
        <p:nvSpPr>
          <p:cNvPr id="3" name="Content Placeholder 2"/>
          <p:cNvSpPr>
            <a:spLocks noGrp="1"/>
          </p:cNvSpPr>
          <p:nvPr>
            <p:ph idx="1"/>
          </p:nvPr>
        </p:nvSpPr>
        <p:spPr>
          <a:xfrm>
            <a:off x="715854" y="1247007"/>
            <a:ext cx="8946541" cy="5610993"/>
          </a:xfrm>
        </p:spPr>
        <p:txBody>
          <a:bodyPr>
            <a:normAutofit/>
          </a:bodyPr>
          <a:lstStyle/>
          <a:p>
            <a:pPr marL="0" indent="0">
              <a:buNone/>
            </a:pPr>
            <a:r>
              <a:rPr lang="en-US" sz="2400" dirty="0">
                <a:latin typeface="Times New Roman" pitchFamily="18" charset="0"/>
                <a:cs typeface="Times New Roman" pitchFamily="18" charset="0"/>
              </a:rPr>
              <a:t>The EXISTS operator is used to test for the existence of any record in a sub query.</a:t>
            </a:r>
          </a:p>
          <a:p>
            <a:pPr marL="0" indent="0">
              <a:buNone/>
            </a:pPr>
            <a:r>
              <a:rPr lang="en-US" sz="2400" dirty="0">
                <a:latin typeface="Times New Roman" pitchFamily="18" charset="0"/>
                <a:cs typeface="Times New Roman" pitchFamily="18" charset="0"/>
              </a:rPr>
              <a:t>The EXISTS operator returns TRUE if the sub query returns one or more records.</a:t>
            </a:r>
          </a:p>
          <a:p>
            <a:pPr marL="0" indent="0">
              <a:buNone/>
            </a:pPr>
            <a:r>
              <a:rPr lang="en-US" sz="2400" b="1"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Return all customers that is represented in the orders table:</a:t>
            </a:r>
          </a:p>
          <a:p>
            <a:pPr marL="0" indent="0">
              <a:buNone/>
            </a:pPr>
            <a:r>
              <a:rPr lang="en-US" sz="2400" dirty="0">
                <a:latin typeface="Times New Roman" pitchFamily="18" charset="0"/>
                <a:cs typeface="Times New Roman" pitchFamily="18" charset="0"/>
              </a:rPr>
              <a:t>SELECT </a:t>
            </a:r>
            <a:r>
              <a:rPr lang="en-US" sz="2400" dirty="0" err="1">
                <a:latin typeface="Times New Roman" pitchFamily="18" charset="0"/>
                <a:cs typeface="Times New Roman" pitchFamily="18" charset="0"/>
              </a:rPr>
              <a:t>customers.customer_name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customers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EXISTS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SELECT </a:t>
            </a:r>
            <a:r>
              <a:rPr lang="en-US" sz="2400" dirty="0" err="1">
                <a:latin typeface="Times New Roman" pitchFamily="18" charset="0"/>
                <a:cs typeface="Times New Roman" pitchFamily="18" charset="0"/>
              </a:rPr>
              <a:t>order_id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orders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a:t>
            </a:r>
            <a:r>
              <a:rPr lang="en-US" sz="2400" dirty="0" err="1">
                <a:latin typeface="Times New Roman" pitchFamily="18" charset="0"/>
                <a:cs typeface="Times New Roman" pitchFamily="18" charset="0"/>
              </a:rPr>
              <a:t>customer_id</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customers.customer_id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p>
          <a:p>
            <a:endParaRPr lang="en-US" dirty="0"/>
          </a:p>
        </p:txBody>
      </p:sp>
    </p:spTree>
    <p:extLst>
      <p:ext uri="{BB962C8B-B14F-4D97-AF65-F5344CB8AC3E}">
        <p14:creationId xmlns:p14="http://schemas.microsoft.com/office/powerpoint/2010/main" val="97310463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08916"/>
          </a:xfrm>
        </p:spPr>
        <p:txBody>
          <a:bodyPr/>
          <a:lstStyle/>
          <a:p>
            <a:r>
              <a:rPr lang="en-US" sz="3200" b="1" dirty="0">
                <a:latin typeface="Times New Roman" pitchFamily="18" charset="0"/>
                <a:cs typeface="Times New Roman" pitchFamily="18" charset="0"/>
              </a:rPr>
              <a:t>NOT EXISTS</a:t>
            </a:r>
          </a:p>
        </p:txBody>
      </p:sp>
      <p:sp>
        <p:nvSpPr>
          <p:cNvPr id="3" name="Content Placeholder 2"/>
          <p:cNvSpPr>
            <a:spLocks noGrp="1"/>
          </p:cNvSpPr>
          <p:nvPr>
            <p:ph idx="1"/>
          </p:nvPr>
        </p:nvSpPr>
        <p:spPr>
          <a:xfrm>
            <a:off x="723604" y="1239257"/>
            <a:ext cx="8946541" cy="5440512"/>
          </a:xfrm>
        </p:spPr>
        <p:txBody>
          <a:bodyPr/>
          <a:lstStyle/>
          <a:p>
            <a:pPr marL="0" indent="0">
              <a:buNone/>
            </a:pPr>
            <a:r>
              <a:rPr lang="en-US" sz="2400" dirty="0">
                <a:latin typeface="Times New Roman" pitchFamily="18" charset="0"/>
                <a:cs typeface="Times New Roman" pitchFamily="18" charset="0"/>
              </a:rPr>
              <a:t>To check which customers that do not have any orders, we can use the NOT operator together with the EXISTS operator :</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Return all customers that is NOT represented in the orders table:</a:t>
            </a:r>
          </a:p>
          <a:p>
            <a:pPr marL="0" indent="0">
              <a:buNone/>
            </a:pPr>
            <a:r>
              <a:rPr lang="en-US" sz="2400" dirty="0">
                <a:latin typeface="Times New Roman" pitchFamily="18" charset="0"/>
                <a:cs typeface="Times New Roman" pitchFamily="18" charset="0"/>
              </a:rPr>
              <a:t>SELECT </a:t>
            </a:r>
            <a:r>
              <a:rPr lang="en-US" sz="2400" dirty="0" err="1">
                <a:latin typeface="Times New Roman" pitchFamily="18" charset="0"/>
                <a:cs typeface="Times New Roman" pitchFamily="18" charset="0"/>
              </a:rPr>
              <a:t>customers.customer_name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FROM customers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NOT EXISTS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SELECT </a:t>
            </a:r>
            <a:r>
              <a:rPr lang="en-US" sz="2400" dirty="0" err="1">
                <a:latin typeface="Times New Roman" pitchFamily="18" charset="0"/>
                <a:cs typeface="Times New Roman" pitchFamily="18" charset="0"/>
              </a:rPr>
              <a:t>order_id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FROM orders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a:t>
            </a:r>
            <a:r>
              <a:rPr lang="en-US" sz="2400" dirty="0" err="1">
                <a:latin typeface="Times New Roman" pitchFamily="18" charset="0"/>
                <a:cs typeface="Times New Roman" pitchFamily="18" charset="0"/>
              </a:rPr>
              <a:t>customer_id</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customers.customer_id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p>
          <a:p>
            <a:pPr marL="0" indent="0">
              <a:buNone/>
            </a:pPr>
            <a:endParaRPr lang="en-US" dirty="0"/>
          </a:p>
        </p:txBody>
      </p:sp>
    </p:spTree>
    <p:extLst>
      <p:ext uri="{BB962C8B-B14F-4D97-AF65-F5344CB8AC3E}">
        <p14:creationId xmlns:p14="http://schemas.microsoft.com/office/powerpoint/2010/main" val="30995165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09655"/>
          </a:xfrm>
        </p:spPr>
        <p:txBody>
          <a:bodyPr/>
          <a:lstStyle/>
          <a:p>
            <a:r>
              <a:rPr lang="en-US" sz="3200" dirty="0">
                <a:latin typeface="Times New Roman" pitchFamily="18" charset="0"/>
                <a:cs typeface="Times New Roman" pitchFamily="18" charset="0"/>
              </a:rPr>
              <a:t>ADD COLUMN in table</a:t>
            </a:r>
          </a:p>
        </p:txBody>
      </p:sp>
      <p:sp>
        <p:nvSpPr>
          <p:cNvPr id="3" name="Content Placeholder 2"/>
          <p:cNvSpPr>
            <a:spLocks noGrp="1"/>
          </p:cNvSpPr>
          <p:nvPr>
            <p:ph idx="1"/>
          </p:nvPr>
        </p:nvSpPr>
        <p:spPr>
          <a:xfrm>
            <a:off x="700356" y="1107522"/>
            <a:ext cx="8946541" cy="4195481"/>
          </a:xfrm>
        </p:spPr>
        <p:txBody>
          <a:bodyPr>
            <a:normAutofit/>
          </a:bodyPr>
          <a:lstStyle/>
          <a:p>
            <a:pPr marL="0" indent="0">
              <a:buNone/>
            </a:pPr>
            <a:r>
              <a:rPr lang="en-US" sz="2800" dirty="0">
                <a:latin typeface="Times New Roman" pitchFamily="18" charset="0"/>
                <a:cs typeface="Times New Roman" pitchFamily="18" charset="0"/>
              </a:rPr>
              <a:t>Example</a:t>
            </a:r>
          </a:p>
          <a:p>
            <a:pPr marL="0" indent="0">
              <a:buNone/>
            </a:pPr>
            <a:r>
              <a:rPr lang="en-US" sz="2800" dirty="0">
                <a:latin typeface="Times New Roman" pitchFamily="18" charset="0"/>
                <a:cs typeface="Times New Roman" pitchFamily="18" charset="0"/>
              </a:rPr>
              <a:t>Add a column named color:</a:t>
            </a:r>
          </a:p>
          <a:p>
            <a:pPr marL="0" indent="0">
              <a:buNone/>
            </a:pPr>
            <a:r>
              <a:rPr lang="en-US" sz="2800" dirty="0">
                <a:latin typeface="Times New Roman" pitchFamily="18" charset="0"/>
                <a:cs typeface="Times New Roman" pitchFamily="18" charset="0"/>
              </a:rPr>
              <a:t>	ALTER TABLE cars</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	ADD color VARCHAR(255);</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58062466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77919"/>
          </a:xfrm>
        </p:spPr>
        <p:txBody>
          <a:bodyPr/>
          <a:lstStyle/>
          <a:p>
            <a:r>
              <a:rPr lang="en-US" sz="3200" b="1" dirty="0">
                <a:latin typeface="Times New Roman" pitchFamily="18" charset="0"/>
                <a:cs typeface="Times New Roman" pitchFamily="18" charset="0"/>
              </a:rPr>
              <a:t>The UPDATE Statement</a:t>
            </a:r>
          </a:p>
        </p:txBody>
      </p:sp>
      <p:sp>
        <p:nvSpPr>
          <p:cNvPr id="3" name="Content Placeholder 2"/>
          <p:cNvSpPr>
            <a:spLocks noGrp="1"/>
          </p:cNvSpPr>
          <p:nvPr>
            <p:ph idx="1"/>
          </p:nvPr>
        </p:nvSpPr>
        <p:spPr>
          <a:xfrm>
            <a:off x="793346" y="1208260"/>
            <a:ext cx="8946541" cy="5727232"/>
          </a:xfrm>
        </p:spPr>
        <p:txBody>
          <a:bodyPr>
            <a:normAutofit fontScale="92500" lnSpcReduction="10000"/>
          </a:bodyPr>
          <a:lstStyle/>
          <a:p>
            <a:pPr marL="0" indent="0">
              <a:buNone/>
            </a:pPr>
            <a:r>
              <a:rPr lang="en-US" sz="2400" dirty="0">
                <a:latin typeface="Times New Roman" pitchFamily="18" charset="0"/>
                <a:cs typeface="Times New Roman" pitchFamily="18" charset="0"/>
              </a:rPr>
              <a:t>The UPDATE statement is used to modify the value(s) in existing records in a table.</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Set the color of the Volvo to 'red':</a:t>
            </a:r>
          </a:p>
          <a:p>
            <a:pPr marL="0" indent="0">
              <a:buNone/>
            </a:pPr>
            <a:r>
              <a:rPr lang="en-US" sz="2400" dirty="0">
                <a:latin typeface="Times New Roman" pitchFamily="18" charset="0"/>
                <a:cs typeface="Times New Roman" pitchFamily="18" charset="0"/>
              </a:rPr>
              <a:t>UPDATE cars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SET color = 'red'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WHERE brand = 'Volvo';</a:t>
            </a:r>
          </a:p>
          <a:p>
            <a:pPr marL="0" indent="0">
              <a:buNone/>
            </a:pPr>
            <a:r>
              <a:rPr lang="en-US" sz="2400" dirty="0">
                <a:latin typeface="Times New Roman" pitchFamily="18" charset="0"/>
                <a:cs typeface="Times New Roman" pitchFamily="18" charset="0"/>
              </a:rPr>
              <a:t>Update Multiple Columns</a:t>
            </a:r>
          </a:p>
          <a:p>
            <a:pPr marL="0" indent="0">
              <a:buNone/>
            </a:pPr>
            <a:r>
              <a:rPr lang="en-US" sz="2400" dirty="0">
                <a:latin typeface="Times New Roman" pitchFamily="18" charset="0"/>
                <a:cs typeface="Times New Roman" pitchFamily="18" charset="0"/>
              </a:rPr>
              <a:t>To update more than one column, separate the name/value pairs with a comma ,:</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Update color and year for the Toyota:</a:t>
            </a:r>
          </a:p>
          <a:p>
            <a:pPr marL="0" indent="0">
              <a:buNone/>
            </a:pPr>
            <a:r>
              <a:rPr lang="en-US" sz="2400" dirty="0">
                <a:latin typeface="Times New Roman" pitchFamily="18" charset="0"/>
                <a:cs typeface="Times New Roman" pitchFamily="18" charset="0"/>
              </a:rPr>
              <a:t>UPDATE cars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SET color = 'white', year = 1970</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WHERE brand = 'Toyota';</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3488865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23675"/>
          </a:xfrm>
        </p:spPr>
        <p:txBody>
          <a:bodyPr/>
          <a:lstStyle/>
          <a:p>
            <a:r>
              <a:rPr lang="en-US" sz="3200" b="1" dirty="0">
                <a:latin typeface="Times New Roman" pitchFamily="18" charset="0"/>
                <a:cs typeface="Times New Roman" pitchFamily="18" charset="0"/>
              </a:rPr>
              <a:t>The DELETE Statement</a:t>
            </a:r>
          </a:p>
        </p:txBody>
      </p:sp>
      <p:sp>
        <p:nvSpPr>
          <p:cNvPr id="3" name="Content Placeholder 2"/>
          <p:cNvSpPr>
            <a:spLocks noGrp="1"/>
          </p:cNvSpPr>
          <p:nvPr>
            <p:ph idx="1"/>
          </p:nvPr>
        </p:nvSpPr>
        <p:spPr>
          <a:xfrm>
            <a:off x="754600" y="1146267"/>
            <a:ext cx="8946541" cy="4195481"/>
          </a:xfrm>
        </p:spPr>
        <p:txBody>
          <a:bodyPr/>
          <a:lstStyle/>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Delete all records where brand is 'Volvo':</a:t>
            </a:r>
          </a:p>
          <a:p>
            <a:pPr marL="0" indent="0">
              <a:buNone/>
            </a:pPr>
            <a:r>
              <a:rPr lang="en-US" sz="2400" dirty="0">
                <a:latin typeface="Times New Roman" pitchFamily="18" charset="0"/>
                <a:cs typeface="Times New Roman" pitchFamily="18" charset="0"/>
              </a:rPr>
              <a:t>		DELETE FROM cars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WHERE brand = 'Volvo';</a:t>
            </a:r>
          </a:p>
          <a:p>
            <a:pPr marL="0" indent="0">
              <a:buNone/>
            </a:pPr>
            <a:r>
              <a:rPr lang="en-US" sz="2400" b="1" dirty="0">
                <a:solidFill>
                  <a:schemeClr val="tx2"/>
                </a:solidFill>
                <a:latin typeface="Times New Roman" pitchFamily="18" charset="0"/>
                <a:cs typeface="Times New Roman" pitchFamily="18" charset="0"/>
              </a:rPr>
              <a:t>Delete All Records</a:t>
            </a:r>
          </a:p>
          <a:p>
            <a:pPr marL="0" indent="0">
              <a:buNone/>
            </a:pPr>
            <a:r>
              <a:rPr lang="en-US" sz="2400" dirty="0">
                <a:latin typeface="Times New Roman" pitchFamily="18" charset="0"/>
                <a:cs typeface="Times New Roman" pitchFamily="18" charset="0"/>
              </a:rPr>
              <a:t>Example</a:t>
            </a:r>
          </a:p>
          <a:p>
            <a:pPr marL="0" indent="0">
              <a:buNone/>
            </a:pPr>
            <a:r>
              <a:rPr lang="en-US" sz="2400" dirty="0">
                <a:latin typeface="Times New Roman" pitchFamily="18" charset="0"/>
                <a:cs typeface="Times New Roman" pitchFamily="18" charset="0"/>
              </a:rPr>
              <a:t>Delete all records in the cars table:</a:t>
            </a:r>
          </a:p>
          <a:p>
            <a:pPr marL="0" indent="0">
              <a:buNone/>
            </a:pPr>
            <a:r>
              <a:rPr lang="en-US" sz="2400" dirty="0">
                <a:latin typeface="Times New Roman" pitchFamily="18" charset="0"/>
                <a:cs typeface="Times New Roman" pitchFamily="18" charset="0"/>
              </a:rPr>
              <a:t>		DELETE FROM cars;</a:t>
            </a:r>
          </a:p>
          <a:p>
            <a:pPr marL="0" indent="0">
              <a:buNone/>
            </a:pPr>
            <a:endParaRPr lang="en-US" dirty="0"/>
          </a:p>
          <a:p>
            <a:endParaRPr lang="en-US" dirty="0"/>
          </a:p>
        </p:txBody>
      </p:sp>
    </p:spTree>
    <p:extLst>
      <p:ext uri="{BB962C8B-B14F-4D97-AF65-F5344CB8AC3E}">
        <p14:creationId xmlns:p14="http://schemas.microsoft.com/office/powerpoint/2010/main" val="282954608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108" y="317108"/>
            <a:ext cx="9892736" cy="6362661"/>
          </a:xfrm>
        </p:spPr>
        <p:txBody>
          <a:bodyPr>
            <a:normAutofit/>
          </a:bodyPr>
          <a:lstStyle/>
          <a:p>
            <a:r>
              <a:rPr lang="en-US" dirty="0">
                <a:latin typeface="Times New Roman" pitchFamily="18" charset="0"/>
                <a:cs typeface="Times New Roman" pitchFamily="18" charset="0"/>
              </a:rPr>
              <a:t>Create table driver (</a:t>
            </a:r>
            <a:r>
              <a:rPr lang="en-US" dirty="0" err="1">
                <a:latin typeface="Times New Roman" pitchFamily="18" charset="0"/>
                <a:cs typeface="Times New Roman" pitchFamily="18" charset="0"/>
              </a:rPr>
              <a:t>licence_no</a:t>
            </a:r>
            <a:r>
              <a:rPr lang="en-US" dirty="0">
                <a:latin typeface="Times New Roman" pitchFamily="18" charset="0"/>
                <a:cs typeface="Times New Roman" pitchFamily="18" charset="0"/>
              </a:rPr>
              <a:t>, Name, Address) and perform the following queries </a:t>
            </a:r>
          </a:p>
          <a:p>
            <a:pPr marL="0" indent="0">
              <a:buNone/>
            </a:pPr>
            <a:r>
              <a:rPr lang="en-US" dirty="0">
                <a:latin typeface="Times New Roman" pitchFamily="18" charset="0"/>
                <a:cs typeface="Times New Roman" pitchFamily="18" charset="0"/>
              </a:rPr>
              <a:t>		1. Add new column age with constraint that age should be greater 				than 20 years. </a:t>
            </a:r>
          </a:p>
          <a:p>
            <a:pPr marL="0" indent="0">
              <a:buNone/>
            </a:pPr>
            <a:r>
              <a:rPr lang="en-US" dirty="0">
                <a:latin typeface="Times New Roman" pitchFamily="18" charset="0"/>
                <a:cs typeface="Times New Roman" pitchFamily="18" charset="0"/>
              </a:rPr>
              <a:t>		2. Alter table by modifying </a:t>
            </a:r>
            <a:r>
              <a:rPr lang="en-US" dirty="0" err="1">
                <a:latin typeface="Times New Roman" pitchFamily="18" charset="0"/>
                <a:cs typeface="Times New Roman" pitchFamily="18" charset="0"/>
              </a:rPr>
              <a:t>driver_name</a:t>
            </a:r>
            <a:r>
              <a:rPr lang="en-US" dirty="0">
                <a:latin typeface="Times New Roman" pitchFamily="18" charset="0"/>
                <a:cs typeface="Times New Roman" pitchFamily="18" charset="0"/>
              </a:rPr>
              <a:t> to </a:t>
            </a:r>
            <a:r>
              <a:rPr lang="en-US" dirty="0" err="1">
                <a:latin typeface="Times New Roman" pitchFamily="18" charset="0"/>
                <a:cs typeface="Times New Roman" pitchFamily="18" charset="0"/>
              </a:rPr>
              <a:t>varchar</a:t>
            </a:r>
            <a:r>
              <a:rPr lang="en-US" dirty="0">
                <a:latin typeface="Times New Roman" pitchFamily="18" charset="0"/>
                <a:cs typeface="Times New Roman" pitchFamily="18" charset="0"/>
              </a:rPr>
              <a:t>(50)); </a:t>
            </a:r>
          </a:p>
          <a:p>
            <a:pPr marL="0" indent="0">
              <a:buNone/>
            </a:pPr>
            <a:r>
              <a:rPr lang="en-US" dirty="0">
                <a:latin typeface="Times New Roman" pitchFamily="18" charset="0"/>
                <a:cs typeface="Times New Roman" pitchFamily="18" charset="0"/>
              </a:rPr>
              <a:t>		3. Alter table driver ,drop the column age. </a:t>
            </a:r>
          </a:p>
          <a:p>
            <a:pPr marL="0" indent="0">
              <a:buNone/>
            </a:pPr>
            <a:r>
              <a:rPr lang="en-US" dirty="0">
                <a:latin typeface="Times New Roman" pitchFamily="18" charset="0"/>
                <a:cs typeface="Times New Roman" pitchFamily="18" charset="0"/>
              </a:rPr>
              <a:t>		4. Add new column </a:t>
            </a:r>
            <a:r>
              <a:rPr lang="en-US" dirty="0" err="1">
                <a:latin typeface="Times New Roman" pitchFamily="18" charset="0"/>
                <a:cs typeface="Times New Roman" pitchFamily="18" charset="0"/>
              </a:rPr>
              <a:t>Aadhar</a:t>
            </a:r>
            <a:r>
              <a:rPr lang="en-US" dirty="0">
                <a:latin typeface="Times New Roman" pitchFamily="18" charset="0"/>
                <a:cs typeface="Times New Roman" pitchFamily="18" charset="0"/>
              </a:rPr>
              <a:t> Number in </a:t>
            </a:r>
            <a:r>
              <a:rPr lang="en-US" dirty="0" err="1">
                <a:latin typeface="Times New Roman" pitchFamily="18" charset="0"/>
                <a:cs typeface="Times New Roman" pitchFamily="18" charset="0"/>
              </a:rPr>
              <a:t>diriver</a:t>
            </a:r>
            <a:r>
              <a:rPr lang="en-US" dirty="0">
                <a:latin typeface="Times New Roman" pitchFamily="18" charset="0"/>
                <a:cs typeface="Times New Roman" pitchFamily="18" charset="0"/>
              </a:rPr>
              <a:t> table </a:t>
            </a:r>
          </a:p>
          <a:p>
            <a:pPr marL="0" indent="0">
              <a:buNone/>
            </a:pPr>
            <a:r>
              <a:rPr lang="en-US" dirty="0">
                <a:latin typeface="Times New Roman" pitchFamily="18" charset="0"/>
                <a:cs typeface="Times New Roman" pitchFamily="18" charset="0"/>
              </a:rPr>
              <a:t>		5. Remove the driver table from the database</a:t>
            </a:r>
          </a:p>
          <a:p>
            <a:pPr marL="0" indent="0">
              <a:buNone/>
            </a:pPr>
            <a:r>
              <a:rPr lang="en-US" dirty="0">
                <a:latin typeface="Times New Roman" pitchFamily="18" charset="0"/>
                <a:cs typeface="Times New Roman" pitchFamily="18" charset="0"/>
              </a:rPr>
              <a:t>Solution:</a:t>
            </a:r>
          </a:p>
          <a:p>
            <a:pPr marL="0" indent="0">
              <a:buNone/>
            </a:pPr>
            <a:r>
              <a:rPr lang="en-US" dirty="0">
                <a:latin typeface="Times New Roman" pitchFamily="18" charset="0"/>
                <a:cs typeface="Times New Roman" pitchFamily="18" charset="0"/>
              </a:rPr>
              <a:t>CREATE TABLE driver (    </a:t>
            </a:r>
            <a:r>
              <a:rPr lang="en-US" dirty="0" err="1">
                <a:latin typeface="Times New Roman" pitchFamily="18" charset="0"/>
                <a:cs typeface="Times New Roman" pitchFamily="18" charset="0"/>
              </a:rPr>
              <a:t>licence_no</a:t>
            </a:r>
            <a:r>
              <a:rPr lang="en-US" dirty="0">
                <a:latin typeface="Times New Roman" pitchFamily="18" charset="0"/>
                <a:cs typeface="Times New Roman" pitchFamily="18" charset="0"/>
              </a:rPr>
              <a:t> VARCHAR(20) PRIMARY KEY,    Name VARCHAR(255),    Address VARCHAR(255));</a:t>
            </a:r>
          </a:p>
          <a:p>
            <a:pPr marL="0" indent="0">
              <a:buNone/>
            </a:pPr>
            <a:r>
              <a:rPr lang="en-US" dirty="0">
                <a:latin typeface="Times New Roman" pitchFamily="18" charset="0"/>
                <a:cs typeface="Times New Roman" pitchFamily="18" charset="0"/>
              </a:rPr>
              <a:t>Add a new column age with a constraint: </a:t>
            </a:r>
          </a:p>
          <a:p>
            <a:pPr marL="0" indent="0">
              <a:buNone/>
            </a:pPr>
            <a:r>
              <a:rPr lang="en-US" dirty="0">
                <a:latin typeface="Times New Roman" pitchFamily="18" charset="0"/>
                <a:cs typeface="Times New Roman" pitchFamily="18" charset="0"/>
              </a:rPr>
              <a:t>ALTER TABLE </a:t>
            </a:r>
            <a:r>
              <a:rPr lang="en-US" dirty="0" err="1">
                <a:latin typeface="Times New Roman" pitchFamily="18" charset="0"/>
                <a:cs typeface="Times New Roman" pitchFamily="18" charset="0"/>
              </a:rPr>
              <a:t>driverADD</a:t>
            </a:r>
            <a:r>
              <a:rPr lang="en-US" dirty="0">
                <a:latin typeface="Times New Roman" pitchFamily="18" charset="0"/>
                <a:cs typeface="Times New Roman" pitchFamily="18" charset="0"/>
              </a:rPr>
              <a:t> COLUMN age INT CHECK (age &gt; 20);</a:t>
            </a:r>
          </a:p>
          <a:p>
            <a:pPr marL="0" indent="0">
              <a:buNone/>
            </a:pPr>
            <a:r>
              <a:rPr lang="en-US" dirty="0">
                <a:latin typeface="Times New Roman" pitchFamily="18" charset="0"/>
                <a:cs typeface="Times New Roman" pitchFamily="18" charset="0"/>
              </a:rPr>
              <a:t>Modify the Name column to </a:t>
            </a:r>
            <a:r>
              <a:rPr lang="en-US" dirty="0" err="1">
                <a:latin typeface="Times New Roman" pitchFamily="18" charset="0"/>
                <a:cs typeface="Times New Roman" pitchFamily="18" charset="0"/>
              </a:rPr>
              <a:t>driver_name</a:t>
            </a:r>
            <a:r>
              <a:rPr lang="en-US" dirty="0">
                <a:latin typeface="Times New Roman" pitchFamily="18" charset="0"/>
                <a:cs typeface="Times New Roman" pitchFamily="18" charset="0"/>
              </a:rPr>
              <a:t> and increase its size:</a:t>
            </a:r>
          </a:p>
          <a:p>
            <a:pPr marL="0" indent="0">
              <a:buNone/>
            </a:pPr>
            <a:r>
              <a:rPr lang="en-US" dirty="0">
                <a:latin typeface="Times New Roman" pitchFamily="18" charset="0"/>
                <a:cs typeface="Times New Roman" pitchFamily="18" charset="0"/>
              </a:rPr>
              <a:t>ALTER TABLE </a:t>
            </a:r>
            <a:r>
              <a:rPr lang="en-US" dirty="0" err="1">
                <a:latin typeface="Times New Roman" pitchFamily="18" charset="0"/>
                <a:cs typeface="Times New Roman" pitchFamily="18" charset="0"/>
              </a:rPr>
              <a:t>driverRENAME</a:t>
            </a:r>
            <a:r>
              <a:rPr lang="en-US" dirty="0">
                <a:latin typeface="Times New Roman" pitchFamily="18" charset="0"/>
                <a:cs typeface="Times New Roman" pitchFamily="18" charset="0"/>
              </a:rPr>
              <a:t> COLUMN Name TO </a:t>
            </a:r>
            <a:r>
              <a:rPr lang="en-US" dirty="0" err="1">
                <a:latin typeface="Times New Roman" pitchFamily="18" charset="0"/>
                <a:cs typeface="Times New Roman" pitchFamily="18" charset="0"/>
              </a:rPr>
              <a:t>driver_name;ALTER</a:t>
            </a:r>
            <a:r>
              <a:rPr lang="en-US" dirty="0">
                <a:latin typeface="Times New Roman" pitchFamily="18" charset="0"/>
                <a:cs typeface="Times New Roman" pitchFamily="18" charset="0"/>
              </a:rPr>
              <a:t> TABLE </a:t>
            </a:r>
            <a:r>
              <a:rPr lang="en-US" dirty="0" err="1">
                <a:latin typeface="Times New Roman" pitchFamily="18" charset="0"/>
                <a:cs typeface="Times New Roman" pitchFamily="18" charset="0"/>
              </a:rPr>
              <a:t>driverMODIFY</a:t>
            </a:r>
            <a:r>
              <a:rPr lang="en-US" dirty="0">
                <a:latin typeface="Times New Roman" pitchFamily="18" charset="0"/>
                <a:cs typeface="Times New Roman" pitchFamily="18" charset="0"/>
              </a:rPr>
              <a:t> COLUMN </a:t>
            </a:r>
            <a:r>
              <a:rPr lang="en-US" dirty="0" err="1">
                <a:latin typeface="Times New Roman" pitchFamily="18" charset="0"/>
                <a:cs typeface="Times New Roman" pitchFamily="18" charset="0"/>
              </a:rPr>
              <a:t>driver_name</a:t>
            </a:r>
            <a:r>
              <a:rPr lang="en-US" dirty="0">
                <a:latin typeface="Times New Roman" pitchFamily="18" charset="0"/>
                <a:cs typeface="Times New Roman" pitchFamily="18" charset="0"/>
              </a:rPr>
              <a:t> VARCHAR(50);</a:t>
            </a:r>
          </a:p>
        </p:txBody>
      </p:sp>
    </p:spTree>
    <p:extLst>
      <p:ext uri="{BB962C8B-B14F-4D97-AF65-F5344CB8AC3E}">
        <p14:creationId xmlns:p14="http://schemas.microsoft.com/office/powerpoint/2010/main" val="304321352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613" y="355853"/>
            <a:ext cx="9737753" cy="6161184"/>
          </a:xfrm>
        </p:spPr>
        <p:txBody>
          <a:bodyPr>
            <a:normAutofit/>
          </a:bodyPr>
          <a:lstStyle/>
          <a:p>
            <a:pPr marL="0" indent="0">
              <a:buNone/>
            </a:pPr>
            <a:r>
              <a:rPr lang="en-US" sz="2400" dirty="0">
                <a:latin typeface="Times New Roman" pitchFamily="18" charset="0"/>
                <a:cs typeface="Times New Roman" pitchFamily="18" charset="0"/>
              </a:rPr>
              <a:t>Drop the age column: </a:t>
            </a:r>
          </a:p>
          <a:p>
            <a:pPr marL="0" indent="0">
              <a:buNone/>
            </a:pPr>
            <a:r>
              <a:rPr lang="en-US" sz="2400" dirty="0">
                <a:latin typeface="Times New Roman" pitchFamily="18" charset="0"/>
                <a:cs typeface="Times New Roman" pitchFamily="18" charset="0"/>
              </a:rPr>
              <a:t>ALTER TABLE </a:t>
            </a:r>
            <a:r>
              <a:rPr lang="en-US" sz="2400" dirty="0" err="1">
                <a:latin typeface="Times New Roman" pitchFamily="18" charset="0"/>
                <a:cs typeface="Times New Roman" pitchFamily="18" charset="0"/>
              </a:rPr>
              <a:t>driverDROP</a:t>
            </a:r>
            <a:r>
              <a:rPr lang="en-US" sz="2400" dirty="0">
                <a:latin typeface="Times New Roman" pitchFamily="18" charset="0"/>
                <a:cs typeface="Times New Roman" pitchFamily="18" charset="0"/>
              </a:rPr>
              <a:t> COLUMN age;</a:t>
            </a: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Add a new column </a:t>
            </a:r>
            <a:r>
              <a:rPr lang="en-US" sz="2400" dirty="0" err="1">
                <a:latin typeface="Times New Roman" pitchFamily="18" charset="0"/>
                <a:cs typeface="Times New Roman" pitchFamily="18" charset="0"/>
              </a:rPr>
              <a:t>aadhar_number</a:t>
            </a:r>
            <a:r>
              <a:rPr lang="en-US" sz="2400" dirty="0">
                <a:latin typeface="Times New Roman" pitchFamily="18" charset="0"/>
                <a:cs typeface="Times New Roman" pitchFamily="18" charset="0"/>
              </a:rPr>
              <a:t>:</a:t>
            </a:r>
          </a:p>
          <a:p>
            <a:pPr marL="0" indent="0">
              <a:buNone/>
            </a:pPr>
            <a:r>
              <a:rPr lang="en-US" sz="2400" dirty="0">
                <a:latin typeface="Times New Roman" pitchFamily="18" charset="0"/>
                <a:cs typeface="Times New Roman" pitchFamily="18" charset="0"/>
              </a:rPr>
              <a:t>ALTER TABLE </a:t>
            </a:r>
            <a:r>
              <a:rPr lang="en-US" sz="2400" dirty="0" err="1">
                <a:latin typeface="Times New Roman" pitchFamily="18" charset="0"/>
                <a:cs typeface="Times New Roman" pitchFamily="18" charset="0"/>
              </a:rPr>
              <a:t>driverADD</a:t>
            </a:r>
            <a:r>
              <a:rPr lang="en-US" sz="2400" dirty="0">
                <a:latin typeface="Times New Roman" pitchFamily="18" charset="0"/>
                <a:cs typeface="Times New Roman" pitchFamily="18" charset="0"/>
              </a:rPr>
              <a:t> COLUMN </a:t>
            </a:r>
            <a:r>
              <a:rPr lang="en-US" sz="2400" dirty="0" err="1">
                <a:latin typeface="Times New Roman" pitchFamily="18" charset="0"/>
                <a:cs typeface="Times New Roman" pitchFamily="18" charset="0"/>
              </a:rPr>
              <a:t>aadhar_number</a:t>
            </a:r>
            <a:r>
              <a:rPr lang="en-US" sz="2400" dirty="0">
                <a:latin typeface="Times New Roman" pitchFamily="18" charset="0"/>
                <a:cs typeface="Times New Roman" pitchFamily="18" charset="0"/>
              </a:rPr>
              <a:t> VARCHAR(12);</a:t>
            </a: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Remove the table:</a:t>
            </a:r>
          </a:p>
          <a:p>
            <a:pPr marL="0" indent="0">
              <a:buNone/>
            </a:pPr>
            <a:r>
              <a:rPr lang="en-US" sz="2400" dirty="0">
                <a:latin typeface="Times New Roman" pitchFamily="18" charset="0"/>
                <a:cs typeface="Times New Roman" pitchFamily="18" charset="0"/>
              </a:rPr>
              <a:t>DROP TABLE driver;</a:t>
            </a:r>
          </a:p>
        </p:txBody>
      </p:sp>
    </p:spTree>
    <p:extLst>
      <p:ext uri="{BB962C8B-B14F-4D97-AF65-F5344CB8AC3E}">
        <p14:creationId xmlns:p14="http://schemas.microsoft.com/office/powerpoint/2010/main" val="328403712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173" y="96526"/>
            <a:ext cx="9933283" cy="6761474"/>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Create table Game (name, no-of-players, </a:t>
            </a:r>
            <a:r>
              <a:rPr lang="en-US" dirty="0" err="1">
                <a:latin typeface="Times New Roman" panose="02020603050405020304" pitchFamily="18" charset="0"/>
                <a:cs typeface="Times New Roman" panose="02020603050405020304" pitchFamily="18" charset="0"/>
              </a:rPr>
              <a:t>captain_name</a:t>
            </a:r>
            <a:r>
              <a:rPr lang="en-US" dirty="0">
                <a:latin typeface="Times New Roman" panose="02020603050405020304" pitchFamily="18" charset="0"/>
                <a:cs typeface="Times New Roman" panose="02020603050405020304" pitchFamily="18" charset="0"/>
              </a:rPr>
              <a:t>) and perform the following queries</a:t>
            </a:r>
          </a:p>
          <a:p>
            <a:pPr marL="0" indent="0">
              <a:buNone/>
            </a:pPr>
            <a:r>
              <a:rPr lang="en-US" dirty="0">
                <a:latin typeface="Times New Roman" panose="02020603050405020304" pitchFamily="18" charset="0"/>
                <a:cs typeface="Times New Roman" panose="02020603050405020304" pitchFamily="18" charset="0"/>
              </a:rPr>
              <a:t>	1. Add new column </a:t>
            </a:r>
            <a:r>
              <a:rPr lang="en-US" dirty="0" err="1">
                <a:latin typeface="Times New Roman" panose="02020603050405020304" pitchFamily="18" charset="0"/>
                <a:cs typeface="Times New Roman" panose="02020603050405020304" pitchFamily="18" charset="0"/>
              </a:rPr>
              <a:t>game_no</a:t>
            </a:r>
            <a:r>
              <a:rPr lang="en-US" dirty="0">
                <a:latin typeface="Times New Roman" panose="02020603050405020304" pitchFamily="18" charset="0"/>
                <a:cs typeface="Times New Roman" panose="02020603050405020304" pitchFamily="18" charset="0"/>
              </a:rPr>
              <a:t> with constraint primary key.</a:t>
            </a:r>
          </a:p>
          <a:p>
            <a:pPr marL="0" indent="0">
              <a:buNone/>
            </a:pPr>
            <a:r>
              <a:rPr lang="en-US" dirty="0">
                <a:latin typeface="Times New Roman" panose="02020603050405020304" pitchFamily="18" charset="0"/>
                <a:cs typeface="Times New Roman" panose="02020603050405020304" pitchFamily="18" charset="0"/>
              </a:rPr>
              <a:t>	2.  Modify table by adding the column </a:t>
            </a:r>
            <a:r>
              <a:rPr lang="en-US" dirty="0" err="1">
                <a:latin typeface="Times New Roman" panose="02020603050405020304" pitchFamily="18" charset="0"/>
                <a:cs typeface="Times New Roman" panose="02020603050405020304" pitchFamily="18" charset="0"/>
              </a:rPr>
              <a:t>game_duration</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3. Add column </a:t>
            </a:r>
            <a:r>
              <a:rPr lang="en-US" dirty="0" err="1">
                <a:latin typeface="Times New Roman" panose="02020603050405020304" pitchFamily="18" charset="0"/>
                <a:cs typeface="Times New Roman" panose="02020603050405020304" pitchFamily="18" charset="0"/>
              </a:rPr>
              <a:t>game_type</a:t>
            </a:r>
            <a:r>
              <a:rPr lang="en-US" dirty="0">
                <a:latin typeface="Times New Roman" panose="02020603050405020304" pitchFamily="18" charset="0"/>
                <a:cs typeface="Times New Roman" panose="02020603050405020304" pitchFamily="18" charset="0"/>
              </a:rPr>
              <a:t> with values </a:t>
            </a:r>
            <a:r>
              <a:rPr lang="en-US" dirty="0" err="1">
                <a:latin typeface="Times New Roman" panose="02020603050405020304" pitchFamily="18" charset="0"/>
                <a:cs typeface="Times New Roman" panose="02020603050405020304" pitchFamily="18" charset="0"/>
              </a:rPr>
              <a:t>cricket,hockey,tennis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4. Remove game table from the database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Solution:</a:t>
            </a:r>
          </a:p>
          <a:p>
            <a:pPr marL="0" indent="0">
              <a:buNone/>
            </a:pPr>
            <a:r>
              <a:rPr lang="en-US" dirty="0">
                <a:latin typeface="Times New Roman" panose="02020603050405020304" pitchFamily="18" charset="0"/>
                <a:cs typeface="Times New Roman" panose="02020603050405020304" pitchFamily="18" charset="0"/>
              </a:rPr>
              <a:t>CREATE TABLE Game (    name VARCHAR(255),    </a:t>
            </a:r>
            <a:r>
              <a:rPr lang="en-US" dirty="0" err="1">
                <a:latin typeface="Times New Roman" panose="02020603050405020304" pitchFamily="18" charset="0"/>
                <a:cs typeface="Times New Roman" panose="02020603050405020304" pitchFamily="18" charset="0"/>
              </a:rPr>
              <a:t>no_of_players</a:t>
            </a:r>
            <a:r>
              <a:rPr lang="en-US" dirty="0">
                <a:latin typeface="Times New Roman" panose="02020603050405020304" pitchFamily="18" charset="0"/>
                <a:cs typeface="Times New Roman" panose="02020603050405020304" pitchFamily="18" charset="0"/>
              </a:rPr>
              <a:t> INT,    </a:t>
            </a:r>
            <a:r>
              <a:rPr lang="en-US" dirty="0" err="1">
                <a:latin typeface="Times New Roman" panose="02020603050405020304" pitchFamily="18" charset="0"/>
                <a:cs typeface="Times New Roman" panose="02020603050405020304" pitchFamily="18" charset="0"/>
              </a:rPr>
              <a:t>captain_name</a:t>
            </a:r>
            <a:r>
              <a:rPr lang="en-US" dirty="0">
                <a:latin typeface="Times New Roman" panose="02020603050405020304" pitchFamily="18" charset="0"/>
                <a:cs typeface="Times New Roman" panose="02020603050405020304" pitchFamily="18" charset="0"/>
              </a:rPr>
              <a:t> VARCHAR(255));</a:t>
            </a:r>
          </a:p>
          <a:p>
            <a:pPr marL="457200" indent="-457200">
              <a:buAutoNum type="arabicPeriod"/>
            </a:pPr>
            <a:r>
              <a:rPr lang="en-US" dirty="0">
                <a:latin typeface="Times New Roman" panose="02020603050405020304" pitchFamily="18" charset="0"/>
                <a:cs typeface="Times New Roman" panose="02020603050405020304" pitchFamily="18" charset="0"/>
              </a:rPr>
              <a:t>Add new column </a:t>
            </a:r>
            <a:r>
              <a:rPr lang="en-US" dirty="0" err="1">
                <a:latin typeface="Times New Roman" panose="02020603050405020304" pitchFamily="18" charset="0"/>
                <a:cs typeface="Times New Roman" panose="02020603050405020304" pitchFamily="18" charset="0"/>
              </a:rPr>
              <a:t>game_no</a:t>
            </a:r>
            <a:r>
              <a:rPr lang="en-US" dirty="0">
                <a:latin typeface="Times New Roman" panose="02020603050405020304" pitchFamily="18" charset="0"/>
                <a:cs typeface="Times New Roman" panose="02020603050405020304" pitchFamily="18" charset="0"/>
              </a:rPr>
              <a:t> with constraint primary key.</a:t>
            </a:r>
          </a:p>
          <a:p>
            <a:pPr marL="0" indent="0">
              <a:buNone/>
            </a:pPr>
            <a:r>
              <a:rPr lang="en-US" dirty="0">
                <a:latin typeface="Times New Roman" panose="02020603050405020304" pitchFamily="18" charset="0"/>
                <a:cs typeface="Times New Roman" panose="02020603050405020304" pitchFamily="18" charset="0"/>
              </a:rPr>
              <a:t>	ALTER TABLE </a:t>
            </a:r>
            <a:r>
              <a:rPr lang="en-US" dirty="0" err="1">
                <a:latin typeface="Times New Roman" panose="02020603050405020304" pitchFamily="18" charset="0"/>
                <a:cs typeface="Times New Roman" panose="02020603050405020304" pitchFamily="18" charset="0"/>
              </a:rPr>
              <a:t>GameADD</a:t>
            </a:r>
            <a:r>
              <a:rPr lang="en-US" dirty="0">
                <a:latin typeface="Times New Roman" panose="02020603050405020304" pitchFamily="18" charset="0"/>
                <a:cs typeface="Times New Roman" panose="02020603050405020304" pitchFamily="18" charset="0"/>
              </a:rPr>
              <a:t> COLUMN </a:t>
            </a:r>
            <a:r>
              <a:rPr lang="en-US" dirty="0" err="1">
                <a:latin typeface="Times New Roman" panose="02020603050405020304" pitchFamily="18" charset="0"/>
                <a:cs typeface="Times New Roman" panose="02020603050405020304" pitchFamily="18" charset="0"/>
              </a:rPr>
              <a:t>game_no</a:t>
            </a:r>
            <a:r>
              <a:rPr lang="en-US" dirty="0">
                <a:latin typeface="Times New Roman" panose="02020603050405020304" pitchFamily="18" charset="0"/>
                <a:cs typeface="Times New Roman" panose="02020603050405020304" pitchFamily="18" charset="0"/>
              </a:rPr>
              <a:t> INT PRIMARY KEY;</a:t>
            </a:r>
          </a:p>
          <a:p>
            <a:pPr marL="0" indent="0">
              <a:buNone/>
            </a:pPr>
            <a:r>
              <a:rPr lang="en-US" dirty="0">
                <a:latin typeface="Times New Roman" panose="02020603050405020304" pitchFamily="18" charset="0"/>
                <a:cs typeface="Times New Roman" panose="02020603050405020304" pitchFamily="18" charset="0"/>
              </a:rPr>
              <a:t>2.  Modify table by adding the column </a:t>
            </a:r>
            <a:r>
              <a:rPr lang="en-US" dirty="0" err="1">
                <a:latin typeface="Times New Roman" panose="02020603050405020304" pitchFamily="18" charset="0"/>
                <a:cs typeface="Times New Roman" panose="02020603050405020304" pitchFamily="18" charset="0"/>
              </a:rPr>
              <a:t>game_duration</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ALTER TABLE Game ADD COLUMN </a:t>
            </a:r>
            <a:r>
              <a:rPr lang="en-US" dirty="0" err="1">
                <a:latin typeface="Times New Roman" panose="02020603050405020304" pitchFamily="18" charset="0"/>
                <a:cs typeface="Times New Roman" panose="02020603050405020304" pitchFamily="18" charset="0"/>
              </a:rPr>
              <a:t>game_duration</a:t>
            </a:r>
            <a:r>
              <a:rPr lang="en-US" dirty="0">
                <a:latin typeface="Times New Roman" panose="02020603050405020304" pitchFamily="18" charset="0"/>
                <a:cs typeface="Times New Roman" panose="02020603050405020304" pitchFamily="18" charset="0"/>
              </a:rPr>
              <a:t> INT; </a:t>
            </a:r>
          </a:p>
          <a:p>
            <a:pPr marL="0" indent="0">
              <a:buNone/>
            </a:pPr>
            <a:r>
              <a:rPr lang="en-US" dirty="0">
                <a:latin typeface="Times New Roman" panose="02020603050405020304" pitchFamily="18" charset="0"/>
                <a:cs typeface="Times New Roman" panose="02020603050405020304" pitchFamily="18" charset="0"/>
              </a:rPr>
              <a:t>3. Add column </a:t>
            </a:r>
            <a:r>
              <a:rPr lang="en-US" dirty="0" err="1">
                <a:latin typeface="Times New Roman" panose="02020603050405020304" pitchFamily="18" charset="0"/>
                <a:cs typeface="Times New Roman" panose="02020603050405020304" pitchFamily="18" charset="0"/>
              </a:rPr>
              <a:t>game_type</a:t>
            </a:r>
            <a:r>
              <a:rPr lang="en-US" dirty="0">
                <a:latin typeface="Times New Roman" panose="02020603050405020304" pitchFamily="18" charset="0"/>
                <a:cs typeface="Times New Roman" panose="02020603050405020304" pitchFamily="18" charset="0"/>
              </a:rPr>
              <a:t> with values </a:t>
            </a:r>
            <a:r>
              <a:rPr lang="en-US" dirty="0" err="1">
                <a:latin typeface="Times New Roman" panose="02020603050405020304" pitchFamily="18" charset="0"/>
                <a:cs typeface="Times New Roman" panose="02020603050405020304" pitchFamily="18" charset="0"/>
              </a:rPr>
              <a:t>cricket,hockey,tennis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ALTER TABLE </a:t>
            </a:r>
            <a:r>
              <a:rPr lang="en-US" dirty="0" err="1">
                <a:latin typeface="Times New Roman" panose="02020603050405020304" pitchFamily="18" charset="0"/>
                <a:cs typeface="Times New Roman" panose="02020603050405020304" pitchFamily="18" charset="0"/>
              </a:rPr>
              <a:t>GameADD</a:t>
            </a:r>
            <a:r>
              <a:rPr lang="en-US" dirty="0">
                <a:latin typeface="Times New Roman" panose="02020603050405020304" pitchFamily="18" charset="0"/>
                <a:cs typeface="Times New Roman" panose="02020603050405020304" pitchFamily="18" charset="0"/>
              </a:rPr>
              <a:t> COLUMN </a:t>
            </a:r>
            <a:r>
              <a:rPr lang="en-US" dirty="0" err="1">
                <a:latin typeface="Times New Roman" panose="02020603050405020304" pitchFamily="18" charset="0"/>
                <a:cs typeface="Times New Roman" panose="02020603050405020304" pitchFamily="18" charset="0"/>
              </a:rPr>
              <a:t>game_type</a:t>
            </a:r>
            <a:r>
              <a:rPr lang="en-US" dirty="0">
                <a:latin typeface="Times New Roman" panose="02020603050405020304" pitchFamily="18" charset="0"/>
                <a:cs typeface="Times New Roman" panose="02020603050405020304" pitchFamily="18" charset="0"/>
              </a:rPr>
              <a:t> VARCHAR(255) CHECK 	(</a:t>
            </a:r>
            <a:r>
              <a:rPr lang="en-US" dirty="0" err="1">
                <a:latin typeface="Times New Roman" panose="02020603050405020304" pitchFamily="18" charset="0"/>
                <a:cs typeface="Times New Roman" panose="02020603050405020304" pitchFamily="18" charset="0"/>
              </a:rPr>
              <a:t>game_type</a:t>
            </a:r>
            <a:r>
              <a:rPr lang="en-US" dirty="0">
                <a:latin typeface="Times New Roman" panose="02020603050405020304" pitchFamily="18" charset="0"/>
                <a:cs typeface="Times New Roman" panose="02020603050405020304" pitchFamily="18" charset="0"/>
              </a:rPr>
              <a:t> IN ('cricket', 'hockey', 'tennis'));</a:t>
            </a:r>
          </a:p>
          <a:p>
            <a:pPr marL="0" indent="0">
              <a:buNone/>
            </a:pPr>
            <a:r>
              <a:rPr lang="en-US" dirty="0">
                <a:latin typeface="Times New Roman" panose="02020603050405020304" pitchFamily="18" charset="0"/>
                <a:cs typeface="Times New Roman" panose="02020603050405020304" pitchFamily="18" charset="0"/>
              </a:rPr>
              <a:t>4. Remove game table from the database</a:t>
            </a:r>
          </a:p>
          <a:p>
            <a:pPr marL="0" indent="0">
              <a:buNone/>
            </a:pPr>
            <a:r>
              <a:rPr lang="en-US" dirty="0">
                <a:latin typeface="Times New Roman" panose="02020603050405020304" pitchFamily="18" charset="0"/>
                <a:cs typeface="Times New Roman" panose="02020603050405020304" pitchFamily="18" charset="0"/>
              </a:rPr>
              <a:t>	DROP TABLE Game;</a:t>
            </a:r>
          </a:p>
        </p:txBody>
      </p:sp>
    </p:spTree>
    <p:extLst>
      <p:ext uri="{BB962C8B-B14F-4D97-AF65-F5344CB8AC3E}">
        <p14:creationId xmlns:p14="http://schemas.microsoft.com/office/powerpoint/2010/main" val="191107597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3191" y="75262"/>
            <a:ext cx="9997079" cy="6687045"/>
          </a:xfrm>
        </p:spPr>
        <p:txBody>
          <a:bodyPr>
            <a:normAutofit/>
          </a:bodyPr>
          <a:lstStyle/>
          <a:p>
            <a:pPr marL="0" indent="0">
              <a:buNone/>
            </a:pPr>
            <a:r>
              <a:rPr lang="en-US" dirty="0"/>
              <a:t>Create table </a:t>
            </a:r>
            <a:r>
              <a:rPr lang="en-US" dirty="0" err="1"/>
              <a:t>Emp</a:t>
            </a:r>
            <a:r>
              <a:rPr lang="en-US" dirty="0"/>
              <a:t> (</a:t>
            </a:r>
            <a:r>
              <a:rPr lang="en-US" dirty="0" err="1"/>
              <a:t>eno</a:t>
            </a:r>
            <a:r>
              <a:rPr lang="en-US" dirty="0"/>
              <a:t>, </a:t>
            </a:r>
            <a:r>
              <a:rPr lang="en-US" dirty="0" err="1"/>
              <a:t>ename</a:t>
            </a:r>
            <a:r>
              <a:rPr lang="en-US" dirty="0"/>
              <a:t>, salary) and perform the following queries</a:t>
            </a:r>
          </a:p>
          <a:p>
            <a:pPr marL="0" indent="0">
              <a:buNone/>
            </a:pPr>
            <a:r>
              <a:rPr lang="en-US" dirty="0"/>
              <a:t>	1. Add primary key constraint to </a:t>
            </a:r>
            <a:r>
              <a:rPr lang="en-US" dirty="0" err="1"/>
              <a:t>eno</a:t>
            </a:r>
            <a:endParaRPr lang="en-US" dirty="0"/>
          </a:p>
          <a:p>
            <a:pPr marL="0" indent="0">
              <a:buNone/>
            </a:pPr>
            <a:r>
              <a:rPr lang="en-US" dirty="0"/>
              <a:t>	2. Add column </a:t>
            </a:r>
            <a:r>
              <a:rPr lang="en-US" dirty="0" err="1"/>
              <a:t>contact_number</a:t>
            </a:r>
            <a:r>
              <a:rPr lang="en-US" dirty="0"/>
              <a:t> to employee table.</a:t>
            </a:r>
          </a:p>
          <a:p>
            <a:pPr marL="0" indent="0">
              <a:buNone/>
            </a:pPr>
            <a:r>
              <a:rPr lang="en-US" dirty="0"/>
              <a:t>	3. Alter table by modifying </a:t>
            </a:r>
            <a:r>
              <a:rPr lang="en-US" dirty="0" err="1"/>
              <a:t>ename</a:t>
            </a:r>
            <a:r>
              <a:rPr lang="en-US" dirty="0"/>
              <a:t> to varchar(50));</a:t>
            </a:r>
          </a:p>
          <a:p>
            <a:pPr marL="0" indent="0">
              <a:buNone/>
            </a:pPr>
            <a:r>
              <a:rPr lang="en-US" dirty="0"/>
              <a:t>	4. Add column designation with values ‘</a:t>
            </a:r>
            <a:r>
              <a:rPr lang="en-US" dirty="0" err="1"/>
              <a:t>Manager’,’Accountant’,’Worker</a:t>
            </a:r>
            <a:r>
              <a:rPr lang="en-US" dirty="0"/>
              <a:t>’</a:t>
            </a:r>
          </a:p>
          <a:p>
            <a:pPr marL="0" indent="0">
              <a:buNone/>
            </a:pPr>
            <a:r>
              <a:rPr lang="en-US" dirty="0"/>
              <a:t>	5. Alter table employee drop column salary</a:t>
            </a:r>
          </a:p>
          <a:p>
            <a:pPr marL="0" indent="0">
              <a:buNone/>
            </a:pPr>
            <a:r>
              <a:rPr lang="en-US" dirty="0"/>
              <a:t>Solution:</a:t>
            </a:r>
          </a:p>
          <a:p>
            <a:pPr marL="0" indent="0">
              <a:buNone/>
            </a:pPr>
            <a:r>
              <a:rPr lang="en-US" dirty="0"/>
              <a:t>	CREATE TABLE </a:t>
            </a:r>
            <a:r>
              <a:rPr lang="en-US" dirty="0" err="1"/>
              <a:t>Emp</a:t>
            </a:r>
            <a:r>
              <a:rPr lang="en-US" dirty="0"/>
              <a:t> (</a:t>
            </a:r>
          </a:p>
          <a:p>
            <a:pPr marL="0" indent="0">
              <a:buNone/>
            </a:pPr>
            <a:r>
              <a:rPr lang="en-US" dirty="0"/>
              <a:t>    				</a:t>
            </a:r>
            <a:r>
              <a:rPr lang="en-US" dirty="0" err="1"/>
              <a:t>eno</a:t>
            </a:r>
            <a:r>
              <a:rPr lang="en-US" dirty="0"/>
              <a:t> INT,</a:t>
            </a:r>
          </a:p>
          <a:p>
            <a:pPr marL="0" indent="0">
              <a:buNone/>
            </a:pPr>
            <a:r>
              <a:rPr lang="en-US" dirty="0"/>
              <a:t>    				</a:t>
            </a:r>
            <a:r>
              <a:rPr lang="en-US" dirty="0" err="1"/>
              <a:t>ename</a:t>
            </a:r>
            <a:r>
              <a:rPr lang="en-US" dirty="0"/>
              <a:t> VARCHAR(255),</a:t>
            </a:r>
          </a:p>
          <a:p>
            <a:pPr marL="0" indent="0">
              <a:buNone/>
            </a:pPr>
            <a:r>
              <a:rPr lang="en-US" dirty="0"/>
              <a:t>    				salary DECIMAL(10, 2)</a:t>
            </a:r>
          </a:p>
          <a:p>
            <a:pPr marL="0" indent="0">
              <a:buNone/>
            </a:pPr>
            <a:r>
              <a:rPr lang="en-US" dirty="0"/>
              <a:t>			);</a:t>
            </a:r>
          </a:p>
          <a:p>
            <a:pPr marL="0" indent="0">
              <a:buNone/>
            </a:pPr>
            <a:endParaRPr lang="en-US" dirty="0"/>
          </a:p>
          <a:p>
            <a:pPr marL="0" indent="0">
              <a:buNone/>
            </a:pPr>
            <a:r>
              <a:rPr lang="en-US" dirty="0"/>
              <a:t>1. Add primary key constraint to </a:t>
            </a:r>
            <a:r>
              <a:rPr lang="en-US" dirty="0" err="1"/>
              <a:t>eno</a:t>
            </a:r>
            <a:endParaRPr lang="en-US" dirty="0"/>
          </a:p>
          <a:p>
            <a:pPr marL="0" indent="0">
              <a:buNone/>
            </a:pPr>
            <a:r>
              <a:rPr lang="en-US" dirty="0"/>
              <a:t>	ALTER TABLE </a:t>
            </a:r>
            <a:r>
              <a:rPr lang="en-US" dirty="0" err="1"/>
              <a:t>Emp</a:t>
            </a:r>
            <a:r>
              <a:rPr lang="en-US" dirty="0"/>
              <a:t> ADD PRIMARY KEY (</a:t>
            </a:r>
            <a:r>
              <a:rPr lang="en-US" dirty="0" err="1"/>
              <a:t>eno</a:t>
            </a:r>
            <a:r>
              <a:rPr lang="en-US" dirty="0"/>
              <a:t>);</a:t>
            </a:r>
          </a:p>
        </p:txBody>
      </p:sp>
    </p:spTree>
    <p:extLst>
      <p:ext uri="{BB962C8B-B14F-4D97-AF65-F5344CB8AC3E}">
        <p14:creationId xmlns:p14="http://schemas.microsoft.com/office/powerpoint/2010/main" val="97099480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052" y="745114"/>
            <a:ext cx="10199097" cy="6527556"/>
          </a:xfrm>
        </p:spPr>
        <p:txBody>
          <a:bodyPr/>
          <a:lstStyle/>
          <a:p>
            <a:pPr marL="0" indent="0">
              <a:buNone/>
            </a:pPr>
            <a:r>
              <a:rPr lang="en-US" dirty="0"/>
              <a:t>2. Add column </a:t>
            </a:r>
            <a:r>
              <a:rPr lang="en-US" dirty="0" err="1"/>
              <a:t>contact_number</a:t>
            </a:r>
            <a:r>
              <a:rPr lang="en-US" dirty="0"/>
              <a:t> to employee table</a:t>
            </a:r>
          </a:p>
          <a:p>
            <a:pPr marL="0" indent="0">
              <a:buNone/>
            </a:pPr>
            <a:r>
              <a:rPr lang="en-US" dirty="0"/>
              <a:t>	ALTER TABLE </a:t>
            </a:r>
            <a:r>
              <a:rPr lang="en-US" dirty="0" err="1"/>
              <a:t>Emp</a:t>
            </a:r>
            <a:r>
              <a:rPr lang="en-US" dirty="0"/>
              <a:t> ADD </a:t>
            </a:r>
            <a:r>
              <a:rPr lang="en-US" dirty="0" err="1"/>
              <a:t>contact_number</a:t>
            </a:r>
            <a:r>
              <a:rPr lang="en-US" dirty="0"/>
              <a:t> VARCHAR(20);</a:t>
            </a:r>
          </a:p>
          <a:p>
            <a:pPr marL="0" indent="0">
              <a:buNone/>
            </a:pPr>
            <a:r>
              <a:rPr lang="en-US" i="1" dirty="0"/>
              <a:t>3. Alter table by modifying </a:t>
            </a:r>
            <a:r>
              <a:rPr lang="en-US" i="1" dirty="0" err="1"/>
              <a:t>ename</a:t>
            </a:r>
            <a:r>
              <a:rPr lang="en-US" i="1" dirty="0"/>
              <a:t> to varchar(50)</a:t>
            </a:r>
          </a:p>
          <a:p>
            <a:pPr marL="0" indent="0">
              <a:buNone/>
            </a:pPr>
            <a:r>
              <a:rPr lang="en-US" dirty="0"/>
              <a:t>	ALTER TABLE </a:t>
            </a:r>
            <a:r>
              <a:rPr lang="en-US" dirty="0" err="1"/>
              <a:t>Emp</a:t>
            </a:r>
            <a:r>
              <a:rPr lang="en-US" dirty="0"/>
              <a:t> MODIFY COLUMN </a:t>
            </a:r>
            <a:r>
              <a:rPr lang="en-US" dirty="0" err="1"/>
              <a:t>ename</a:t>
            </a:r>
            <a:r>
              <a:rPr lang="en-US" dirty="0"/>
              <a:t> VARCHAR(50);</a:t>
            </a:r>
          </a:p>
          <a:p>
            <a:pPr marL="0" indent="0">
              <a:buNone/>
            </a:pPr>
            <a:r>
              <a:rPr lang="en-US" i="1" dirty="0"/>
              <a:t>4. Add column designation with values ‘</a:t>
            </a:r>
            <a:r>
              <a:rPr lang="en-US" i="1" dirty="0" err="1"/>
              <a:t>Manager’,’Accountant’,’Worker</a:t>
            </a:r>
            <a:r>
              <a:rPr lang="en-US" i="1" dirty="0"/>
              <a:t>’</a:t>
            </a:r>
          </a:p>
          <a:p>
            <a:pPr marL="0" indent="0">
              <a:buNone/>
            </a:pPr>
            <a:r>
              <a:rPr lang="en-US" i="1" dirty="0"/>
              <a:t>	ALTER TABLE</a:t>
            </a:r>
            <a:r>
              <a:rPr lang="en-US" dirty="0"/>
              <a:t> </a:t>
            </a:r>
            <a:r>
              <a:rPr lang="en-US" dirty="0" err="1"/>
              <a:t>Emp</a:t>
            </a:r>
            <a:r>
              <a:rPr lang="en-US" dirty="0"/>
              <a:t> ADD designation VARCHAR(20) CHECK (designation IN 	('Manager', 'Accountant', 'Worker'));</a:t>
            </a:r>
          </a:p>
          <a:p>
            <a:pPr marL="0" indent="0">
              <a:buNone/>
            </a:pPr>
            <a:r>
              <a:rPr lang="en-US" dirty="0"/>
              <a:t>5. Alter </a:t>
            </a:r>
            <a:r>
              <a:rPr lang="en-US" i="1" dirty="0"/>
              <a:t>table employee drop column salary</a:t>
            </a:r>
          </a:p>
          <a:p>
            <a:pPr marL="0" indent="0">
              <a:buNone/>
            </a:pPr>
            <a:r>
              <a:rPr lang="en-US" i="1" dirty="0"/>
              <a:t>	ALTER TABLE</a:t>
            </a:r>
            <a:r>
              <a:rPr lang="en-US" dirty="0"/>
              <a:t> </a:t>
            </a:r>
            <a:r>
              <a:rPr lang="en-US" dirty="0" err="1"/>
              <a:t>Emp</a:t>
            </a:r>
            <a:r>
              <a:rPr lang="en-US" dirty="0"/>
              <a:t> DROP COLUMN salary;</a:t>
            </a:r>
          </a:p>
        </p:txBody>
      </p:sp>
    </p:spTree>
    <p:extLst>
      <p:ext uri="{BB962C8B-B14F-4D97-AF65-F5344CB8AC3E}">
        <p14:creationId xmlns:p14="http://schemas.microsoft.com/office/powerpoint/2010/main" val="261511133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10538"/>
          </a:xfrm>
        </p:spPr>
        <p:txBody>
          <a:bodyPr/>
          <a:lstStyle/>
          <a:p>
            <a:r>
              <a:rPr lang="en-US" sz="3200" dirty="0">
                <a:latin typeface="Times New Roman" panose="02020603050405020304" pitchFamily="18" charset="0"/>
                <a:cs typeface="Times New Roman" panose="02020603050405020304" pitchFamily="18" charset="0"/>
              </a:rPr>
              <a:t>FOREIGN KEY Constraint</a:t>
            </a:r>
          </a:p>
        </p:txBody>
      </p:sp>
      <p:sp>
        <p:nvSpPr>
          <p:cNvPr id="3" name="Content Placeholder 2"/>
          <p:cNvSpPr>
            <a:spLocks noGrp="1"/>
          </p:cNvSpPr>
          <p:nvPr>
            <p:ph idx="1"/>
          </p:nvPr>
        </p:nvSpPr>
        <p:spPr>
          <a:xfrm>
            <a:off x="720540" y="1298006"/>
            <a:ext cx="10103404" cy="5230385"/>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A FOREIGN KEY is a field (or collection of fields) in one table, that refers to the PRIMARY KEY in another table.</a:t>
            </a:r>
          </a:p>
          <a:p>
            <a:r>
              <a:rPr lang="en-US" sz="2400" dirty="0">
                <a:latin typeface="Times New Roman" panose="02020603050405020304" pitchFamily="18" charset="0"/>
                <a:cs typeface="Times New Roman" panose="02020603050405020304" pitchFamily="18" charset="0"/>
              </a:rPr>
              <a:t>The table with the foreign key is called the child table, and the table with the primary key is called the referenced or parent table.</a:t>
            </a:r>
          </a:p>
          <a:p>
            <a:pPr marL="0" indent="0">
              <a:buNone/>
            </a:pPr>
            <a:r>
              <a:rPr lang="en-US" b="1" dirty="0"/>
              <a:t>Syntax for Foreign Key:</a:t>
            </a:r>
          </a:p>
          <a:p>
            <a:pPr marL="0" indent="0">
              <a:buNone/>
            </a:pPr>
            <a:r>
              <a:rPr lang="en-US" sz="2400" dirty="0">
                <a:latin typeface="Times New Roman" panose="02020603050405020304" pitchFamily="18" charset="0"/>
                <a:cs typeface="Times New Roman" panose="02020603050405020304" pitchFamily="18" charset="0"/>
              </a:rPr>
              <a:t>	CREATE TABLE </a:t>
            </a:r>
            <a:r>
              <a:rPr lang="en-US" sz="2400" dirty="0" err="1">
                <a:latin typeface="Times New Roman" panose="02020603050405020304" pitchFamily="18" charset="0"/>
                <a:cs typeface="Times New Roman" panose="02020603050405020304" pitchFamily="18" charset="0"/>
              </a:rPr>
              <a:t>child_table</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column1 datatype,</a:t>
            </a:r>
          </a:p>
          <a:p>
            <a:pPr marL="0" indent="0">
              <a:buNone/>
            </a:pPr>
            <a:r>
              <a:rPr lang="en-US" sz="2400" dirty="0">
                <a:latin typeface="Times New Roman" panose="02020603050405020304" pitchFamily="18" charset="0"/>
                <a:cs typeface="Times New Roman" panose="02020603050405020304" pitchFamily="18" charset="0"/>
              </a:rPr>
              <a:t>    				 column2 datatype,</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CONSTRAINT </a:t>
            </a:r>
            <a:r>
              <a:rPr lang="en-US" sz="2400" dirty="0" err="1">
                <a:latin typeface="Times New Roman" panose="02020603050405020304" pitchFamily="18" charset="0"/>
                <a:cs typeface="Times New Roman" panose="02020603050405020304" pitchFamily="18" charset="0"/>
              </a:rPr>
              <a:t>fk_name</a:t>
            </a:r>
            <a:r>
              <a:rPr lang="en-US" sz="2400" dirty="0">
                <a:latin typeface="Times New Roman" panose="02020603050405020304" pitchFamily="18" charset="0"/>
                <a:cs typeface="Times New Roman" panose="02020603050405020304" pitchFamily="18" charset="0"/>
              </a:rPr>
              <a:t> FOREIGN KEY (</a:t>
            </a:r>
            <a:r>
              <a:rPr lang="en-US" sz="2400" dirty="0" err="1">
                <a:latin typeface="Times New Roman" panose="02020603050405020304" pitchFamily="18" charset="0"/>
                <a:cs typeface="Times New Roman" panose="02020603050405020304" pitchFamily="18" charset="0"/>
              </a:rPr>
              <a:t>foreign_key_column</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REFERENCES </a:t>
            </a:r>
            <a:r>
              <a:rPr lang="en-US" sz="2400" dirty="0" err="1">
                <a:latin typeface="Times New Roman" panose="02020603050405020304" pitchFamily="18" charset="0"/>
                <a:cs typeface="Times New Roman" panose="02020603050405020304" pitchFamily="18" charset="0"/>
              </a:rPr>
              <a:t>parent_table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primary_key_column</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5143101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599905"/>
          </a:xfrm>
        </p:spPr>
        <p:txBody>
          <a:bodyPr/>
          <a:lstStyle/>
          <a:p>
            <a:r>
              <a:rPr lang="en-US" sz="3200" dirty="0">
                <a:latin typeface="Times New Roman" panose="02020603050405020304" pitchFamily="18" charset="0"/>
                <a:cs typeface="Times New Roman" panose="02020603050405020304" pitchFamily="18" charset="0"/>
              </a:rPr>
              <a:t>FOREIGN KEY Constraint</a:t>
            </a:r>
            <a:endParaRPr lang="en-US" sz="3200" dirty="0"/>
          </a:p>
        </p:txBody>
      </p:sp>
      <p:sp>
        <p:nvSpPr>
          <p:cNvPr id="3" name="Content Placeholder 2"/>
          <p:cNvSpPr>
            <a:spLocks noGrp="1"/>
          </p:cNvSpPr>
          <p:nvPr>
            <p:ph idx="1"/>
          </p:nvPr>
        </p:nvSpPr>
        <p:spPr>
          <a:xfrm>
            <a:off x="646111" y="1287374"/>
            <a:ext cx="8946541" cy="5134691"/>
          </a:xfrm>
        </p:spPr>
        <p:txBody>
          <a:bodyPr>
            <a:normAutofit fontScale="92500" lnSpcReduction="10000"/>
          </a:bodyPr>
          <a:lstStyle/>
          <a:p>
            <a:pPr marL="0" indent="0">
              <a:buNone/>
            </a:pPr>
            <a:r>
              <a:rPr lang="en-US" b="1" dirty="0"/>
              <a:t>Create Parent Table (Departments)</a:t>
            </a:r>
          </a:p>
          <a:p>
            <a:pPr marL="0" indent="0">
              <a:buNone/>
            </a:pPr>
            <a:r>
              <a:rPr lang="en-US" dirty="0"/>
              <a:t>	CREATE TABLE departments (</a:t>
            </a:r>
          </a:p>
          <a:p>
            <a:pPr marL="0" indent="0">
              <a:buNone/>
            </a:pPr>
            <a:r>
              <a:rPr lang="en-US" dirty="0"/>
              <a:t>  		</a:t>
            </a:r>
            <a:r>
              <a:rPr lang="en-US" dirty="0" err="1"/>
              <a:t>department_id</a:t>
            </a:r>
            <a:r>
              <a:rPr lang="en-US" dirty="0"/>
              <a:t> </a:t>
            </a:r>
            <a:r>
              <a:rPr lang="en-US" dirty="0" err="1"/>
              <a:t>int</a:t>
            </a:r>
            <a:r>
              <a:rPr lang="en-US" dirty="0"/>
              <a:t> PRIMARY KEY,</a:t>
            </a:r>
          </a:p>
          <a:p>
            <a:pPr marL="0" indent="0">
              <a:buNone/>
            </a:pPr>
            <a:r>
              <a:rPr lang="en-US" dirty="0"/>
              <a:t>   		</a:t>
            </a:r>
            <a:r>
              <a:rPr lang="en-US" dirty="0" err="1"/>
              <a:t>department_name</a:t>
            </a:r>
            <a:r>
              <a:rPr lang="en-US" dirty="0"/>
              <a:t> VARCHAR(100) NOT NULL</a:t>
            </a:r>
          </a:p>
          <a:p>
            <a:pPr marL="0" indent="0">
              <a:buNone/>
            </a:pPr>
            <a:r>
              <a:rPr lang="en-US" dirty="0"/>
              <a:t>	);</a:t>
            </a:r>
          </a:p>
          <a:p>
            <a:pPr marL="0" indent="0">
              <a:buNone/>
            </a:pPr>
            <a:r>
              <a:rPr lang="en-US" b="1" dirty="0"/>
              <a:t>Create Child Table (Employees)</a:t>
            </a:r>
          </a:p>
          <a:p>
            <a:pPr marL="0" indent="0">
              <a:buNone/>
            </a:pPr>
            <a:r>
              <a:rPr lang="en-US" dirty="0"/>
              <a:t>	CREATE TABLE employees (</a:t>
            </a:r>
          </a:p>
          <a:p>
            <a:pPr marL="0" indent="0">
              <a:buNone/>
            </a:pPr>
            <a:r>
              <a:rPr lang="en-US" dirty="0"/>
              <a:t>    		</a:t>
            </a:r>
            <a:r>
              <a:rPr lang="en-US" dirty="0" err="1"/>
              <a:t>employee_id</a:t>
            </a:r>
            <a:r>
              <a:rPr lang="en-US" dirty="0"/>
              <a:t> </a:t>
            </a:r>
            <a:r>
              <a:rPr lang="en-US" dirty="0" err="1"/>
              <a:t>int</a:t>
            </a:r>
            <a:r>
              <a:rPr lang="en-US" dirty="0"/>
              <a:t> PRIMARY KEY,</a:t>
            </a:r>
          </a:p>
          <a:p>
            <a:pPr marL="0" indent="0">
              <a:buNone/>
            </a:pPr>
            <a:r>
              <a:rPr lang="en-US" dirty="0"/>
              <a:t>   		</a:t>
            </a:r>
            <a:r>
              <a:rPr lang="en-US" dirty="0" err="1"/>
              <a:t>employee_name</a:t>
            </a:r>
            <a:r>
              <a:rPr lang="en-US" dirty="0"/>
              <a:t> VARCHAR(100) NOT NULL,</a:t>
            </a:r>
          </a:p>
          <a:p>
            <a:pPr marL="0" indent="0">
              <a:buNone/>
            </a:pPr>
            <a:r>
              <a:rPr lang="en-US" dirty="0"/>
              <a:t>    		</a:t>
            </a:r>
            <a:r>
              <a:rPr lang="en-US" dirty="0" err="1"/>
              <a:t>department_id</a:t>
            </a:r>
            <a:r>
              <a:rPr lang="en-US" dirty="0"/>
              <a:t> INT,</a:t>
            </a:r>
          </a:p>
          <a:p>
            <a:pPr marL="0" indent="0">
              <a:buNone/>
            </a:pPr>
            <a:r>
              <a:rPr lang="en-US" dirty="0"/>
              <a:t>    		CONSTRAINT </a:t>
            </a:r>
            <a:r>
              <a:rPr lang="en-US" dirty="0" err="1"/>
              <a:t>fk_department</a:t>
            </a:r>
            <a:r>
              <a:rPr lang="en-US" dirty="0"/>
              <a:t> FOREIGN KEY (</a:t>
            </a:r>
            <a:r>
              <a:rPr lang="en-US" dirty="0" err="1"/>
              <a:t>department_id</a:t>
            </a:r>
            <a:r>
              <a:rPr lang="en-US" dirty="0"/>
              <a:t>)</a:t>
            </a:r>
          </a:p>
          <a:p>
            <a:pPr marL="0" indent="0">
              <a:buNone/>
            </a:pPr>
            <a:r>
              <a:rPr lang="en-US" dirty="0"/>
              <a:t>    		REFERENCES departments(</a:t>
            </a:r>
            <a:r>
              <a:rPr lang="en-US" dirty="0" err="1"/>
              <a:t>department_id</a:t>
            </a:r>
            <a:r>
              <a:rPr lang="en-US" dirty="0"/>
              <a:t>)</a:t>
            </a:r>
          </a:p>
          <a:p>
            <a:pPr marL="0" indent="0">
              <a:buNone/>
            </a:pPr>
            <a:r>
              <a:rPr lang="en-US"/>
              <a:t>	);</a:t>
            </a:r>
            <a:endParaRPr lang="en-US" dirty="0"/>
          </a:p>
        </p:txBody>
      </p:sp>
    </p:spTree>
    <p:extLst>
      <p:ext uri="{BB962C8B-B14F-4D97-AF65-F5344CB8AC3E}">
        <p14:creationId xmlns:p14="http://schemas.microsoft.com/office/powerpoint/2010/main" val="382657011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835" y="565688"/>
            <a:ext cx="9069064" cy="5277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729375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6593" y="448843"/>
            <a:ext cx="8946541" cy="5711733"/>
          </a:xfrm>
        </p:spPr>
        <p:txBody>
          <a:bodyPr>
            <a:normAutofit/>
          </a:bodyPr>
          <a:lstStyle/>
          <a:p>
            <a:pPr marL="0" indent="0">
              <a:buNone/>
            </a:pPr>
            <a:r>
              <a:rPr lang="en-US" sz="2400" dirty="0">
                <a:latin typeface="Times New Roman" pitchFamily="18" charset="0"/>
                <a:cs typeface="Times New Roman" pitchFamily="18" charset="0"/>
              </a:rPr>
              <a:t>CREATE TABLE owners ( id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PRIMARY KEY,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name VARCHAR(100),</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email VARCHAR(100)</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t>
            </a: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CREATE TABLE properties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id SERIAL PRIMARY KEY,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address VARCHAR(255),</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owner_id</a:t>
            </a:r>
            <a:r>
              <a:rPr lang="en-US" sz="2400" dirty="0">
                <a:latin typeface="Times New Roman" pitchFamily="18" charset="0"/>
                <a:cs typeface="Times New Roman" pitchFamily="18" charset="0"/>
              </a:rPr>
              <a:t> INTEGER,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FOREIGN KEY (</a:t>
            </a:r>
            <a:r>
              <a:rPr lang="en-US" sz="2400" dirty="0" err="1">
                <a:latin typeface="Times New Roman" pitchFamily="18" charset="0"/>
                <a:cs typeface="Times New Roman" pitchFamily="18" charset="0"/>
              </a:rPr>
              <a:t>owner_id</a:t>
            </a:r>
            <a:r>
              <a:rPr lang="en-US" sz="2400" dirty="0">
                <a:latin typeface="Times New Roman" pitchFamily="18" charset="0"/>
                <a:cs typeface="Times New Roman" pitchFamily="18" charset="0"/>
              </a:rPr>
              <a:t>) REFERENCES owners(id)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2719286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017" y="464948"/>
            <a:ext cx="9122343" cy="514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239079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360" y="348104"/>
            <a:ext cx="8946541" cy="5959706"/>
          </a:xfrm>
        </p:spPr>
        <p:txBody>
          <a:bodyPr>
            <a:noAutofit/>
          </a:bodyPr>
          <a:lstStyle/>
          <a:p>
            <a:pPr marL="0" indent="0">
              <a:buNone/>
            </a:pPr>
            <a:r>
              <a:rPr lang="en-US" sz="2400" dirty="0">
                <a:latin typeface="Times New Roman" pitchFamily="18" charset="0"/>
                <a:cs typeface="Times New Roman" pitchFamily="18" charset="0"/>
              </a:rPr>
              <a:t>Create the Hospital and Doctor tables:</a:t>
            </a:r>
          </a:p>
          <a:p>
            <a:pPr marL="0" indent="0">
              <a:buNone/>
            </a:pPr>
            <a:r>
              <a:rPr lang="en-US" sz="2400" dirty="0">
                <a:latin typeface="Times New Roman" pitchFamily="18" charset="0"/>
                <a:cs typeface="Times New Roman" pitchFamily="18" charset="0"/>
              </a:rPr>
              <a:t>CREATE TABLE Hospital (    </a:t>
            </a:r>
            <a:r>
              <a:rPr lang="en-US" sz="2400" dirty="0" err="1">
                <a:latin typeface="Times New Roman" pitchFamily="18" charset="0"/>
                <a:cs typeface="Times New Roman" pitchFamily="18" charset="0"/>
              </a:rPr>
              <a:t>hospital_id</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PRIMARY KEY,    </a:t>
            </a:r>
            <a:r>
              <a:rPr lang="en-US" sz="2400" dirty="0" err="1">
                <a:latin typeface="Times New Roman" pitchFamily="18" charset="0"/>
                <a:cs typeface="Times New Roman" pitchFamily="18" charset="0"/>
              </a:rPr>
              <a:t>hospital_name</a:t>
            </a:r>
            <a:r>
              <a:rPr lang="en-US" sz="2400" dirty="0">
                <a:latin typeface="Times New Roman" pitchFamily="18" charset="0"/>
                <a:cs typeface="Times New Roman" pitchFamily="18" charset="0"/>
              </a:rPr>
              <a:t> VARCHAR(255) NOT NULL,    address VARCHAR(255));</a:t>
            </a: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CREATE TABLE Doctor (    </a:t>
            </a:r>
            <a:r>
              <a:rPr lang="en-US" sz="2400" dirty="0" err="1">
                <a:latin typeface="Times New Roman" pitchFamily="18" charset="0"/>
                <a:cs typeface="Times New Roman" pitchFamily="18" charset="0"/>
              </a:rPr>
              <a:t>doctor_id</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PRIMARY KEY,    </a:t>
            </a:r>
            <a:r>
              <a:rPr lang="en-US" sz="2400" dirty="0" err="1">
                <a:latin typeface="Times New Roman" pitchFamily="18" charset="0"/>
                <a:cs typeface="Times New Roman" pitchFamily="18" charset="0"/>
              </a:rPr>
              <a:t>doctor_name</a:t>
            </a:r>
            <a:r>
              <a:rPr lang="en-US" sz="2400" dirty="0">
                <a:latin typeface="Times New Roman" pitchFamily="18" charset="0"/>
                <a:cs typeface="Times New Roman" pitchFamily="18" charset="0"/>
              </a:rPr>
              <a:t> VARCHAR(255) NOT NULL,    specialization VARCHAR(255));</a:t>
            </a: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CREATE TABLE </a:t>
            </a:r>
            <a:r>
              <a:rPr lang="en-US" sz="2400" dirty="0" err="1">
                <a:latin typeface="Times New Roman" pitchFamily="18" charset="0"/>
                <a:cs typeface="Times New Roman" pitchFamily="18" charset="0"/>
              </a:rPr>
              <a:t>HospitalDoctor</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hospital_id</a:t>
            </a:r>
            <a:r>
              <a:rPr lang="en-US" sz="2400" dirty="0">
                <a:latin typeface="Times New Roman" pitchFamily="18" charset="0"/>
                <a:cs typeface="Times New Roman" pitchFamily="18" charset="0"/>
              </a:rPr>
              <a:t> INTEGER NOT NULL,    </a:t>
            </a:r>
            <a:r>
              <a:rPr lang="en-US" sz="2400" dirty="0" err="1">
                <a:latin typeface="Times New Roman" pitchFamily="18" charset="0"/>
                <a:cs typeface="Times New Roman" pitchFamily="18" charset="0"/>
              </a:rPr>
              <a:t>doctor_id</a:t>
            </a:r>
            <a:r>
              <a:rPr lang="en-US" sz="2400" dirty="0">
                <a:latin typeface="Times New Roman" pitchFamily="18" charset="0"/>
                <a:cs typeface="Times New Roman" pitchFamily="18" charset="0"/>
              </a:rPr>
              <a:t> INTEGER NOT NULL,    PRIMARY KEY (</a:t>
            </a:r>
            <a:r>
              <a:rPr lang="en-US" sz="2400" dirty="0" err="1">
                <a:latin typeface="Times New Roman" pitchFamily="18" charset="0"/>
                <a:cs typeface="Times New Roman" pitchFamily="18" charset="0"/>
              </a:rPr>
              <a:t>hospital_id</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doctor_id</a:t>
            </a:r>
            <a:r>
              <a:rPr lang="en-US" sz="2400" dirty="0">
                <a:latin typeface="Times New Roman" pitchFamily="18" charset="0"/>
                <a:cs typeface="Times New Roman" pitchFamily="18" charset="0"/>
              </a:rPr>
              <a:t>),    FOREIGN KEY (</a:t>
            </a:r>
            <a:r>
              <a:rPr lang="en-US" sz="2400" dirty="0" err="1">
                <a:latin typeface="Times New Roman" pitchFamily="18" charset="0"/>
                <a:cs typeface="Times New Roman" pitchFamily="18" charset="0"/>
              </a:rPr>
              <a:t>hospital_id</a:t>
            </a:r>
            <a:r>
              <a:rPr lang="en-US" sz="2400" dirty="0">
                <a:latin typeface="Times New Roman" pitchFamily="18" charset="0"/>
                <a:cs typeface="Times New Roman" pitchFamily="18" charset="0"/>
              </a:rPr>
              <a:t>) REFERENCES Hospital(</a:t>
            </a:r>
            <a:r>
              <a:rPr lang="en-US" sz="2400" dirty="0" err="1">
                <a:latin typeface="Times New Roman" pitchFamily="18" charset="0"/>
                <a:cs typeface="Times New Roman" pitchFamily="18" charset="0"/>
              </a:rPr>
              <a:t>hospital_id</a:t>
            </a:r>
            <a:r>
              <a:rPr lang="en-US" sz="2400" dirty="0">
                <a:latin typeface="Times New Roman" pitchFamily="18" charset="0"/>
                <a:cs typeface="Times New Roman" pitchFamily="18" charset="0"/>
              </a:rPr>
              <a:t>),    FOREIGN KEY (</a:t>
            </a:r>
            <a:r>
              <a:rPr lang="en-US" sz="2400" dirty="0" err="1">
                <a:latin typeface="Times New Roman" pitchFamily="18" charset="0"/>
                <a:cs typeface="Times New Roman" pitchFamily="18" charset="0"/>
              </a:rPr>
              <a:t>doctor_id</a:t>
            </a:r>
            <a:r>
              <a:rPr lang="en-US" sz="2400" dirty="0">
                <a:latin typeface="Times New Roman" pitchFamily="18" charset="0"/>
                <a:cs typeface="Times New Roman" pitchFamily="18" charset="0"/>
              </a:rPr>
              <a:t>) REFERENCES Doctor(</a:t>
            </a:r>
            <a:r>
              <a:rPr lang="en-US" sz="2400" dirty="0" err="1">
                <a:latin typeface="Times New Roman" pitchFamily="18" charset="0"/>
                <a:cs typeface="Times New Roman" pitchFamily="18" charset="0"/>
              </a:rPr>
              <a:t>doctor_id</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423271141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025820" y="510837"/>
            <a:ext cx="8946541" cy="6145685"/>
          </a:xfrm>
        </p:spPr>
        <p:txBody>
          <a:bodyPr>
            <a:normAutofit/>
          </a:bodyPr>
          <a:lstStyle/>
          <a:p>
            <a:r>
              <a:rPr lang="en-US" sz="2400" dirty="0">
                <a:latin typeface="Times New Roman" pitchFamily="18" charset="0"/>
                <a:cs typeface="Times New Roman" pitchFamily="18" charset="0"/>
              </a:rPr>
              <a:t>Create the following tables ( primary keys are underlined.). Property(</a:t>
            </a:r>
            <a:r>
              <a:rPr lang="en-US" sz="2400" dirty="0" err="1">
                <a:latin typeface="Times New Roman" pitchFamily="18" charset="0"/>
                <a:cs typeface="Times New Roman" pitchFamily="18" charset="0"/>
              </a:rPr>
              <a:t>pno,description</a:t>
            </a:r>
            <a:r>
              <a:rPr lang="en-US" sz="2400" dirty="0">
                <a:latin typeface="Times New Roman" pitchFamily="18" charset="0"/>
                <a:cs typeface="Times New Roman" pitchFamily="18" charset="0"/>
              </a:rPr>
              <a:t>, area) </a:t>
            </a:r>
          </a:p>
          <a:p>
            <a:pPr marL="0" indent="0">
              <a:buNone/>
            </a:pPr>
            <a:r>
              <a:rPr lang="en-US" sz="2400" dirty="0">
                <a:latin typeface="Times New Roman" pitchFamily="18" charset="0"/>
                <a:cs typeface="Times New Roman" pitchFamily="18" charset="0"/>
              </a:rPr>
              <a:t>	Owner(</a:t>
            </a:r>
            <a:r>
              <a:rPr lang="en-US" sz="2400" dirty="0" err="1">
                <a:latin typeface="Times New Roman" pitchFamily="18" charset="0"/>
                <a:cs typeface="Times New Roman" pitchFamily="18" charset="0"/>
              </a:rPr>
              <a:t>oname,address,phone</a:t>
            </a:r>
            <a:r>
              <a:rPr lang="en-US" sz="2400" dirty="0">
                <a:latin typeface="Times New Roman" pitchFamily="18" charset="0"/>
                <a:cs typeface="Times New Roman" pitchFamily="18" charset="0"/>
              </a:rPr>
              <a:t>) </a:t>
            </a:r>
          </a:p>
          <a:p>
            <a:pPr marL="0" indent="0" algn="just">
              <a:buNone/>
            </a:pPr>
            <a:r>
              <a:rPr lang="en-US" sz="2400" dirty="0">
                <a:latin typeface="Times New Roman" pitchFamily="18" charset="0"/>
                <a:cs typeface="Times New Roman" pitchFamily="18" charset="0"/>
              </a:rPr>
              <a:t>	An owner can have one or more properties, but a property belongs to exactly one owner. Create the relations accordingly, so that the relationship is handled properly. </a:t>
            </a:r>
          </a:p>
          <a:p>
            <a:pPr marL="0" indent="0">
              <a:buNone/>
            </a:pPr>
            <a:r>
              <a:rPr lang="en-US" sz="2400" dirty="0">
                <a:latin typeface="Times New Roman" pitchFamily="18" charset="0"/>
                <a:cs typeface="Times New Roman" pitchFamily="18" charset="0"/>
              </a:rPr>
              <a:t>	a) Insert 5 records into owner table. </a:t>
            </a:r>
          </a:p>
          <a:p>
            <a:pPr marL="0" indent="0">
              <a:buNone/>
            </a:pPr>
            <a:r>
              <a:rPr lang="en-US" sz="2400" dirty="0">
                <a:latin typeface="Times New Roman" pitchFamily="18" charset="0"/>
                <a:cs typeface="Times New Roman" pitchFamily="18" charset="0"/>
              </a:rPr>
              <a:t>	b) insert 5 property records for each owner . </a:t>
            </a:r>
          </a:p>
          <a:p>
            <a:pPr marL="0" indent="0">
              <a:buNone/>
            </a:pPr>
            <a:r>
              <a:rPr lang="en-US" sz="2400" dirty="0">
                <a:latin typeface="Times New Roman" pitchFamily="18" charset="0"/>
                <a:cs typeface="Times New Roman" pitchFamily="18" charset="0"/>
              </a:rPr>
              <a:t>	c) Update phone no of “Mr. Patil” to 9800566330 </a:t>
            </a:r>
          </a:p>
          <a:p>
            <a:pPr marL="0" indent="0">
              <a:buNone/>
            </a:pPr>
            <a:r>
              <a:rPr lang="en-US" sz="2400" dirty="0">
                <a:latin typeface="Times New Roman" pitchFamily="18" charset="0"/>
                <a:cs typeface="Times New Roman" pitchFamily="18" charset="0"/>
              </a:rPr>
              <a:t>	d) Display the name of owner who lives in ‘Mumbai’ </a:t>
            </a:r>
          </a:p>
          <a:p>
            <a:pPr marL="0" indent="0">
              <a:buNone/>
            </a:pPr>
            <a:r>
              <a:rPr lang="en-US" sz="2400" dirty="0">
                <a:latin typeface="Times New Roman" pitchFamily="18" charset="0"/>
                <a:cs typeface="Times New Roman" pitchFamily="18" charset="0"/>
              </a:rPr>
              <a:t>	e) Delete all properties from “</a:t>
            </a:r>
            <a:r>
              <a:rPr lang="en-US" sz="2400" dirty="0" err="1">
                <a:latin typeface="Times New Roman" pitchFamily="18" charset="0"/>
                <a:cs typeface="Times New Roman" pitchFamily="18" charset="0"/>
              </a:rPr>
              <a:t>pune</a:t>
            </a:r>
            <a:r>
              <a:rPr lang="en-US" sz="2400" dirty="0">
                <a:latin typeface="Times New Roman" pitchFamily="18" charset="0"/>
                <a:cs typeface="Times New Roman" pitchFamily="18" charset="0"/>
              </a:rPr>
              <a:t>” owned by “ Mr. Nene” </a:t>
            </a:r>
          </a:p>
        </p:txBody>
      </p:sp>
    </p:spTree>
    <p:extLst>
      <p:ext uri="{BB962C8B-B14F-4D97-AF65-F5344CB8AC3E}">
        <p14:creationId xmlns:p14="http://schemas.microsoft.com/office/powerpoint/2010/main" val="41885802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3827" y="991284"/>
            <a:ext cx="8946541" cy="5029808"/>
          </a:xfrm>
        </p:spPr>
        <p:txBody>
          <a:bodyPr>
            <a:noAutofit/>
          </a:bodyPr>
          <a:lstStyle/>
          <a:p>
            <a:r>
              <a:rPr lang="en-US" sz="2400" dirty="0">
                <a:latin typeface="Times New Roman" pitchFamily="18" charset="0"/>
                <a:cs typeface="Times New Roman" pitchFamily="18" charset="0"/>
              </a:rPr>
              <a:t>CREATE TABLE Owner (</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 VARCHAR(25) PRIMARY KEY,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address VARCHAR(255),</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phone VARCHAR(20)</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CREATE TABLE Property (</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pno</a:t>
            </a:r>
            <a:r>
              <a:rPr lang="en-US" sz="2400" dirty="0">
                <a:latin typeface="Times New Roman" pitchFamily="18" charset="0"/>
                <a:cs typeface="Times New Roman" pitchFamily="18" charset="0"/>
              </a:rPr>
              <a:t> INT PRIMARY KEY,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description VARCHAR(50),</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area VARCHAR(20),</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 VARCHAR(25),</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FOREIGN KEY (</a:t>
            </a: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 REFERENCES Owner(</a:t>
            </a: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86842946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2865" y="456592"/>
            <a:ext cx="8946541" cy="6254174"/>
          </a:xfrm>
        </p:spPr>
        <p:txBody>
          <a:bodyPr>
            <a:normAutofit fontScale="92500" lnSpcReduction="10000"/>
          </a:bodyPr>
          <a:lstStyle/>
          <a:p>
            <a:pPr marL="0" indent="0">
              <a:buNone/>
            </a:pPr>
            <a:r>
              <a:rPr lang="en-US" i="1" dirty="0">
                <a:latin typeface="Times New Roman" pitchFamily="18" charset="0"/>
                <a:cs typeface="Times New Roman" pitchFamily="18" charset="0"/>
              </a:rPr>
              <a:t>-- a) Insert 5 records into owner table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INSERT INTO Owner  VALUES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('Mr. Patil', 'Pune', '9876543210'),</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('Mr. Sharma', 'Mumbai', '9988776655'),</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('Mr. Mehta', 'Delhi', '9123456789'),</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('Mr. Nene', 'Pune', '8877665544'),</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('Mr. Joshi', 'Bangalore', '7766554433');</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i="1" dirty="0">
                <a:latin typeface="Times New Roman" pitchFamily="18" charset="0"/>
                <a:cs typeface="Times New Roman" pitchFamily="18" charset="0"/>
              </a:rPr>
              <a:t>-- b) Insert 5 property records for each owner</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INSERT INTO Property VALUES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 'Flat', 'Pune', 'Mr. Patil'),</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(2, '</a:t>
            </a:r>
            <a:r>
              <a:rPr lang="en-US" dirty="0" err="1">
                <a:latin typeface="Times New Roman" pitchFamily="18" charset="0"/>
                <a:cs typeface="Times New Roman" pitchFamily="18" charset="0"/>
              </a:rPr>
              <a:t>Bunglow</a:t>
            </a:r>
            <a:r>
              <a:rPr lang="en-US" dirty="0">
                <a:latin typeface="Times New Roman" pitchFamily="18" charset="0"/>
                <a:cs typeface="Times New Roman" pitchFamily="18" charset="0"/>
              </a:rPr>
              <a:t>', 'Pune', 'Mr. Patil'),</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(3, 'Apartment', 'Mumbai', 'Mr. Patil'),</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(4, 'Villa', 'Pune', 'Mr. Patil'),</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(5, 'Penthouse', 'Mumbai', 'Mr. Patil'),</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(6, 'Flat', 'Mumbai', 'Mr. Sharma'),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(7, '</a:t>
            </a:r>
            <a:r>
              <a:rPr lang="en-US" dirty="0" err="1">
                <a:latin typeface="Times New Roman" pitchFamily="18" charset="0"/>
                <a:cs typeface="Times New Roman" pitchFamily="18" charset="0"/>
              </a:rPr>
              <a:t>Bunglow</a:t>
            </a:r>
            <a:r>
              <a:rPr lang="en-US" dirty="0">
                <a:latin typeface="Times New Roman" pitchFamily="18" charset="0"/>
                <a:cs typeface="Times New Roman" pitchFamily="18" charset="0"/>
              </a:rPr>
              <a:t>', 'Delhi', 'Mr. Sharma'),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(8, 'Apartment', 'Bangalore', 'Mr. Sharma'),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(9, 'Villa', 'Delhi', 'Mr. Sharma'),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 'Penthouse', 'Bangalore', 'Mr. Sharma'),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(11, 'Flat', 'Delhi', 'Mr. Mehta'),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(12, '</a:t>
            </a:r>
            <a:r>
              <a:rPr lang="en-US" dirty="0" err="1">
                <a:latin typeface="Times New Roman" pitchFamily="18" charset="0"/>
                <a:cs typeface="Times New Roman" pitchFamily="18" charset="0"/>
              </a:rPr>
              <a:t>Bunglow</a:t>
            </a:r>
            <a:r>
              <a:rPr lang="en-US" dirty="0">
                <a:latin typeface="Times New Roman" pitchFamily="18" charset="0"/>
                <a:cs typeface="Times New Roman" pitchFamily="18" charset="0"/>
              </a:rPr>
              <a:t>', 'Bangalore', 'Mr. Mehta'),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(13, 'Apartment', 'Pune', 'Mr. Mehta'),</a:t>
            </a:r>
          </a:p>
        </p:txBody>
      </p:sp>
    </p:spTree>
    <p:extLst>
      <p:ext uri="{BB962C8B-B14F-4D97-AF65-F5344CB8AC3E}">
        <p14:creationId xmlns:p14="http://schemas.microsoft.com/office/powerpoint/2010/main" val="110990431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9841" y="712314"/>
            <a:ext cx="8946541" cy="4812832"/>
          </a:xfrm>
        </p:spPr>
        <p:txBody>
          <a:bodyPr>
            <a:normAutofit/>
          </a:bodyPr>
          <a:lstStyle/>
          <a:p>
            <a:pPr marL="0" indent="0">
              <a:buNone/>
            </a:pPr>
            <a:r>
              <a:rPr lang="en-US" sz="2400" i="1" dirty="0">
                <a:latin typeface="Times New Roman" pitchFamily="18" charset="0"/>
                <a:cs typeface="Times New Roman" pitchFamily="18" charset="0"/>
              </a:rPr>
              <a:t>c) </a:t>
            </a:r>
            <a:r>
              <a:rPr lang="en-US" sz="2400" dirty="0">
                <a:latin typeface="Times New Roman" pitchFamily="18" charset="0"/>
                <a:cs typeface="Times New Roman" pitchFamily="18" charset="0"/>
              </a:rPr>
              <a:t>Update phone no of “Mr. Patil” to 9800566330</a:t>
            </a:r>
          </a:p>
          <a:p>
            <a:pPr marL="0" indent="0">
              <a:buNone/>
            </a:pPr>
            <a:r>
              <a:rPr lang="en-US" sz="2400" dirty="0">
                <a:latin typeface="Times New Roman" pitchFamily="18" charset="0"/>
                <a:cs typeface="Times New Roman" pitchFamily="18" charset="0"/>
              </a:rPr>
              <a:t> UPDATE Owner</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SET phone = '9800566330' WHERE </a:t>
            </a: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 = 'Mr. Patil'; </a:t>
            </a:r>
          </a:p>
          <a:p>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d) Display the name of owner who lives in ‘Mumbai’ </a:t>
            </a:r>
          </a:p>
          <a:p>
            <a:pPr marL="0" indent="0">
              <a:buNone/>
            </a:pPr>
            <a:r>
              <a:rPr lang="en-US" sz="2400" dirty="0">
                <a:latin typeface="Times New Roman" pitchFamily="18" charset="0"/>
                <a:cs typeface="Times New Roman" pitchFamily="18" charset="0"/>
              </a:rPr>
              <a:t>	SELECT </a:t>
            </a: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 FROM Owner WHERE address = 'Mumbai'; </a:t>
            </a:r>
          </a:p>
          <a:p>
            <a:pPr marL="0" indent="0">
              <a:buNone/>
            </a:pPr>
            <a:r>
              <a:rPr lang="en-US" sz="2400" dirty="0">
                <a:latin typeface="Times New Roman" pitchFamily="18" charset="0"/>
                <a:cs typeface="Times New Roman" pitchFamily="18" charset="0"/>
              </a:rPr>
              <a:t>e) Delete all properties from “</a:t>
            </a:r>
            <a:r>
              <a:rPr lang="en-US" sz="2400" dirty="0" err="1">
                <a:latin typeface="Times New Roman" pitchFamily="18" charset="0"/>
                <a:cs typeface="Times New Roman" pitchFamily="18" charset="0"/>
              </a:rPr>
              <a:t>pune</a:t>
            </a:r>
            <a:r>
              <a:rPr lang="en-US" sz="2400" dirty="0">
                <a:latin typeface="Times New Roman" pitchFamily="18" charset="0"/>
                <a:cs typeface="Times New Roman" pitchFamily="18" charset="0"/>
              </a:rPr>
              <a:t>” owned by “ Mr. Nene” </a:t>
            </a:r>
          </a:p>
          <a:p>
            <a:pPr marL="0" indent="0">
              <a:buNone/>
            </a:pPr>
            <a:r>
              <a:rPr lang="en-US" sz="2400" dirty="0">
                <a:latin typeface="Times New Roman" pitchFamily="18" charset="0"/>
                <a:cs typeface="Times New Roman" pitchFamily="18" charset="0"/>
              </a:rPr>
              <a:t>	DELETE FROM Property WHERE </a:t>
            </a:r>
            <a:r>
              <a:rPr lang="en-US" sz="2400" dirty="0" err="1">
                <a:latin typeface="Times New Roman" pitchFamily="18" charset="0"/>
                <a:cs typeface="Times New Roman" pitchFamily="18" charset="0"/>
              </a:rPr>
              <a:t>oname</a:t>
            </a:r>
            <a:r>
              <a:rPr lang="en-US" sz="2400" dirty="0">
                <a:latin typeface="Times New Roman" pitchFamily="18" charset="0"/>
                <a:cs typeface="Times New Roman" pitchFamily="18" charset="0"/>
              </a:rPr>
              <a:t> = 'Mr. Nene' AND area = 'Pune';</a:t>
            </a:r>
          </a:p>
        </p:txBody>
      </p:sp>
    </p:spTree>
    <p:extLst>
      <p:ext uri="{BB962C8B-B14F-4D97-AF65-F5344CB8AC3E}">
        <p14:creationId xmlns:p14="http://schemas.microsoft.com/office/powerpoint/2010/main" val="57609898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5820" y="541833"/>
            <a:ext cx="8946541" cy="6091442"/>
          </a:xfrm>
        </p:spPr>
        <p:txBody>
          <a:bodyPr/>
          <a:lstStyle/>
          <a:p>
            <a:pPr marL="0" indent="0">
              <a:buNone/>
            </a:pPr>
            <a:r>
              <a:rPr lang="en-US" dirty="0"/>
              <a:t>Create the following tables ( primary keys are underlined.). </a:t>
            </a:r>
          </a:p>
          <a:p>
            <a:pPr marL="0" indent="0">
              <a:buNone/>
            </a:pPr>
            <a:r>
              <a:rPr lang="en-US" dirty="0"/>
              <a:t>		</a:t>
            </a:r>
            <a:r>
              <a:rPr lang="en-US" dirty="0" err="1"/>
              <a:t>Emp</a:t>
            </a:r>
            <a:r>
              <a:rPr lang="en-US" dirty="0"/>
              <a:t>(</a:t>
            </a:r>
            <a:r>
              <a:rPr lang="en-US" dirty="0" err="1"/>
              <a:t>eno,ename,designation,sal</a:t>
            </a:r>
            <a:r>
              <a:rPr lang="en-US" dirty="0"/>
              <a:t>) </a:t>
            </a:r>
          </a:p>
          <a:p>
            <a:pPr marL="0" indent="0">
              <a:buNone/>
            </a:pPr>
            <a:r>
              <a:rPr lang="en-US" dirty="0"/>
              <a:t>		</a:t>
            </a:r>
            <a:r>
              <a:rPr lang="en-US" dirty="0" err="1"/>
              <a:t>Dept</a:t>
            </a:r>
            <a:r>
              <a:rPr lang="en-US" dirty="0"/>
              <a:t>(</a:t>
            </a:r>
            <a:r>
              <a:rPr lang="en-US" dirty="0" err="1"/>
              <a:t>dno,dname,dloc</a:t>
            </a:r>
            <a:r>
              <a:rPr lang="en-US" dirty="0"/>
              <a:t>) </a:t>
            </a:r>
          </a:p>
          <a:p>
            <a:pPr marL="0" indent="0" algn="just">
              <a:buNone/>
            </a:pPr>
            <a:r>
              <a:rPr lang="en-US" dirty="0"/>
              <a:t>	There exists a one-to-many relationship between </a:t>
            </a:r>
            <a:r>
              <a:rPr lang="en-US" dirty="0" err="1"/>
              <a:t>emp</a:t>
            </a:r>
            <a:r>
              <a:rPr lang="en-US" dirty="0"/>
              <a:t> &amp; dept. Create the Relations accordingly, so that the relationship is handled properly and the relations are in normalized form (3NF). </a:t>
            </a:r>
          </a:p>
          <a:p>
            <a:pPr marL="0" indent="0">
              <a:buNone/>
            </a:pPr>
            <a:r>
              <a:rPr lang="en-US" dirty="0"/>
              <a:t>	a) Insert 5 records into department table </a:t>
            </a:r>
          </a:p>
          <a:p>
            <a:pPr marL="0" indent="0">
              <a:buNone/>
            </a:pPr>
            <a:r>
              <a:rPr lang="en-US" dirty="0"/>
              <a:t>	b) Insert 5 employee records for each department. </a:t>
            </a:r>
          </a:p>
          <a:p>
            <a:pPr marL="0" indent="0">
              <a:buNone/>
            </a:pPr>
            <a:r>
              <a:rPr lang="en-US" dirty="0"/>
              <a:t>	c) increase salary of “managers” by 15%; </a:t>
            </a:r>
          </a:p>
          <a:p>
            <a:pPr marL="0" indent="0">
              <a:buNone/>
            </a:pPr>
            <a:r>
              <a:rPr lang="en-US" dirty="0"/>
              <a:t>	d) delete all employees of </a:t>
            </a:r>
            <a:r>
              <a:rPr lang="en-US" dirty="0" err="1"/>
              <a:t>deparment</a:t>
            </a:r>
            <a:r>
              <a:rPr lang="en-US" dirty="0"/>
              <a:t> no 5; </a:t>
            </a:r>
          </a:p>
          <a:p>
            <a:pPr marL="0" indent="0">
              <a:buNone/>
            </a:pPr>
            <a:r>
              <a:rPr lang="en-US" dirty="0"/>
              <a:t>	e)change location of department 2 to ‘Mumbai’</a:t>
            </a:r>
          </a:p>
        </p:txBody>
      </p:sp>
    </p:spTree>
    <p:extLst>
      <p:ext uri="{BB962C8B-B14F-4D97-AF65-F5344CB8AC3E}">
        <p14:creationId xmlns:p14="http://schemas.microsoft.com/office/powerpoint/2010/main" val="188886555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3827" y="658070"/>
            <a:ext cx="8946541" cy="5587747"/>
          </a:xfrm>
        </p:spPr>
        <p:txBody>
          <a:bodyPr>
            <a:normAutofit/>
          </a:bodyPr>
          <a:lstStyle/>
          <a:p>
            <a:r>
              <a:rPr lang="en-US" sz="2400" dirty="0">
                <a:latin typeface="Times New Roman" pitchFamily="18" charset="0"/>
                <a:cs typeface="Times New Roman" pitchFamily="18" charset="0"/>
              </a:rPr>
              <a:t>CREATE TABLE </a:t>
            </a:r>
            <a:r>
              <a:rPr lang="en-US" sz="2400" dirty="0" err="1">
                <a:latin typeface="Times New Roman" pitchFamily="18" charset="0"/>
                <a:cs typeface="Times New Roman" pitchFamily="18" charset="0"/>
              </a:rPr>
              <a:t>Dept</a:t>
            </a: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dno</a:t>
            </a:r>
            <a:r>
              <a:rPr lang="en-US" sz="2400" dirty="0">
                <a:latin typeface="Times New Roman" pitchFamily="18" charset="0"/>
                <a:cs typeface="Times New Roman" pitchFamily="18" charset="0"/>
              </a:rPr>
              <a:t> INT PRIMARY KEY,</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dname</a:t>
            </a:r>
            <a:r>
              <a:rPr lang="en-US" sz="2400" dirty="0">
                <a:latin typeface="Times New Roman" pitchFamily="18" charset="0"/>
                <a:cs typeface="Times New Roman" pitchFamily="18" charset="0"/>
              </a:rPr>
              <a:t> VARCHAR(255),</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dloc</a:t>
            </a:r>
            <a:r>
              <a:rPr lang="en-US" sz="2400" dirty="0">
                <a:latin typeface="Times New Roman" pitchFamily="18" charset="0"/>
                <a:cs typeface="Times New Roman" pitchFamily="18" charset="0"/>
              </a:rPr>
              <a:t> VARCHAR(255)</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CREATE TABLE </a:t>
            </a:r>
            <a:r>
              <a:rPr lang="en-US" sz="2400" dirty="0" err="1">
                <a:latin typeface="Times New Roman" pitchFamily="18" charset="0"/>
                <a:cs typeface="Times New Roman" pitchFamily="18" charset="0"/>
              </a:rPr>
              <a:t>Emp</a:t>
            </a: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eno</a:t>
            </a:r>
            <a:r>
              <a:rPr lang="en-US" sz="2400" dirty="0">
                <a:latin typeface="Times New Roman" pitchFamily="18" charset="0"/>
                <a:cs typeface="Times New Roman" pitchFamily="18" charset="0"/>
              </a:rPr>
              <a:t> INT PRIMARY KEY,</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ename</a:t>
            </a:r>
            <a:r>
              <a:rPr lang="en-US" sz="2400" dirty="0">
                <a:latin typeface="Times New Roman" pitchFamily="18" charset="0"/>
                <a:cs typeface="Times New Roman" pitchFamily="18" charset="0"/>
              </a:rPr>
              <a:t> VARCHAR(255),</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designation VARCHAR(255),</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sal</a:t>
            </a:r>
            <a:r>
              <a:rPr lang="en-US" sz="2400" dirty="0">
                <a:latin typeface="Times New Roman" pitchFamily="18" charset="0"/>
                <a:cs typeface="Times New Roman" pitchFamily="18" charset="0"/>
              </a:rPr>
              <a:t> DECIMAL(10, 2),</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dno</a:t>
            </a:r>
            <a:r>
              <a:rPr lang="en-US" sz="2400" dirty="0">
                <a:latin typeface="Times New Roman" pitchFamily="18" charset="0"/>
                <a:cs typeface="Times New Roman" pitchFamily="18" charset="0"/>
              </a:rPr>
              <a:t> INT,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FOREIGN KEY (</a:t>
            </a:r>
            <a:r>
              <a:rPr lang="en-US" sz="2400" dirty="0" err="1">
                <a:latin typeface="Times New Roman" pitchFamily="18" charset="0"/>
                <a:cs typeface="Times New Roman" pitchFamily="18" charset="0"/>
              </a:rPr>
              <a:t>dno</a:t>
            </a:r>
            <a:r>
              <a:rPr lang="en-US" sz="2400" dirty="0">
                <a:latin typeface="Times New Roman" pitchFamily="18" charset="0"/>
                <a:cs typeface="Times New Roman" pitchFamily="18" charset="0"/>
              </a:rPr>
              <a:t>) REFERENCES </a:t>
            </a:r>
            <a:r>
              <a:rPr lang="en-US" sz="2400" dirty="0" err="1">
                <a:latin typeface="Times New Roman" pitchFamily="18" charset="0"/>
                <a:cs typeface="Times New Roman" pitchFamily="18" charset="0"/>
              </a:rPr>
              <a:t>Dept</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dno</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293908668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0322" y="495339"/>
            <a:ext cx="8946541" cy="6447902"/>
          </a:xfrm>
        </p:spPr>
        <p:txBody>
          <a:bodyPr>
            <a:normAutofit/>
          </a:bodyPr>
          <a:lstStyle/>
          <a:p>
            <a:pPr marL="457200" indent="-457200">
              <a:buAutoNum type="alphaLcParenR"/>
            </a:pPr>
            <a:r>
              <a:rPr lang="en-US" i="1" dirty="0">
                <a:latin typeface="Times New Roman" pitchFamily="18" charset="0"/>
                <a:cs typeface="Times New Roman" pitchFamily="18" charset="0"/>
              </a:rPr>
              <a:t>Insert 5 records into department table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INSERT INTO </a:t>
            </a:r>
            <a:r>
              <a:rPr lang="en-US" dirty="0" err="1">
                <a:latin typeface="Times New Roman" pitchFamily="18" charset="0"/>
                <a:cs typeface="Times New Roman" pitchFamily="18" charset="0"/>
              </a:rPr>
              <a:t>Dept</a:t>
            </a:r>
            <a:r>
              <a:rPr lang="en-US" dirty="0">
                <a:latin typeface="Times New Roman" pitchFamily="18" charset="0"/>
                <a:cs typeface="Times New Roman" pitchFamily="18" charset="0"/>
              </a:rPr>
              <a:t>  VALUES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(1, 'Sales', 'New York'),</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(2, 'Marketing', 'Los Angeles'),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(3, 'Engineering', 'Chicago'),</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(4, 'Finance', 'San Francisco'),</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(5, 'HR', 'Boston');</a:t>
            </a:r>
          </a:p>
          <a:p>
            <a:pPr marL="457200" indent="-457200">
              <a:buAutoNum type="alphaLcParenR"/>
            </a:pPr>
            <a:r>
              <a:rPr lang="en-US" i="1" dirty="0">
                <a:latin typeface="Times New Roman" pitchFamily="18" charset="0"/>
                <a:cs typeface="Times New Roman" pitchFamily="18" charset="0"/>
              </a:rPr>
              <a:t>Insert 5 employee records for each department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INSERT INTO </a:t>
            </a:r>
            <a:r>
              <a:rPr lang="en-US" dirty="0" err="1">
                <a:latin typeface="Times New Roman" pitchFamily="18" charset="0"/>
                <a:cs typeface="Times New Roman" pitchFamily="18" charset="0"/>
              </a:rPr>
              <a:t>Emp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eno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ename</a:t>
            </a:r>
            <a:r>
              <a:rPr lang="en-US" dirty="0">
                <a:latin typeface="Times New Roman" pitchFamily="18" charset="0"/>
                <a:cs typeface="Times New Roman" pitchFamily="18" charset="0"/>
              </a:rPr>
              <a:t>, designation, </a:t>
            </a:r>
            <a:r>
              <a:rPr lang="en-US" dirty="0" err="1">
                <a:latin typeface="Times New Roman" pitchFamily="18" charset="0"/>
                <a:cs typeface="Times New Roman" pitchFamily="18" charset="0"/>
              </a:rPr>
              <a:t>sal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dno</a:t>
            </a:r>
            <a:r>
              <a:rPr lang="en-US" dirty="0">
                <a:latin typeface="Times New Roman" pitchFamily="18" charset="0"/>
                <a:cs typeface="Times New Roman" pitchFamily="18" charset="0"/>
              </a:rPr>
              <a:t>) VALUES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(101, 'John Smith', 'Manager', 60000.00, 1),</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(102, 'Jane Doe', 'Analyst', 45000.00, 1),</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(103, 'Peter Jones', 'Salesperson', 40000.00, 1),</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(104, 'Mary Brown', 'Manager', 65000.00, 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(105, 'David Wilson', 'Analyst', 50000.00, 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(106, 'Sarah Lee', 'Marketing Specialist', 42000.00, 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(107, 'Robert Garcia', 'Engineer', 70000.00, 3),</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(108, 'Linda Williams', 'Engineer', 65000.00, 3),</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(109, 'Michael Davis', 'Accountant', 55000.00, 4),</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(110, 'Patricia Rodriguez', 'Analyst', 48000.00, 4),</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5585491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5339" y="557331"/>
            <a:ext cx="8946541" cy="5518005"/>
          </a:xfrm>
        </p:spPr>
        <p:txBody>
          <a:bodyPr>
            <a:normAutofit/>
          </a:bodyPr>
          <a:lstStyle/>
          <a:p>
            <a:pPr marL="0" indent="0" algn="just">
              <a:buNone/>
            </a:pPr>
            <a:r>
              <a:rPr lang="en-US" sz="2400" i="1" dirty="0">
                <a:latin typeface="Times New Roman" pitchFamily="18" charset="0"/>
                <a:cs typeface="Times New Roman" pitchFamily="18" charset="0"/>
              </a:rPr>
              <a:t>c) increase salary of “managers” by 15% </a:t>
            </a:r>
          </a:p>
          <a:p>
            <a:pPr marL="0" indent="0">
              <a:buNone/>
            </a:pPr>
            <a:r>
              <a:rPr lang="en-US" sz="2400" i="1" dirty="0">
                <a:latin typeface="Times New Roman" pitchFamily="18" charset="0"/>
                <a:cs typeface="Times New Roman" pitchFamily="18" charset="0"/>
              </a:rPr>
              <a:t>UPD</a:t>
            </a:r>
            <a:r>
              <a:rPr lang="en-US" sz="2400" dirty="0">
                <a:latin typeface="Times New Roman" pitchFamily="18" charset="0"/>
                <a:cs typeface="Times New Roman" pitchFamily="18" charset="0"/>
              </a:rPr>
              <a:t>ATE </a:t>
            </a:r>
            <a:r>
              <a:rPr lang="en-US" sz="2400" dirty="0" err="1">
                <a:latin typeface="Times New Roman" pitchFamily="18" charset="0"/>
                <a:cs typeface="Times New Roman" pitchFamily="18" charset="0"/>
              </a:rPr>
              <a:t>Emp</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SET </a:t>
            </a:r>
            <a:r>
              <a:rPr lang="en-US" sz="2400" dirty="0" err="1">
                <a:latin typeface="Times New Roman" pitchFamily="18" charset="0"/>
                <a:cs typeface="Times New Roman" pitchFamily="18" charset="0"/>
              </a:rPr>
              <a:t>sal</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sal</a:t>
            </a:r>
            <a:r>
              <a:rPr lang="en-US" sz="2400" dirty="0">
                <a:latin typeface="Times New Roman" pitchFamily="18" charset="0"/>
                <a:cs typeface="Times New Roman" pitchFamily="18" charset="0"/>
              </a:rPr>
              <a:t> * 1.15 WHERE designation = 'Manager'; </a:t>
            </a:r>
          </a:p>
          <a:p>
            <a:pPr algn="just"/>
            <a:endParaRPr lang="en-US" sz="24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d</a:t>
            </a:r>
            <a:r>
              <a:rPr lang="en-US" sz="2400" i="1" dirty="0">
                <a:latin typeface="Times New Roman" pitchFamily="18" charset="0"/>
                <a:cs typeface="Times New Roman" pitchFamily="18" charset="0"/>
              </a:rPr>
              <a:t>) delete all employees of department no 5 </a:t>
            </a:r>
          </a:p>
          <a:p>
            <a:pPr marL="0" indent="0">
              <a:buNone/>
            </a:pPr>
            <a:r>
              <a:rPr lang="en-US" sz="2400" i="1" dirty="0">
                <a:latin typeface="Times New Roman" pitchFamily="18" charset="0"/>
                <a:cs typeface="Times New Roman" pitchFamily="18" charset="0"/>
              </a:rPr>
              <a:t>DEL</a:t>
            </a:r>
            <a:r>
              <a:rPr lang="en-US" sz="2400" dirty="0">
                <a:latin typeface="Times New Roman" pitchFamily="18" charset="0"/>
                <a:cs typeface="Times New Roman" pitchFamily="18" charset="0"/>
              </a:rPr>
              <a:t>ETE FROM </a:t>
            </a:r>
            <a:r>
              <a:rPr lang="en-US" sz="2400" dirty="0" err="1">
                <a:latin typeface="Times New Roman" pitchFamily="18" charset="0"/>
                <a:cs typeface="Times New Roman" pitchFamily="18" charset="0"/>
              </a:rPr>
              <a:t>Emp</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WHERE </a:t>
            </a:r>
            <a:r>
              <a:rPr lang="en-US" sz="2400" dirty="0" err="1">
                <a:latin typeface="Times New Roman" pitchFamily="18" charset="0"/>
                <a:cs typeface="Times New Roman" pitchFamily="18" charset="0"/>
              </a:rPr>
              <a:t>dno</a:t>
            </a:r>
            <a:r>
              <a:rPr lang="en-US" sz="2400" dirty="0">
                <a:latin typeface="Times New Roman" pitchFamily="18" charset="0"/>
                <a:cs typeface="Times New Roman" pitchFamily="18" charset="0"/>
              </a:rPr>
              <a:t> = 5;</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e</a:t>
            </a:r>
            <a:r>
              <a:rPr lang="en-US" sz="2400" i="1" dirty="0">
                <a:latin typeface="Times New Roman" pitchFamily="18" charset="0"/>
                <a:cs typeface="Times New Roman" pitchFamily="18" charset="0"/>
              </a:rPr>
              <a:t>) change location of department 2 to 'Mumbai' </a:t>
            </a:r>
          </a:p>
          <a:p>
            <a:pPr marL="0" indent="0">
              <a:buNone/>
            </a:pPr>
            <a:r>
              <a:rPr lang="en-US" sz="2400" i="1" dirty="0">
                <a:latin typeface="Times New Roman" pitchFamily="18" charset="0"/>
                <a:cs typeface="Times New Roman" pitchFamily="18" charset="0"/>
              </a:rPr>
              <a:t>UPD</a:t>
            </a:r>
            <a:r>
              <a:rPr lang="en-US" sz="2400" dirty="0">
                <a:latin typeface="Times New Roman" pitchFamily="18" charset="0"/>
                <a:cs typeface="Times New Roman" pitchFamily="18" charset="0"/>
              </a:rPr>
              <a:t>ATE </a:t>
            </a:r>
            <a:r>
              <a:rPr lang="en-US" sz="2400" dirty="0" err="1">
                <a:latin typeface="Times New Roman" pitchFamily="18" charset="0"/>
                <a:cs typeface="Times New Roman" pitchFamily="18" charset="0"/>
              </a:rPr>
              <a:t>Dept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SET </a:t>
            </a:r>
            <a:r>
              <a:rPr lang="en-US" sz="2400" dirty="0" err="1">
                <a:latin typeface="Times New Roman" pitchFamily="18" charset="0"/>
                <a:cs typeface="Times New Roman" pitchFamily="18" charset="0"/>
              </a:rPr>
              <a:t>dloc</a:t>
            </a:r>
            <a:r>
              <a:rPr lang="en-US" sz="2400" dirty="0">
                <a:latin typeface="Times New Roman" pitchFamily="18" charset="0"/>
                <a:cs typeface="Times New Roman" pitchFamily="18" charset="0"/>
              </a:rPr>
              <a:t> = 'Mumbai' WHERE </a:t>
            </a:r>
            <a:r>
              <a:rPr lang="en-US" sz="2400" dirty="0" err="1">
                <a:latin typeface="Times New Roman" pitchFamily="18" charset="0"/>
                <a:cs typeface="Times New Roman" pitchFamily="18" charset="0"/>
              </a:rPr>
              <a:t>dno</a:t>
            </a:r>
            <a:r>
              <a:rPr lang="en-US" sz="2400" dirty="0">
                <a:latin typeface="Times New Roman" pitchFamily="18" charset="0"/>
                <a:cs typeface="Times New Roman" pitchFamily="18" charset="0"/>
              </a:rPr>
              <a:t> = 2;</a:t>
            </a:r>
          </a:p>
        </p:txBody>
      </p:sp>
    </p:spTree>
    <p:extLst>
      <p:ext uri="{BB962C8B-B14F-4D97-AF65-F5344CB8AC3E}">
        <p14:creationId xmlns:p14="http://schemas.microsoft.com/office/powerpoint/2010/main" val="107094194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7075" y="526335"/>
            <a:ext cx="9342545" cy="6331665"/>
          </a:xfrm>
        </p:spPr>
        <p:txBody>
          <a:bodyPr/>
          <a:lstStyle/>
          <a:p>
            <a:pPr marL="0" indent="0">
              <a:buNone/>
            </a:pPr>
            <a:r>
              <a:rPr lang="en-US" dirty="0"/>
              <a:t>Consider the following database </a:t>
            </a:r>
          </a:p>
          <a:p>
            <a:pPr marL="0" indent="0">
              <a:buNone/>
            </a:pPr>
            <a:r>
              <a:rPr lang="en-US" dirty="0"/>
              <a:t>	Person (</a:t>
            </a:r>
            <a:r>
              <a:rPr lang="en-US" dirty="0" err="1"/>
              <a:t>pnumber</a:t>
            </a:r>
            <a:r>
              <a:rPr lang="en-US" dirty="0"/>
              <a:t>, </a:t>
            </a:r>
            <a:r>
              <a:rPr lang="en-US" dirty="0" err="1"/>
              <a:t>pname</a:t>
            </a:r>
            <a:r>
              <a:rPr lang="en-US" dirty="0"/>
              <a:t>, birthdate, income) </a:t>
            </a:r>
          </a:p>
          <a:p>
            <a:pPr marL="0" indent="0">
              <a:buNone/>
            </a:pPr>
            <a:r>
              <a:rPr lang="en-US" dirty="0"/>
              <a:t>	Area (</a:t>
            </a:r>
            <a:r>
              <a:rPr lang="en-US" dirty="0" err="1"/>
              <a:t>aname</a:t>
            </a:r>
            <a:r>
              <a:rPr lang="en-US" dirty="0"/>
              <a:t>, </a:t>
            </a:r>
            <a:r>
              <a:rPr lang="en-US" dirty="0" err="1"/>
              <a:t>area_type,pincode</a:t>
            </a:r>
            <a:r>
              <a:rPr lang="en-US" dirty="0"/>
              <a:t>) </a:t>
            </a:r>
          </a:p>
          <a:p>
            <a:pPr marL="0" indent="0">
              <a:buNone/>
            </a:pPr>
            <a:r>
              <a:rPr lang="en-US" dirty="0"/>
              <a:t>The relationship is as follows:</a:t>
            </a:r>
          </a:p>
          <a:p>
            <a:pPr marL="0" indent="0">
              <a:buNone/>
            </a:pPr>
            <a:r>
              <a:rPr lang="en-US" dirty="0" err="1"/>
              <a:t>Person-Area:many-to-one.The‘area_type’can</a:t>
            </a:r>
            <a:r>
              <a:rPr lang="en-US" dirty="0"/>
              <a:t> have values ‘Urban’ and ‘Rural’ Create normalized tables (3NF) for the above and solve the following queries. Write &amp; execute insert/ update / delete statements for following business tasks </a:t>
            </a:r>
          </a:p>
          <a:p>
            <a:pPr marL="0" indent="0">
              <a:buNone/>
            </a:pPr>
            <a:r>
              <a:rPr lang="en-US" dirty="0"/>
              <a:t>		a) Insert 5 records in the Person table. </a:t>
            </a:r>
          </a:p>
          <a:p>
            <a:pPr marL="0" indent="0">
              <a:buNone/>
            </a:pPr>
            <a:r>
              <a:rPr lang="en-US" dirty="0"/>
              <a:t>		b) Insert 3 records in the Area table </a:t>
            </a:r>
          </a:p>
          <a:p>
            <a:pPr marL="0" indent="0">
              <a:buNone/>
            </a:pPr>
            <a:r>
              <a:rPr lang="en-US" dirty="0"/>
              <a:t>		c) List the names of all people income less than 100000 </a:t>
            </a:r>
          </a:p>
          <a:p>
            <a:pPr marL="0" indent="0">
              <a:buNone/>
            </a:pPr>
            <a:r>
              <a:rPr lang="en-US" dirty="0"/>
              <a:t>		d) Change the </a:t>
            </a:r>
            <a:r>
              <a:rPr lang="en-US" dirty="0" err="1"/>
              <a:t>pincode</a:t>
            </a:r>
            <a:r>
              <a:rPr lang="en-US" dirty="0"/>
              <a:t> of ‘</a:t>
            </a:r>
            <a:r>
              <a:rPr lang="en-US" dirty="0" err="1"/>
              <a:t>kalyaninagar</a:t>
            </a:r>
            <a:r>
              <a:rPr lang="en-US" dirty="0"/>
              <a:t>’ to411036. </a:t>
            </a:r>
          </a:p>
          <a:p>
            <a:pPr marL="0" indent="0">
              <a:buNone/>
            </a:pPr>
            <a:r>
              <a:rPr lang="en-US" dirty="0"/>
              <a:t>		</a:t>
            </a:r>
          </a:p>
        </p:txBody>
      </p:sp>
    </p:spTree>
    <p:extLst>
      <p:ext uri="{BB962C8B-B14F-4D97-AF65-F5344CB8AC3E}">
        <p14:creationId xmlns:p14="http://schemas.microsoft.com/office/powerpoint/2010/main" val="130995551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8586" y="681318"/>
            <a:ext cx="8946541" cy="4580357"/>
          </a:xfrm>
        </p:spPr>
        <p:txBody>
          <a:bodyPr>
            <a:normAutofit fontScale="92500" lnSpcReduction="10000"/>
          </a:bodyPr>
          <a:lstStyle/>
          <a:p>
            <a:r>
              <a:rPr lang="en-US" sz="2400" b="1" dirty="0">
                <a:latin typeface="Times New Roman" pitchFamily="18" charset="0"/>
                <a:cs typeface="Times New Roman" pitchFamily="18" charset="0"/>
              </a:rPr>
              <a:t>Person:</a:t>
            </a:r>
            <a:endParaRPr lang="en-US" sz="2400" dirty="0">
              <a:latin typeface="Times New Roman" pitchFamily="18" charset="0"/>
              <a:cs typeface="Times New Roman" pitchFamily="18" charset="0"/>
            </a:endParaRPr>
          </a:p>
          <a:p>
            <a:pPr marL="457200" lvl="1" indent="0">
              <a:buNone/>
            </a:pPr>
            <a:r>
              <a:rPr lang="en-US" sz="2400" dirty="0" err="1">
                <a:latin typeface="Times New Roman" pitchFamily="18" charset="0"/>
                <a:cs typeface="Times New Roman" pitchFamily="18" charset="0"/>
              </a:rPr>
              <a:t>pnumber</a:t>
            </a:r>
            <a:r>
              <a:rPr lang="en-US" sz="2400" dirty="0">
                <a:latin typeface="Times New Roman" pitchFamily="18" charset="0"/>
                <a:cs typeface="Times New Roman" pitchFamily="18" charset="0"/>
              </a:rPr>
              <a:t> (INT, Primary Key)</a:t>
            </a:r>
          </a:p>
          <a:p>
            <a:pPr marL="457200" lvl="1" indent="0">
              <a:buNone/>
            </a:pPr>
            <a:r>
              <a:rPr lang="en-US" sz="2400" dirty="0" err="1">
                <a:latin typeface="Times New Roman" pitchFamily="18" charset="0"/>
                <a:cs typeface="Times New Roman" pitchFamily="18" charset="0"/>
              </a:rPr>
              <a:t>pname</a:t>
            </a:r>
            <a:r>
              <a:rPr lang="en-US" sz="2400" dirty="0">
                <a:latin typeface="Times New Roman" pitchFamily="18" charset="0"/>
                <a:cs typeface="Times New Roman" pitchFamily="18" charset="0"/>
              </a:rPr>
              <a:t> (VARCHAR)</a:t>
            </a:r>
          </a:p>
          <a:p>
            <a:pPr marL="457200" lvl="1" indent="0">
              <a:buNone/>
            </a:pPr>
            <a:r>
              <a:rPr lang="en-US" sz="2400" dirty="0">
                <a:latin typeface="Times New Roman" pitchFamily="18" charset="0"/>
                <a:cs typeface="Times New Roman" pitchFamily="18" charset="0"/>
              </a:rPr>
              <a:t>birthdate (DATE)</a:t>
            </a:r>
          </a:p>
          <a:p>
            <a:pPr marL="457200" lvl="1" indent="0">
              <a:buNone/>
            </a:pPr>
            <a:r>
              <a:rPr lang="en-US" sz="2400" dirty="0">
                <a:latin typeface="Times New Roman" pitchFamily="18" charset="0"/>
                <a:cs typeface="Times New Roman" pitchFamily="18" charset="0"/>
              </a:rPr>
              <a:t>income (DECIMAL)</a:t>
            </a:r>
          </a:p>
          <a:p>
            <a:pPr marL="457200" lvl="1" indent="0">
              <a:buNone/>
            </a:pPr>
            <a:r>
              <a:rPr lang="en-US" sz="2400" dirty="0" err="1">
                <a:latin typeface="Times New Roman" pitchFamily="18" charset="0"/>
                <a:cs typeface="Times New Roman" pitchFamily="18" charset="0"/>
              </a:rPr>
              <a:t>aname</a:t>
            </a:r>
            <a:r>
              <a:rPr lang="en-US" sz="2400" dirty="0">
                <a:latin typeface="Times New Roman" pitchFamily="18" charset="0"/>
                <a:cs typeface="Times New Roman" pitchFamily="18" charset="0"/>
              </a:rPr>
              <a:t> (VARCHAR, Foreign Key referencing </a:t>
            </a:r>
            <a:r>
              <a:rPr lang="en-US" sz="2400" dirty="0" err="1">
                <a:latin typeface="Times New Roman" pitchFamily="18" charset="0"/>
                <a:cs typeface="Times New Roman" pitchFamily="18" charset="0"/>
              </a:rPr>
              <a:t>Area.aname</a:t>
            </a:r>
            <a:r>
              <a:rPr lang="en-US" sz="2400" dirty="0">
                <a:latin typeface="Times New Roman" pitchFamily="18" charset="0"/>
                <a:cs typeface="Times New Roman" pitchFamily="18" charset="0"/>
              </a:rPr>
              <a:t>)</a:t>
            </a:r>
          </a:p>
          <a:p>
            <a:r>
              <a:rPr lang="en-US" sz="2400" b="1" dirty="0">
                <a:latin typeface="Times New Roman" pitchFamily="18" charset="0"/>
                <a:cs typeface="Times New Roman" pitchFamily="18" charset="0"/>
              </a:rPr>
              <a:t>Area:</a:t>
            </a:r>
            <a:endParaRPr lang="en-US" sz="2400" dirty="0">
              <a:latin typeface="Times New Roman" pitchFamily="18" charset="0"/>
              <a:cs typeface="Times New Roman" pitchFamily="18" charset="0"/>
            </a:endParaRPr>
          </a:p>
          <a:p>
            <a:pPr marL="457200" lvl="1" indent="0">
              <a:buNone/>
            </a:pPr>
            <a:r>
              <a:rPr lang="en-US" sz="2400" dirty="0" err="1">
                <a:latin typeface="Times New Roman" pitchFamily="18" charset="0"/>
                <a:cs typeface="Times New Roman" pitchFamily="18" charset="0"/>
              </a:rPr>
              <a:t>aname</a:t>
            </a:r>
            <a:r>
              <a:rPr lang="en-US" sz="2400" dirty="0">
                <a:latin typeface="Times New Roman" pitchFamily="18" charset="0"/>
                <a:cs typeface="Times New Roman" pitchFamily="18" charset="0"/>
              </a:rPr>
              <a:t> (VARCHAR, Primary Key)</a:t>
            </a:r>
          </a:p>
          <a:p>
            <a:pPr marL="457200" lvl="1" indent="0">
              <a:buNone/>
            </a:pPr>
            <a:r>
              <a:rPr lang="en-US" sz="2400" dirty="0" err="1">
                <a:latin typeface="Times New Roman" pitchFamily="18" charset="0"/>
                <a:cs typeface="Times New Roman" pitchFamily="18" charset="0"/>
              </a:rPr>
              <a:t>area_type</a:t>
            </a:r>
            <a:r>
              <a:rPr lang="en-US" sz="2400" dirty="0">
                <a:latin typeface="Times New Roman" pitchFamily="18" charset="0"/>
                <a:cs typeface="Times New Roman" pitchFamily="18" charset="0"/>
              </a:rPr>
              <a:t> (VARCHAR)</a:t>
            </a:r>
          </a:p>
          <a:p>
            <a:pPr marL="457200" lvl="1" indent="0">
              <a:buNone/>
            </a:pPr>
            <a:r>
              <a:rPr lang="en-US" sz="2400" dirty="0" err="1">
                <a:latin typeface="Times New Roman" pitchFamily="18" charset="0"/>
                <a:cs typeface="Times New Roman" pitchFamily="18" charset="0"/>
              </a:rPr>
              <a:t>pincode</a:t>
            </a:r>
            <a:r>
              <a:rPr lang="en-US" sz="2400" dirty="0">
                <a:latin typeface="Times New Roman" pitchFamily="18" charset="0"/>
                <a:cs typeface="Times New Roman" pitchFamily="18" charset="0"/>
              </a:rPr>
              <a:t> (INT) </a:t>
            </a:r>
          </a:p>
          <a:p>
            <a:endParaRPr lang="en-US" dirty="0"/>
          </a:p>
        </p:txBody>
      </p:sp>
    </p:spTree>
    <p:extLst>
      <p:ext uri="{BB962C8B-B14F-4D97-AF65-F5344CB8AC3E}">
        <p14:creationId xmlns:p14="http://schemas.microsoft.com/office/powerpoint/2010/main" val="186765813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577" y="526335"/>
            <a:ext cx="8946541" cy="5874465"/>
          </a:xfrm>
        </p:spPr>
        <p:txBody>
          <a:bodyPr>
            <a:normAutofit/>
          </a:bodyPr>
          <a:lstStyle/>
          <a:p>
            <a:r>
              <a:rPr lang="en-US" sz="2400" dirty="0">
                <a:latin typeface="Times New Roman" pitchFamily="18" charset="0"/>
                <a:cs typeface="Times New Roman" pitchFamily="18" charset="0"/>
              </a:rPr>
              <a:t>INSERT INTO Person  VALUES</a:t>
            </a:r>
          </a:p>
          <a:p>
            <a:pPr marL="0" indent="0">
              <a:buNone/>
            </a:pPr>
            <a:r>
              <a:rPr lang="en-US" sz="2400" dirty="0">
                <a:latin typeface="Times New Roman" pitchFamily="18" charset="0"/>
                <a:cs typeface="Times New Roman" pitchFamily="18" charset="0"/>
              </a:rPr>
              <a:t>		(1, 'Alice', '1990-05-15', 75000, 'A1'),</a:t>
            </a:r>
          </a:p>
          <a:p>
            <a:pPr marL="0" indent="0">
              <a:buNone/>
            </a:pPr>
            <a:r>
              <a:rPr lang="en-US" sz="2400" dirty="0">
                <a:latin typeface="Times New Roman" pitchFamily="18" charset="0"/>
                <a:cs typeface="Times New Roman" pitchFamily="18" charset="0"/>
              </a:rPr>
              <a:t>		(2, 'Bob', '1985-10-20', 120000, 'A2'),</a:t>
            </a:r>
          </a:p>
          <a:p>
            <a:pPr marL="0" indent="0">
              <a:buNone/>
            </a:pPr>
            <a:r>
              <a:rPr lang="en-US" sz="2400" dirty="0">
                <a:latin typeface="Times New Roman" pitchFamily="18" charset="0"/>
                <a:cs typeface="Times New Roman" pitchFamily="18" charset="0"/>
              </a:rPr>
              <a:t>		(3, 'Charlie', '1992-03-10', 90000, 'A1'),</a:t>
            </a:r>
          </a:p>
          <a:p>
            <a:pPr marL="0" indent="0">
              <a:buNone/>
            </a:pPr>
            <a:r>
              <a:rPr lang="en-US" sz="2400" dirty="0">
                <a:latin typeface="Times New Roman" pitchFamily="18" charset="0"/>
                <a:cs typeface="Times New Roman" pitchFamily="18" charset="0"/>
              </a:rPr>
              <a:t>		(4, 'David', '1988-07-05', 60000, 'A3'),</a:t>
            </a:r>
          </a:p>
          <a:p>
            <a:pPr marL="0" indent="0">
              <a:buNone/>
            </a:pPr>
            <a:r>
              <a:rPr lang="en-US" sz="2400" dirty="0">
                <a:latin typeface="Times New Roman" pitchFamily="18" charset="0"/>
                <a:cs typeface="Times New Roman" pitchFamily="18" charset="0"/>
              </a:rPr>
              <a:t>		(5, 'Emily', '1995-12-01', 110000, 'A2');</a:t>
            </a:r>
          </a:p>
          <a:p>
            <a:r>
              <a:rPr lang="en-US" sz="2400" dirty="0">
                <a:latin typeface="Times New Roman" pitchFamily="18" charset="0"/>
                <a:cs typeface="Times New Roman" pitchFamily="18" charset="0"/>
              </a:rPr>
              <a:t>INSERT INTO Area  VALUES</a:t>
            </a:r>
          </a:p>
          <a:p>
            <a:pPr marL="0" indent="0">
              <a:buNone/>
            </a:pPr>
            <a:r>
              <a:rPr lang="en-US" sz="2400" dirty="0">
                <a:latin typeface="Times New Roman" pitchFamily="18" charset="0"/>
                <a:cs typeface="Times New Roman" pitchFamily="18" charset="0"/>
              </a:rPr>
              <a:t>		('A1', 'Urban', 411014),</a:t>
            </a:r>
          </a:p>
          <a:p>
            <a:pPr marL="0" indent="0">
              <a:buNone/>
            </a:pPr>
            <a:r>
              <a:rPr lang="en-US" sz="2400" dirty="0">
                <a:latin typeface="Times New Roman" pitchFamily="18" charset="0"/>
                <a:cs typeface="Times New Roman" pitchFamily="18" charset="0"/>
              </a:rPr>
              <a:t>		('A2', '</a:t>
            </a:r>
            <a:r>
              <a:rPr lang="en-US" sz="2400" dirty="0" err="1">
                <a:latin typeface="Times New Roman" pitchFamily="18" charset="0"/>
                <a:cs typeface="Times New Roman" pitchFamily="18" charset="0"/>
              </a:rPr>
              <a:t>kalyaninagar</a:t>
            </a:r>
            <a:r>
              <a:rPr lang="en-US" sz="2400" dirty="0">
                <a:latin typeface="Times New Roman" pitchFamily="18" charset="0"/>
                <a:cs typeface="Times New Roman" pitchFamily="18" charset="0"/>
              </a:rPr>
              <a:t>', 411001),</a:t>
            </a:r>
          </a:p>
          <a:p>
            <a:pPr marL="0" indent="0">
              <a:buNone/>
            </a:pPr>
            <a:r>
              <a:rPr lang="en-US" sz="2400" dirty="0">
                <a:latin typeface="Times New Roman" pitchFamily="18" charset="0"/>
                <a:cs typeface="Times New Roman" pitchFamily="18" charset="0"/>
              </a:rPr>
              <a:t>		('A3', 'Rural', 411028);</a:t>
            </a:r>
          </a:p>
        </p:txBody>
      </p:sp>
    </p:spTree>
    <p:extLst>
      <p:ext uri="{BB962C8B-B14F-4D97-AF65-F5344CB8AC3E}">
        <p14:creationId xmlns:p14="http://schemas.microsoft.com/office/powerpoint/2010/main" val="233564544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9068" y="1254755"/>
            <a:ext cx="8946541" cy="4195481"/>
          </a:xfrm>
        </p:spPr>
        <p:txBody>
          <a:bodyPr>
            <a:normAutofit/>
          </a:bodyPr>
          <a:lstStyle/>
          <a:p>
            <a:r>
              <a:rPr lang="en-US" sz="2400" dirty="0">
                <a:latin typeface="Times New Roman" pitchFamily="18" charset="0"/>
                <a:cs typeface="Times New Roman" pitchFamily="18" charset="0"/>
              </a:rPr>
              <a:t>List the names of all people with income less than 100000:</a:t>
            </a:r>
          </a:p>
          <a:p>
            <a:pPr marL="0" indent="0">
              <a:buNone/>
            </a:pPr>
            <a:r>
              <a:rPr lang="en-US" sz="2400" dirty="0">
                <a:latin typeface="Times New Roman" pitchFamily="18" charset="0"/>
                <a:cs typeface="Times New Roman" pitchFamily="18" charset="0"/>
              </a:rPr>
              <a:t>		SELECT </a:t>
            </a:r>
            <a:r>
              <a:rPr lang="en-US" sz="2400" dirty="0" err="1">
                <a:latin typeface="Times New Roman" pitchFamily="18" charset="0"/>
                <a:cs typeface="Times New Roman" pitchFamily="18" charset="0"/>
              </a:rPr>
              <a:t>pname</a:t>
            </a:r>
            <a:r>
              <a:rPr lang="en-US" sz="2400" dirty="0">
                <a:latin typeface="Times New Roman" pitchFamily="18" charset="0"/>
                <a:cs typeface="Times New Roman" pitchFamily="18" charset="0"/>
              </a:rPr>
              <a:t> FROM Person WHERE income &lt; 100000;</a:t>
            </a:r>
          </a:p>
          <a:p>
            <a:r>
              <a:rPr lang="en-US" sz="2400" dirty="0">
                <a:latin typeface="Times New Roman" pitchFamily="18" charset="0"/>
                <a:cs typeface="Times New Roman" pitchFamily="18" charset="0"/>
              </a:rPr>
              <a:t>Change the </a:t>
            </a:r>
            <a:r>
              <a:rPr lang="en-US" sz="2400" dirty="0" err="1">
                <a:latin typeface="Times New Roman" pitchFamily="18" charset="0"/>
                <a:cs typeface="Times New Roman" pitchFamily="18" charset="0"/>
              </a:rPr>
              <a:t>pincode</a:t>
            </a:r>
            <a:r>
              <a:rPr lang="en-US" sz="2400" dirty="0">
                <a:latin typeface="Times New Roman" pitchFamily="18" charset="0"/>
                <a:cs typeface="Times New Roman" pitchFamily="18" charset="0"/>
              </a:rPr>
              <a:t> of '</a:t>
            </a:r>
            <a:r>
              <a:rPr lang="en-US" sz="2400" dirty="0" err="1">
                <a:latin typeface="Times New Roman" pitchFamily="18" charset="0"/>
                <a:cs typeface="Times New Roman" pitchFamily="18" charset="0"/>
              </a:rPr>
              <a:t>kalyaninagar</a:t>
            </a:r>
            <a:r>
              <a:rPr lang="en-US" sz="2400" dirty="0">
                <a:latin typeface="Times New Roman" pitchFamily="18" charset="0"/>
                <a:cs typeface="Times New Roman" pitchFamily="18" charset="0"/>
              </a:rPr>
              <a:t>' to 411036:</a:t>
            </a:r>
          </a:p>
          <a:p>
            <a:pPr marL="0" indent="0">
              <a:buNone/>
            </a:pPr>
            <a:r>
              <a:rPr lang="en-US" sz="2400" dirty="0">
                <a:latin typeface="Times New Roman" pitchFamily="18" charset="0"/>
                <a:cs typeface="Times New Roman" pitchFamily="18" charset="0"/>
              </a:rPr>
              <a:t>		UPDATE Area SET </a:t>
            </a:r>
            <a:r>
              <a:rPr lang="en-US" sz="2400" dirty="0" err="1">
                <a:latin typeface="Times New Roman" pitchFamily="18" charset="0"/>
                <a:cs typeface="Times New Roman" pitchFamily="18" charset="0"/>
              </a:rPr>
              <a:t>pincode</a:t>
            </a:r>
            <a:r>
              <a:rPr lang="en-US" sz="2400" dirty="0">
                <a:latin typeface="Times New Roman" pitchFamily="18" charset="0"/>
                <a:cs typeface="Times New Roman" pitchFamily="18" charset="0"/>
              </a:rPr>
              <a:t> = 411036 WHERE </a:t>
            </a:r>
            <a:r>
              <a:rPr lang="en-US" sz="2400" dirty="0" err="1">
                <a:latin typeface="Times New Roman" pitchFamily="18" charset="0"/>
                <a:cs typeface="Times New Roman" pitchFamily="18" charset="0"/>
              </a:rPr>
              <a:t>aname</a:t>
            </a:r>
            <a:r>
              <a:rPr lang="en-US" sz="2400" dirty="0">
                <a:latin typeface="Times New Roman" pitchFamily="18" charset="0"/>
                <a:cs typeface="Times New Roman" pitchFamily="18" charset="0"/>
              </a:rPr>
              <a:t> = 'A1';</a:t>
            </a:r>
          </a:p>
        </p:txBody>
      </p:sp>
    </p:spTree>
    <p:extLst>
      <p:ext uri="{BB962C8B-B14F-4D97-AF65-F5344CB8AC3E}">
        <p14:creationId xmlns:p14="http://schemas.microsoft.com/office/powerpoint/2010/main" val="399537385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576" y="386850"/>
            <a:ext cx="8946541" cy="5858967"/>
          </a:xfrm>
        </p:spPr>
        <p:txBody>
          <a:bodyPr>
            <a:noAutofit/>
          </a:bodyPr>
          <a:lstStyle/>
          <a:p>
            <a:pPr marL="0" indent="0">
              <a:buNone/>
            </a:pPr>
            <a:r>
              <a:rPr lang="en-US" sz="2400" dirty="0">
                <a:latin typeface="Times New Roman" pitchFamily="18" charset="0"/>
                <a:cs typeface="Times New Roman" pitchFamily="18" charset="0"/>
              </a:rPr>
              <a:t>Create the following tables ( primary keys are underlined). </a:t>
            </a: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Emp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eno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ename</a:t>
            </a:r>
            <a:r>
              <a:rPr lang="en-US" sz="2400" dirty="0">
                <a:latin typeface="Times New Roman" pitchFamily="18" charset="0"/>
                <a:cs typeface="Times New Roman" pitchFamily="18" charset="0"/>
              </a:rPr>
              <a:t>, salary) </a:t>
            </a:r>
          </a:p>
          <a:p>
            <a:pPr marL="0" indent="0">
              <a:buNone/>
            </a:pPr>
            <a:r>
              <a:rPr lang="en-US" sz="2400" dirty="0">
                <a:latin typeface="Times New Roman" pitchFamily="18" charset="0"/>
                <a:cs typeface="Times New Roman" pitchFamily="18" charset="0"/>
              </a:rPr>
              <a:t>	Project (</a:t>
            </a:r>
            <a:r>
              <a:rPr lang="en-US" sz="2400" dirty="0" err="1">
                <a:latin typeface="Times New Roman" pitchFamily="18" charset="0"/>
                <a:cs typeface="Times New Roman" pitchFamily="18" charset="0"/>
              </a:rPr>
              <a:t>pno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pname</a:t>
            </a:r>
            <a:r>
              <a:rPr lang="en-US" sz="2400" dirty="0">
                <a:latin typeface="Times New Roman" pitchFamily="18" charset="0"/>
                <a:cs typeface="Times New Roman" pitchFamily="18" charset="0"/>
              </a:rPr>
              <a:t>, budget) </a:t>
            </a:r>
          </a:p>
          <a:p>
            <a:pPr marL="0" indent="0">
              <a:buNone/>
            </a:pPr>
            <a:r>
              <a:rPr lang="en-US" sz="2400" dirty="0">
                <a:latin typeface="Times New Roman" pitchFamily="18" charset="0"/>
                <a:cs typeface="Times New Roman" pitchFamily="18" charset="0"/>
              </a:rPr>
              <a:t>Relationships: </a:t>
            </a:r>
            <a:r>
              <a:rPr lang="en-US" sz="2400" dirty="0" err="1">
                <a:latin typeface="Times New Roman" pitchFamily="18" charset="0"/>
                <a:cs typeface="Times New Roman" pitchFamily="18" charset="0"/>
              </a:rPr>
              <a:t>Emp</a:t>
            </a:r>
            <a:r>
              <a:rPr lang="en-US" sz="2400" dirty="0">
                <a:latin typeface="Times New Roman" pitchFamily="18" charset="0"/>
                <a:cs typeface="Times New Roman" pitchFamily="18" charset="0"/>
              </a:rPr>
              <a:t>–Project : M – M with descriptive attribute no-of-</a:t>
            </a:r>
            <a:r>
              <a:rPr lang="en-US" sz="2400" dirty="0" err="1">
                <a:latin typeface="Times New Roman" pitchFamily="18" charset="0"/>
                <a:cs typeface="Times New Roman" pitchFamily="18" charset="0"/>
              </a:rPr>
              <a:t>hrs.Create</a:t>
            </a:r>
            <a:r>
              <a:rPr lang="en-US" sz="2400" dirty="0">
                <a:latin typeface="Times New Roman" pitchFamily="18" charset="0"/>
                <a:cs typeface="Times New Roman" pitchFamily="18" charset="0"/>
              </a:rPr>
              <a:t> normalized tables (3NF) for the above and solve the following queries. Write &amp; execute insert/ update / delete statements for following business tasks </a:t>
            </a:r>
          </a:p>
          <a:p>
            <a:pPr marL="0" indent="0">
              <a:buNone/>
            </a:pPr>
            <a:r>
              <a:rPr lang="en-US" sz="2400" dirty="0">
                <a:latin typeface="Times New Roman" pitchFamily="18" charset="0"/>
                <a:cs typeface="Times New Roman" pitchFamily="18" charset="0"/>
              </a:rPr>
              <a:t>	a) Insert 5 records in the Employee table.</a:t>
            </a:r>
          </a:p>
          <a:p>
            <a:pPr marL="0" indent="0">
              <a:buNone/>
            </a:pPr>
            <a:r>
              <a:rPr lang="en-US" sz="2400" dirty="0">
                <a:latin typeface="Times New Roman" pitchFamily="18" charset="0"/>
                <a:cs typeface="Times New Roman" pitchFamily="18" charset="0"/>
              </a:rPr>
              <a:t>	b) Insert 5 records in the Project table. </a:t>
            </a:r>
          </a:p>
          <a:p>
            <a:pPr marL="0" indent="0">
              <a:buNone/>
            </a:pPr>
            <a:r>
              <a:rPr lang="en-US" sz="2400" dirty="0">
                <a:latin typeface="Times New Roman" pitchFamily="18" charset="0"/>
                <a:cs typeface="Times New Roman" pitchFamily="18" charset="0"/>
              </a:rPr>
              <a:t>	c) Increase the salary of all employees by10% </a:t>
            </a:r>
          </a:p>
          <a:p>
            <a:pPr marL="0" indent="0">
              <a:buNone/>
            </a:pPr>
            <a:r>
              <a:rPr lang="en-US" sz="2400" dirty="0">
                <a:latin typeface="Times New Roman" pitchFamily="18" charset="0"/>
                <a:cs typeface="Times New Roman" pitchFamily="18" charset="0"/>
              </a:rPr>
              <a:t>	d) Display all employee whose salary between 40000 to 70000 </a:t>
            </a:r>
          </a:p>
          <a:p>
            <a:pPr marL="0" indent="0">
              <a:buNone/>
            </a:pPr>
            <a:r>
              <a:rPr lang="en-US" sz="2400" dirty="0">
                <a:latin typeface="Times New Roman" pitchFamily="18" charset="0"/>
                <a:cs typeface="Times New Roman" pitchFamily="18" charset="0"/>
              </a:rPr>
              <a:t>	e) Delete all project whose project budget is greater than 300000</a:t>
            </a:r>
          </a:p>
        </p:txBody>
      </p:sp>
    </p:spTree>
    <p:extLst>
      <p:ext uri="{BB962C8B-B14F-4D97-AF65-F5344CB8AC3E}">
        <p14:creationId xmlns:p14="http://schemas.microsoft.com/office/powerpoint/2010/main" val="215276730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9583" y="518585"/>
            <a:ext cx="8946541" cy="5874466"/>
          </a:xfrm>
        </p:spPr>
        <p:txBody>
          <a:bodyPr>
            <a:noAutofit/>
          </a:bodyPr>
          <a:lstStyle/>
          <a:p>
            <a:pPr marL="0" indent="0">
              <a:buNone/>
            </a:pPr>
            <a:r>
              <a:rPr lang="en-US" dirty="0">
                <a:latin typeface="Times New Roman" pitchFamily="18" charset="0"/>
                <a:cs typeface="Times New Roman" pitchFamily="18" charset="0"/>
              </a:rPr>
              <a:t>CREATE TABLE </a:t>
            </a:r>
            <a:r>
              <a:rPr lang="en-US" dirty="0" err="1">
                <a:latin typeface="Times New Roman" pitchFamily="18" charset="0"/>
                <a:cs typeface="Times New Roman" pitchFamily="18" charset="0"/>
              </a:rPr>
              <a:t>Emp</a:t>
            </a: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eno</a:t>
            </a:r>
            <a:r>
              <a:rPr lang="en-US" dirty="0">
                <a:latin typeface="Times New Roman" pitchFamily="18" charset="0"/>
                <a:cs typeface="Times New Roman" pitchFamily="18" charset="0"/>
              </a:rPr>
              <a:t> INT PRIMARY KEY,</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ename</a:t>
            </a:r>
            <a:r>
              <a:rPr lang="en-US" dirty="0">
                <a:latin typeface="Times New Roman" pitchFamily="18" charset="0"/>
                <a:cs typeface="Times New Roman" pitchFamily="18" charset="0"/>
              </a:rPr>
              <a:t> VARCHAR(255),</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salary DECIMAL(10, 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dirty="0">
                <a:latin typeface="Times New Roman" pitchFamily="18" charset="0"/>
                <a:cs typeface="Times New Roman" pitchFamily="18" charset="0"/>
              </a:rPr>
              <a:t>CREATE TABLE Project (</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pno</a:t>
            </a:r>
            <a:r>
              <a:rPr lang="en-US" dirty="0">
                <a:latin typeface="Times New Roman" pitchFamily="18" charset="0"/>
                <a:cs typeface="Times New Roman" pitchFamily="18" charset="0"/>
              </a:rPr>
              <a:t> INT PRIMARY KEY,</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pname</a:t>
            </a:r>
            <a:r>
              <a:rPr lang="en-US" dirty="0">
                <a:latin typeface="Times New Roman" pitchFamily="18" charset="0"/>
                <a:cs typeface="Times New Roman" pitchFamily="18" charset="0"/>
              </a:rPr>
              <a:t> VARCHAR(255),</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budget DECIMAL(15, 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dirty="0">
                <a:latin typeface="Times New Roman" pitchFamily="18" charset="0"/>
                <a:cs typeface="Times New Roman" pitchFamily="18" charset="0"/>
              </a:rPr>
              <a:t>CREATE TABLE </a:t>
            </a:r>
            <a:r>
              <a:rPr lang="en-US" dirty="0" err="1">
                <a:latin typeface="Times New Roman" pitchFamily="18" charset="0"/>
                <a:cs typeface="Times New Roman" pitchFamily="18" charset="0"/>
              </a:rPr>
              <a:t>Emp_Project</a:t>
            </a: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eno</a:t>
            </a:r>
            <a:r>
              <a:rPr lang="en-US" dirty="0">
                <a:latin typeface="Times New Roman" pitchFamily="18" charset="0"/>
                <a:cs typeface="Times New Roman" pitchFamily="18" charset="0"/>
              </a:rPr>
              <a:t> INT,</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pno</a:t>
            </a:r>
            <a:r>
              <a:rPr lang="en-US" dirty="0">
                <a:latin typeface="Times New Roman" pitchFamily="18" charset="0"/>
                <a:cs typeface="Times New Roman" pitchFamily="18" charset="0"/>
              </a:rPr>
              <a:t> INT,</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no_of_hrs</a:t>
            </a:r>
            <a:r>
              <a:rPr lang="en-US" dirty="0">
                <a:latin typeface="Times New Roman" pitchFamily="18" charset="0"/>
                <a:cs typeface="Times New Roman" pitchFamily="18" charset="0"/>
              </a:rPr>
              <a:t> INT,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PRIMARY KEY (</a:t>
            </a:r>
            <a:r>
              <a:rPr lang="en-US" dirty="0" err="1">
                <a:latin typeface="Times New Roman" pitchFamily="18" charset="0"/>
                <a:cs typeface="Times New Roman" pitchFamily="18" charset="0"/>
              </a:rPr>
              <a:t>eno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pno</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FOREIGN KEY (</a:t>
            </a:r>
            <a:r>
              <a:rPr lang="en-US" dirty="0" err="1">
                <a:latin typeface="Times New Roman" pitchFamily="18" charset="0"/>
                <a:cs typeface="Times New Roman" pitchFamily="18" charset="0"/>
              </a:rPr>
              <a:t>eno</a:t>
            </a:r>
            <a:r>
              <a:rPr lang="en-US" dirty="0">
                <a:latin typeface="Times New Roman" pitchFamily="18" charset="0"/>
                <a:cs typeface="Times New Roman" pitchFamily="18" charset="0"/>
              </a:rPr>
              <a:t>) REFERENCES </a:t>
            </a:r>
            <a:r>
              <a:rPr lang="en-US" dirty="0" err="1">
                <a:latin typeface="Times New Roman" pitchFamily="18" charset="0"/>
                <a:cs typeface="Times New Roman" pitchFamily="18" charset="0"/>
              </a:rPr>
              <a:t>Emp</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eno</a:t>
            </a:r>
            <a:r>
              <a:rPr lang="en-US" dirty="0">
                <a:latin typeface="Times New Roman" pitchFamily="18" charset="0"/>
                <a:cs typeface="Times New Roman" pitchFamily="18" charset="0"/>
              </a:rPr>
              <a:t>) on delete cascade,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FOREIGN KEY (</a:t>
            </a:r>
            <a:r>
              <a:rPr lang="en-US" dirty="0" err="1">
                <a:latin typeface="Times New Roman" pitchFamily="18" charset="0"/>
                <a:cs typeface="Times New Roman" pitchFamily="18" charset="0"/>
              </a:rPr>
              <a:t>pno</a:t>
            </a:r>
            <a:r>
              <a:rPr lang="en-US" dirty="0">
                <a:latin typeface="Times New Roman" pitchFamily="18" charset="0"/>
                <a:cs typeface="Times New Roman" pitchFamily="18" charset="0"/>
              </a:rPr>
              <a:t>) REFERENCES Project(</a:t>
            </a:r>
            <a:r>
              <a:rPr lang="en-US" dirty="0" err="1">
                <a:latin typeface="Times New Roman" pitchFamily="18" charset="0"/>
                <a:cs typeface="Times New Roman" pitchFamily="18" charset="0"/>
              </a:rPr>
              <a:t>pno</a:t>
            </a:r>
            <a:r>
              <a:rPr lang="en-US" dirty="0">
                <a:latin typeface="Times New Roman" pitchFamily="18" charset="0"/>
                <a:cs typeface="Times New Roman" pitchFamily="18" charset="0"/>
              </a:rPr>
              <a:t>) on delete cascade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69721122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5562" y="534084"/>
            <a:ext cx="8946541" cy="5982953"/>
          </a:xfrm>
        </p:spPr>
        <p:txBody>
          <a:bodyPr/>
          <a:lstStyle/>
          <a:p>
            <a:r>
              <a:rPr lang="en-US" dirty="0"/>
              <a:t>INSERT INTO </a:t>
            </a:r>
            <a:r>
              <a:rPr lang="en-US" dirty="0" err="1"/>
              <a:t>Emp</a:t>
            </a:r>
            <a:r>
              <a:rPr lang="en-US" dirty="0"/>
              <a:t> (</a:t>
            </a:r>
            <a:r>
              <a:rPr lang="en-US" dirty="0" err="1"/>
              <a:t>eno</a:t>
            </a:r>
            <a:r>
              <a:rPr lang="en-US" dirty="0"/>
              <a:t>, </a:t>
            </a:r>
            <a:r>
              <a:rPr lang="en-US" dirty="0" err="1"/>
              <a:t>ename</a:t>
            </a:r>
            <a:r>
              <a:rPr lang="en-US" dirty="0"/>
              <a:t>, salary) VALUES</a:t>
            </a:r>
            <a:br>
              <a:rPr lang="en-US" dirty="0"/>
            </a:br>
            <a:r>
              <a:rPr lang="en-US" dirty="0"/>
              <a:t>(1, 'Alice', 50000.00),</a:t>
            </a:r>
            <a:br>
              <a:rPr lang="en-US" dirty="0"/>
            </a:br>
            <a:r>
              <a:rPr lang="en-US" dirty="0"/>
              <a:t>(2, 'Bob', 65000.00),</a:t>
            </a:r>
            <a:br>
              <a:rPr lang="en-US" dirty="0"/>
            </a:br>
            <a:r>
              <a:rPr lang="en-US" dirty="0"/>
              <a:t>(3, 'Charlie', 45000.00),</a:t>
            </a:r>
            <a:br>
              <a:rPr lang="en-US" dirty="0"/>
            </a:br>
            <a:r>
              <a:rPr lang="en-US" dirty="0"/>
              <a:t>(4, 'David', 75000.00),</a:t>
            </a:r>
            <a:br>
              <a:rPr lang="en-US" dirty="0"/>
            </a:br>
            <a:r>
              <a:rPr lang="en-US" dirty="0"/>
              <a:t>(5, 'Eve', 60000.00);</a:t>
            </a:r>
          </a:p>
          <a:p>
            <a:r>
              <a:rPr lang="en-US" dirty="0"/>
              <a:t>INSERT INTO Project (</a:t>
            </a:r>
            <a:r>
              <a:rPr lang="en-US" dirty="0" err="1"/>
              <a:t>pno</a:t>
            </a:r>
            <a:r>
              <a:rPr lang="en-US" dirty="0"/>
              <a:t>, </a:t>
            </a:r>
            <a:r>
              <a:rPr lang="en-US" dirty="0" err="1"/>
              <a:t>pname</a:t>
            </a:r>
            <a:r>
              <a:rPr lang="en-US" dirty="0"/>
              <a:t>, budget) VALUES</a:t>
            </a:r>
            <a:br>
              <a:rPr lang="en-US" dirty="0"/>
            </a:br>
            <a:r>
              <a:rPr lang="en-US" dirty="0"/>
              <a:t>(101, 'Alpha Project', 250000.00),</a:t>
            </a:r>
            <a:br>
              <a:rPr lang="en-US" dirty="0"/>
            </a:br>
            <a:r>
              <a:rPr lang="en-US" dirty="0"/>
              <a:t>(102, 'Beta Project', 350000.00),</a:t>
            </a:r>
            <a:br>
              <a:rPr lang="en-US" dirty="0"/>
            </a:br>
            <a:r>
              <a:rPr lang="en-US" dirty="0"/>
              <a:t>(103, 'Gamma Project', 180000.00),</a:t>
            </a:r>
            <a:br>
              <a:rPr lang="en-US" dirty="0"/>
            </a:br>
            <a:r>
              <a:rPr lang="en-US" dirty="0"/>
              <a:t>(104, 'Delta Project', 400000.00),</a:t>
            </a:r>
            <a:br>
              <a:rPr lang="en-US" dirty="0"/>
            </a:br>
            <a:r>
              <a:rPr lang="en-US" dirty="0"/>
              <a:t>(105, 'Epsilon Project', 290000.00);</a:t>
            </a:r>
          </a:p>
          <a:p>
            <a:r>
              <a:rPr lang="en-US" dirty="0"/>
              <a:t>INSERT INTO </a:t>
            </a:r>
            <a:r>
              <a:rPr lang="en-US" dirty="0" err="1"/>
              <a:t>Emp_Project</a:t>
            </a:r>
            <a:r>
              <a:rPr lang="en-US" dirty="0"/>
              <a:t> (</a:t>
            </a:r>
            <a:r>
              <a:rPr lang="en-US" dirty="0" err="1"/>
              <a:t>eno</a:t>
            </a:r>
            <a:r>
              <a:rPr lang="en-US" dirty="0"/>
              <a:t>, </a:t>
            </a:r>
            <a:r>
              <a:rPr lang="en-US" dirty="0" err="1"/>
              <a:t>pno</a:t>
            </a:r>
            <a:r>
              <a:rPr lang="en-US" dirty="0"/>
              <a:t>, </a:t>
            </a:r>
            <a:r>
              <a:rPr lang="en-US" dirty="0" err="1"/>
              <a:t>no_of_hrs</a:t>
            </a:r>
            <a:r>
              <a:rPr lang="en-US" dirty="0"/>
              <a:t>) VALUES</a:t>
            </a:r>
            <a:br>
              <a:rPr lang="en-US" dirty="0"/>
            </a:br>
            <a:r>
              <a:rPr lang="en-US" dirty="0"/>
              <a:t>(1, 101, 160),</a:t>
            </a:r>
            <a:br>
              <a:rPr lang="en-US" dirty="0"/>
            </a:br>
            <a:r>
              <a:rPr lang="en-US" dirty="0"/>
              <a:t>(2, 101, 120),</a:t>
            </a:r>
            <a:br>
              <a:rPr lang="en-US" dirty="0"/>
            </a:br>
            <a:r>
              <a:rPr lang="en-US" dirty="0"/>
              <a:t>(3, 103, 80),</a:t>
            </a:r>
            <a:br>
              <a:rPr lang="en-US" dirty="0"/>
            </a:br>
            <a:r>
              <a:rPr lang="en-US" dirty="0"/>
              <a:t>(4, 105, 200),</a:t>
            </a:r>
            <a:br>
              <a:rPr lang="en-US" dirty="0"/>
            </a:br>
            <a:r>
              <a:rPr lang="en-US" dirty="0"/>
              <a:t>(5, 103, 90);</a:t>
            </a:r>
          </a:p>
        </p:txBody>
      </p:sp>
    </p:spTree>
    <p:extLst>
      <p:ext uri="{BB962C8B-B14F-4D97-AF65-F5344CB8AC3E}">
        <p14:creationId xmlns:p14="http://schemas.microsoft.com/office/powerpoint/2010/main" val="154588479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2091" y="898294"/>
            <a:ext cx="8946541" cy="5719482"/>
          </a:xfrm>
        </p:spPr>
        <p:txBody>
          <a:bodyPr/>
          <a:lstStyle/>
          <a:p>
            <a:r>
              <a:rPr lang="en-US" dirty="0"/>
              <a:t> </a:t>
            </a:r>
            <a:r>
              <a:rPr lang="en-US" sz="2400" dirty="0">
                <a:latin typeface="Times New Roman" pitchFamily="18" charset="0"/>
                <a:cs typeface="Times New Roman" pitchFamily="18" charset="0"/>
              </a:rPr>
              <a:t>Increase the salary of all employees by 10%.</a:t>
            </a:r>
          </a:p>
          <a:p>
            <a:pPr marL="0" indent="0">
              <a:buNone/>
            </a:pPr>
            <a:r>
              <a:rPr lang="en-US" sz="2400" dirty="0">
                <a:latin typeface="Times New Roman" pitchFamily="18" charset="0"/>
                <a:cs typeface="Times New Roman" pitchFamily="18" charset="0"/>
              </a:rPr>
              <a:t>		UPDATE </a:t>
            </a:r>
            <a:r>
              <a:rPr lang="en-US" sz="2400" dirty="0" err="1">
                <a:latin typeface="Times New Roman" pitchFamily="18" charset="0"/>
                <a:cs typeface="Times New Roman" pitchFamily="18" charset="0"/>
              </a:rPr>
              <a:t>EmpSET</a:t>
            </a:r>
            <a:r>
              <a:rPr lang="en-US" sz="2400" dirty="0">
                <a:latin typeface="Times New Roman" pitchFamily="18" charset="0"/>
                <a:cs typeface="Times New Roman" pitchFamily="18" charset="0"/>
              </a:rPr>
              <a:t> salary = salary * 1.10;</a:t>
            </a:r>
          </a:p>
          <a:p>
            <a:pPr marL="0" indent="0">
              <a:buNone/>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Display all employees whose salary is between 40000 to 70000.</a:t>
            </a:r>
          </a:p>
          <a:p>
            <a:pPr marL="0" indent="0">
              <a:buNone/>
            </a:pPr>
            <a:r>
              <a:rPr lang="en-US" sz="2400" dirty="0">
                <a:latin typeface="Times New Roman" pitchFamily="18" charset="0"/>
                <a:cs typeface="Times New Roman" pitchFamily="18" charset="0"/>
              </a:rPr>
              <a:t>		SELECT </a:t>
            </a:r>
            <a:r>
              <a:rPr lang="en-US" sz="2400" dirty="0" err="1">
                <a:latin typeface="Times New Roman" pitchFamily="18" charset="0"/>
                <a:cs typeface="Times New Roman" pitchFamily="18" charset="0"/>
              </a:rPr>
              <a:t>eno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ename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salaryFROM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EmpWHERE</a:t>
            </a:r>
            <a:r>
              <a:rPr lang="en-US" sz="2400" dirty="0">
                <a:latin typeface="Times New Roman" pitchFamily="18" charset="0"/>
                <a:cs typeface="Times New Roman" pitchFamily="18" charset="0"/>
              </a:rPr>
              <a:t> salary BETWEEN 			40000 AND 70000;</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Delete all projects whose project budget is greater than 300000.</a:t>
            </a:r>
          </a:p>
          <a:p>
            <a:pPr marL="0" indent="0">
              <a:buNone/>
            </a:pPr>
            <a:r>
              <a:rPr lang="en-US" sz="2400" dirty="0">
                <a:latin typeface="Times New Roman" pitchFamily="18" charset="0"/>
                <a:cs typeface="Times New Roman" pitchFamily="18" charset="0"/>
              </a:rPr>
              <a:t>		DELETE FROM </a:t>
            </a:r>
            <a:r>
              <a:rPr lang="en-US" sz="2400" dirty="0" err="1">
                <a:latin typeface="Times New Roman" pitchFamily="18" charset="0"/>
                <a:cs typeface="Times New Roman" pitchFamily="18" charset="0"/>
              </a:rPr>
              <a:t>ProjectWHERE</a:t>
            </a:r>
            <a:r>
              <a:rPr lang="en-US" sz="2400" dirty="0">
                <a:latin typeface="Times New Roman" pitchFamily="18" charset="0"/>
                <a:cs typeface="Times New Roman" pitchFamily="18" charset="0"/>
              </a:rPr>
              <a:t> budget &gt; 300000.00;</a:t>
            </a:r>
          </a:p>
        </p:txBody>
      </p:sp>
    </p:spTree>
    <p:extLst>
      <p:ext uri="{BB962C8B-B14F-4D97-AF65-F5344CB8AC3E}">
        <p14:creationId xmlns:p14="http://schemas.microsoft.com/office/powerpoint/2010/main" val="337970044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267</TotalTime>
  <Words>5048</Words>
  <Application>Microsoft Office PowerPoint</Application>
  <PresentationFormat>Widescreen</PresentationFormat>
  <Paragraphs>413</Paragraphs>
  <Slides>61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Century Gothic</vt:lpstr>
      <vt:lpstr>Roboto</vt:lpstr>
      <vt:lpstr>Times New Roman</vt:lpstr>
      <vt:lpstr>Wingdings 3</vt:lpstr>
      <vt:lpstr>Ion</vt:lpstr>
      <vt:lpstr>Structured Query Language (SQL)</vt:lpstr>
      <vt:lpstr>Introduction:</vt:lpstr>
      <vt:lpstr>Basic Structure:</vt:lpstr>
      <vt:lpstr>Basic Data Types</vt:lpstr>
      <vt:lpstr>Basic Data Types</vt:lpstr>
      <vt:lpstr>Date/Time Types </vt:lpstr>
      <vt:lpstr>Binary Data Types &amp; Boolean Type </vt:lpstr>
      <vt:lpstr>PostgreSQL - Operators </vt:lpstr>
      <vt:lpstr>PostgreSQL - CREATE Database </vt:lpstr>
      <vt:lpstr>PostgreSQL Database</vt:lpstr>
      <vt:lpstr>PostgreSQL Database</vt:lpstr>
      <vt:lpstr>CREATE TABLE </vt:lpstr>
      <vt:lpstr>CREATE TABLE</vt:lpstr>
      <vt:lpstr>INSERT </vt:lpstr>
      <vt:lpstr>INSERT</vt:lpstr>
      <vt:lpstr>WHERE clause</vt:lpstr>
      <vt:lpstr>WHERE Clause with the Equal (=) Operator </vt:lpstr>
      <vt:lpstr>WHERE Clause with the OR Operator</vt:lpstr>
      <vt:lpstr>WHERE Clause with the LIKE Operator </vt:lpstr>
      <vt:lpstr>WHERE Clause with the Not Equal Operator (&lt;&gt;) </vt:lpstr>
      <vt:lpstr>AVG Function</vt:lpstr>
      <vt:lpstr>MIN and MAX Functions</vt:lpstr>
      <vt:lpstr>COUNT Function</vt:lpstr>
      <vt:lpstr>SUM Function</vt:lpstr>
      <vt:lpstr>ORDER BY</vt:lpstr>
      <vt:lpstr>Sort Alphabetically </vt:lpstr>
      <vt:lpstr>SELECT DISTINCT</vt:lpstr>
      <vt:lpstr>The LIMIT Clause</vt:lpstr>
      <vt:lpstr>HAVING Clause</vt:lpstr>
      <vt:lpstr>EXISTS Operator</vt:lpstr>
      <vt:lpstr>NOT EXISTS</vt:lpstr>
      <vt:lpstr>ADD COLUMN in table</vt:lpstr>
      <vt:lpstr>The UPDATE Statement</vt:lpstr>
      <vt:lpstr>The DELETE Statement</vt:lpstr>
      <vt:lpstr>PowerPoint Presentation</vt:lpstr>
      <vt:lpstr>PowerPoint Presentation</vt:lpstr>
      <vt:lpstr>PowerPoint Presentation</vt:lpstr>
      <vt:lpstr>PowerPoint Presentation</vt:lpstr>
      <vt:lpstr>PowerPoint Presentation</vt:lpstr>
      <vt:lpstr>FOREIGN KEY Constraint</vt:lpstr>
      <vt:lpstr>FOREIGN KEY Constraint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Animation-19</dc:creator>
  <cp:lastModifiedBy>Paras Dangi</cp:lastModifiedBy>
  <cp:revision>125</cp:revision>
  <dcterms:created xsi:type="dcterms:W3CDTF">2025-07-02T03:40:51Z</dcterms:created>
  <dcterms:modified xsi:type="dcterms:W3CDTF">2025-08-03T09:45:47Z</dcterms:modified>
</cp:coreProperties>
</file>