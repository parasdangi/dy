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8" r:id="rId45"/>
    <p:sldId id="309" r:id="rId46"/>
    <p:sldId id="310" r:id="rId47"/>
    <p:sldId id="311" r:id="rId48"/>
    <p:sldId id="299" r:id="rId49"/>
    <p:sldId id="300" r:id="rId50"/>
    <p:sldId id="301" r:id="rId51"/>
    <p:sldId id="302" r:id="rId52"/>
    <p:sldId id="303" r:id="rId53"/>
    <p:sldId id="304" r:id="rId54"/>
    <p:sldId id="305" r:id="rId55"/>
    <p:sldId id="306"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gvHHxWbo6WnNGWSkL56GedH+y9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09C8939-ABBA-42F0-B8FC-146BF491C98F}">
  <a:tblStyle styleId="{C09C8939-ABBA-42F0-B8FC-146BF491C98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9D870507-2D28-445A-BDD3-E9B158EBC759}"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9" d="100"/>
          <a:sy n="69" d="100"/>
        </p:scale>
        <p:origin x="141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08969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7" name="Google Shape;277;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085792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571102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1365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024635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75387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94549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070896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4686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7261168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40337650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6107691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267403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71463100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8390065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8622112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084677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769809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8295314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a:t>2. Statistical Analysis in data science</a:t>
            </a:r>
            <a:endParaRPr/>
          </a:p>
        </p:txBody>
      </p:sp>
      <p:sp>
        <p:nvSpPr>
          <p:cNvPr id="89" name="Google Shape;89;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974806"/>
              </a:buClr>
              <a:buSzPts val="3200"/>
              <a:buNone/>
            </a:pPr>
            <a:r>
              <a:rPr lang="en-US">
                <a:solidFill>
                  <a:srgbClr val="974806"/>
                </a:solidFill>
              </a:rPr>
              <a:t>Ashwini Patil</a:t>
            </a:r>
            <a:endParaRPr>
              <a:solidFill>
                <a:srgbClr val="974806"/>
              </a:solidFill>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br>
              <a:rPr lang="en-US" sz="3200"/>
            </a:br>
            <a:br>
              <a:rPr lang="en-US" sz="3200"/>
            </a:br>
            <a:r>
              <a:rPr lang="en-US" sz="3100" b="1">
                <a:latin typeface="Times New Roman"/>
                <a:ea typeface="Times New Roman"/>
                <a:cs typeface="Times New Roman"/>
                <a:sym typeface="Times New Roman"/>
              </a:rPr>
              <a:t>What is Statistical Analysis?</a:t>
            </a:r>
            <a:br>
              <a:rPr lang="en-US" sz="3100" b="1">
                <a:latin typeface="Times New Roman"/>
                <a:ea typeface="Times New Roman"/>
                <a:cs typeface="Times New Roman"/>
                <a:sym typeface="Times New Roman"/>
              </a:rPr>
            </a:br>
            <a:br>
              <a:rPr lang="en-US" sz="3100" b="1">
                <a:latin typeface="Times New Roman"/>
                <a:ea typeface="Times New Roman"/>
                <a:cs typeface="Times New Roman"/>
                <a:sym typeface="Times New Roman"/>
              </a:rPr>
            </a:br>
            <a:endParaRPr sz="3100" b="1">
              <a:latin typeface="Times New Roman"/>
              <a:ea typeface="Times New Roman"/>
              <a:cs typeface="Times New Roman"/>
              <a:sym typeface="Times New Roman"/>
            </a:endParaRPr>
          </a:p>
        </p:txBody>
      </p:sp>
      <p:sp>
        <p:nvSpPr>
          <p:cNvPr id="95" name="Google Shape;95;p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a:latin typeface="Times New Roman"/>
                <a:ea typeface="Times New Roman"/>
                <a:cs typeface="Times New Roman"/>
                <a:sym typeface="Times New Roman"/>
              </a:rPr>
              <a:t>Statistical analysis is a systematic process for collecting, analyzing, interpreting, and presenting data. It involves applying statistical methods to understand patterns, trends, correlations, and variability within datasets. Numerous disciplines, including business, economics, social sciences, science, and engineering, heavily rely on statistical analysis. The primary objectives of statistical analysis are to make defensible decisions, gain valuable insights, and derive reliable conclusions from data.</a:t>
            </a:r>
            <a:endParaRPr sz="2000">
              <a:latin typeface="Times New Roman"/>
              <a:ea typeface="Times New Roman"/>
              <a:cs typeface="Times New Roman"/>
              <a:sym typeface="Times New Roman"/>
            </a:endParaRPr>
          </a:p>
          <a:p>
            <a:pPr marL="0" lvl="0" indent="0" algn="just" rtl="0">
              <a:spcBef>
                <a:spcPts val="400"/>
              </a:spcBef>
              <a:spcAft>
                <a:spcPts val="0"/>
              </a:spcAft>
              <a:buClr>
                <a:schemeClr val="dk1"/>
              </a:buClr>
              <a:buSzPts val="2000"/>
              <a:buNone/>
            </a:pP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b="1"/>
              <a:t>Types of Data in statistics</a:t>
            </a:r>
            <a:br>
              <a:rPr lang="en-US" sz="3600" b="1"/>
            </a:br>
            <a:endParaRPr sz="3600" b="1"/>
          </a:p>
        </p:txBody>
      </p:sp>
      <p:sp>
        <p:nvSpPr>
          <p:cNvPr id="101" name="Google Shape;101;p3"/>
          <p:cNvSpPr txBox="1">
            <a:spLocks noGrp="1"/>
          </p:cNvSpPr>
          <p:nvPr>
            <p:ph idx="1"/>
          </p:nvPr>
        </p:nvSpPr>
        <p:spPr>
          <a:xfrm>
            <a:off x="152400" y="1143000"/>
            <a:ext cx="8715600" cy="56115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Qualitative Data</a:t>
            </a:r>
            <a:endParaRPr sz="2000">
              <a:latin typeface="Times New Roman"/>
              <a:ea typeface="Times New Roman"/>
              <a:cs typeface="Times New Roman"/>
              <a:sym typeface="Times New Roman"/>
            </a:endParaRPr>
          </a:p>
          <a:p>
            <a:pPr marL="0" lvl="0" indent="0" algn="just" rtl="0">
              <a:spcBef>
                <a:spcPts val="400"/>
              </a:spcBef>
              <a:spcAft>
                <a:spcPts val="0"/>
              </a:spcAft>
              <a:buClr>
                <a:schemeClr val="dk1"/>
              </a:buClr>
              <a:buSzPts val="2000"/>
              <a:buNone/>
            </a:pPr>
            <a:r>
              <a:rPr lang="en-US" sz="2000">
                <a:latin typeface="Times New Roman"/>
                <a:ea typeface="Times New Roman"/>
                <a:cs typeface="Times New Roman"/>
                <a:sym typeface="Times New Roman"/>
              </a:rPr>
              <a:t>Qualitative Data uses variables to represent labels or characteristics of entities or objects, such as movie genres or travel methods. The labels cannot be represented in numerical form, and their numerical values may not hold any significance. Qualitative data is also known as categorical data it is expressed through indicators and deals with perceptions.</a:t>
            </a:r>
            <a:endParaRPr/>
          </a:p>
          <a:p>
            <a:pPr marL="0" lvl="0" indent="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102" name="Google Shape;102;p3"/>
          <p:cNvPicPr preferRelativeResize="0"/>
          <p:nvPr/>
        </p:nvPicPr>
        <p:blipFill rotWithShape="1">
          <a:blip r:embed="rId3">
            <a:alphaModFix/>
          </a:blip>
          <a:srcRect/>
          <a:stretch/>
        </p:blipFill>
        <p:spPr>
          <a:xfrm>
            <a:off x="2220686" y="3200400"/>
            <a:ext cx="4191000" cy="304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Quantitative Data </a:t>
            </a:r>
            <a:br>
              <a:rPr lang="en-US" sz="3200" b="1"/>
            </a:br>
            <a:endParaRPr sz="3200"/>
          </a:p>
        </p:txBody>
      </p:sp>
      <p:sp>
        <p:nvSpPr>
          <p:cNvPr id="108" name="Google Shape;108;p4"/>
          <p:cNvSpPr txBox="1">
            <a:spLocks noGrp="1"/>
          </p:cNvSpPr>
          <p:nvPr>
            <p:ph idx="1"/>
          </p:nvPr>
        </p:nvSpPr>
        <p:spPr>
          <a:xfrm>
            <a:off x="192150" y="1078950"/>
            <a:ext cx="8690700" cy="54687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a:latin typeface="Times New Roman"/>
                <a:ea typeface="Times New Roman"/>
                <a:cs typeface="Times New Roman"/>
                <a:sym typeface="Times New Roman"/>
              </a:rPr>
              <a:t>Quantitative data are</a:t>
            </a: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data</a:t>
            </a: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represented numerically, including anything that can be counted, measured, or given a numerical value. Quantitative data can be classified in different ways, including categorical data that contain categories or groups (like countries), discrete data that can be counted in whole numbers (like the number of students in a class), and continuous data that is a value in a range (like height or temperature). Quantitative data are typically analyzed with statistics. </a:t>
            </a: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Examples</a:t>
            </a:r>
            <a:endParaRPr/>
          </a:p>
          <a:p>
            <a:pPr marL="0" lvl="0" indent="0" algn="just" rtl="0">
              <a:spcBef>
                <a:spcPts val="400"/>
              </a:spcBef>
              <a:spcAft>
                <a:spcPts val="0"/>
              </a:spcAft>
              <a:buClr>
                <a:schemeClr val="dk1"/>
              </a:buClr>
              <a:buSzPts val="2000"/>
              <a:buNone/>
            </a:pPr>
            <a:r>
              <a:rPr lang="en-US" sz="2000">
                <a:latin typeface="Times New Roman"/>
                <a:ea typeface="Times New Roman"/>
                <a:cs typeface="Times New Roman"/>
                <a:sym typeface="Times New Roman"/>
              </a:rPr>
              <a:t>Examples of quantitative data are a spreadsheet of numbers or data collected from a survey question where an answer must be selected from a pre-determined set of values.</a:t>
            </a:r>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Types of Qualitative Data</a:t>
            </a:r>
            <a:br>
              <a:rPr lang="en-US" sz="3200" b="1"/>
            </a:br>
            <a:endParaRPr sz="3200"/>
          </a:p>
        </p:txBody>
      </p:sp>
      <p:sp>
        <p:nvSpPr>
          <p:cNvPr id="114" name="Google Shape;114;p5"/>
          <p:cNvSpPr txBox="1">
            <a:spLocks noGrp="1"/>
          </p:cNvSpPr>
          <p:nvPr>
            <p:ph idx="1"/>
          </p:nvPr>
        </p:nvSpPr>
        <p:spPr>
          <a:xfrm>
            <a:off x="76200" y="1295400"/>
            <a:ext cx="8763000" cy="5287963"/>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0"/>
              </a:spcBef>
              <a:spcAft>
                <a:spcPts val="0"/>
              </a:spcAft>
              <a:buClr>
                <a:schemeClr val="dk1"/>
              </a:buClr>
              <a:buSzPct val="100000"/>
              <a:buNone/>
            </a:pPr>
            <a:r>
              <a:rPr lang="en-US" sz="2000">
                <a:latin typeface="Times New Roman"/>
                <a:ea typeface="Times New Roman"/>
                <a:cs typeface="Times New Roman"/>
                <a:sym typeface="Times New Roman"/>
              </a:rPr>
              <a:t>Qualitative data can be further categorized into the following types:</a:t>
            </a:r>
            <a:endParaRPr/>
          </a:p>
          <a:p>
            <a:pPr marL="342900" lvl="0" indent="-342900" algn="just" rtl="0">
              <a:spcBef>
                <a:spcPts val="370"/>
              </a:spcBef>
              <a:spcAft>
                <a:spcPts val="0"/>
              </a:spcAft>
              <a:buClr>
                <a:schemeClr val="dk1"/>
              </a:buClr>
              <a:buSzPct val="100000"/>
              <a:buChar char="•"/>
            </a:pPr>
            <a:r>
              <a:rPr lang="en-US" sz="2000" b="1">
                <a:latin typeface="Times New Roman"/>
                <a:ea typeface="Times New Roman"/>
                <a:cs typeface="Times New Roman"/>
                <a:sym typeface="Times New Roman"/>
              </a:rPr>
              <a:t>Nominal Data</a:t>
            </a:r>
            <a:endParaRPr sz="2000">
              <a:latin typeface="Times New Roman"/>
              <a:ea typeface="Times New Roman"/>
              <a:cs typeface="Times New Roman"/>
              <a:sym typeface="Times New Roman"/>
            </a:endParaRPr>
          </a:p>
          <a:p>
            <a:pPr marL="342900" lvl="0" indent="-342900" algn="just" rtl="0">
              <a:spcBef>
                <a:spcPts val="370"/>
              </a:spcBef>
              <a:spcAft>
                <a:spcPts val="0"/>
              </a:spcAft>
              <a:buClr>
                <a:schemeClr val="dk1"/>
              </a:buClr>
              <a:buSzPct val="100000"/>
              <a:buChar char="•"/>
            </a:pPr>
            <a:r>
              <a:rPr lang="en-US" sz="2000" b="1">
                <a:latin typeface="Times New Roman"/>
                <a:ea typeface="Times New Roman"/>
                <a:cs typeface="Times New Roman"/>
                <a:sym typeface="Times New Roman"/>
              </a:rPr>
              <a:t>Ordinal Data</a:t>
            </a:r>
            <a:endParaRPr sz="2000">
              <a:latin typeface="Times New Roman"/>
              <a:ea typeface="Times New Roman"/>
              <a:cs typeface="Times New Roman"/>
              <a:sym typeface="Times New Roman"/>
            </a:endParaRPr>
          </a:p>
          <a:p>
            <a:pPr marL="0" lvl="0" indent="0" algn="just" rtl="0">
              <a:spcBef>
                <a:spcPts val="370"/>
              </a:spcBef>
              <a:spcAft>
                <a:spcPts val="0"/>
              </a:spcAft>
              <a:buClr>
                <a:schemeClr val="dk1"/>
              </a:buClr>
              <a:buSzPct val="100000"/>
              <a:buNone/>
            </a:pPr>
            <a:endParaRPr sz="2000" b="1">
              <a:latin typeface="Times New Roman"/>
              <a:ea typeface="Times New Roman"/>
              <a:cs typeface="Times New Roman"/>
              <a:sym typeface="Times New Roman"/>
            </a:endParaRPr>
          </a:p>
          <a:p>
            <a:pPr marL="0" lvl="0" indent="0" algn="just" rtl="0">
              <a:spcBef>
                <a:spcPts val="370"/>
              </a:spcBef>
              <a:spcAft>
                <a:spcPts val="0"/>
              </a:spcAft>
              <a:buClr>
                <a:schemeClr val="dk1"/>
              </a:buClr>
              <a:buSzPct val="100000"/>
              <a:buNone/>
            </a:pPr>
            <a:r>
              <a:rPr lang="en-US" sz="2000" b="1">
                <a:latin typeface="Times New Roman"/>
                <a:ea typeface="Times New Roman"/>
                <a:cs typeface="Times New Roman"/>
                <a:sym typeface="Times New Roman"/>
              </a:rPr>
              <a:t>Nominal Data:</a:t>
            </a:r>
            <a:endParaRPr/>
          </a:p>
          <a:p>
            <a:pPr marL="0" lvl="0" indent="0" algn="just" rtl="0">
              <a:spcBef>
                <a:spcPts val="370"/>
              </a:spcBef>
              <a:spcAft>
                <a:spcPts val="0"/>
              </a:spcAft>
              <a:buClr>
                <a:schemeClr val="dk1"/>
              </a:buClr>
              <a:buSzPct val="100000"/>
              <a:buNone/>
            </a:pPr>
            <a:r>
              <a:rPr lang="en-US" sz="2000">
                <a:latin typeface="Times New Roman"/>
                <a:ea typeface="Times New Roman"/>
                <a:cs typeface="Times New Roman"/>
                <a:sym typeface="Times New Roman"/>
              </a:rPr>
              <a:t>Nominal Data is represented using names, as indicated by their Latin origin. It includes named or labeled data and does not consider numerical values. For example, different movie or series genres, such as horror, sci-fi, and rom-com, are nominal categorical data. They are labeled in different forms.</a:t>
            </a:r>
            <a:endParaRPr/>
          </a:p>
          <a:p>
            <a:pPr marL="0" lvl="0" indent="0" algn="just" rtl="0">
              <a:spcBef>
                <a:spcPts val="370"/>
              </a:spcBef>
              <a:spcAft>
                <a:spcPts val="0"/>
              </a:spcAft>
              <a:buClr>
                <a:schemeClr val="dk1"/>
              </a:buClr>
              <a:buSzPct val="100000"/>
              <a:buNone/>
            </a:pPr>
            <a:r>
              <a:rPr lang="en-US" sz="2000" b="1">
                <a:latin typeface="Times New Roman"/>
                <a:ea typeface="Times New Roman"/>
                <a:cs typeface="Times New Roman"/>
                <a:sym typeface="Times New Roman"/>
              </a:rPr>
              <a:t>Ordinal Data:</a:t>
            </a:r>
            <a:endParaRPr/>
          </a:p>
          <a:p>
            <a:pPr marL="0" lvl="0" indent="0" algn="just" rtl="0">
              <a:spcBef>
                <a:spcPts val="370"/>
              </a:spcBef>
              <a:spcAft>
                <a:spcPts val="0"/>
              </a:spcAft>
              <a:buClr>
                <a:schemeClr val="dk1"/>
              </a:buClr>
              <a:buSzPct val="100000"/>
              <a:buNone/>
            </a:pPr>
            <a:r>
              <a:rPr lang="en-US" sz="2000">
                <a:latin typeface="Times New Roman"/>
                <a:ea typeface="Times New Roman"/>
                <a:cs typeface="Times New Roman"/>
                <a:sym typeface="Times New Roman"/>
              </a:rPr>
              <a:t>Ordinal qualitative data uses a certain scale or measure to group data into categories or groups. The data is generally ordered or measured, but the scale used to represent the data may not be standard or specific. This type of data includes numerical values and displays properties of both categorical data and numerical data. Categorical data can be analyzed by making groups, and it can be visually represented using bar graphs. Ordinal categorical data can be illustrated using surveys that use numbers to compute comparison data belonging to groups under categorical variables.</a:t>
            </a:r>
            <a:endParaRPr sz="2000" b="1">
              <a:latin typeface="Times New Roman"/>
              <a:ea typeface="Times New Roman"/>
              <a:cs typeface="Times New Roman"/>
              <a:sym typeface="Times New Roman"/>
            </a:endParaRPr>
          </a:p>
          <a:p>
            <a:pPr marL="0" lvl="0" indent="0" algn="l" rtl="0">
              <a:spcBef>
                <a:spcPts val="333"/>
              </a:spcBef>
              <a:spcAft>
                <a:spcPts val="0"/>
              </a:spcAft>
              <a:buClr>
                <a:schemeClr val="dk1"/>
              </a:buClr>
              <a:buSzPct val="100000"/>
              <a:buNone/>
            </a:pPr>
            <a:endParaRPr sz="1800" b="1"/>
          </a:p>
          <a:p>
            <a:pPr marL="0" lvl="0" indent="0" algn="l" rtl="0">
              <a:spcBef>
                <a:spcPts val="333"/>
              </a:spcBef>
              <a:spcAft>
                <a:spcPts val="0"/>
              </a:spcAft>
              <a:buClr>
                <a:schemeClr val="dk1"/>
              </a:buClr>
              <a:buSzPct val="100000"/>
              <a:buNone/>
            </a:pPr>
            <a:endParaRPr sz="180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barn(inVertical)">
                                      <p:cBhvr>
                                        <p:cTn id="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Types of Qualitative Data</a:t>
            </a:r>
            <a:br>
              <a:rPr lang="en-US" sz="3200" b="1">
                <a:latin typeface="Times New Roman"/>
                <a:ea typeface="Times New Roman"/>
                <a:cs typeface="Times New Roman"/>
                <a:sym typeface="Times New Roman"/>
              </a:rPr>
            </a:br>
            <a:endParaRPr sz="3200" b="1">
              <a:latin typeface="Times New Roman"/>
              <a:ea typeface="Times New Roman"/>
              <a:cs typeface="Times New Roman"/>
              <a:sym typeface="Times New Roman"/>
            </a:endParaRPr>
          </a:p>
        </p:txBody>
      </p:sp>
      <p:sp>
        <p:nvSpPr>
          <p:cNvPr id="120" name="Google Shape;120;p6"/>
          <p:cNvSpPr txBox="1">
            <a:spLocks noGrp="1"/>
          </p:cNvSpPr>
          <p:nvPr>
            <p:ph idx="1"/>
          </p:nvPr>
        </p:nvSpPr>
        <p:spPr>
          <a:xfrm>
            <a:off x="152400" y="990600"/>
            <a:ext cx="8534400" cy="51355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Noto Sans Symbols"/>
              <a:buChar char="❖"/>
            </a:pPr>
            <a:r>
              <a:rPr lang="en-US" sz="2000" b="1">
                <a:latin typeface="Times New Roman"/>
                <a:ea typeface="Times New Roman"/>
                <a:cs typeface="Times New Roman"/>
                <a:sym typeface="Times New Roman"/>
              </a:rPr>
              <a:t>Discrete data</a:t>
            </a:r>
            <a:endParaRPr/>
          </a:p>
          <a:p>
            <a:pPr marL="342900" lvl="0" indent="-342900" algn="just"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Discrete data is information that can only take certain numerical values. This type of data is often represented using tally charts, bar graphs, or pie charts.</a:t>
            </a:r>
            <a:endParaRPr/>
          </a:p>
          <a:p>
            <a:pPr marL="342900" lvl="0" indent="-342900" algn="just"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Discrete data is information that is collected and can be counted. This type of data only has a certain number of values. Typically, it involves integers—whole numbers, rather than fractions. For instance, the number of students in your class is discrete data to be counted as a whole (for example, you can’t have 22.5 students).</a:t>
            </a:r>
            <a:endParaRPr/>
          </a:p>
          <a:p>
            <a:pPr marL="0" lvl="0" indent="0" algn="l"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121" name="Google Shape;121;p6"/>
          <p:cNvPicPr preferRelativeResize="0"/>
          <p:nvPr/>
        </p:nvPicPr>
        <p:blipFill rotWithShape="1">
          <a:blip r:embed="rId3">
            <a:alphaModFix/>
          </a:blip>
          <a:srcRect/>
          <a:stretch/>
        </p:blipFill>
        <p:spPr>
          <a:xfrm>
            <a:off x="381000" y="3657600"/>
            <a:ext cx="8153400" cy="2743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p:nvPr/>
        </p:nvSpPr>
        <p:spPr>
          <a:xfrm>
            <a:off x="152400" y="228600"/>
            <a:ext cx="8686800" cy="4955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Times New Roman"/>
                <a:ea typeface="Times New Roman"/>
                <a:cs typeface="Times New Roman"/>
                <a:sym typeface="Times New Roman"/>
              </a:rPr>
              <a:t>Examples of discrete data include: </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number of students in a class</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how many cars driving above the speed limit on a freeway</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Field goals landed in a football game</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Noto Sans Symbols"/>
              <a:buChar char="❖"/>
            </a:pPr>
            <a:r>
              <a:rPr lang="en-US" sz="2000" b="1">
                <a:solidFill>
                  <a:schemeClr val="dk1"/>
                </a:solidFill>
                <a:latin typeface="Times New Roman"/>
                <a:ea typeface="Times New Roman"/>
                <a:cs typeface="Times New Roman"/>
                <a:sym typeface="Times New Roman"/>
              </a:rPr>
              <a:t>Continuous data</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Continuous data is data that can take any value and can be infinitely broken down into smaller parts. It differs from discrete data in that it can change its value. </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Continuous data can also fluctuate over time. Some examples of continuous data are: </a:t>
            </a:r>
            <a:endParaRPr/>
          </a:p>
          <a:p>
            <a:pPr marL="285750" marR="0" lvl="0" indent="-285750" algn="l" rtl="0">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My brother is 114 inches tall</a:t>
            </a:r>
            <a:endParaRPr/>
          </a:p>
          <a:p>
            <a:pPr marL="285750" marR="0" lvl="0" indent="-285750" algn="l" rtl="0">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The elephant weighs 3 tons</a:t>
            </a:r>
            <a:endParaRPr/>
          </a:p>
          <a:p>
            <a:pPr marL="285750" marR="0" lvl="0" indent="-285750" algn="l" rtl="0">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The temperature of the sun is 10,000 Fahrenheit </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br>
              <a:rPr lang="en-US" sz="3600" b="1"/>
            </a:br>
            <a:r>
              <a:rPr lang="en-US" sz="3200" b="1">
                <a:latin typeface="Times New Roman"/>
                <a:ea typeface="Times New Roman"/>
                <a:cs typeface="Times New Roman"/>
                <a:sym typeface="Times New Roman"/>
              </a:rPr>
              <a:t>How is quantitative data collected?</a:t>
            </a:r>
            <a:br>
              <a:rPr lang="en-US" sz="3200">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pic>
        <p:nvPicPr>
          <p:cNvPr id="132" name="Google Shape;132;p8"/>
          <p:cNvPicPr preferRelativeResize="0">
            <a:picLocks noGrp="1"/>
          </p:cNvPicPr>
          <p:nvPr>
            <p:ph idx="1"/>
          </p:nvPr>
        </p:nvPicPr>
        <p:blipFill rotWithShape="1">
          <a:blip r:embed="rId3">
            <a:alphaModFix/>
          </a:blip>
          <a:stretch/>
        </p:blipFill>
        <p:spPr>
          <a:xfrm>
            <a:off x="898665" y="1731963"/>
            <a:ext cx="7338733" cy="405923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Types of Statistical Analysis</a:t>
            </a:r>
            <a:endParaRPr sz="3200" b="1">
              <a:latin typeface="Times New Roman"/>
              <a:ea typeface="Times New Roman"/>
              <a:cs typeface="Times New Roman"/>
              <a:sym typeface="Times New Roman"/>
            </a:endParaRPr>
          </a:p>
        </p:txBody>
      </p:sp>
      <p:sp>
        <p:nvSpPr>
          <p:cNvPr id="138" name="Google Shape;138;p9"/>
          <p:cNvSpPr txBox="1">
            <a:spLocks noGrp="1"/>
          </p:cNvSpPr>
          <p:nvPr>
            <p:ph idx="1"/>
          </p:nvPr>
        </p:nvSpPr>
        <p:spPr>
          <a:xfrm>
            <a:off x="76200" y="1371600"/>
            <a:ext cx="8839200" cy="52578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Font typeface="Noto Sans Symbols"/>
              <a:buChar char="▪"/>
            </a:pPr>
            <a:r>
              <a:rPr lang="en-US" sz="2000" b="1">
                <a:latin typeface="Times New Roman"/>
                <a:ea typeface="Times New Roman"/>
                <a:cs typeface="Times New Roman"/>
                <a:sym typeface="Times New Roman"/>
              </a:rPr>
              <a:t>Descriptive Statistics</a:t>
            </a:r>
            <a:endParaRPr/>
          </a:p>
          <a:p>
            <a:pPr marL="0" lvl="0" indent="0" algn="just" rtl="0">
              <a:spcBef>
                <a:spcPts val="400"/>
              </a:spcBef>
              <a:spcAft>
                <a:spcPts val="0"/>
              </a:spcAft>
              <a:buClr>
                <a:schemeClr val="dk1"/>
              </a:buClr>
              <a:buSzPts val="2000"/>
              <a:buNone/>
            </a:pPr>
            <a:r>
              <a:rPr lang="en-US" sz="2000">
                <a:latin typeface="Times New Roman"/>
                <a:ea typeface="Times New Roman"/>
                <a:cs typeface="Times New Roman"/>
                <a:sym typeface="Times New Roman"/>
              </a:rPr>
              <a:t>Descriptive Statistics Focuses on summarizing the main characteristics of a data set. Involve methods for organizing, summarizing, and presenting data in a meaningful way. It provides a concise summary of the main features of a dataset, such as measures of central tendency (mean, median, mode), measures of dispersion (range, variance, standard deviation), and graphical representations (histograms, box plots, etc.). Descriptive </a:t>
            </a:r>
            <a:r>
              <a:rPr lang="en-US" sz="2000" u="sng">
                <a:latin typeface="Times New Roman"/>
                <a:ea typeface="Times New Roman"/>
                <a:cs typeface="Times New Roman"/>
                <a:sym typeface="Times New Roman"/>
              </a:rPr>
              <a:t>statistics</a:t>
            </a:r>
            <a:r>
              <a:rPr lang="en-US" sz="2000">
                <a:latin typeface="Times New Roman"/>
                <a:ea typeface="Times New Roman"/>
                <a:cs typeface="Times New Roman"/>
                <a:sym typeface="Times New Roman"/>
              </a:rPr>
              <a:t> help researchers and analysts to understand the basic characteristics of the data, identify patterns, and draw preliminary conclusions.</a:t>
            </a:r>
            <a:endParaRPr/>
          </a:p>
          <a:p>
            <a:pPr marL="342900" lvl="0" indent="-342900" algn="just" rtl="0">
              <a:spcBef>
                <a:spcPts val="400"/>
              </a:spcBef>
              <a:spcAft>
                <a:spcPts val="0"/>
              </a:spcAft>
              <a:buClr>
                <a:schemeClr val="dk1"/>
              </a:buClr>
              <a:buSzPts val="2000"/>
              <a:buFont typeface="Noto Sans Symbols"/>
              <a:buChar char="▪"/>
            </a:pPr>
            <a:r>
              <a:rPr lang="en-US" sz="2000" b="1">
                <a:latin typeface="Times New Roman"/>
                <a:ea typeface="Times New Roman"/>
                <a:cs typeface="Times New Roman"/>
                <a:sym typeface="Times New Roman"/>
              </a:rPr>
              <a:t>Inferential Statistics</a:t>
            </a:r>
            <a:endParaRPr/>
          </a:p>
          <a:p>
            <a:pPr marL="0" lvl="0" indent="0" algn="just" rtl="0">
              <a:spcBef>
                <a:spcPts val="400"/>
              </a:spcBef>
              <a:spcAft>
                <a:spcPts val="0"/>
              </a:spcAft>
              <a:buClr>
                <a:schemeClr val="dk1"/>
              </a:buClr>
              <a:buSzPts val="2000"/>
              <a:buNone/>
            </a:pPr>
            <a:r>
              <a:rPr lang="en-US" sz="2000">
                <a:latin typeface="Times New Roman"/>
                <a:ea typeface="Times New Roman"/>
                <a:cs typeface="Times New Roman"/>
                <a:sym typeface="Times New Roman"/>
              </a:rPr>
              <a:t>Inferential statistics involves making inferences or predictions about a population based on a sample of data. It uses probability theory to generalize findings from a sample to a larger population. This type of analysis includes hypothesis testing, confidence intervals, and regression analysis. Inferential statistics allows researchers to draw conclusions, make predictions, and test hypotheses about populations, even when only a subset of the population is observed.</a:t>
            </a:r>
            <a:endParaRPr/>
          </a:p>
          <a:p>
            <a:pPr marL="342900" lvl="0" indent="-215900" algn="just" rtl="0">
              <a:spcBef>
                <a:spcPts val="400"/>
              </a:spcBef>
              <a:spcAft>
                <a:spcPts val="0"/>
              </a:spcAft>
              <a:buClr>
                <a:schemeClr val="dk1"/>
              </a:buClr>
              <a:buSzPts val="2000"/>
              <a:buNone/>
            </a:pPr>
            <a:endParaRPr sz="2000" b="1">
              <a:latin typeface="Times New Roman"/>
              <a:ea typeface="Times New Roman"/>
              <a:cs typeface="Times New Roman"/>
              <a:sym typeface="Times New Roman"/>
            </a:endParaRPr>
          </a:p>
          <a:p>
            <a:pPr marL="342900" lvl="0" indent="-215900" algn="l"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0"/>
          <p:cNvSpPr txBox="1"/>
          <p:nvPr/>
        </p:nvSpPr>
        <p:spPr>
          <a:xfrm>
            <a:off x="152400" y="146200"/>
            <a:ext cx="8763000" cy="646470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1800" b="1" dirty="0">
                <a:solidFill>
                  <a:schemeClr val="dk1"/>
                </a:solidFill>
                <a:latin typeface="Times New Roman"/>
                <a:ea typeface="Times New Roman"/>
                <a:cs typeface="Times New Roman"/>
                <a:sym typeface="Times New Roman"/>
              </a:rPr>
              <a:t>Exploratory Data Analysis (EDA)</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Exploratory Data Analysis (EDA) is an approach to analyzing data sets to summarize their main characteristics, often with visual methods· Unlike inferential statistics, EDA focuses more on uncovering patterns, trends, and relationships within the data rather than making formal statistical inferences. It involves techniques such as scatter plots, histograms, and correlation analysis to explore relationships between variables and identify potential outliers or anomalies. EDA is often used as a preliminary step before applying more formal statistical methods.</a:t>
            </a:r>
            <a:endParaRPr dirty="0"/>
          </a:p>
          <a:p>
            <a:pPr marL="285750" marR="0" lvl="0" indent="-285750" algn="just" rtl="0">
              <a:spcBef>
                <a:spcPts val="0"/>
              </a:spcBef>
              <a:spcAft>
                <a:spcPts val="0"/>
              </a:spcAft>
              <a:buClr>
                <a:schemeClr val="dk1"/>
              </a:buClr>
              <a:buSzPts val="1800"/>
              <a:buFont typeface="Noto Sans Symbols"/>
              <a:buChar char="▪"/>
            </a:pPr>
            <a:r>
              <a:rPr lang="en-US" sz="1800" b="1" dirty="0">
                <a:solidFill>
                  <a:schemeClr val="dk1"/>
                </a:solidFill>
                <a:latin typeface="Times New Roman"/>
                <a:ea typeface="Times New Roman"/>
                <a:cs typeface="Times New Roman"/>
                <a:sym typeface="Times New Roman"/>
              </a:rPr>
              <a:t>Predictive Modeling</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Predictive modeling involves using statistical algorithms and machine learning techniques to predict future outcomes based on historical data. It is widely used in various fields such as finance, marketing, healthcare, and weather forecasting. Predictive models are trained on historical data to identify patterns and relationships between variables, which are then used to make predictions on new or unseen data. Common techniques include linear regression, decision trees, neural networks, and support vector machines.</a:t>
            </a:r>
            <a:endParaRPr dirty="0"/>
          </a:p>
          <a:p>
            <a:pPr marL="285750" marR="0" lvl="0" indent="-285750" algn="just" rtl="0">
              <a:spcBef>
                <a:spcPts val="0"/>
              </a:spcBef>
              <a:spcAft>
                <a:spcPts val="0"/>
              </a:spcAft>
              <a:buClr>
                <a:schemeClr val="dk1"/>
              </a:buClr>
              <a:buSzPts val="1800"/>
              <a:buFont typeface="Noto Sans Symbols"/>
              <a:buChar char="▪"/>
            </a:pPr>
            <a:r>
              <a:rPr lang="en-US" sz="1800" b="1" dirty="0">
                <a:solidFill>
                  <a:schemeClr val="dk1"/>
                </a:solidFill>
                <a:latin typeface="Times New Roman"/>
                <a:ea typeface="Times New Roman"/>
                <a:cs typeface="Times New Roman"/>
                <a:sym typeface="Times New Roman"/>
              </a:rPr>
              <a:t>Prescriptive Analysis</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Prescriptive analysis goes beyond predictive modeling by recommending actions or decisions based on the predictions generated by predictive models. It involves optimizing decision-making processes to achieve specific goals or objectives. Prescriptive analytics combines techniques from operations research, optimization, and decision theory to identify the best course of action among various alternatives. It is used in business applications such as supply chain management, resource allocation, and pricing optimization.</a:t>
            </a:r>
            <a:endParaRPr dirty="0"/>
          </a:p>
          <a:p>
            <a:pPr marL="0" marR="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1"/>
          <p:cNvSpPr txBox="1"/>
          <p:nvPr/>
        </p:nvSpPr>
        <p:spPr>
          <a:xfrm>
            <a:off x="228600" y="212650"/>
            <a:ext cx="8686800" cy="286290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Noto Sans Symbols"/>
              <a:buChar char="▪"/>
            </a:pPr>
            <a:r>
              <a:rPr lang="en-US" sz="1800" b="1">
                <a:solidFill>
                  <a:schemeClr val="dk1"/>
                </a:solidFill>
                <a:latin typeface="Times New Roman"/>
                <a:ea typeface="Times New Roman"/>
                <a:cs typeface="Times New Roman"/>
                <a:sym typeface="Times New Roman"/>
              </a:rPr>
              <a:t>Causal Analysis</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Causal analysis is analysis that seeks to establish if changes in one variable cause changes in another variable in a given data set. This is critical in establishing if the two variables relationships are based on causation or mere correlation. It usually requires to be designed as an experiment, or it can also be analyzed from a statistical viewpoint, using some more advanced statistical tools like regression analysis, causal inference, propensity score matching, and instrumental variable. The reason for understanding the causal relationship is to make empowered discussions and make informed interventions, especially, under public policy, health, and social circumstances strands.</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Frequency in Descriptive Statistics</a:t>
            </a:r>
            <a:endParaRPr sz="3200" b="1"/>
          </a:p>
        </p:txBody>
      </p:sp>
      <p:sp>
        <p:nvSpPr>
          <p:cNvPr id="154" name="Google Shape;154;p12"/>
          <p:cNvSpPr txBox="1">
            <a:spLocks noGrp="1"/>
          </p:cNvSpPr>
          <p:nvPr>
            <p:ph idx="1"/>
          </p:nvPr>
        </p:nvSpPr>
        <p:spPr>
          <a:xfrm>
            <a:off x="152400" y="1524000"/>
            <a:ext cx="8763000" cy="46021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Frequency</a:t>
            </a:r>
            <a:r>
              <a:rPr lang="en-US" sz="2000">
                <a:latin typeface="Times New Roman"/>
                <a:ea typeface="Times New Roman"/>
                <a:cs typeface="Times New Roman"/>
                <a:sym typeface="Times New Roman"/>
              </a:rPr>
              <a:t> refers to the number of times an observation or data point occurs within a dataset. It’s a fundamental concept in descriptive statistics and helps to </a:t>
            </a:r>
            <a:r>
              <a:rPr lang="en-US" sz="2000" b="1">
                <a:latin typeface="Times New Roman"/>
                <a:ea typeface="Times New Roman"/>
                <a:cs typeface="Times New Roman"/>
                <a:sym typeface="Times New Roman"/>
              </a:rPr>
              <a:t>summarize and visualize</a:t>
            </a:r>
            <a:r>
              <a:rPr lang="en-US" sz="2000">
                <a:latin typeface="Times New Roman"/>
                <a:ea typeface="Times New Roman"/>
                <a:cs typeface="Times New Roman"/>
                <a:sym typeface="Times New Roman"/>
              </a:rPr>
              <a:t> data patterns.</a:t>
            </a:r>
            <a:endParaRPr/>
          </a:p>
          <a:p>
            <a:pPr marL="0" lvl="0" indent="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Font typeface="Noto Sans Symbols"/>
              <a:buChar char="❖"/>
            </a:pPr>
            <a:r>
              <a:rPr lang="en-US" sz="2000" b="1">
                <a:latin typeface="Times New Roman"/>
                <a:ea typeface="Times New Roman"/>
                <a:cs typeface="Times New Roman"/>
                <a:sym typeface="Times New Roman"/>
              </a:rPr>
              <a:t>Why is Frequency Important?</a:t>
            </a:r>
            <a:endParaRPr/>
          </a:p>
          <a:p>
            <a:pPr marL="342900" lvl="0" indent="-342900" algn="just"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It shows how often each value appears.</a:t>
            </a:r>
            <a:endParaRPr/>
          </a:p>
          <a:p>
            <a:pPr marL="342900" lvl="0" indent="-342900" algn="just"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Helps identify the </a:t>
            </a:r>
            <a:r>
              <a:rPr lang="en-US" sz="2000" b="1">
                <a:latin typeface="Times New Roman"/>
                <a:ea typeface="Times New Roman"/>
                <a:cs typeface="Times New Roman"/>
                <a:sym typeface="Times New Roman"/>
              </a:rPr>
              <a:t>distribution</a:t>
            </a:r>
            <a:r>
              <a:rPr lang="en-US" sz="2000">
                <a:latin typeface="Times New Roman"/>
                <a:ea typeface="Times New Roman"/>
                <a:cs typeface="Times New Roman"/>
                <a:sym typeface="Times New Roman"/>
              </a:rPr>
              <a:t> of data.</a:t>
            </a:r>
            <a:endParaRPr/>
          </a:p>
          <a:p>
            <a:pPr marL="342900" lvl="0" indent="-342900" algn="just"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Supports decisions about </a:t>
            </a:r>
            <a:r>
              <a:rPr lang="en-US" sz="2000" b="1">
                <a:latin typeface="Times New Roman"/>
                <a:ea typeface="Times New Roman"/>
                <a:cs typeface="Times New Roman"/>
                <a:sym typeface="Times New Roman"/>
              </a:rPr>
              <a:t>central tendency</a:t>
            </a:r>
            <a:r>
              <a:rPr lang="en-US" sz="2000">
                <a:latin typeface="Times New Roman"/>
                <a:ea typeface="Times New Roman"/>
                <a:cs typeface="Times New Roman"/>
                <a:sym typeface="Times New Roman"/>
              </a:rPr>
              <a:t> (mean, median, mode).</a:t>
            </a:r>
            <a:endParaRPr/>
          </a:p>
          <a:p>
            <a:pPr marL="342900" lvl="0" indent="-342900" algn="just"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Prepares data for </a:t>
            </a:r>
            <a:r>
              <a:rPr lang="en-US" sz="2000" b="1">
                <a:latin typeface="Times New Roman"/>
                <a:ea typeface="Times New Roman"/>
                <a:cs typeface="Times New Roman"/>
                <a:sym typeface="Times New Roman"/>
              </a:rPr>
              <a:t>graphical representation</a:t>
            </a:r>
            <a:r>
              <a:rPr lang="en-US" sz="2000">
                <a:latin typeface="Times New Roman"/>
                <a:ea typeface="Times New Roman"/>
                <a:cs typeface="Times New Roman"/>
                <a:sym typeface="Times New Roman"/>
              </a:rPr>
              <a:t> (bar charts, histograms, etc.).</a:t>
            </a:r>
            <a:endParaRPr/>
          </a:p>
          <a:p>
            <a:pPr marL="0" lvl="0" indent="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Types of Frequency</a:t>
            </a:r>
            <a:endParaRPr sz="3200" b="1">
              <a:latin typeface="Times New Roman"/>
              <a:ea typeface="Times New Roman"/>
              <a:cs typeface="Times New Roman"/>
              <a:sym typeface="Times New Roman"/>
            </a:endParaRPr>
          </a:p>
        </p:txBody>
      </p:sp>
      <p:sp>
        <p:nvSpPr>
          <p:cNvPr id="160" name="Google Shape;160;p13"/>
          <p:cNvSpPr txBox="1">
            <a:spLocks noGrp="1"/>
          </p:cNvSpPr>
          <p:nvPr>
            <p:ph idx="1"/>
          </p:nvPr>
        </p:nvSpPr>
        <p:spPr>
          <a:xfrm>
            <a:off x="152400" y="1143000"/>
            <a:ext cx="8534400" cy="5638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r>
              <a:rPr lang="en-US" sz="2000" b="1">
                <a:latin typeface="Times New Roman"/>
                <a:ea typeface="Times New Roman"/>
                <a:cs typeface="Times New Roman"/>
                <a:sym typeface="Times New Roman"/>
              </a:rPr>
              <a:t>1. Absolute Frequency</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Definition</a:t>
            </a:r>
            <a:r>
              <a:rPr lang="en-US" sz="2000">
                <a:latin typeface="Times New Roman"/>
                <a:ea typeface="Times New Roman"/>
                <a:cs typeface="Times New Roman"/>
                <a:sym typeface="Times New Roman"/>
              </a:rPr>
              <a:t>: The simple count of how many times a value occurs.</a:t>
            </a:r>
            <a:endParaRPr/>
          </a:p>
          <a:p>
            <a:pPr marL="0" lvl="0" indent="0" algn="l" rtl="0">
              <a:spcBef>
                <a:spcPts val="400"/>
              </a:spcBef>
              <a:spcAft>
                <a:spcPts val="0"/>
              </a:spcAft>
              <a:buClr>
                <a:schemeClr val="dk1"/>
              </a:buClr>
              <a:buSzPts val="2000"/>
              <a:buNone/>
            </a:pPr>
            <a:r>
              <a:rPr lang="en-US" sz="2000" b="1">
                <a:latin typeface="Times New Roman"/>
                <a:ea typeface="Times New Roman"/>
                <a:cs typeface="Times New Roman"/>
                <a:sym typeface="Times New Roman"/>
              </a:rPr>
              <a:t>Example</a:t>
            </a:r>
            <a:r>
              <a:rPr lang="en-US" sz="2000">
                <a:latin typeface="Times New Roman"/>
                <a:ea typeface="Times New Roman"/>
                <a:cs typeface="Times New Roman"/>
                <a:sym typeface="Times New Roman"/>
              </a:rPr>
              <a:t>:</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Suppose you survey 10 students about their favorite color.</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Responses: Red, Blue, Blue, Green, Red, Red, Blue, Green, Red, Blue</a:t>
            </a:r>
            <a:endParaRPr/>
          </a:p>
          <a:p>
            <a:pPr marL="742950" lvl="1" indent="-28575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Frequency of Red = 4</a:t>
            </a:r>
            <a:endParaRPr/>
          </a:p>
          <a:p>
            <a:pPr marL="742950" lvl="1" indent="-28575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Frequency of Blue = 4</a:t>
            </a:r>
            <a:endParaRPr/>
          </a:p>
          <a:p>
            <a:pPr marL="742950" lvl="1" indent="-285750" algn="l" rtl="0">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Frequency of Green = 2</a:t>
            </a:r>
            <a:endParaRPr/>
          </a:p>
          <a:p>
            <a:pPr marL="0" lvl="0" indent="0" algn="l" rtl="0">
              <a:spcBef>
                <a:spcPts val="400"/>
              </a:spcBef>
              <a:spcAft>
                <a:spcPts val="0"/>
              </a:spcAft>
              <a:buClr>
                <a:schemeClr val="dk1"/>
              </a:buClr>
              <a:buSzPts val="2000"/>
              <a:buNone/>
            </a:pPr>
            <a:endParaRPr sz="2000" b="1">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r>
              <a:rPr lang="en-US" sz="2000" b="1">
                <a:latin typeface="Times New Roman"/>
                <a:ea typeface="Times New Roman"/>
                <a:cs typeface="Times New Roman"/>
                <a:sym typeface="Times New Roman"/>
              </a:rPr>
              <a:t>2. Relative Frequency</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Definition</a:t>
            </a:r>
            <a:r>
              <a:rPr lang="en-US" sz="2000">
                <a:latin typeface="Times New Roman"/>
                <a:ea typeface="Times New Roman"/>
                <a:cs typeface="Times New Roman"/>
                <a:sym typeface="Times New Roman"/>
              </a:rPr>
              <a:t>: The proportion or percentage of the total represented by each category.</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Formula</a:t>
            </a:r>
            <a:r>
              <a:rPr lang="en-US" sz="2000">
                <a:latin typeface="Times New Roman"/>
                <a:ea typeface="Times New Roman"/>
                <a:cs typeface="Times New Roman"/>
                <a:sym typeface="Times New Roman"/>
              </a:rPr>
              <a:t>:</a:t>
            </a:r>
            <a:endParaRPr/>
          </a:p>
        </p:txBody>
      </p:sp>
      <p:pic>
        <p:nvPicPr>
          <p:cNvPr id="161" name="Google Shape;161;p13"/>
          <p:cNvPicPr preferRelativeResize="0"/>
          <p:nvPr/>
        </p:nvPicPr>
        <p:blipFill rotWithShape="1">
          <a:blip r:embed="rId3">
            <a:alphaModFix/>
          </a:blip>
          <a:srcRect/>
          <a:stretch/>
        </p:blipFill>
        <p:spPr>
          <a:xfrm>
            <a:off x="1447800" y="5791200"/>
            <a:ext cx="5105400" cy="819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4"/>
          <p:cNvSpPr/>
          <p:nvPr/>
        </p:nvSpPr>
        <p:spPr>
          <a:xfrm>
            <a:off x="228600" y="304800"/>
            <a:ext cx="8686800" cy="49244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a:t>
            </a:r>
            <a:br>
              <a:rPr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Using the same color data (10 responses):</a:t>
            </a:r>
            <a:endParaRPr/>
          </a:p>
          <a:p>
            <a:pPr marL="457200" marR="0" lvl="1" indent="0" algn="l" rtl="0">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Relative Frequency of Red = 4 / 10 = 0.40 or 40%</a:t>
            </a:r>
            <a:endParaRPr/>
          </a:p>
          <a:p>
            <a:pPr marL="457200" marR="0" lvl="1" indent="0" algn="l" rtl="0">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Relative Frequency of Blue = 4 / 10 = 0.40 or 40%</a:t>
            </a:r>
            <a:endParaRPr/>
          </a:p>
          <a:p>
            <a:pPr marL="457200" marR="0" lvl="1" indent="0" algn="l" rtl="0">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Relative Frequency of Green = 2 / 10 = 0.20 or 20%</a:t>
            </a:r>
            <a:endParaRPr/>
          </a:p>
          <a:p>
            <a:pPr marL="457200" marR="0" lvl="1" indent="0" algn="l" rtl="0">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3. Cumulative Frequency</a:t>
            </a:r>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Definition</a:t>
            </a:r>
            <a:r>
              <a:rPr lang="en-US" sz="2000">
                <a:solidFill>
                  <a:schemeClr val="dk1"/>
                </a:solidFill>
                <a:latin typeface="Times New Roman"/>
                <a:ea typeface="Times New Roman"/>
                <a:cs typeface="Times New Roman"/>
                <a:sym typeface="Times New Roman"/>
              </a:rPr>
              <a:t>: A running total of frequencies through an ordered dataset.</a:t>
            </a:r>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Best for</a:t>
            </a:r>
            <a:r>
              <a:rPr lang="en-US" sz="2000">
                <a:solidFill>
                  <a:schemeClr val="dk1"/>
                </a:solidFill>
                <a:latin typeface="Times New Roman"/>
                <a:ea typeface="Times New Roman"/>
                <a:cs typeface="Times New Roman"/>
                <a:sym typeface="Times New Roman"/>
              </a:rPr>
              <a:t>: Numerical or ordinal data (e.g., test scores, income ranges).</a:t>
            </a:r>
            <a:endParaRPr/>
          </a:p>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a:t>
            </a:r>
            <a:br>
              <a:rPr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Suppose these are test scores of 8 students:</a:t>
            </a:r>
            <a:br>
              <a:rPr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50, 60, 60, 70, 80, 80, 90, 100</a:t>
            </a:r>
            <a:br>
              <a:rPr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First, create frequency: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67" name="Google Shape;167;p14"/>
          <p:cNvGraphicFramePr/>
          <p:nvPr/>
        </p:nvGraphicFramePr>
        <p:xfrm>
          <a:off x="3276600" y="4114800"/>
          <a:ext cx="5257800" cy="2560390"/>
        </p:xfrm>
        <a:graphic>
          <a:graphicData uri="http://schemas.openxmlformats.org/drawingml/2006/table">
            <a:tbl>
              <a:tblPr firstRow="1" bandRow="1">
                <a:noFill/>
                <a:tableStyleId>{C09C8939-ABBA-42F0-B8FC-146BF491C98F}</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tblGrid>
              <a:tr h="326575">
                <a:tc>
                  <a:txBody>
                    <a:bodyPr/>
                    <a:lstStyle/>
                    <a:p>
                      <a:pPr marL="0" marR="0" lvl="0" indent="0" algn="l" rtl="0">
                        <a:spcBef>
                          <a:spcPts val="0"/>
                        </a:spcBef>
                        <a:spcAft>
                          <a:spcPts val="0"/>
                        </a:spcAft>
                        <a:buNone/>
                      </a:pPr>
                      <a:r>
                        <a:rPr lang="en-US" sz="1800" u="none" strike="noStrike" cap="none"/>
                        <a:t>Score</a:t>
                      </a:r>
                      <a:endParaRPr/>
                    </a:p>
                  </a:txBody>
                  <a:tcPr marL="91450" marR="91450" marT="45725" marB="45725" anchor="ctr"/>
                </a:tc>
                <a:tc>
                  <a:txBody>
                    <a:bodyPr/>
                    <a:lstStyle/>
                    <a:p>
                      <a:pPr marL="0" marR="0" lvl="0" indent="0" algn="l" rtl="0">
                        <a:spcBef>
                          <a:spcPts val="0"/>
                        </a:spcBef>
                        <a:spcAft>
                          <a:spcPts val="0"/>
                        </a:spcAft>
                        <a:buNone/>
                      </a:pPr>
                      <a:r>
                        <a:rPr lang="en-US" sz="1800"/>
                        <a:t>Frequency</a:t>
                      </a:r>
                      <a:endParaRPr sz="1800"/>
                    </a:p>
                  </a:txBody>
                  <a:tcPr marL="91450" marR="91450" marT="45725" marB="45725"/>
                </a:tc>
                <a:extLst>
                  <a:ext uri="{0D108BD9-81ED-4DB2-BD59-A6C34878D82A}">
                    <a16:rowId xmlns:a16="http://schemas.microsoft.com/office/drawing/2014/main" val="10000"/>
                  </a:ext>
                </a:extLst>
              </a:tr>
              <a:tr h="326575">
                <a:tc>
                  <a:txBody>
                    <a:bodyPr/>
                    <a:lstStyle/>
                    <a:p>
                      <a:pPr marL="0" marR="0" lvl="0" indent="0" algn="l" rtl="0">
                        <a:spcBef>
                          <a:spcPts val="0"/>
                        </a:spcBef>
                        <a:spcAft>
                          <a:spcPts val="0"/>
                        </a:spcAft>
                        <a:buNone/>
                      </a:pPr>
                      <a:r>
                        <a:rPr lang="en-US" sz="1800"/>
                        <a:t>50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26575">
                <a:tc>
                  <a:txBody>
                    <a:bodyPr/>
                    <a:lstStyle/>
                    <a:p>
                      <a:pPr marL="0" marR="0" lvl="0" indent="0" algn="l" rtl="0">
                        <a:spcBef>
                          <a:spcPts val="0"/>
                        </a:spcBef>
                        <a:spcAft>
                          <a:spcPts val="0"/>
                        </a:spcAft>
                        <a:buNone/>
                      </a:pPr>
                      <a:r>
                        <a:rPr lang="en-US" sz="1800"/>
                        <a:t>60</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2"/>
                  </a:ext>
                </a:extLst>
              </a:tr>
              <a:tr h="326575">
                <a:tc>
                  <a:txBody>
                    <a:bodyPr/>
                    <a:lstStyle/>
                    <a:p>
                      <a:pPr marL="0" marR="0" lvl="0" indent="0" algn="l" rtl="0">
                        <a:spcBef>
                          <a:spcPts val="0"/>
                        </a:spcBef>
                        <a:spcAft>
                          <a:spcPts val="0"/>
                        </a:spcAft>
                        <a:buNone/>
                      </a:pPr>
                      <a:r>
                        <a:rPr lang="en-US" sz="1800"/>
                        <a:t>70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3"/>
                  </a:ext>
                </a:extLst>
              </a:tr>
              <a:tr h="326575">
                <a:tc>
                  <a:txBody>
                    <a:bodyPr/>
                    <a:lstStyle/>
                    <a:p>
                      <a:pPr marL="0" marR="0" lvl="0" indent="0" algn="l" rtl="0">
                        <a:spcBef>
                          <a:spcPts val="0"/>
                        </a:spcBef>
                        <a:spcAft>
                          <a:spcPts val="0"/>
                        </a:spcAft>
                        <a:buNone/>
                      </a:pPr>
                      <a:r>
                        <a:rPr lang="en-US" sz="1800"/>
                        <a:t>80</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extLst>
                  <a:ext uri="{0D108BD9-81ED-4DB2-BD59-A6C34878D82A}">
                    <a16:rowId xmlns:a16="http://schemas.microsoft.com/office/drawing/2014/main" val="10004"/>
                  </a:ext>
                </a:extLst>
              </a:tr>
              <a:tr h="326575">
                <a:tc>
                  <a:txBody>
                    <a:bodyPr/>
                    <a:lstStyle/>
                    <a:p>
                      <a:pPr marL="0" marR="0" lvl="0" indent="0" algn="l" rtl="0">
                        <a:spcBef>
                          <a:spcPts val="0"/>
                        </a:spcBef>
                        <a:spcAft>
                          <a:spcPts val="0"/>
                        </a:spcAft>
                        <a:buNone/>
                      </a:pPr>
                      <a:r>
                        <a:rPr lang="en-US" sz="1800"/>
                        <a:t>90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5"/>
                  </a:ext>
                </a:extLst>
              </a:tr>
              <a:tr h="326575">
                <a:tc>
                  <a:txBody>
                    <a:bodyPr/>
                    <a:lstStyle/>
                    <a:p>
                      <a:pPr marL="0" marR="0" lvl="0" indent="0" algn="l" rtl="0">
                        <a:spcBef>
                          <a:spcPts val="0"/>
                        </a:spcBef>
                        <a:spcAft>
                          <a:spcPts val="0"/>
                        </a:spcAft>
                        <a:buNone/>
                      </a:pPr>
                      <a:r>
                        <a:rPr lang="en-US" sz="1800"/>
                        <a:t>100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p:nvPr/>
        </p:nvSpPr>
        <p:spPr>
          <a:xfrm>
            <a:off x="76200" y="79750"/>
            <a:ext cx="8915400" cy="672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Now add cumulative frequency:</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174" name="Google Shape;174;p15"/>
          <p:cNvGraphicFramePr/>
          <p:nvPr/>
        </p:nvGraphicFramePr>
        <p:xfrm>
          <a:off x="1524000" y="1397000"/>
          <a:ext cx="6096000" cy="2865190"/>
        </p:xfrm>
        <a:graphic>
          <a:graphicData uri="http://schemas.openxmlformats.org/drawingml/2006/table">
            <a:tbl>
              <a:tblPr firstRow="1" bandRow="1">
                <a:noFill/>
                <a:tableStyleId>{C09C8939-ABBA-42F0-B8FC-146BF491C98F}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Score</a:t>
                      </a:r>
                      <a:endParaRPr/>
                    </a:p>
                  </a:txBody>
                  <a:tcPr marL="91450" marR="91450" marT="45725" marB="45725" anchor="ctr"/>
                </a:tc>
                <a:tc>
                  <a:txBody>
                    <a:bodyPr/>
                    <a:lstStyle/>
                    <a:p>
                      <a:pPr marL="0" marR="0" lvl="0" indent="0" algn="l" rtl="0">
                        <a:spcBef>
                          <a:spcPts val="0"/>
                        </a:spcBef>
                        <a:spcAft>
                          <a:spcPts val="0"/>
                        </a:spcAft>
                        <a:buNone/>
                      </a:pPr>
                      <a:r>
                        <a:rPr lang="en-US" sz="1800"/>
                        <a:t>Frequency</a:t>
                      </a:r>
                      <a:endParaRPr sz="1800"/>
                    </a:p>
                  </a:txBody>
                  <a:tcPr marL="91450" marR="91450" marT="45725" marB="45725"/>
                </a:tc>
                <a:tc>
                  <a:txBody>
                    <a:bodyPr/>
                    <a:lstStyle/>
                    <a:p>
                      <a:pPr marL="0" marR="0" lvl="0" indent="0" algn="l" rtl="0">
                        <a:spcBef>
                          <a:spcPts val="0"/>
                        </a:spcBef>
                        <a:spcAft>
                          <a:spcPts val="0"/>
                        </a:spcAft>
                        <a:buNone/>
                      </a:pPr>
                      <a:r>
                        <a:rPr lang="en-US" sz="1800"/>
                        <a:t>Cumulative Frequency</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50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60</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70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80</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90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100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6"/>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Measures of central tendency</a:t>
            </a:r>
            <a:br>
              <a:rPr lang="en-US" b="1"/>
            </a:br>
            <a:endParaRPr/>
          </a:p>
        </p:txBody>
      </p:sp>
      <p:sp>
        <p:nvSpPr>
          <p:cNvPr id="180" name="Google Shape;180;p16"/>
          <p:cNvSpPr txBox="1">
            <a:spLocks noGrp="1"/>
          </p:cNvSpPr>
          <p:nvPr>
            <p:ph idx="1"/>
          </p:nvPr>
        </p:nvSpPr>
        <p:spPr>
          <a:xfrm>
            <a:off x="212650" y="1036675"/>
            <a:ext cx="8652300" cy="5592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Measures of central tendency</a:t>
            </a:r>
            <a:endParaRPr/>
          </a:p>
          <a:p>
            <a:pPr marL="0" lvl="0" indent="0" algn="l" rtl="0">
              <a:spcBef>
                <a:spcPts val="400"/>
              </a:spcBef>
              <a:spcAft>
                <a:spcPts val="0"/>
              </a:spcAft>
              <a:buClr>
                <a:schemeClr val="dk1"/>
              </a:buClr>
              <a:buSzPts val="2000"/>
              <a:buNone/>
            </a:pPr>
            <a:r>
              <a:rPr lang="en-US" sz="2000">
                <a:latin typeface="Times New Roman"/>
                <a:ea typeface="Times New Roman"/>
                <a:cs typeface="Times New Roman"/>
                <a:sym typeface="Times New Roman"/>
              </a:rPr>
              <a:t>The measures of central tendencies are given by various parameters but the most commonly used ones are mean, median and mode. </a:t>
            </a:r>
            <a:endParaRPr sz="2000">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Font typeface="Noto Sans Symbols"/>
              <a:buChar char="❖"/>
            </a:pPr>
            <a:r>
              <a:rPr lang="en-US" sz="2000" b="1"/>
              <a:t>Mean</a:t>
            </a:r>
            <a:endParaRPr/>
          </a:p>
          <a:p>
            <a:pPr marL="342900" lvl="0" indent="-342900" algn="l" rtl="0">
              <a:spcBef>
                <a:spcPts val="400"/>
              </a:spcBef>
              <a:spcAft>
                <a:spcPts val="0"/>
              </a:spcAft>
              <a:buClr>
                <a:schemeClr val="dk1"/>
              </a:buClr>
              <a:buSzPts val="2000"/>
              <a:buChar char="•"/>
            </a:pPr>
            <a:r>
              <a:rPr lang="en-US" sz="2000"/>
              <a:t>Mean is the most commonly used measure of central tendency. It actually represents the average of the given collection of data. It is applicable for both continuous and discrete data.</a:t>
            </a:r>
            <a:endParaRPr/>
          </a:p>
          <a:p>
            <a:pPr marL="342900" lvl="0" indent="-342900" algn="l" rtl="0">
              <a:spcBef>
                <a:spcPts val="400"/>
              </a:spcBef>
              <a:spcAft>
                <a:spcPts val="0"/>
              </a:spcAft>
              <a:buClr>
                <a:schemeClr val="dk1"/>
              </a:buClr>
              <a:buSzPts val="2000"/>
              <a:buChar char="•"/>
            </a:pPr>
            <a:r>
              <a:rPr lang="en-US" sz="2000"/>
              <a:t>It is equal to the sum of all the values in the collection of data divided by the total number of values.</a:t>
            </a:r>
            <a:endParaRPr/>
          </a:p>
          <a:p>
            <a:pPr marL="342900" lvl="0" indent="-342900" algn="l" rtl="0">
              <a:spcBef>
                <a:spcPts val="400"/>
              </a:spcBef>
              <a:spcAft>
                <a:spcPts val="0"/>
              </a:spcAft>
              <a:buClr>
                <a:schemeClr val="dk1"/>
              </a:buClr>
              <a:buSzPts val="2000"/>
              <a:buChar char="•"/>
            </a:pPr>
            <a:r>
              <a:rPr lang="en-US" sz="2000"/>
              <a:t>Suppose we have </a:t>
            </a:r>
            <a:r>
              <a:rPr lang="en-US" sz="2000" i="1"/>
              <a:t>n</a:t>
            </a:r>
            <a:r>
              <a:rPr lang="en-US" sz="2000"/>
              <a:t> values in a set of data namely as x</a:t>
            </a:r>
            <a:r>
              <a:rPr lang="en-US" sz="2000" baseline="-25000"/>
              <a:t>1</a:t>
            </a:r>
            <a:r>
              <a:rPr lang="en-US" sz="2000"/>
              <a:t>, x</a:t>
            </a:r>
            <a:r>
              <a:rPr lang="en-US" sz="2000" baseline="-25000"/>
              <a:t>2</a:t>
            </a:r>
            <a:r>
              <a:rPr lang="en-US" sz="2000"/>
              <a:t>, x</a:t>
            </a:r>
            <a:r>
              <a:rPr lang="en-US" sz="2000" baseline="-25000"/>
              <a:t>3</a:t>
            </a:r>
            <a:r>
              <a:rPr lang="en-US" sz="2000"/>
              <a:t>, …, x</a:t>
            </a:r>
            <a:r>
              <a:rPr lang="en-US" sz="2000" baseline="-25000"/>
              <a:t>n,</a:t>
            </a:r>
            <a:r>
              <a:rPr lang="en-US" sz="2000"/>
              <a:t> then the mean of data is given by:</a:t>
            </a:r>
            <a:endParaRPr sz="2000"/>
          </a:p>
          <a:p>
            <a:pPr marL="342900" lvl="0" indent="-342900" algn="l" rtl="0">
              <a:spcBef>
                <a:spcPts val="400"/>
              </a:spcBef>
              <a:spcAft>
                <a:spcPts val="0"/>
              </a:spcAft>
              <a:buClr>
                <a:schemeClr val="dk1"/>
              </a:buClr>
              <a:buSzPts val="2000"/>
              <a:buChar char="•"/>
            </a:pPr>
            <a:br>
              <a:rPr lang="en-US" sz="2000"/>
            </a:br>
            <a:r>
              <a:rPr lang="en-US" sz="2000"/>
              <a:t>It can also be denoted as:</a:t>
            </a:r>
            <a:endParaRPr/>
          </a:p>
          <a:p>
            <a:pPr marL="342900" lvl="0" indent="-342900" algn="l" rtl="0">
              <a:spcBef>
                <a:spcPts val="400"/>
              </a:spcBef>
              <a:spcAft>
                <a:spcPts val="0"/>
              </a:spcAft>
              <a:buClr>
                <a:schemeClr val="dk1"/>
              </a:buClr>
              <a:buSzPts val="2000"/>
              <a:buChar char="•"/>
            </a:pPr>
            <a:br>
              <a:rPr lang="en-US" sz="2000"/>
            </a:br>
            <a:endParaRPr sz="2000">
              <a:latin typeface="Times New Roman"/>
              <a:ea typeface="Times New Roman"/>
              <a:cs typeface="Times New Roman"/>
              <a:sym typeface="Times New Roman"/>
            </a:endParaRPr>
          </a:p>
        </p:txBody>
      </p:sp>
      <p:pic>
        <p:nvPicPr>
          <p:cNvPr id="181" name="Google Shape;181;p16"/>
          <p:cNvPicPr preferRelativeResize="0"/>
          <p:nvPr/>
        </p:nvPicPr>
        <p:blipFill rotWithShape="1">
          <a:blip r:embed="rId3">
            <a:alphaModFix/>
          </a:blip>
          <a:srcRect/>
          <a:stretch/>
        </p:blipFill>
        <p:spPr>
          <a:xfrm>
            <a:off x="838200" y="5334000"/>
            <a:ext cx="4343400" cy="685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Measuring the Dispersion</a:t>
            </a:r>
            <a:endParaRPr b="1"/>
          </a:p>
        </p:txBody>
      </p:sp>
      <p:sp>
        <p:nvSpPr>
          <p:cNvPr id="187" name="Google Shape;187;p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latin typeface="Times New Roman"/>
                <a:ea typeface="Times New Roman"/>
                <a:cs typeface="Times New Roman"/>
                <a:sym typeface="Times New Roman"/>
              </a:rPr>
              <a:t>Dispersion</a:t>
            </a:r>
            <a:endParaRPr/>
          </a:p>
          <a:p>
            <a:pPr marL="342900" lvl="0" indent="-342900" algn="l" rtl="0">
              <a:spcBef>
                <a:spcPts val="440"/>
              </a:spcBef>
              <a:spcAft>
                <a:spcPts val="0"/>
              </a:spcAft>
              <a:buClr>
                <a:schemeClr val="dk1"/>
              </a:buClr>
              <a:buSzPts val="2200"/>
              <a:buChar char="•"/>
            </a:pPr>
            <a:r>
              <a:rPr lang="en-US" sz="2200"/>
              <a:t>Dispersion in statistics is a way to describe how spread out or scattered the data is around an average value. It helps to understand if the data points are close together or far apart.</a:t>
            </a:r>
            <a:endParaRPr/>
          </a:p>
          <a:p>
            <a:pPr marL="342900" lvl="0" indent="-342900" algn="l" rtl="0">
              <a:spcBef>
                <a:spcPts val="440"/>
              </a:spcBef>
              <a:spcAft>
                <a:spcPts val="0"/>
              </a:spcAft>
              <a:buClr>
                <a:schemeClr val="dk1"/>
              </a:buClr>
              <a:buSzPts val="2200"/>
              <a:buChar char="•"/>
            </a:pPr>
            <a:r>
              <a:rPr lang="en-US" sz="2200"/>
              <a:t>Dispersion shows the variability or consistency in a set of data. There are different measures of dispersion, like range, variance, and standard deviation.</a:t>
            </a:r>
            <a:endParaRPr/>
          </a:p>
          <a:p>
            <a:pPr marL="0" lvl="0" indent="0" algn="l" rtl="0">
              <a:spcBef>
                <a:spcPts val="640"/>
              </a:spcBef>
              <a:spcAft>
                <a:spcPts val="0"/>
              </a:spcAft>
              <a:buClr>
                <a:schemeClr val="dk1"/>
              </a:buClr>
              <a:buSzPts val="3200"/>
              <a:buNone/>
            </a:pP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8"/>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Measure of Dispersion</a:t>
            </a:r>
            <a:br>
              <a:rPr lang="en-US" sz="3200" b="1"/>
            </a:br>
            <a:endParaRPr sz="3200"/>
          </a:p>
        </p:txBody>
      </p:sp>
      <p:sp>
        <p:nvSpPr>
          <p:cNvPr id="193" name="Google Shape;193;p18"/>
          <p:cNvSpPr txBox="1">
            <a:spLocks noGrp="1"/>
          </p:cNvSpPr>
          <p:nvPr>
            <p:ph idx="1"/>
          </p:nvPr>
        </p:nvSpPr>
        <p:spPr>
          <a:xfrm>
            <a:off x="228600" y="914400"/>
            <a:ext cx="8596500" cy="5744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Measures of Dispersion measure the scattering of the data. It tells us how the values are distributed in the dataset. In statistics, we define the measure of dispersion as various parameters that are used to define the various attributes of the data.</a:t>
            </a:r>
            <a:endParaRPr/>
          </a:p>
          <a:p>
            <a:pPr marL="342900" lvl="0" indent="-342900" algn="l" rtl="0">
              <a:spcBef>
                <a:spcPts val="400"/>
              </a:spcBef>
              <a:spcAft>
                <a:spcPts val="0"/>
              </a:spcAft>
              <a:buClr>
                <a:schemeClr val="dk1"/>
              </a:buClr>
              <a:buSzPts val="2000"/>
              <a:buChar char="•"/>
            </a:pPr>
            <a:r>
              <a:rPr lang="en-US" sz="2000" b="1"/>
              <a:t>Types of Measures of Dispersion</a:t>
            </a:r>
            <a:endParaRPr/>
          </a:p>
          <a:p>
            <a:pPr marL="0" lvl="0" indent="0" algn="l" rtl="0">
              <a:spcBef>
                <a:spcPts val="400"/>
              </a:spcBef>
              <a:spcAft>
                <a:spcPts val="0"/>
              </a:spcAft>
              <a:buClr>
                <a:schemeClr val="dk1"/>
              </a:buClr>
              <a:buSzPts val="2000"/>
              <a:buNone/>
            </a:pPr>
            <a:r>
              <a:rPr lang="en-US" sz="2000"/>
              <a:t>Measures of dispersion can be classified into the following two types:</a:t>
            </a:r>
            <a:endParaRPr/>
          </a:p>
          <a:p>
            <a:pPr marL="342900" lvl="0" indent="-342900" algn="l" rtl="0">
              <a:spcBef>
                <a:spcPts val="400"/>
              </a:spcBef>
              <a:spcAft>
                <a:spcPts val="0"/>
              </a:spcAft>
              <a:buClr>
                <a:schemeClr val="dk1"/>
              </a:buClr>
              <a:buSzPts val="2000"/>
              <a:buChar char="•"/>
            </a:pPr>
            <a:r>
              <a:rPr lang="en-US" sz="2000"/>
              <a:t>Absolute Measure of Dispersion</a:t>
            </a:r>
            <a:endParaRPr/>
          </a:p>
          <a:p>
            <a:pPr marL="342900" lvl="0" indent="-342900" algn="l" rtl="0">
              <a:spcBef>
                <a:spcPts val="400"/>
              </a:spcBef>
              <a:spcAft>
                <a:spcPts val="0"/>
              </a:spcAft>
              <a:buClr>
                <a:schemeClr val="dk1"/>
              </a:buClr>
              <a:buSzPts val="2000"/>
              <a:buChar char="•"/>
            </a:pPr>
            <a:r>
              <a:rPr lang="en-US" sz="2000"/>
              <a:t>Relative Measure of Dispersion</a:t>
            </a:r>
            <a:endParaRPr/>
          </a:p>
          <a:p>
            <a:pPr marL="0" lvl="0" indent="0" algn="l" rtl="0">
              <a:spcBef>
                <a:spcPts val="400"/>
              </a:spcBef>
              <a:spcAft>
                <a:spcPts val="0"/>
              </a:spcAft>
              <a:buClr>
                <a:schemeClr val="dk1"/>
              </a:buClr>
              <a:buSzPts val="2000"/>
              <a:buNone/>
            </a:pPr>
            <a:endParaRPr sz="2000"/>
          </a:p>
          <a:p>
            <a:pPr marL="342900" lvl="0" indent="-215900" algn="l" rtl="0">
              <a:spcBef>
                <a:spcPts val="400"/>
              </a:spcBef>
              <a:spcAft>
                <a:spcPts val="0"/>
              </a:spcAft>
              <a:buClr>
                <a:schemeClr val="dk1"/>
              </a:buClr>
              <a:buSzPts val="2000"/>
              <a:buNone/>
            </a:pPr>
            <a:endParaRPr sz="2000"/>
          </a:p>
        </p:txBody>
      </p:sp>
      <p:pic>
        <p:nvPicPr>
          <p:cNvPr id="194" name="Google Shape;194;p18"/>
          <p:cNvPicPr preferRelativeResize="0"/>
          <p:nvPr/>
        </p:nvPicPr>
        <p:blipFill rotWithShape="1">
          <a:blip r:embed="rId3">
            <a:alphaModFix/>
          </a:blip>
          <a:srcRect/>
          <a:stretch/>
        </p:blipFill>
        <p:spPr>
          <a:xfrm>
            <a:off x="4191000" y="3200400"/>
            <a:ext cx="3429000" cy="3276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9"/>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Absolute Measure of Dispersion</a:t>
            </a:r>
            <a:br>
              <a:rPr lang="en-US" sz="3200" b="1"/>
            </a:br>
            <a:endParaRPr sz="3200"/>
          </a:p>
        </p:txBody>
      </p:sp>
      <p:sp>
        <p:nvSpPr>
          <p:cNvPr id="200" name="Google Shape;200;p19"/>
          <p:cNvSpPr txBox="1">
            <a:spLocks noGrp="1"/>
          </p:cNvSpPr>
          <p:nvPr>
            <p:ph idx="1"/>
          </p:nvPr>
        </p:nvSpPr>
        <p:spPr>
          <a:xfrm>
            <a:off x="304800" y="1066800"/>
            <a:ext cx="8573400" cy="54864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a:t>The measures of dispersion that are measured and expressed in the units of data themselves are called the Absolute Measure of Dispersion. For example - Meters, Dollars, Kg, etc.</a:t>
            </a:r>
            <a:endParaRPr/>
          </a:p>
          <a:p>
            <a:pPr marL="342900" lvl="0" indent="-342900" algn="l" rtl="0">
              <a:spcBef>
                <a:spcPts val="448"/>
              </a:spcBef>
              <a:spcAft>
                <a:spcPts val="0"/>
              </a:spcAft>
              <a:buClr>
                <a:schemeClr val="dk1"/>
              </a:buClr>
              <a:buSzPct val="100000"/>
              <a:buChar char="•"/>
            </a:pPr>
            <a:r>
              <a:rPr lang="en-US"/>
              <a:t>Some absolute measures of dispersion are: </a:t>
            </a:r>
            <a:endParaRPr/>
          </a:p>
          <a:p>
            <a:pPr marL="342900" lvl="0" indent="-342900" algn="l" rtl="0">
              <a:spcBef>
                <a:spcPts val="448"/>
              </a:spcBef>
              <a:spcAft>
                <a:spcPts val="0"/>
              </a:spcAft>
              <a:buClr>
                <a:schemeClr val="dk1"/>
              </a:buClr>
              <a:buSzPct val="100000"/>
              <a:buChar char="•"/>
            </a:pPr>
            <a:r>
              <a:rPr lang="en-US" b="1"/>
              <a:t>Range:</a:t>
            </a:r>
            <a:r>
              <a:rPr lang="en-US"/>
              <a:t> It is defined as the difference between the largest and the smallest value in the distribution.</a:t>
            </a:r>
            <a:endParaRPr/>
          </a:p>
          <a:p>
            <a:pPr marL="342900" lvl="0" indent="-342900" algn="l" rtl="0">
              <a:spcBef>
                <a:spcPts val="448"/>
              </a:spcBef>
              <a:spcAft>
                <a:spcPts val="0"/>
              </a:spcAft>
              <a:buClr>
                <a:schemeClr val="dk1"/>
              </a:buClr>
              <a:buSzPct val="100000"/>
              <a:buChar char="•"/>
            </a:pPr>
            <a:r>
              <a:rPr lang="en-US" b="1"/>
              <a:t>Mean Deviation: </a:t>
            </a:r>
            <a:r>
              <a:rPr lang="en-US"/>
              <a:t>It is the arithmetic mean of the difference between the values and their mean.</a:t>
            </a:r>
            <a:endParaRPr/>
          </a:p>
          <a:p>
            <a:pPr marL="342900" lvl="0" indent="-342900" algn="l" rtl="0">
              <a:spcBef>
                <a:spcPts val="448"/>
              </a:spcBef>
              <a:spcAft>
                <a:spcPts val="0"/>
              </a:spcAft>
              <a:buClr>
                <a:schemeClr val="dk1"/>
              </a:buClr>
              <a:buSzPct val="100000"/>
              <a:buChar char="•"/>
            </a:pPr>
            <a:r>
              <a:rPr lang="en-US" b="1"/>
              <a:t>Standard Deviation: </a:t>
            </a:r>
            <a:r>
              <a:rPr lang="en-US"/>
              <a:t>It is the square root of the arithmetic average of the squares of the deviations measured from the mean.</a:t>
            </a:r>
            <a:endParaRPr/>
          </a:p>
          <a:p>
            <a:pPr marL="342900" lvl="0" indent="-342900" algn="l" rtl="0">
              <a:spcBef>
                <a:spcPts val="448"/>
              </a:spcBef>
              <a:spcAft>
                <a:spcPts val="0"/>
              </a:spcAft>
              <a:buClr>
                <a:schemeClr val="dk1"/>
              </a:buClr>
              <a:buSzPct val="100000"/>
              <a:buChar char="•"/>
            </a:pPr>
            <a:r>
              <a:rPr lang="en-US" b="1"/>
              <a:t>Variance:</a:t>
            </a:r>
            <a:r>
              <a:rPr lang="en-US"/>
              <a:t> It is defined as the average of the square deviation from the mean of the given data set.</a:t>
            </a:r>
            <a:endParaRPr/>
          </a:p>
          <a:p>
            <a:pPr marL="342900" lvl="0" indent="-342900" algn="l" rtl="0">
              <a:spcBef>
                <a:spcPts val="448"/>
              </a:spcBef>
              <a:spcAft>
                <a:spcPts val="0"/>
              </a:spcAft>
              <a:buClr>
                <a:schemeClr val="dk1"/>
              </a:buClr>
              <a:buSzPct val="100000"/>
              <a:buChar char="•"/>
            </a:pPr>
            <a:r>
              <a:rPr lang="en-US" b="1"/>
              <a:t>Quartile Deviation</a:t>
            </a:r>
            <a:r>
              <a:rPr lang="en-US"/>
              <a:t>: It is defined as half of the difference between the third quartile and the first quartile in a given data set.</a:t>
            </a:r>
            <a:endParaRPr/>
          </a:p>
          <a:p>
            <a:pPr marL="342900" lvl="0" indent="-342900" algn="l" rtl="0">
              <a:spcBef>
                <a:spcPts val="448"/>
              </a:spcBef>
              <a:spcAft>
                <a:spcPts val="0"/>
              </a:spcAft>
              <a:buClr>
                <a:schemeClr val="dk1"/>
              </a:buClr>
              <a:buSzPct val="100000"/>
              <a:buChar char="•"/>
            </a:pPr>
            <a:r>
              <a:rPr lang="en-US" b="1"/>
              <a:t>Interquartile Range:</a:t>
            </a:r>
            <a:r>
              <a:rPr lang="en-US"/>
              <a:t> The difference between the upper(Q</a:t>
            </a:r>
            <a:r>
              <a:rPr lang="en-US" baseline="-25000"/>
              <a:t>3</a:t>
            </a:r>
            <a:r>
              <a:rPr lang="en-US"/>
              <a:t> ) and lower(Q</a:t>
            </a:r>
            <a:r>
              <a:rPr lang="en-US" baseline="-25000"/>
              <a:t>1</a:t>
            </a:r>
            <a:r>
              <a:rPr lang="en-US"/>
              <a:t>) quartile is called the Interquartile Range. Its formula is given as Q</a:t>
            </a:r>
            <a:r>
              <a:rPr lang="en-US" baseline="-25000"/>
              <a:t>3</a:t>
            </a:r>
            <a:r>
              <a:rPr lang="en-US"/>
              <a:t> - Q</a:t>
            </a:r>
            <a:r>
              <a:rPr lang="en-US" baseline="-25000"/>
              <a:t>1.</a:t>
            </a:r>
            <a:endParaRPr/>
          </a:p>
          <a:p>
            <a:pPr marL="342900" lvl="0" indent="-200660" algn="l" rtl="0">
              <a:spcBef>
                <a:spcPts val="448"/>
              </a:spcBef>
              <a:spcAft>
                <a:spcPts val="0"/>
              </a:spcAft>
              <a:buClr>
                <a:schemeClr val="dk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0"/>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3600" b="1"/>
              <a:t>Relative Measure of Dispersion</a:t>
            </a:r>
            <a:br>
              <a:rPr lang="en-US" b="1"/>
            </a:br>
            <a:endParaRPr/>
          </a:p>
        </p:txBody>
      </p:sp>
      <p:sp>
        <p:nvSpPr>
          <p:cNvPr id="206" name="Google Shape;206;p20"/>
          <p:cNvSpPr txBox="1">
            <a:spLocks noGrp="1"/>
          </p:cNvSpPr>
          <p:nvPr>
            <p:ph idx="1"/>
          </p:nvPr>
        </p:nvSpPr>
        <p:spPr>
          <a:xfrm>
            <a:off x="228600" y="914400"/>
            <a:ext cx="8458200" cy="5715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ct val="100000"/>
              <a:buChar char="•"/>
            </a:pPr>
            <a:r>
              <a:rPr lang="en-US"/>
              <a:t>We use relative measures of dispersion to measure the two quantities that have different units to get a better idea of the scattering of the data.</a:t>
            </a:r>
            <a:endParaRPr/>
          </a:p>
          <a:p>
            <a:pPr marL="342900" lvl="0" indent="-342900" algn="just" rtl="0">
              <a:spcBef>
                <a:spcPts val="496"/>
              </a:spcBef>
              <a:spcAft>
                <a:spcPts val="0"/>
              </a:spcAft>
              <a:buClr>
                <a:schemeClr val="dk1"/>
              </a:buClr>
              <a:buSzPct val="100000"/>
              <a:buChar char="•"/>
            </a:pPr>
            <a:r>
              <a:rPr lang="en-US"/>
              <a:t>Here are some of the relative measures of dispersion:</a:t>
            </a:r>
            <a:endParaRPr/>
          </a:p>
          <a:p>
            <a:pPr marL="342900" lvl="0" indent="-342900" algn="just" rtl="0">
              <a:spcBef>
                <a:spcPts val="496"/>
              </a:spcBef>
              <a:spcAft>
                <a:spcPts val="0"/>
              </a:spcAft>
              <a:buClr>
                <a:schemeClr val="dk1"/>
              </a:buClr>
              <a:buSzPct val="100000"/>
              <a:buChar char="•"/>
            </a:pPr>
            <a:r>
              <a:rPr lang="en-US" b="1"/>
              <a:t>Coefficient of Range:</a:t>
            </a:r>
            <a:r>
              <a:rPr lang="en-US"/>
              <a:t> It is defined as the ratio of the difference between the highest and lowest value in a data set to the sum of the highest and lowest value.</a:t>
            </a:r>
            <a:endParaRPr/>
          </a:p>
          <a:p>
            <a:pPr marL="342900" lvl="0" indent="-342900" algn="just" rtl="0">
              <a:spcBef>
                <a:spcPts val="496"/>
              </a:spcBef>
              <a:spcAft>
                <a:spcPts val="0"/>
              </a:spcAft>
              <a:buClr>
                <a:schemeClr val="dk1"/>
              </a:buClr>
              <a:buSzPct val="100000"/>
              <a:buChar char="•"/>
            </a:pPr>
            <a:r>
              <a:rPr lang="en-US" b="1"/>
              <a:t>Coefficient of Variation: </a:t>
            </a:r>
            <a:r>
              <a:rPr lang="en-US"/>
              <a:t>It is defined as the ratio of the standard deviation to the mean of the data set. We use percentages to express the coefficient of variation.</a:t>
            </a:r>
            <a:endParaRPr/>
          </a:p>
          <a:p>
            <a:pPr marL="342900" lvl="0" indent="-342900" algn="just" rtl="0">
              <a:spcBef>
                <a:spcPts val="496"/>
              </a:spcBef>
              <a:spcAft>
                <a:spcPts val="0"/>
              </a:spcAft>
              <a:buClr>
                <a:schemeClr val="dk1"/>
              </a:buClr>
              <a:buSzPct val="100000"/>
              <a:buChar char="•"/>
            </a:pPr>
            <a:r>
              <a:rPr lang="en-US" b="1"/>
              <a:t>Coefficient of Mean Deviation:</a:t>
            </a:r>
            <a:r>
              <a:rPr lang="en-US"/>
              <a:t> It is defined as the ratio of the mean deviation to the value of the central point of the data set.</a:t>
            </a:r>
            <a:endParaRPr/>
          </a:p>
          <a:p>
            <a:pPr marL="342900" lvl="0" indent="-342900" algn="just" rtl="0">
              <a:spcBef>
                <a:spcPts val="496"/>
              </a:spcBef>
              <a:spcAft>
                <a:spcPts val="0"/>
              </a:spcAft>
              <a:buClr>
                <a:schemeClr val="dk1"/>
              </a:buClr>
              <a:buSzPct val="100000"/>
              <a:buChar char="•"/>
            </a:pPr>
            <a:r>
              <a:rPr lang="en-US" b="1"/>
              <a:t>Coefficient of Quartile Deviation:</a:t>
            </a:r>
            <a:r>
              <a:rPr lang="en-US"/>
              <a:t> It is defined as the ratio of the difference between the third quartile and the first quartile to the sum of the third and first quartiles.</a:t>
            </a:r>
            <a:endParaRPr/>
          </a:p>
          <a:p>
            <a:pPr marL="342900" lvl="0" indent="-185420" algn="just" rtl="0">
              <a:spcBef>
                <a:spcPts val="496"/>
              </a:spcBef>
              <a:spcAft>
                <a:spcPts val="0"/>
              </a:spcAft>
              <a:buClr>
                <a:schemeClr val="dk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3600" b="1"/>
              <a:t>Range of Data Set</a:t>
            </a:r>
            <a:br>
              <a:rPr lang="en-US" b="1"/>
            </a:br>
            <a:endParaRPr/>
          </a:p>
        </p:txBody>
      </p:sp>
      <p:sp>
        <p:nvSpPr>
          <p:cNvPr id="212" name="Google Shape;212;p21"/>
          <p:cNvSpPr txBox="1">
            <a:spLocks noGrp="1"/>
          </p:cNvSpPr>
          <p:nvPr>
            <p:ph idx="1"/>
          </p:nvPr>
        </p:nvSpPr>
        <p:spPr>
          <a:xfrm>
            <a:off x="159500" y="1066800"/>
            <a:ext cx="8871000" cy="5618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The range is the difference between the largest and the smallest values in the distribution.</a:t>
            </a:r>
            <a:endParaRPr/>
          </a:p>
          <a:p>
            <a:pPr marL="0" lvl="0" indent="0" algn="l" rtl="0">
              <a:spcBef>
                <a:spcPts val="400"/>
              </a:spcBef>
              <a:spcAft>
                <a:spcPts val="0"/>
              </a:spcAft>
              <a:buClr>
                <a:schemeClr val="dk1"/>
              </a:buClr>
              <a:buSzPts val="2000"/>
              <a:buNone/>
            </a:pPr>
            <a:r>
              <a:rPr lang="en-US" sz="2000"/>
              <a:t>   Thus, it can be written as</a:t>
            </a:r>
            <a:endParaRPr/>
          </a:p>
          <a:p>
            <a:pPr marL="0" lvl="0" indent="0" algn="l" rtl="0">
              <a:spcBef>
                <a:spcPts val="400"/>
              </a:spcBef>
              <a:spcAft>
                <a:spcPts val="0"/>
              </a:spcAft>
              <a:buClr>
                <a:schemeClr val="dk1"/>
              </a:buClr>
              <a:buSzPts val="2000"/>
              <a:buNone/>
            </a:pPr>
            <a:r>
              <a:rPr lang="en-US" sz="2000" b="1"/>
              <a:t>    R = L - S</a:t>
            </a:r>
            <a:endParaRPr sz="2000"/>
          </a:p>
          <a:p>
            <a:pPr marL="342900" lvl="0" indent="-342900" algn="l" rtl="0">
              <a:spcBef>
                <a:spcPts val="400"/>
              </a:spcBef>
              <a:spcAft>
                <a:spcPts val="0"/>
              </a:spcAft>
              <a:buClr>
                <a:schemeClr val="dk1"/>
              </a:buClr>
              <a:buSzPts val="2000"/>
              <a:buChar char="•"/>
            </a:pPr>
            <a:r>
              <a:rPr lang="en-US" sz="2000"/>
              <a:t>where,</a:t>
            </a:r>
            <a:endParaRPr/>
          </a:p>
          <a:p>
            <a:pPr marL="342900" lvl="0" indent="-342900" algn="l" rtl="0">
              <a:spcBef>
                <a:spcPts val="400"/>
              </a:spcBef>
              <a:spcAft>
                <a:spcPts val="0"/>
              </a:spcAft>
              <a:buClr>
                <a:schemeClr val="dk1"/>
              </a:buClr>
              <a:buSzPts val="2000"/>
              <a:buChar char="•"/>
            </a:pPr>
            <a:r>
              <a:rPr lang="en-US" sz="2000" b="1"/>
              <a:t>L</a:t>
            </a:r>
            <a:r>
              <a:rPr lang="en-US" sz="2000"/>
              <a:t> is the largest value in the Distribution</a:t>
            </a:r>
            <a:endParaRPr/>
          </a:p>
          <a:p>
            <a:pPr marL="342900" lvl="0" indent="-342900" algn="l" rtl="0">
              <a:spcBef>
                <a:spcPts val="400"/>
              </a:spcBef>
              <a:spcAft>
                <a:spcPts val="0"/>
              </a:spcAft>
              <a:buClr>
                <a:schemeClr val="dk1"/>
              </a:buClr>
              <a:buSzPts val="2000"/>
              <a:buChar char="•"/>
            </a:pPr>
            <a:r>
              <a:rPr lang="en-US" sz="2000" b="1"/>
              <a:t>S</a:t>
            </a:r>
            <a:r>
              <a:rPr lang="en-US" sz="2000"/>
              <a:t> is the smallest value in the Distribution</a:t>
            </a:r>
            <a:endParaRPr/>
          </a:p>
          <a:p>
            <a:pPr marL="342900" lvl="0" indent="-342900" algn="l" rtl="0">
              <a:spcBef>
                <a:spcPts val="400"/>
              </a:spcBef>
              <a:spcAft>
                <a:spcPts val="0"/>
              </a:spcAft>
              <a:buClr>
                <a:schemeClr val="dk1"/>
              </a:buClr>
              <a:buSzPts val="2000"/>
              <a:buChar char="•"/>
            </a:pPr>
            <a:r>
              <a:rPr lang="en-US" sz="2000"/>
              <a:t>A higher value of range implies higher variation in the dataset.</a:t>
            </a:r>
            <a:endParaRPr/>
          </a:p>
          <a:p>
            <a:pPr marL="342900" lvl="0" indent="-342900" algn="l" rtl="0">
              <a:spcBef>
                <a:spcPts val="400"/>
              </a:spcBef>
              <a:spcAft>
                <a:spcPts val="0"/>
              </a:spcAft>
              <a:buClr>
                <a:schemeClr val="dk1"/>
              </a:buClr>
              <a:buSzPts val="2000"/>
              <a:buChar char="•"/>
            </a:pPr>
            <a:r>
              <a:rPr lang="en-US" sz="2000"/>
              <a:t>One drawback of this measure is that it only takes into account the maximum and the minimum value. They might not always be the proper indicator of how the values of the distribution are scattered. </a:t>
            </a:r>
            <a:endParaRPr/>
          </a:p>
          <a:p>
            <a:pPr marL="342900" lvl="0" indent="-139700" algn="l" rtl="0">
              <a:spcBef>
                <a:spcPts val="640"/>
              </a:spcBef>
              <a:spcAft>
                <a:spcPts val="0"/>
              </a:spcAft>
              <a:buClr>
                <a:schemeClr val="dk1"/>
              </a:buClr>
              <a:buSzPts val="32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2"/>
          <p:cNvSpPr txBox="1"/>
          <p:nvPr/>
        </p:nvSpPr>
        <p:spPr>
          <a:xfrm>
            <a:off x="304800" y="265825"/>
            <a:ext cx="8458200" cy="563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Smallest</a:t>
            </a:r>
            <a:r>
              <a:rPr lang="en-US" sz="1800" i="1">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Value in the data = 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Largest Value in the data =</a:t>
            </a:r>
            <a:r>
              <a:rPr lang="en-US" sz="1800" i="1">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100 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Thus, the range of the data set is,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 = 100 - 0</a:t>
            </a:r>
            <a:br>
              <a:rPr lang="en-US" sz="1800" i="1">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 =</a:t>
            </a:r>
            <a:r>
              <a:rPr lang="en-US" sz="1800" i="1">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100</a:t>
            </a:r>
            <a:endParaRPr/>
          </a:p>
          <a:p>
            <a:pPr marL="0" marR="0" lvl="0" indent="0" algn="l" rtl="0">
              <a:spcBef>
                <a:spcPts val="0"/>
              </a:spcBef>
              <a:spcAft>
                <a:spcPts val="0"/>
              </a:spcAft>
              <a:buNone/>
            </a:pPr>
            <a:endParaRPr sz="1800" i="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Noto Sans Symbols"/>
              <a:buChar char="❑"/>
            </a:pPr>
            <a:r>
              <a:rPr lang="en-US" sz="1800" b="1">
                <a:solidFill>
                  <a:schemeClr val="dk1"/>
                </a:solidFill>
                <a:latin typeface="Calibri"/>
                <a:ea typeface="Calibri"/>
                <a:cs typeface="Calibri"/>
                <a:sym typeface="Calibri"/>
              </a:rPr>
              <a:t>The range for Ungrouped Data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 find the range for the ungrouped data set, first we have to find the smallest and the largest value of the data set by observing. The difference between them gives the range of ungrouped data.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We can understand</a:t>
            </a:r>
            <a:r>
              <a:rPr lang="en-US" sz="1800" b="1">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this with the help of the following example:</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Find out the range for the following observations: 20, 24, 31, 17, 45, 39, 51, 61.</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Solution: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Largest Value = 61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Smallest Value = 17</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Thus, the range of the data set is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Range = 61 – 17 = 44</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3"/>
          <p:cNvSpPr txBox="1"/>
          <p:nvPr/>
        </p:nvSpPr>
        <p:spPr>
          <a:xfrm>
            <a:off x="199350" y="1010125"/>
            <a:ext cx="8550300" cy="563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The range for Grouped Data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range of the grouped data set is found by studying the following example,</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Example: Find out the range for the following frequency distribution table for the marks scored by class 10 students. </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Solution: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Largest Value: Taking the higher limit of Highest Class = 40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Smallest Value: Taking the lower limit of Lowest Class = 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Range = 40 – 0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Thus, the range of the given data set is,</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Range = 40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223" name="Google Shape;223;p23"/>
          <p:cNvGraphicFramePr/>
          <p:nvPr>
            <p:extLst>
              <p:ext uri="{D42A27DB-BD31-4B8C-83A1-F6EECF244321}">
                <p14:modId xmlns:p14="http://schemas.microsoft.com/office/powerpoint/2010/main" val="3338248428"/>
              </p:ext>
            </p:extLst>
          </p:nvPr>
        </p:nvGraphicFramePr>
        <p:xfrm>
          <a:off x="1141751" y="2279754"/>
          <a:ext cx="6096000" cy="1849170"/>
        </p:xfrm>
        <a:graphic>
          <a:graphicData uri="http://schemas.openxmlformats.org/drawingml/2006/table">
            <a:tbl>
              <a:tblPr firstRow="1" bandRow="1">
                <a:noFill/>
                <a:tableStyleId>{C09C8939-ABBA-42F0-B8FC-146BF491C98F}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137150">
                <a:tc>
                  <a:txBody>
                    <a:bodyPr/>
                    <a:lstStyle/>
                    <a:p>
                      <a:pPr marL="0" marR="0" lvl="0" indent="0" algn="l" rtl="0">
                        <a:spcBef>
                          <a:spcPts val="0"/>
                        </a:spcBef>
                        <a:spcAft>
                          <a:spcPts val="0"/>
                        </a:spcAft>
                        <a:buNone/>
                      </a:pPr>
                      <a:r>
                        <a:rPr lang="en-US" sz="1800" b="1" i="0" dirty="0">
                          <a:solidFill>
                            <a:schemeClr val="lt1"/>
                          </a:solidFill>
                          <a:latin typeface="Calibri"/>
                          <a:ea typeface="Calibri"/>
                          <a:cs typeface="Calibri"/>
                          <a:sym typeface="Calibri"/>
                        </a:rPr>
                        <a:t>Marks Intervals</a:t>
                      </a:r>
                      <a:endParaRPr sz="1800" dirty="0"/>
                    </a:p>
                  </a:txBody>
                  <a:tcPr marL="91450" marR="91450" marT="45725" marB="45725"/>
                </a:tc>
                <a:tc>
                  <a:txBody>
                    <a:bodyPr/>
                    <a:lstStyle/>
                    <a:p>
                      <a:pPr marL="0" marR="0" lvl="0" indent="0" algn="l" rtl="0">
                        <a:spcBef>
                          <a:spcPts val="0"/>
                        </a:spcBef>
                        <a:spcAft>
                          <a:spcPts val="0"/>
                        </a:spcAft>
                        <a:buNone/>
                      </a:pPr>
                      <a:r>
                        <a:rPr lang="en-US" sz="1800" b="1" i="0">
                          <a:solidFill>
                            <a:schemeClr val="lt1"/>
                          </a:solidFill>
                          <a:latin typeface="Calibri"/>
                          <a:ea typeface="Calibri"/>
                          <a:cs typeface="Calibri"/>
                          <a:sym typeface="Calibri"/>
                        </a:rPr>
                        <a:t>Number of Students</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0-10</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5</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10-20</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8</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20-30</a:t>
                      </a:r>
                      <a:endParaRPr sz="1800"/>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15</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30-40</a:t>
                      </a:r>
                      <a:endParaRPr sz="1800"/>
                    </a:p>
                  </a:txBody>
                  <a:tcPr marL="91450" marR="91450" marT="45725" marB="45725"/>
                </a:tc>
                <a:tc>
                  <a:txBody>
                    <a:bodyPr/>
                    <a:lstStyle/>
                    <a:p>
                      <a:pPr marL="0" marR="0" lvl="0" indent="0" algn="l" rtl="0">
                        <a:spcBef>
                          <a:spcPts val="0"/>
                        </a:spcBef>
                        <a:spcAft>
                          <a:spcPts val="0"/>
                        </a:spcAft>
                        <a:buNone/>
                      </a:pPr>
                      <a:r>
                        <a:rPr lang="en-US" sz="1800" b="0" i="0" dirty="0">
                          <a:solidFill>
                            <a:schemeClr val="dk1"/>
                          </a:solidFill>
                          <a:latin typeface="Calibri"/>
                          <a:ea typeface="Calibri"/>
                          <a:cs typeface="Calibri"/>
                          <a:sym typeface="Calibri"/>
                        </a:rPr>
                        <a:t>9</a:t>
                      </a:r>
                      <a:endParaRPr sz="1800" dirty="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Variance</a:t>
            </a:r>
            <a:br>
              <a:rPr lang="en-US" sz="3200" b="1">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sp>
        <p:nvSpPr>
          <p:cNvPr id="229" name="Google Shape;229;p24"/>
          <p:cNvSpPr txBox="1">
            <a:spLocks noGrp="1"/>
          </p:cNvSpPr>
          <p:nvPr>
            <p:ph idx="1"/>
          </p:nvPr>
        </p:nvSpPr>
        <p:spPr>
          <a:xfrm>
            <a:off x="338907" y="1242934"/>
            <a:ext cx="8458200" cy="5287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800"/>
              <a:buChar char="•"/>
            </a:pPr>
            <a:r>
              <a:rPr lang="en-US" sz="1800" b="1" dirty="0">
                <a:latin typeface="Times New Roman"/>
                <a:ea typeface="Times New Roman"/>
                <a:cs typeface="Times New Roman"/>
                <a:sym typeface="Times New Roman"/>
              </a:rPr>
              <a:t>Variance </a:t>
            </a:r>
            <a:r>
              <a:rPr lang="en-US" sz="1800" dirty="0">
                <a:latin typeface="Times New Roman"/>
                <a:ea typeface="Times New Roman"/>
                <a:cs typeface="Times New Roman"/>
                <a:sym typeface="Times New Roman"/>
              </a:rPr>
              <a:t>is defined as "The measure of how far the set of data is dispersed from their mean value". Variance is represented with the symbol </a:t>
            </a:r>
            <a:r>
              <a:rPr lang="en-US" sz="1800" b="1" dirty="0">
                <a:latin typeface="Times New Roman"/>
                <a:ea typeface="Times New Roman"/>
                <a:cs typeface="Times New Roman"/>
                <a:sym typeface="Times New Roman"/>
              </a:rPr>
              <a:t>σ</a:t>
            </a:r>
            <a:r>
              <a:rPr lang="en-US" sz="1800" b="1" baseline="30000" dirty="0">
                <a:latin typeface="Times New Roman"/>
                <a:ea typeface="Times New Roman"/>
                <a:cs typeface="Times New Roman"/>
                <a:sym typeface="Times New Roman"/>
              </a:rPr>
              <a:t>2</a:t>
            </a:r>
            <a:r>
              <a:rPr lang="en-US" sz="1800" dirty="0">
                <a:latin typeface="Times New Roman"/>
                <a:ea typeface="Times New Roman"/>
                <a:cs typeface="Times New Roman"/>
                <a:sym typeface="Times New Roman"/>
              </a:rPr>
              <a:t>. In other words, we can also say that the variance is the average of the squared difference from the mean.</a:t>
            </a:r>
            <a:endParaRPr dirty="0"/>
          </a:p>
          <a:p>
            <a:pPr marL="342900" lvl="0" indent="-342900" algn="l" rtl="0">
              <a:spcBef>
                <a:spcPts val="360"/>
              </a:spcBef>
              <a:spcAft>
                <a:spcPts val="0"/>
              </a:spcAft>
              <a:buClr>
                <a:schemeClr val="dk1"/>
              </a:buClr>
              <a:buSzPts val="1800"/>
              <a:buChar char="•"/>
            </a:pPr>
            <a:r>
              <a:rPr lang="en-US" sz="1800" b="1" dirty="0">
                <a:latin typeface="Times New Roman"/>
                <a:ea typeface="Times New Roman"/>
                <a:cs typeface="Times New Roman"/>
                <a:sym typeface="Times New Roman"/>
              </a:rPr>
              <a:t>Variance Symbol</a:t>
            </a:r>
            <a:endParaRPr dirty="0"/>
          </a:p>
          <a:p>
            <a:pPr marL="0" lvl="0" indent="0" algn="l" rtl="0">
              <a:spcBef>
                <a:spcPts val="360"/>
              </a:spcBef>
              <a:spcAft>
                <a:spcPts val="0"/>
              </a:spcAft>
              <a:buClr>
                <a:schemeClr val="dk1"/>
              </a:buClr>
              <a:buSzPts val="1800"/>
              <a:buNone/>
            </a:pPr>
            <a:r>
              <a:rPr lang="en-US" sz="1800" dirty="0">
                <a:latin typeface="Times New Roman"/>
                <a:ea typeface="Times New Roman"/>
                <a:cs typeface="Times New Roman"/>
                <a:sym typeface="Times New Roman"/>
              </a:rPr>
              <a:t>The symbol for variance is typically represented by the Greek letter sigma squared (</a:t>
            </a:r>
            <a:r>
              <a:rPr lang="en-US" sz="1800" b="1" dirty="0">
                <a:latin typeface="Times New Roman"/>
                <a:ea typeface="Times New Roman"/>
                <a:cs typeface="Times New Roman"/>
                <a:sym typeface="Times New Roman"/>
              </a:rPr>
              <a:t>σ²)</a:t>
            </a:r>
            <a:r>
              <a:rPr lang="en-US" sz="1800" dirty="0">
                <a:latin typeface="Times New Roman"/>
                <a:ea typeface="Times New Roman"/>
                <a:cs typeface="Times New Roman"/>
                <a:sym typeface="Times New Roman"/>
              </a:rPr>
              <a:t> when referring to the population variance.</a:t>
            </a:r>
            <a:endParaRPr dirty="0"/>
          </a:p>
          <a:p>
            <a:pPr marL="0" lvl="0" indent="0" algn="l" rtl="0">
              <a:spcBef>
                <a:spcPts val="360"/>
              </a:spcBef>
              <a:spcAft>
                <a:spcPts val="0"/>
              </a:spcAft>
              <a:buClr>
                <a:schemeClr val="dk1"/>
              </a:buClr>
              <a:buSzPts val="1800"/>
              <a:buNone/>
            </a:pPr>
            <a:r>
              <a:rPr lang="en-US" sz="1800" dirty="0">
                <a:latin typeface="Times New Roman"/>
                <a:ea typeface="Times New Roman"/>
                <a:cs typeface="Times New Roman"/>
                <a:sym typeface="Times New Roman"/>
              </a:rPr>
              <a:t>For sample variance, it is often denoted by</a:t>
            </a:r>
            <a:r>
              <a:rPr lang="en-US" sz="1800" b="1" dirty="0">
                <a:latin typeface="Times New Roman"/>
                <a:ea typeface="Times New Roman"/>
                <a:cs typeface="Times New Roman"/>
                <a:sym typeface="Times New Roman"/>
              </a:rPr>
              <a:t> s²</a:t>
            </a:r>
            <a:r>
              <a:rPr lang="en-US" sz="1800" dirty="0">
                <a:latin typeface="Times New Roman"/>
                <a:ea typeface="Times New Roman"/>
                <a:cs typeface="Times New Roman"/>
                <a:sym typeface="Times New Roman"/>
              </a:rPr>
              <a:t>.</a:t>
            </a:r>
            <a:endParaRPr dirty="0"/>
          </a:p>
          <a:p>
            <a:pPr marL="342900" lvl="0" indent="-342900" algn="l" rtl="0">
              <a:spcBef>
                <a:spcPts val="360"/>
              </a:spcBef>
              <a:spcAft>
                <a:spcPts val="0"/>
              </a:spcAft>
              <a:buClr>
                <a:schemeClr val="dk1"/>
              </a:buClr>
              <a:buSzPts val="1800"/>
              <a:buChar char="•"/>
            </a:pPr>
            <a:r>
              <a:rPr lang="en-US" sz="1800" b="1" dirty="0">
                <a:latin typeface="Times New Roman"/>
                <a:ea typeface="Times New Roman"/>
                <a:cs typeface="Times New Roman"/>
                <a:sym typeface="Times New Roman"/>
              </a:rPr>
              <a:t>Formula for Calculating Variance</a:t>
            </a:r>
            <a:endParaRPr sz="1800" b="1" dirty="0">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br>
              <a:rPr lang="en-US" sz="2000" dirty="0"/>
            </a:br>
            <a:endParaRPr sz="2000" dirty="0">
              <a:latin typeface="Times New Roman"/>
              <a:ea typeface="Times New Roman"/>
              <a:cs typeface="Times New Roman"/>
              <a:sym typeface="Times New Roman"/>
            </a:endParaRPr>
          </a:p>
        </p:txBody>
      </p:sp>
      <p:pic>
        <p:nvPicPr>
          <p:cNvPr id="230" name="Google Shape;230;p24"/>
          <p:cNvPicPr preferRelativeResize="0"/>
          <p:nvPr/>
        </p:nvPicPr>
        <p:blipFill rotWithShape="1">
          <a:blip r:embed="rId3">
            <a:alphaModFix/>
          </a:blip>
          <a:srcRect/>
          <a:stretch/>
        </p:blipFill>
        <p:spPr>
          <a:xfrm>
            <a:off x="1982146" y="3711497"/>
            <a:ext cx="4780915" cy="2819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5"/>
          <p:cNvSpPr/>
          <p:nvPr/>
        </p:nvSpPr>
        <p:spPr>
          <a:xfrm>
            <a:off x="76200" y="152401"/>
            <a:ext cx="8763000" cy="978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It can also be denoted as:</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2000"/>
              <a:buFont typeface="Noto Sans Symbols"/>
              <a:buChar char="❖"/>
            </a:pPr>
            <a:r>
              <a:rPr lang="en-US" sz="2000" b="1">
                <a:solidFill>
                  <a:schemeClr val="dk1"/>
                </a:solidFill>
                <a:latin typeface="Times New Roman"/>
                <a:ea typeface="Times New Roman"/>
                <a:cs typeface="Times New Roman"/>
                <a:sym typeface="Times New Roman"/>
              </a:rPr>
              <a:t>Median</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middle number; found by ordering all data points and picking out the one in the middle (or if there are two middle numbers, taking the mean of those two numbers).</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Example: The median of 4,1,and 7 is 4 because when the numbers are put in order (1,4,7), the number 4 is in the middle.</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2000"/>
              <a:buFont typeface="Noto Sans Symbols"/>
              <a:buChar char="❖"/>
            </a:pPr>
            <a:r>
              <a:rPr lang="en-US" sz="2000" b="1">
                <a:solidFill>
                  <a:schemeClr val="dk1"/>
                </a:solidFill>
                <a:latin typeface="Times New Roman"/>
                <a:ea typeface="Times New Roman"/>
                <a:cs typeface="Times New Roman"/>
                <a:sym typeface="Times New Roman"/>
              </a:rPr>
              <a:t>Mode</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most frequent number—that is, the number that occurs the highest number of times.</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Example:</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mode of {4,2,4,3,2,2} is 2 because it occurs three times, which is more than any other number.</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236" name="Google Shape;236;p25"/>
          <p:cNvPicPr preferRelativeResize="0"/>
          <p:nvPr/>
        </p:nvPicPr>
        <p:blipFill rotWithShape="1">
          <a:blip r:embed="rId3">
            <a:alphaModFix/>
          </a:blip>
          <a:srcRect/>
          <a:stretch/>
        </p:blipFill>
        <p:spPr>
          <a:xfrm>
            <a:off x="959370" y="762001"/>
            <a:ext cx="2850630" cy="8001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6"/>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Types of Variance</a:t>
            </a:r>
            <a:br>
              <a:rPr lang="en-US" sz="3200" b="1"/>
            </a:br>
            <a:endParaRPr sz="3200"/>
          </a:p>
        </p:txBody>
      </p:sp>
      <p:sp>
        <p:nvSpPr>
          <p:cNvPr id="242" name="Google Shape;242;p26"/>
          <p:cNvSpPr txBox="1">
            <a:spLocks noGrp="1"/>
          </p:cNvSpPr>
          <p:nvPr>
            <p:ph idx="1"/>
          </p:nvPr>
        </p:nvSpPr>
        <p:spPr>
          <a:xfrm>
            <a:off x="152400" y="990600"/>
            <a:ext cx="8725800" cy="5410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latin typeface="Times New Roman"/>
                <a:ea typeface="Times New Roman"/>
                <a:cs typeface="Times New Roman"/>
                <a:sym typeface="Times New Roman"/>
              </a:rPr>
              <a:t>We can define the variance of the given data in two types,</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Variance for Population</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Variance for Sample</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Population Variance</a:t>
            </a:r>
            <a:endParaRPr/>
          </a:p>
          <a:p>
            <a:pPr marL="0" lvl="0" indent="0" algn="l" rtl="0">
              <a:spcBef>
                <a:spcPts val="400"/>
              </a:spcBef>
              <a:spcAft>
                <a:spcPts val="0"/>
              </a:spcAft>
              <a:buClr>
                <a:schemeClr val="dk1"/>
              </a:buClr>
              <a:buSzPts val="2000"/>
              <a:buNone/>
            </a:pPr>
            <a:r>
              <a:rPr lang="en-US" sz="2000">
                <a:latin typeface="Times New Roman"/>
                <a:ea typeface="Times New Roman"/>
                <a:cs typeface="Times New Roman"/>
                <a:sym typeface="Times New Roman"/>
              </a:rPr>
              <a:t>Population variance is used to find the spread of the given population. The population is defined as a group of people and all the people in that group are part of the population. It tells us about how the population of a group varies with respect to the mean population.</a:t>
            </a:r>
            <a:endParaRPr/>
          </a:p>
          <a:p>
            <a:pPr marL="0" lvl="0" indent="0" algn="l" rtl="0">
              <a:spcBef>
                <a:spcPts val="400"/>
              </a:spcBef>
              <a:spcAft>
                <a:spcPts val="0"/>
              </a:spcAft>
              <a:buClr>
                <a:schemeClr val="dk1"/>
              </a:buClr>
              <a:buSzPts val="2000"/>
              <a:buNone/>
            </a:pPr>
            <a:r>
              <a:rPr lang="en-US" sz="2000">
                <a:latin typeface="Times New Roman"/>
                <a:ea typeface="Times New Roman"/>
                <a:cs typeface="Times New Roman"/>
                <a:sym typeface="Times New Roman"/>
              </a:rPr>
              <a:t>When we want to find how each data point in a given population varies or is spread out, then we use the population variance. It is used to give the squared distance of each data point from the population mean.</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Population Variance Formula</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The formula for population variance is written as,</a:t>
            </a:r>
            <a:endParaRPr/>
          </a:p>
          <a:p>
            <a:pPr marL="342900" lvl="0" indent="-215900" algn="l"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243" name="Google Shape;243;p26"/>
          <p:cNvPicPr preferRelativeResize="0"/>
          <p:nvPr/>
        </p:nvPicPr>
        <p:blipFill rotWithShape="1">
          <a:blip r:embed="rId3">
            <a:alphaModFix/>
          </a:blip>
          <a:srcRect/>
          <a:stretch/>
        </p:blipFill>
        <p:spPr>
          <a:xfrm>
            <a:off x="1371600" y="5486400"/>
            <a:ext cx="1876425" cy="6762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7"/>
          <p:cNvSpPr txBox="1"/>
          <p:nvPr/>
        </p:nvSpPr>
        <p:spPr>
          <a:xfrm>
            <a:off x="159500" y="138700"/>
            <a:ext cx="8832000" cy="618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where,</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σ</a:t>
            </a:r>
            <a:r>
              <a:rPr lang="en-US" sz="1800" b="1" baseline="30000" dirty="0">
                <a:solidFill>
                  <a:schemeClr val="dk1"/>
                </a:solidFill>
                <a:latin typeface="Times New Roman"/>
                <a:ea typeface="Times New Roman"/>
                <a:cs typeface="Times New Roman"/>
                <a:sym typeface="Times New Roman"/>
              </a:rPr>
              <a:t>2</a:t>
            </a:r>
            <a:r>
              <a:rPr lang="en-US" sz="1800" b="1"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is population variance,</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x̄</a:t>
            </a:r>
            <a:r>
              <a:rPr lang="en-US" sz="1800" dirty="0">
                <a:solidFill>
                  <a:schemeClr val="dk1"/>
                </a:solidFill>
                <a:latin typeface="Times New Roman"/>
                <a:ea typeface="Times New Roman"/>
                <a:cs typeface="Times New Roman"/>
                <a:sym typeface="Times New Roman"/>
              </a:rPr>
              <a:t> is the mean of the population dataset,</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n</a:t>
            </a:r>
            <a:r>
              <a:rPr lang="en-US" sz="1800" dirty="0">
                <a:solidFill>
                  <a:schemeClr val="dk1"/>
                </a:solidFill>
                <a:latin typeface="Times New Roman"/>
                <a:ea typeface="Times New Roman"/>
                <a:cs typeface="Times New Roman"/>
                <a:sym typeface="Times New Roman"/>
              </a:rPr>
              <a:t> is the total number of observations.</a:t>
            </a:r>
            <a:endParaRPr dirty="0"/>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Population variance is mainly used when the entire population's data is available for analysis.</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Example:</a:t>
            </a:r>
            <a:r>
              <a:rPr lang="en-US" sz="1800" dirty="0">
                <a:solidFill>
                  <a:schemeClr val="dk1"/>
                </a:solidFill>
                <a:latin typeface="Times New Roman"/>
                <a:ea typeface="Times New Roman"/>
                <a:cs typeface="Times New Roman"/>
                <a:sym typeface="Times New Roman"/>
              </a:rPr>
              <a:t> Find the Population variance of the data [5, 7, 9, 10, 14, 15].</a:t>
            </a:r>
            <a:endParaRPr dirty="0"/>
          </a:p>
          <a:p>
            <a:pPr marL="0" marR="0" lvl="0" indent="0" algn="l" rtl="0">
              <a:spcBef>
                <a:spcPts val="0"/>
              </a:spcBef>
              <a:spcAft>
                <a:spcPts val="0"/>
              </a:spcAft>
              <a:buNone/>
            </a:pPr>
            <a:r>
              <a:rPr lang="en-US" sz="1800" i="1" dirty="0">
                <a:solidFill>
                  <a:schemeClr val="dk1"/>
                </a:solidFill>
                <a:latin typeface="Times New Roman"/>
                <a:ea typeface="Times New Roman"/>
                <a:cs typeface="Times New Roman"/>
                <a:sym typeface="Times New Roman"/>
              </a:rPr>
              <a:t>Mean = (5 + 7 + 9 + 10 + 14 + 5) / 6 = 10</a:t>
            </a:r>
            <a:endParaRPr dirty="0"/>
          </a:p>
          <a:p>
            <a:pPr marL="0" marR="0" lvl="0" indent="0" algn="l" rtl="0">
              <a:spcBef>
                <a:spcPts val="0"/>
              </a:spcBef>
              <a:spcAft>
                <a:spcPts val="0"/>
              </a:spcAft>
              <a:buNone/>
            </a:pPr>
            <a:endParaRPr sz="18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i="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i="1" dirty="0">
                <a:solidFill>
                  <a:schemeClr val="dk1"/>
                </a:solidFill>
                <a:latin typeface="Times New Roman"/>
                <a:ea typeface="Times New Roman"/>
                <a:cs typeface="Times New Roman"/>
                <a:sym typeface="Times New Roman"/>
              </a:rPr>
              <a:t>Variance = ( 25 + 9 + 1 + 0 + 16 + 25) / 6 = 76/6 = 12.67</a:t>
            </a:r>
            <a:br>
              <a:rPr lang="en-US" sz="1800" dirty="0">
                <a:solidFill>
                  <a:schemeClr val="dk1"/>
                </a:solidFill>
                <a:latin typeface="Times New Roman"/>
                <a:ea typeface="Times New Roman"/>
                <a:cs typeface="Times New Roman"/>
                <a:sym typeface="Times New Roman"/>
              </a:rPr>
            </a:br>
            <a:r>
              <a:rPr lang="en-US" sz="1800" i="1" dirty="0">
                <a:solidFill>
                  <a:schemeClr val="dk1"/>
                </a:solidFill>
                <a:latin typeface="Times New Roman"/>
                <a:ea typeface="Times New Roman"/>
                <a:cs typeface="Times New Roman"/>
                <a:sym typeface="Times New Roman"/>
              </a:rPr>
              <a:t>Thus, the variance of the data is 12.67</a:t>
            </a:r>
            <a:endParaRPr sz="18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graphicFrame>
        <p:nvGraphicFramePr>
          <p:cNvPr id="249" name="Google Shape;249;p27"/>
          <p:cNvGraphicFramePr/>
          <p:nvPr>
            <p:extLst>
              <p:ext uri="{D42A27DB-BD31-4B8C-83A1-F6EECF244321}">
                <p14:modId xmlns:p14="http://schemas.microsoft.com/office/powerpoint/2010/main" val="180188529"/>
              </p:ext>
            </p:extLst>
          </p:nvPr>
        </p:nvGraphicFramePr>
        <p:xfrm>
          <a:off x="389744" y="2278505"/>
          <a:ext cx="8379501" cy="2743200"/>
        </p:xfrm>
        <a:graphic>
          <a:graphicData uri="http://schemas.openxmlformats.org/drawingml/2006/table">
            <a:tbl>
              <a:tblPr>
                <a:noFill/>
                <a:tableStyleId>{9D870507-2D28-445A-BDD3-E9B158EBC759}</a:tableStyleId>
              </a:tblPr>
              <a:tblGrid>
                <a:gridCol w="2793167">
                  <a:extLst>
                    <a:ext uri="{9D8B030D-6E8A-4147-A177-3AD203B41FA5}">
                      <a16:colId xmlns:a16="http://schemas.microsoft.com/office/drawing/2014/main" val="20000"/>
                    </a:ext>
                  </a:extLst>
                </a:gridCol>
                <a:gridCol w="2793167">
                  <a:extLst>
                    <a:ext uri="{9D8B030D-6E8A-4147-A177-3AD203B41FA5}">
                      <a16:colId xmlns:a16="http://schemas.microsoft.com/office/drawing/2014/main" val="20001"/>
                    </a:ext>
                  </a:extLst>
                </a:gridCol>
                <a:gridCol w="2793167">
                  <a:extLst>
                    <a:ext uri="{9D8B030D-6E8A-4147-A177-3AD203B41FA5}">
                      <a16:colId xmlns:a16="http://schemas.microsoft.com/office/drawing/2014/main" val="20002"/>
                    </a:ext>
                  </a:extLst>
                </a:gridCol>
              </a:tblGrid>
              <a:tr h="439712">
                <a:tc>
                  <a:txBody>
                    <a:bodyPr/>
                    <a:lstStyle/>
                    <a:p>
                      <a:pPr marL="0" marR="0" lvl="0" indent="0" algn="ctr" rtl="0">
                        <a:spcBef>
                          <a:spcPts val="0"/>
                        </a:spcBef>
                        <a:spcAft>
                          <a:spcPts val="0"/>
                        </a:spcAft>
                        <a:buNone/>
                      </a:pPr>
                      <a:r>
                        <a:rPr lang="en-US" sz="1250" b="0" dirty="0"/>
                        <a:t>5</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dirty="0"/>
                        <a:t>(5 - 10)</a:t>
                      </a:r>
                      <a:r>
                        <a:rPr lang="en-US" sz="1250" b="0" baseline="30000" dirty="0"/>
                        <a:t>2</a:t>
                      </a:r>
                      <a:endParaRPr sz="1250" b="0"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a:t>25</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39712">
                <a:tc>
                  <a:txBody>
                    <a:bodyPr/>
                    <a:lstStyle/>
                    <a:p>
                      <a:pPr marL="0" marR="0" lvl="0" indent="0" algn="ctr" rtl="0">
                        <a:spcBef>
                          <a:spcPts val="0"/>
                        </a:spcBef>
                        <a:spcAft>
                          <a:spcPts val="0"/>
                        </a:spcAft>
                        <a:buNone/>
                      </a:pPr>
                      <a:r>
                        <a:rPr lang="en-US" sz="1250" b="0" dirty="0"/>
                        <a:t>7</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(7 - 10)</a:t>
                      </a:r>
                      <a:r>
                        <a:rPr lang="en-US" sz="1250" b="0" baseline="30000" dirty="0"/>
                        <a:t>2</a:t>
                      </a:r>
                      <a:endParaRPr sz="1250" b="0"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9</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1"/>
                  </a:ext>
                </a:extLst>
              </a:tr>
              <a:tr h="439712">
                <a:tc>
                  <a:txBody>
                    <a:bodyPr/>
                    <a:lstStyle/>
                    <a:p>
                      <a:pPr marL="0" marR="0" lvl="0" indent="0" algn="ctr" rtl="0">
                        <a:spcBef>
                          <a:spcPts val="0"/>
                        </a:spcBef>
                        <a:spcAft>
                          <a:spcPts val="0"/>
                        </a:spcAft>
                        <a:buNone/>
                      </a:pPr>
                      <a:r>
                        <a:rPr lang="en-US" sz="1250" b="0" dirty="0"/>
                        <a:t>9</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a:t>(9 - 10)</a:t>
                      </a:r>
                      <a:r>
                        <a:rPr lang="en-US" sz="1250" b="0" baseline="30000"/>
                        <a:t>2</a:t>
                      </a:r>
                      <a:endParaRPr sz="1250" b="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dirty="0"/>
                        <a:t>1</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39712">
                <a:tc>
                  <a:txBody>
                    <a:bodyPr/>
                    <a:lstStyle/>
                    <a:p>
                      <a:pPr marL="0" marR="0" lvl="0" indent="0" algn="ctr" rtl="0">
                        <a:spcBef>
                          <a:spcPts val="0"/>
                        </a:spcBef>
                        <a:spcAft>
                          <a:spcPts val="0"/>
                        </a:spcAft>
                        <a:buNone/>
                      </a:pPr>
                      <a:r>
                        <a:rPr lang="en-US" sz="1250" b="0" dirty="0"/>
                        <a:t>10</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(10 - 10)</a:t>
                      </a:r>
                      <a:r>
                        <a:rPr lang="en-US" sz="1250" b="0" baseline="30000" dirty="0"/>
                        <a:t>2</a:t>
                      </a:r>
                      <a:endParaRPr sz="1250" b="0"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0</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3"/>
                  </a:ext>
                </a:extLst>
              </a:tr>
              <a:tr h="439712">
                <a:tc>
                  <a:txBody>
                    <a:bodyPr/>
                    <a:lstStyle/>
                    <a:p>
                      <a:pPr marL="0" marR="0" lvl="0" indent="0" algn="ctr" rtl="0">
                        <a:spcBef>
                          <a:spcPts val="0"/>
                        </a:spcBef>
                        <a:spcAft>
                          <a:spcPts val="0"/>
                        </a:spcAft>
                        <a:buNone/>
                      </a:pPr>
                      <a:r>
                        <a:rPr lang="en-US" sz="1250" b="0" dirty="0"/>
                        <a:t>14</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dirty="0"/>
                        <a:t>(14 - 10)</a:t>
                      </a:r>
                      <a:r>
                        <a:rPr lang="en-US" sz="1250" b="0" baseline="30000" dirty="0"/>
                        <a:t>2</a:t>
                      </a:r>
                      <a:endParaRPr sz="1250" b="0"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dirty="0"/>
                        <a:t>16</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39712">
                <a:tc>
                  <a:txBody>
                    <a:bodyPr/>
                    <a:lstStyle/>
                    <a:p>
                      <a:pPr marL="0" marR="0" lvl="0" indent="0" algn="ctr" rtl="0">
                        <a:spcBef>
                          <a:spcPts val="0"/>
                        </a:spcBef>
                        <a:spcAft>
                          <a:spcPts val="0"/>
                        </a:spcAft>
                        <a:buNone/>
                      </a:pPr>
                      <a:r>
                        <a:rPr lang="en-US" sz="1250" b="0" dirty="0"/>
                        <a:t>15</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(15 - 10)</a:t>
                      </a:r>
                      <a:r>
                        <a:rPr lang="en-US" sz="1250" b="0" baseline="30000" dirty="0"/>
                        <a:t>2</a:t>
                      </a:r>
                      <a:endParaRPr sz="1250" b="0"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25</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8"/>
          <p:cNvSpPr txBox="1"/>
          <p:nvPr/>
        </p:nvSpPr>
        <p:spPr>
          <a:xfrm>
            <a:off x="304800" y="335100"/>
            <a:ext cx="8534400" cy="618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Sample Variance</a:t>
            </a:r>
            <a:endParaRPr dirty="0"/>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If the population data is very large, it becomes difficult to calculate the population variance of the data set. In that case, we take a sample of data from the given dataset and find the variance of that dataset, which is called sample variance.</a:t>
            </a:r>
            <a:endParaRPr dirty="0"/>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While calculating the sample mean, we make sure to calculate the sample mean, i.e., the mean of the sample data set, not the population mean. We can define the sample variance as the mean of the squares of the differences between the sample data points and the sample mean.</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Sample Variance Formula</a:t>
            </a:r>
            <a:endParaRPr dirty="0"/>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The formula of the Sample variance is given by,</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where,</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s</a:t>
            </a:r>
            <a:r>
              <a:rPr lang="en-US" sz="1800" b="1" baseline="30000" dirty="0">
                <a:solidFill>
                  <a:schemeClr val="dk1"/>
                </a:solidFill>
                <a:latin typeface="Times New Roman"/>
                <a:ea typeface="Times New Roman"/>
                <a:cs typeface="Times New Roman"/>
                <a:sym typeface="Times New Roman"/>
              </a:rPr>
              <a:t>2 </a:t>
            </a:r>
            <a:r>
              <a:rPr lang="en-US" sz="1800" dirty="0">
                <a:solidFill>
                  <a:schemeClr val="dk1"/>
                </a:solidFill>
                <a:latin typeface="Times New Roman"/>
                <a:ea typeface="Times New Roman"/>
                <a:cs typeface="Times New Roman"/>
                <a:sym typeface="Times New Roman"/>
              </a:rPr>
              <a:t>is sample variance,</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x̄</a:t>
            </a:r>
            <a:r>
              <a:rPr lang="en-US" sz="1800" dirty="0">
                <a:solidFill>
                  <a:schemeClr val="dk1"/>
                </a:solidFill>
                <a:latin typeface="Times New Roman"/>
                <a:ea typeface="Times New Roman"/>
                <a:cs typeface="Times New Roman"/>
                <a:sym typeface="Times New Roman"/>
              </a:rPr>
              <a:t> is the mean of the sample dataset,</a:t>
            </a:r>
            <a:endParaRPr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n</a:t>
            </a:r>
            <a:r>
              <a:rPr lang="en-US" sz="1800" dirty="0">
                <a:solidFill>
                  <a:schemeClr val="dk1"/>
                </a:solidFill>
                <a:latin typeface="Times New Roman"/>
                <a:ea typeface="Times New Roman"/>
                <a:cs typeface="Times New Roman"/>
                <a:sym typeface="Times New Roman"/>
              </a:rPr>
              <a:t> is the total number of observations.</a:t>
            </a:r>
            <a:endParaRPr dirty="0"/>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Sample variance is typically used when working with data from a sample to infer properties about</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255" name="Google Shape;255;p28"/>
          <p:cNvPicPr preferRelativeResize="0"/>
          <p:nvPr/>
        </p:nvPicPr>
        <p:blipFill rotWithShape="1">
          <a:blip r:embed="rId3">
            <a:alphaModFix/>
          </a:blip>
          <a:srcRect/>
          <a:stretch/>
        </p:blipFill>
        <p:spPr>
          <a:xfrm>
            <a:off x="838200" y="3686175"/>
            <a:ext cx="1714500" cy="5143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9"/>
          <p:cNvSpPr txBox="1"/>
          <p:nvPr/>
        </p:nvSpPr>
        <p:spPr>
          <a:xfrm>
            <a:off x="285300" y="174550"/>
            <a:ext cx="8686800" cy="480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Sample variance is typically used when working with data from a sample to infer properties about</a:t>
            </a:r>
            <a:endParaRPr/>
          </a:p>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Example: </a:t>
            </a:r>
            <a:r>
              <a:rPr lang="en-US" sz="1800">
                <a:solidFill>
                  <a:schemeClr val="dk1"/>
                </a:solidFill>
                <a:latin typeface="Times New Roman"/>
                <a:ea typeface="Times New Roman"/>
                <a:cs typeface="Times New Roman"/>
                <a:sym typeface="Times New Roman"/>
              </a:rPr>
              <a:t>Find the Sample variance of the data {4, 6, 8, 10}</a:t>
            </a:r>
            <a:endParaRPr/>
          </a:p>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Solution:</a:t>
            </a: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i="1">
                <a:solidFill>
                  <a:schemeClr val="dk1"/>
                </a:solidFill>
                <a:latin typeface="Times New Roman"/>
                <a:ea typeface="Times New Roman"/>
                <a:cs typeface="Times New Roman"/>
                <a:sym typeface="Times New Roman"/>
              </a:rPr>
              <a:t>Mean = (4 + 6 + 8 + 10) / 4 = 7</a:t>
            </a:r>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i="1">
                <a:solidFill>
                  <a:schemeClr val="dk1"/>
                </a:solidFill>
                <a:latin typeface="Times New Roman"/>
                <a:ea typeface="Times New Roman"/>
                <a:cs typeface="Times New Roman"/>
                <a:sym typeface="Times New Roman"/>
              </a:rPr>
              <a:t>Variance = (9 + 1 + 1 + 9) / 4 = 20/4 = 5</a:t>
            </a:r>
            <a:br>
              <a:rPr lang="en-US" sz="1800">
                <a:solidFill>
                  <a:schemeClr val="dk1"/>
                </a:solidFill>
                <a:latin typeface="Times New Roman"/>
                <a:ea typeface="Times New Roman"/>
                <a:cs typeface="Times New Roman"/>
                <a:sym typeface="Times New Roman"/>
              </a:rPr>
            </a:br>
            <a:r>
              <a:rPr lang="en-US" sz="1800" i="1">
                <a:solidFill>
                  <a:schemeClr val="dk1"/>
                </a:solidFill>
                <a:latin typeface="Times New Roman"/>
                <a:ea typeface="Times New Roman"/>
                <a:cs typeface="Times New Roman"/>
                <a:sym typeface="Times New Roman"/>
              </a:rPr>
              <a:t>Thus, the variance of the data is 5</a:t>
            </a:r>
            <a:endParaRPr sz="1800" i="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261" name="Google Shape;261;p29"/>
          <p:cNvGraphicFramePr/>
          <p:nvPr>
            <p:extLst>
              <p:ext uri="{D42A27DB-BD31-4B8C-83A1-F6EECF244321}">
                <p14:modId xmlns:p14="http://schemas.microsoft.com/office/powerpoint/2010/main" val="3973446067"/>
              </p:ext>
            </p:extLst>
          </p:nvPr>
        </p:nvGraphicFramePr>
        <p:xfrm>
          <a:off x="434715" y="1783830"/>
          <a:ext cx="8064708" cy="2113612"/>
        </p:xfrm>
        <a:graphic>
          <a:graphicData uri="http://schemas.openxmlformats.org/drawingml/2006/table">
            <a:tbl>
              <a:tblPr>
                <a:noFill/>
                <a:tableStyleId>{9D870507-2D28-445A-BDD3-E9B158EBC759}</a:tableStyleId>
              </a:tblPr>
              <a:tblGrid>
                <a:gridCol w="2688236">
                  <a:extLst>
                    <a:ext uri="{9D8B030D-6E8A-4147-A177-3AD203B41FA5}">
                      <a16:colId xmlns:a16="http://schemas.microsoft.com/office/drawing/2014/main" val="20000"/>
                    </a:ext>
                  </a:extLst>
                </a:gridCol>
                <a:gridCol w="2688236">
                  <a:extLst>
                    <a:ext uri="{9D8B030D-6E8A-4147-A177-3AD203B41FA5}">
                      <a16:colId xmlns:a16="http://schemas.microsoft.com/office/drawing/2014/main" val="20001"/>
                    </a:ext>
                  </a:extLst>
                </a:gridCol>
                <a:gridCol w="2688236">
                  <a:extLst>
                    <a:ext uri="{9D8B030D-6E8A-4147-A177-3AD203B41FA5}">
                      <a16:colId xmlns:a16="http://schemas.microsoft.com/office/drawing/2014/main" val="20002"/>
                    </a:ext>
                  </a:extLst>
                </a:gridCol>
              </a:tblGrid>
              <a:tr h="528403">
                <a:tc>
                  <a:txBody>
                    <a:bodyPr/>
                    <a:lstStyle/>
                    <a:p>
                      <a:pPr marL="0" marR="0" lvl="0" indent="0" algn="ctr" rtl="0">
                        <a:spcBef>
                          <a:spcPts val="0"/>
                        </a:spcBef>
                        <a:spcAft>
                          <a:spcPts val="0"/>
                        </a:spcAft>
                        <a:buNone/>
                      </a:pPr>
                      <a:r>
                        <a:rPr lang="en-US" sz="1250" b="0"/>
                        <a:t>4</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a:t>(4 - 7)</a:t>
                      </a:r>
                      <a:r>
                        <a:rPr lang="en-US" sz="1250" b="0" baseline="30000"/>
                        <a:t>2</a:t>
                      </a:r>
                      <a:endParaRPr sz="1250" b="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a:t>9</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28403">
                <a:tc>
                  <a:txBody>
                    <a:bodyPr/>
                    <a:lstStyle/>
                    <a:p>
                      <a:pPr marL="0" marR="0" lvl="0" indent="0" algn="ctr" rtl="0">
                        <a:spcBef>
                          <a:spcPts val="0"/>
                        </a:spcBef>
                        <a:spcAft>
                          <a:spcPts val="0"/>
                        </a:spcAft>
                        <a:buNone/>
                      </a:pPr>
                      <a:r>
                        <a:rPr lang="en-US" sz="1250" b="0"/>
                        <a:t>6</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a:t>(6 - 7)</a:t>
                      </a:r>
                      <a:r>
                        <a:rPr lang="en-US" sz="1250" b="0" baseline="30000"/>
                        <a:t>2</a:t>
                      </a:r>
                      <a:endParaRPr sz="1250" b="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a:t>1</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1"/>
                  </a:ext>
                </a:extLst>
              </a:tr>
              <a:tr h="528403">
                <a:tc>
                  <a:txBody>
                    <a:bodyPr/>
                    <a:lstStyle/>
                    <a:p>
                      <a:pPr marL="0" marR="0" lvl="0" indent="0" algn="ctr" rtl="0">
                        <a:spcBef>
                          <a:spcPts val="0"/>
                        </a:spcBef>
                        <a:spcAft>
                          <a:spcPts val="0"/>
                        </a:spcAft>
                        <a:buNone/>
                      </a:pPr>
                      <a:r>
                        <a:rPr lang="en-US" sz="1250" b="0"/>
                        <a:t>8</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a:t>(8 - 7)</a:t>
                      </a:r>
                      <a:r>
                        <a:rPr lang="en-US" sz="1250" b="0" baseline="30000"/>
                        <a:t>2</a:t>
                      </a:r>
                      <a:endParaRPr sz="1250" b="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250" b="0"/>
                        <a:t>1</a:t>
                      </a:r>
                      <a:endParaRPr/>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28403">
                <a:tc>
                  <a:txBody>
                    <a:bodyPr/>
                    <a:lstStyle/>
                    <a:p>
                      <a:pPr marL="0" marR="0" lvl="0" indent="0" algn="ctr" rtl="0">
                        <a:spcBef>
                          <a:spcPts val="0"/>
                        </a:spcBef>
                        <a:spcAft>
                          <a:spcPts val="0"/>
                        </a:spcAft>
                        <a:buNone/>
                      </a:pPr>
                      <a:r>
                        <a:rPr lang="en-US" sz="1250" b="0" dirty="0"/>
                        <a:t>10</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a:t>(10 - 7)</a:t>
                      </a:r>
                      <a:r>
                        <a:rPr lang="en-US" sz="1250" b="0" baseline="30000"/>
                        <a:t>2</a:t>
                      </a:r>
                      <a:endParaRPr sz="1250" b="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tc>
                  <a:txBody>
                    <a:bodyPr/>
                    <a:lstStyle/>
                    <a:p>
                      <a:pPr marL="0" marR="0" lvl="0" indent="0" algn="ctr" rtl="0">
                        <a:spcBef>
                          <a:spcPts val="0"/>
                        </a:spcBef>
                        <a:spcAft>
                          <a:spcPts val="0"/>
                        </a:spcAft>
                        <a:buNone/>
                      </a:pPr>
                      <a:r>
                        <a:rPr lang="en-US" sz="1250" b="0" dirty="0"/>
                        <a:t>9</a:t>
                      </a:r>
                      <a:endParaRPr dirty="0"/>
                    </a:p>
                  </a:txBody>
                  <a:tcPr marL="95250" marR="95250" marT="133350" marB="133350" anchor="ctr">
                    <a:lnL w="9525" cap="flat" cmpd="sng">
                      <a:solidFill>
                        <a:srgbClr val="DFDFDF"/>
                      </a:solidFill>
                      <a:prstDash val="solid"/>
                      <a:round/>
                      <a:headEnd type="none" w="sm" len="sm"/>
                      <a:tailEnd type="none" w="sm" len="sm"/>
                    </a:lnL>
                    <a:lnR w="9525" cap="flat" cmpd="sng">
                      <a:solidFill>
                        <a:srgbClr val="DFDFDF"/>
                      </a:solidFill>
                      <a:prstDash val="solid"/>
                      <a:round/>
                      <a:headEnd type="none" w="sm" len="sm"/>
                      <a:tailEnd type="none" w="sm" len="sm"/>
                    </a:lnR>
                    <a:lnT w="9525" cap="flat" cmpd="sng">
                      <a:solidFill>
                        <a:srgbClr val="DFDFDF"/>
                      </a:solidFill>
                      <a:prstDash val="solid"/>
                      <a:round/>
                      <a:headEnd type="none" w="sm" len="sm"/>
                      <a:tailEnd type="none" w="sm" len="sm"/>
                    </a:lnT>
                    <a:lnB w="9525" cap="flat" cmpd="sng">
                      <a:solidFill>
                        <a:srgbClr val="DFDFD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0"/>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Standard Deviation</a:t>
            </a:r>
            <a:br>
              <a:rPr lang="en-US" sz="3200" b="1"/>
            </a:br>
            <a:endParaRPr sz="3200"/>
          </a:p>
        </p:txBody>
      </p:sp>
      <p:sp>
        <p:nvSpPr>
          <p:cNvPr id="267" name="Google Shape;267;p30"/>
          <p:cNvSpPr txBox="1">
            <a:spLocks noGrp="1"/>
          </p:cNvSpPr>
          <p:nvPr>
            <p:ph idx="1"/>
          </p:nvPr>
        </p:nvSpPr>
        <p:spPr>
          <a:xfrm>
            <a:off x="152400" y="1219200"/>
            <a:ext cx="8534400" cy="4906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Standard Deviation</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Definition:</a:t>
            </a:r>
            <a:endParaRPr/>
          </a:p>
          <a:p>
            <a:pPr marL="0" lvl="0" indent="0" algn="l" rtl="0">
              <a:spcBef>
                <a:spcPts val="400"/>
              </a:spcBef>
              <a:spcAft>
                <a:spcPts val="0"/>
              </a:spcAft>
              <a:buClr>
                <a:schemeClr val="dk1"/>
              </a:buClr>
              <a:buSzPts val="2000"/>
              <a:buNone/>
            </a:pPr>
            <a:r>
              <a:rPr lang="en-US" sz="2000">
                <a:latin typeface="Times New Roman"/>
                <a:ea typeface="Times New Roman"/>
                <a:cs typeface="Times New Roman"/>
                <a:sym typeface="Times New Roman"/>
              </a:rPr>
              <a:t>The Positive square root of mean of squares of the deviations taken from arithmetic mean is called as standard deviation(S.D.)</a:t>
            </a:r>
            <a:endParaRPr/>
          </a:p>
          <a:p>
            <a:pPr marL="0" lvl="0" indent="0" algn="l" rtl="0">
              <a:spcBef>
                <a:spcPts val="400"/>
              </a:spcBef>
              <a:spcAft>
                <a:spcPts val="0"/>
              </a:spcAft>
              <a:buClr>
                <a:schemeClr val="dk1"/>
              </a:buClr>
              <a:buSzPts val="2000"/>
              <a:buNone/>
            </a:pPr>
            <a:r>
              <a:rPr lang="en-US" sz="2000" b="1">
                <a:latin typeface="Times New Roman"/>
                <a:ea typeface="Times New Roman"/>
                <a:cs typeface="Times New Roman"/>
                <a:sym typeface="Times New Roman"/>
              </a:rPr>
              <a:t>Formula  Standard Deviation</a:t>
            </a:r>
            <a:endParaRPr sz="2000" b="1">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endParaRPr sz="2000" b="1">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endParaRPr sz="2000" b="1">
              <a:latin typeface="Times New Roman"/>
              <a:ea typeface="Times New Roman"/>
              <a:cs typeface="Times New Roman"/>
              <a:sym typeface="Times New Roman"/>
            </a:endParaRPr>
          </a:p>
          <a:p>
            <a:pPr marL="342900" lvl="0" indent="-342900" algn="l" rtl="0">
              <a:spcBef>
                <a:spcPts val="400"/>
              </a:spcBef>
              <a:spcAft>
                <a:spcPts val="0"/>
              </a:spcAft>
              <a:buClr>
                <a:schemeClr val="dk1"/>
              </a:buClr>
              <a:buSzPts val="2000"/>
              <a:buChar char="•"/>
            </a:pPr>
            <a:r>
              <a:rPr lang="en-US" sz="2000" i="1">
                <a:latin typeface="Times New Roman"/>
                <a:ea typeface="Times New Roman"/>
                <a:cs typeface="Times New Roman"/>
                <a:sym typeface="Times New Roman"/>
              </a:rPr>
              <a:t>Where,</a:t>
            </a:r>
            <a:endParaRPr/>
          </a:p>
          <a:p>
            <a:pPr marL="342900" lvl="0" indent="-342900" algn="l" rtl="0">
              <a:spcBef>
                <a:spcPts val="400"/>
              </a:spcBef>
              <a:spcAft>
                <a:spcPts val="0"/>
              </a:spcAft>
              <a:buClr>
                <a:schemeClr val="dk1"/>
              </a:buClr>
              <a:buSzPts val="2000"/>
              <a:buChar char="•"/>
            </a:pPr>
            <a:r>
              <a:rPr lang="en-US" sz="2000" b="1" i="1">
                <a:latin typeface="Times New Roman"/>
                <a:ea typeface="Times New Roman"/>
                <a:cs typeface="Times New Roman"/>
                <a:sym typeface="Times New Roman"/>
              </a:rPr>
              <a:t>σ</a:t>
            </a:r>
            <a:r>
              <a:rPr lang="en-US" sz="2000" i="1">
                <a:latin typeface="Times New Roman"/>
                <a:ea typeface="Times New Roman"/>
                <a:cs typeface="Times New Roman"/>
                <a:sym typeface="Times New Roman"/>
              </a:rPr>
              <a:t>is the Standard Deviation of the Population, </a:t>
            </a:r>
            <a:endParaRPr/>
          </a:p>
          <a:p>
            <a:pPr marL="342900" lvl="0" indent="-342900" algn="l" rtl="0">
              <a:spcBef>
                <a:spcPts val="400"/>
              </a:spcBef>
              <a:spcAft>
                <a:spcPts val="0"/>
              </a:spcAft>
              <a:buClr>
                <a:schemeClr val="dk1"/>
              </a:buClr>
              <a:buSzPts val="2000"/>
              <a:buChar char="•"/>
            </a:pPr>
            <a:r>
              <a:rPr lang="en-US" sz="2000" b="1" i="1">
                <a:latin typeface="Times New Roman"/>
                <a:ea typeface="Times New Roman"/>
                <a:cs typeface="Times New Roman"/>
                <a:sym typeface="Times New Roman"/>
              </a:rPr>
              <a:t>N</a:t>
            </a:r>
            <a:r>
              <a:rPr lang="en-US" sz="2000" i="1">
                <a:latin typeface="Times New Roman"/>
                <a:ea typeface="Times New Roman"/>
                <a:cs typeface="Times New Roman"/>
                <a:sym typeface="Times New Roman"/>
              </a:rPr>
              <a:t> is the Number of Observation in the Population, </a:t>
            </a:r>
            <a:endParaRPr/>
          </a:p>
          <a:p>
            <a:pPr marL="342900" lvl="0" indent="-342900" algn="l" rtl="0">
              <a:spcBef>
                <a:spcPts val="400"/>
              </a:spcBef>
              <a:spcAft>
                <a:spcPts val="0"/>
              </a:spcAft>
              <a:buClr>
                <a:schemeClr val="dk1"/>
              </a:buClr>
              <a:buSzPts val="2000"/>
              <a:buChar char="•"/>
            </a:pPr>
            <a:r>
              <a:rPr lang="en-US" sz="2000" b="1" i="1">
                <a:latin typeface="Times New Roman"/>
                <a:ea typeface="Times New Roman"/>
                <a:cs typeface="Times New Roman"/>
                <a:sym typeface="Times New Roman"/>
              </a:rPr>
              <a:t>X</a:t>
            </a:r>
            <a:r>
              <a:rPr lang="en-US" sz="2000" b="1" i="1" baseline="-25000">
                <a:latin typeface="Times New Roman"/>
                <a:ea typeface="Times New Roman"/>
                <a:cs typeface="Times New Roman"/>
                <a:sym typeface="Times New Roman"/>
              </a:rPr>
              <a:t>i</a:t>
            </a:r>
            <a:r>
              <a:rPr lang="en-US" sz="2000" i="1">
                <a:latin typeface="Times New Roman"/>
                <a:ea typeface="Times New Roman"/>
                <a:cs typeface="Times New Roman"/>
                <a:sym typeface="Times New Roman"/>
              </a:rPr>
              <a:t> is the i</a:t>
            </a:r>
            <a:r>
              <a:rPr lang="en-US" sz="2000" i="1" baseline="30000">
                <a:latin typeface="Times New Roman"/>
                <a:ea typeface="Times New Roman"/>
                <a:cs typeface="Times New Roman"/>
                <a:sym typeface="Times New Roman"/>
              </a:rPr>
              <a:t>th</a:t>
            </a:r>
            <a:r>
              <a:rPr lang="en-US" sz="2000" i="1">
                <a:latin typeface="Times New Roman"/>
                <a:ea typeface="Times New Roman"/>
                <a:cs typeface="Times New Roman"/>
                <a:sym typeface="Times New Roman"/>
              </a:rPr>
              <a:t> observation in the Population, and  </a:t>
            </a:r>
            <a:endParaRPr/>
          </a:p>
          <a:p>
            <a:pPr marL="342900" lvl="0" indent="-342900" algn="l" rtl="0">
              <a:spcBef>
                <a:spcPts val="400"/>
              </a:spcBef>
              <a:spcAft>
                <a:spcPts val="0"/>
              </a:spcAft>
              <a:buClr>
                <a:schemeClr val="dk1"/>
              </a:buClr>
              <a:buSzPts val="2000"/>
              <a:buChar char="•"/>
            </a:pPr>
            <a:r>
              <a:rPr lang="en-US" sz="2000" b="1" i="1">
                <a:latin typeface="Times New Roman"/>
                <a:ea typeface="Times New Roman"/>
                <a:cs typeface="Times New Roman"/>
                <a:sym typeface="Times New Roman"/>
              </a:rPr>
              <a:t>X̄</a:t>
            </a:r>
            <a:r>
              <a:rPr lang="en-US" sz="2000" i="1">
                <a:latin typeface="Times New Roman"/>
                <a:ea typeface="Times New Roman"/>
                <a:cs typeface="Times New Roman"/>
                <a:sym typeface="Times New Roman"/>
              </a:rPr>
              <a:t> is the mean of the Population</a:t>
            </a:r>
            <a:endParaRPr/>
          </a:p>
          <a:p>
            <a:pPr marL="0" lvl="0" indent="0" algn="l" rtl="0">
              <a:spcBef>
                <a:spcPts val="400"/>
              </a:spcBef>
              <a:spcAft>
                <a:spcPts val="0"/>
              </a:spcAft>
              <a:buClr>
                <a:schemeClr val="dk1"/>
              </a:buClr>
              <a:buSzPts val="2000"/>
              <a:buNone/>
            </a:pPr>
            <a:endParaRPr sz="2000" b="1">
              <a:latin typeface="Times New Roman"/>
              <a:ea typeface="Times New Roman"/>
              <a:cs typeface="Times New Roman"/>
              <a:sym typeface="Times New Roman"/>
            </a:endParaRPr>
          </a:p>
          <a:p>
            <a:pPr marL="0" lvl="0" indent="0" algn="l" rtl="0">
              <a:spcBef>
                <a:spcPts val="400"/>
              </a:spcBef>
              <a:spcAft>
                <a:spcPts val="0"/>
              </a:spcAft>
              <a:buClr>
                <a:schemeClr val="dk1"/>
              </a:buClr>
              <a:buSzPts val="2000"/>
              <a:buNone/>
            </a:pPr>
            <a:endParaRPr sz="2000"/>
          </a:p>
        </p:txBody>
      </p:sp>
      <p:pic>
        <p:nvPicPr>
          <p:cNvPr id="268" name="Google Shape;268;p30"/>
          <p:cNvPicPr preferRelativeResize="0"/>
          <p:nvPr/>
        </p:nvPicPr>
        <p:blipFill rotWithShape="1">
          <a:blip r:embed="rId3">
            <a:alphaModFix/>
          </a:blip>
          <a:srcRect/>
          <a:stretch/>
        </p:blipFill>
        <p:spPr>
          <a:xfrm>
            <a:off x="228600" y="3048000"/>
            <a:ext cx="1733550" cy="628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Range</a:t>
            </a:r>
            <a:endParaRPr sz="3200" b="1">
              <a:latin typeface="Times New Roman"/>
              <a:ea typeface="Times New Roman"/>
              <a:cs typeface="Times New Roman"/>
              <a:sym typeface="Times New Roman"/>
            </a:endParaRPr>
          </a:p>
        </p:txBody>
      </p:sp>
      <p:sp>
        <p:nvSpPr>
          <p:cNvPr id="274" name="Google Shape;274;p3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Interquartile Range (IQR):</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IQR in Statistics is used to measure variability by dividing a data set into quartiles. The data is sorted in ascending order and split into 4 equal parts: Q</a:t>
            </a:r>
            <a:r>
              <a:rPr lang="en-US" sz="2000" baseline="-25000">
                <a:latin typeface="Times New Roman"/>
                <a:ea typeface="Times New Roman"/>
                <a:cs typeface="Times New Roman"/>
                <a:sym typeface="Times New Roman"/>
              </a:rPr>
              <a:t>1</a:t>
            </a:r>
            <a:r>
              <a:rPr lang="en-US" sz="2000">
                <a:latin typeface="Times New Roman"/>
                <a:ea typeface="Times New Roman"/>
                <a:cs typeface="Times New Roman"/>
                <a:sym typeface="Times New Roman"/>
              </a:rPr>
              <a:t>, Q</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 Q</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called first, second and third quartiles respectively in the given data.</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The IQR is simply the difference between the third quartile (Q3) and the first quartile (Q1) which is calculated as:</a:t>
            </a:r>
            <a:endParaRPr/>
          </a:p>
          <a:p>
            <a:pPr marL="342900" lvl="0" indent="-342900" algn="l" rtl="0">
              <a:spcBef>
                <a:spcPts val="400"/>
              </a:spcBef>
              <a:spcAft>
                <a:spcPts val="0"/>
              </a:spcAft>
              <a:buClr>
                <a:schemeClr val="dk1"/>
              </a:buClr>
              <a:buSzPts val="2000"/>
              <a:buChar char="•"/>
            </a:pPr>
            <a:r>
              <a:rPr lang="en-US" sz="2000" i="1">
                <a:latin typeface="Times New Roman"/>
                <a:ea typeface="Times New Roman"/>
                <a:cs typeface="Times New Roman"/>
                <a:sym typeface="Times New Roman"/>
              </a:rPr>
              <a:t>Interquartilerange</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UpperQuartile</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Q</a:t>
            </a:r>
            <a:r>
              <a:rPr lang="en-US" sz="2000">
                <a:latin typeface="Times New Roman"/>
                <a:ea typeface="Times New Roman"/>
                <a:cs typeface="Times New Roman"/>
                <a:sym typeface="Times New Roman"/>
              </a:rPr>
              <a:t>3)–</a:t>
            </a:r>
            <a:r>
              <a:rPr lang="en-US" sz="2000" i="1">
                <a:latin typeface="Times New Roman"/>
                <a:ea typeface="Times New Roman"/>
                <a:cs typeface="Times New Roman"/>
                <a:sym typeface="Times New Roman"/>
              </a:rPr>
              <a:t>LowerQuartile</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Q</a:t>
            </a:r>
            <a:r>
              <a:rPr lang="en-US"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2"/>
          <p:cNvSpPr txBox="1"/>
          <p:nvPr/>
        </p:nvSpPr>
        <p:spPr>
          <a:xfrm>
            <a:off x="228600" y="76200"/>
            <a:ext cx="8686800" cy="67403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Example Calculation</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We will see how to Calculate the Interquartile Range using an example:</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Consider the following dataset of exam scores for a class tenth:</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77, 85, 92, 64, 78, 95, 82</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Sort the data:</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64, 77, 78, 82, 85, 92, 95</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2. Find the Median (Q2):</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Q2=82</a:t>
            </a:r>
            <a:r>
              <a:rPr lang="en-US" sz="1800" i="1">
                <a:solidFill>
                  <a:schemeClr val="dk1"/>
                </a:solidFill>
                <a:latin typeface="Times New Roman"/>
                <a:ea typeface="Times New Roman"/>
                <a:cs typeface="Times New Roman"/>
                <a:sym typeface="Times New Roman"/>
              </a:rPr>
              <a:t>Q</a:t>
            </a:r>
            <a:r>
              <a:rPr lang="en-US" sz="1800">
                <a:solidFill>
                  <a:schemeClr val="dk1"/>
                </a:solidFill>
                <a:latin typeface="Times New Roman"/>
                <a:ea typeface="Times New Roman"/>
                <a:cs typeface="Times New Roman"/>
                <a:sym typeface="Times New Roman"/>
              </a:rPr>
              <a:t>2=82</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3. Divide the data into two halves:</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Lower half: 64, 77, 78</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Upper half: 85, 92, 95</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4. Find Q1 and Q3:</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Q1 is the median of the lower half (64, 77, 78) which is 77.</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Q3 is the median of the upper half (85, 92, 95) which is 92.</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5. Calculate the IQR:</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IQR=Q3−Q1=92−77=15</a:t>
            </a:r>
            <a:r>
              <a:rPr lang="en-US" sz="1800" i="1">
                <a:solidFill>
                  <a:schemeClr val="dk1"/>
                </a:solidFill>
                <a:latin typeface="Times New Roman"/>
                <a:ea typeface="Times New Roman"/>
                <a:cs typeface="Times New Roman"/>
                <a:sym typeface="Times New Roman"/>
              </a:rPr>
              <a:t>IQR</a:t>
            </a:r>
            <a:r>
              <a:rPr lang="en-US" sz="1800">
                <a:solidFill>
                  <a:schemeClr val="dk1"/>
                </a:solidFill>
                <a:latin typeface="Times New Roman"/>
                <a:ea typeface="Times New Roman"/>
                <a:cs typeface="Times New Roman"/>
                <a:sym typeface="Times New Roman"/>
              </a:rPr>
              <a:t>=</a:t>
            </a:r>
            <a:r>
              <a:rPr lang="en-US" sz="1800" i="1">
                <a:solidFill>
                  <a:schemeClr val="dk1"/>
                </a:solidFill>
                <a:latin typeface="Times New Roman"/>
                <a:ea typeface="Times New Roman"/>
                <a:cs typeface="Times New Roman"/>
                <a:sym typeface="Times New Roman"/>
              </a:rPr>
              <a:t>Q</a:t>
            </a:r>
            <a:r>
              <a:rPr lang="en-US" sz="1800">
                <a:solidFill>
                  <a:schemeClr val="dk1"/>
                </a:solidFill>
                <a:latin typeface="Times New Roman"/>
                <a:ea typeface="Times New Roman"/>
                <a:cs typeface="Times New Roman"/>
                <a:sym typeface="Times New Roman"/>
              </a:rPr>
              <a:t>3−</a:t>
            </a:r>
            <a:r>
              <a:rPr lang="en-US" sz="1800" i="1">
                <a:solidFill>
                  <a:schemeClr val="dk1"/>
                </a:solidFill>
                <a:latin typeface="Times New Roman"/>
                <a:ea typeface="Times New Roman"/>
                <a:cs typeface="Times New Roman"/>
                <a:sym typeface="Times New Roman"/>
              </a:rPr>
              <a:t>Q</a:t>
            </a:r>
            <a:r>
              <a:rPr lang="en-US" sz="1800">
                <a:solidFill>
                  <a:schemeClr val="dk1"/>
                </a:solidFill>
                <a:latin typeface="Times New Roman"/>
                <a:ea typeface="Times New Roman"/>
                <a:cs typeface="Times New Roman"/>
                <a:sym typeface="Times New Roman"/>
              </a:rPr>
              <a:t>1=92−77=15</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So the IQR for this dataset is 15.</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280" name="Google Shape;280;p32"/>
          <p:cNvPicPr preferRelativeResize="0"/>
          <p:nvPr/>
        </p:nvPicPr>
        <p:blipFill rotWithShape="1">
          <a:blip r:embed="rId3">
            <a:alphaModFix/>
          </a:blip>
          <a:srcRect/>
          <a:stretch/>
        </p:blipFill>
        <p:spPr>
          <a:xfrm>
            <a:off x="1676400" y="4000500"/>
            <a:ext cx="3962400" cy="1447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a:spLocks noGrp="1"/>
          </p:cNvSpPr>
          <p:nvPr>
            <p:ph type="title"/>
          </p:nvPr>
        </p:nvSpPr>
        <p:spPr>
          <a:xfrm>
            <a:off x="381000" y="38100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br>
              <a:rPr lang="en-US" sz="3600" b="1">
                <a:latin typeface="Times New Roman"/>
                <a:ea typeface="Times New Roman"/>
                <a:cs typeface="Times New Roman"/>
                <a:sym typeface="Times New Roman"/>
              </a:rPr>
            </a:br>
            <a:br>
              <a:rPr lang="en-US" sz="3600" b="1">
                <a:latin typeface="Times New Roman"/>
                <a:ea typeface="Times New Roman"/>
                <a:cs typeface="Times New Roman"/>
                <a:sym typeface="Times New Roman"/>
              </a:rPr>
            </a:br>
            <a:r>
              <a:rPr lang="en-US" sz="3600" b="1">
                <a:latin typeface="Times New Roman"/>
                <a:ea typeface="Times New Roman"/>
                <a:cs typeface="Times New Roman"/>
                <a:sym typeface="Times New Roman"/>
              </a:rPr>
              <a:t>Measure of Relationship:Covariance and Correlation</a:t>
            </a:r>
            <a:br>
              <a:rPr lang="en-US" sz="3600" b="1">
                <a:latin typeface="Times New Roman"/>
                <a:ea typeface="Times New Roman"/>
                <a:cs typeface="Times New Roman"/>
                <a:sym typeface="Times New Roman"/>
              </a:rPr>
            </a:br>
            <a:br>
              <a:rPr lang="en-US"/>
            </a:br>
            <a:endParaRPr sz="3100"/>
          </a:p>
        </p:txBody>
      </p:sp>
      <p:sp>
        <p:nvSpPr>
          <p:cNvPr id="286" name="Google Shape;286;p33"/>
          <p:cNvSpPr txBox="1">
            <a:spLocks noGrp="1"/>
          </p:cNvSpPr>
          <p:nvPr>
            <p:ph idx="1"/>
          </p:nvPr>
        </p:nvSpPr>
        <p:spPr>
          <a:xfrm>
            <a:off x="457200" y="1600200"/>
            <a:ext cx="8229600" cy="5076825"/>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Covariance and correlation</a:t>
            </a:r>
            <a:r>
              <a:rPr lang="en-US" sz="2000">
                <a:latin typeface="Times New Roman"/>
                <a:ea typeface="Times New Roman"/>
                <a:cs typeface="Times New Roman"/>
                <a:sym typeface="Times New Roman"/>
              </a:rPr>
              <a:t> are the two key concepts in Statistics that help us analyze the relationship between two variables. Covariance measures how two variables change together, indicating whether they move in the same or opposite directions.</a:t>
            </a:r>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What is Covariance?</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Covariance is a statistical measure that indicates the direction of the linear relationship between two variables. It assesses how much two variables change together from their mean values. Covariance is calculated by taking the average of the product of the deviations of each variable from their respective means. Covariance helps us understand the direction of the relationship but not how strong it is because the number depends on the units used. </a:t>
            </a: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287" name="Google Shape;287;p33"/>
          <p:cNvPicPr preferRelativeResize="0"/>
          <p:nvPr/>
        </p:nvPicPr>
        <p:blipFill rotWithShape="1">
          <a:blip r:embed="rId3">
            <a:alphaModFix/>
          </a:blip>
          <a:srcRect/>
          <a:stretch/>
        </p:blipFill>
        <p:spPr>
          <a:xfrm>
            <a:off x="1219200" y="5486400"/>
            <a:ext cx="6057900" cy="11906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What is Correlation?</a:t>
            </a:r>
            <a:br>
              <a:rPr lang="en-US" sz="3200" b="1"/>
            </a:br>
            <a:endParaRPr sz="3200"/>
          </a:p>
        </p:txBody>
      </p:sp>
      <p:sp>
        <p:nvSpPr>
          <p:cNvPr id="293" name="Google Shape;293;p3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t>Correlation</a:t>
            </a:r>
            <a:endParaRPr sz="2000" b="1"/>
          </a:p>
          <a:p>
            <a:pPr marL="342900" lvl="0" indent="-342900" algn="just" rtl="0">
              <a:spcBef>
                <a:spcPts val="400"/>
              </a:spcBef>
              <a:spcAft>
                <a:spcPts val="0"/>
              </a:spcAft>
              <a:buClr>
                <a:schemeClr val="dk1"/>
              </a:buClr>
              <a:buSzPts val="2000"/>
              <a:buChar char="•"/>
            </a:pPr>
            <a:r>
              <a:rPr lang="en-US" sz="2000"/>
              <a:t>Correlation is a standardized measure of the strength and direction of the linear relationship between two variables. It is derived from covariance and ranges between -1 and 1. Unlike covariance, which only indicates the direction of the relationship, correlation provides a standardized measure.</a:t>
            </a:r>
            <a:endParaRPr/>
          </a:p>
          <a:p>
            <a:pPr marL="342900" lvl="0" indent="-215900" algn="just" rtl="0">
              <a:spcBef>
                <a:spcPts val="400"/>
              </a:spcBef>
              <a:spcAft>
                <a:spcPts val="0"/>
              </a:spcAft>
              <a:buClr>
                <a:schemeClr val="dk1"/>
              </a:buClr>
              <a:buSzPts val="2000"/>
              <a:buNone/>
            </a:pPr>
            <a:endParaRPr sz="2000"/>
          </a:p>
        </p:txBody>
      </p:sp>
      <p:pic>
        <p:nvPicPr>
          <p:cNvPr id="294" name="Google Shape;294;p34"/>
          <p:cNvPicPr preferRelativeResize="0"/>
          <p:nvPr/>
        </p:nvPicPr>
        <p:blipFill rotWithShape="1">
          <a:blip r:embed="rId3">
            <a:alphaModFix/>
          </a:blip>
          <a:srcRect/>
          <a:stretch/>
        </p:blipFill>
        <p:spPr>
          <a:xfrm>
            <a:off x="838200" y="3429000"/>
            <a:ext cx="6248400" cy="128524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5"/>
          <p:cNvSpPr txBox="1"/>
          <p:nvPr/>
        </p:nvSpPr>
        <p:spPr>
          <a:xfrm>
            <a:off x="228600" y="228600"/>
            <a:ext cx="8534400" cy="646330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Applications of Covariance</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Portfolio Management in Finance</a:t>
            </a:r>
            <a:r>
              <a:rPr lang="en-US" sz="1800">
                <a:solidFill>
                  <a:schemeClr val="dk1"/>
                </a:solidFill>
                <a:latin typeface="Times New Roman"/>
                <a:ea typeface="Times New Roman"/>
                <a:cs typeface="Times New Roman"/>
                <a:sym typeface="Times New Roman"/>
              </a:rPr>
              <a:t>: Covariance is used to measure how different stocks or financial assets move together, aiding in portfolio diversification to minimize risk.</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Genetics</a:t>
            </a:r>
            <a:r>
              <a:rPr lang="en-US" sz="1800">
                <a:solidFill>
                  <a:schemeClr val="dk1"/>
                </a:solidFill>
                <a:latin typeface="Times New Roman"/>
                <a:ea typeface="Times New Roman"/>
                <a:cs typeface="Times New Roman"/>
                <a:sym typeface="Times New Roman"/>
              </a:rPr>
              <a:t>: In genetics, covariance can help understand the relationship between different genetic traits and how they vary together.</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Econometrics</a:t>
            </a:r>
            <a:r>
              <a:rPr lang="en-US" sz="1800">
                <a:solidFill>
                  <a:schemeClr val="dk1"/>
                </a:solidFill>
                <a:latin typeface="Times New Roman"/>
                <a:ea typeface="Times New Roman"/>
                <a:cs typeface="Times New Roman"/>
                <a:sym typeface="Times New Roman"/>
              </a:rPr>
              <a:t>: Covariance is employed to study the relationship between different economic indicators, such as the relationship between GDP growth and inflation rates.</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Signal Processing</a:t>
            </a:r>
            <a:r>
              <a:rPr lang="en-US" sz="1800">
                <a:solidFill>
                  <a:schemeClr val="dk1"/>
                </a:solidFill>
                <a:latin typeface="Times New Roman"/>
                <a:ea typeface="Times New Roman"/>
                <a:cs typeface="Times New Roman"/>
                <a:sym typeface="Times New Roman"/>
              </a:rPr>
              <a:t>: Covariance is used to analyze and filter signals in various forms, including audio and image signals.</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Environmental Science</a:t>
            </a:r>
            <a:r>
              <a:rPr lang="en-US" sz="1800">
                <a:solidFill>
                  <a:schemeClr val="dk1"/>
                </a:solidFill>
                <a:latin typeface="Times New Roman"/>
                <a:ea typeface="Times New Roman"/>
                <a:cs typeface="Times New Roman"/>
                <a:sym typeface="Times New Roman"/>
              </a:rPr>
              <a:t>: Covariance is applied to study relationships between environmental variables, such as temperature and humidity changes over time.</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Applications of Correlation</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Market Research</a:t>
            </a:r>
            <a:r>
              <a:rPr lang="en-US" sz="1800">
                <a:solidFill>
                  <a:schemeClr val="dk1"/>
                </a:solidFill>
                <a:latin typeface="Times New Roman"/>
                <a:ea typeface="Times New Roman"/>
                <a:cs typeface="Times New Roman"/>
                <a:sym typeface="Times New Roman"/>
              </a:rPr>
              <a:t>: Correlation is used to identify relationships between consumer behavior and sales trends, helping businesses make informed marketing decisions.</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Medical Research</a:t>
            </a:r>
            <a:r>
              <a:rPr lang="en-US" sz="1800">
                <a:solidFill>
                  <a:schemeClr val="dk1"/>
                </a:solidFill>
                <a:latin typeface="Times New Roman"/>
                <a:ea typeface="Times New Roman"/>
                <a:cs typeface="Times New Roman"/>
                <a:sym typeface="Times New Roman"/>
              </a:rPr>
              <a:t>: Correlation helps in understanding the relationship between different health indicators, such as the correlation between blood pressure and cholesterol levels.</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Weather Forecasting</a:t>
            </a:r>
            <a:r>
              <a:rPr lang="en-US" sz="1800">
                <a:solidFill>
                  <a:schemeClr val="dk1"/>
                </a:solidFill>
                <a:latin typeface="Times New Roman"/>
                <a:ea typeface="Times New Roman"/>
                <a:cs typeface="Times New Roman"/>
                <a:sym typeface="Times New Roman"/>
              </a:rPr>
              <a:t>: Correlation is used to analyze the relationship between various meteorological variables, such as temperature and humidity, to improve weather predictions.</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Machine Learning</a:t>
            </a:r>
            <a:r>
              <a:rPr lang="en-US" sz="1800">
                <a:solidFill>
                  <a:schemeClr val="dk1"/>
                </a:solidFill>
                <a:latin typeface="Times New Roman"/>
                <a:ea typeface="Times New Roman"/>
                <a:cs typeface="Times New Roman"/>
                <a:sym typeface="Times New Roman"/>
              </a:rPr>
              <a:t>: Correlation analysis is used in feature selection to identify which variables have strong relationships with the target variable, improving model accuracy.</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6"/>
          <p:cNvSpPr txBox="1">
            <a:spLocks noGrp="1"/>
          </p:cNvSpPr>
          <p:nvPr>
            <p:ph type="title"/>
          </p:nvPr>
        </p:nvSpPr>
        <p:spPr>
          <a:xfrm>
            <a:off x="304800" y="152400"/>
            <a:ext cx="8382000" cy="12652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br>
              <a:rPr lang="en-US" sz="3100"/>
            </a:br>
            <a:r>
              <a:rPr lang="en-US" sz="3100"/>
              <a:t>Inferential statistics:-Parameter estimation for Statistical Inference</a:t>
            </a:r>
            <a:br>
              <a:rPr lang="en-US"/>
            </a:br>
            <a:endParaRPr/>
          </a:p>
        </p:txBody>
      </p:sp>
      <p:sp>
        <p:nvSpPr>
          <p:cNvPr id="305" name="Google Shape;305;p3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Inferential statistics:-Parameter estimation for Statistical Inference</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7"/>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Hypothesis </a:t>
            </a:r>
            <a:br>
              <a:rPr lang="en-US" sz="3200" b="1"/>
            </a:br>
            <a:endParaRPr sz="3200"/>
          </a:p>
        </p:txBody>
      </p:sp>
      <p:sp>
        <p:nvSpPr>
          <p:cNvPr id="311" name="Google Shape;311;p37"/>
          <p:cNvSpPr txBox="1">
            <a:spLocks noGrp="1"/>
          </p:cNvSpPr>
          <p:nvPr>
            <p:ph idx="1"/>
          </p:nvPr>
        </p:nvSpPr>
        <p:spPr>
          <a:xfrm>
            <a:off x="119625" y="1010102"/>
            <a:ext cx="8567100" cy="51162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Hypothesis</a:t>
            </a:r>
            <a:r>
              <a:rPr lang="en-US" sz="2000">
                <a:latin typeface="Times New Roman"/>
                <a:ea typeface="Times New Roman"/>
                <a:cs typeface="Times New Roman"/>
                <a:sym typeface="Times New Roman"/>
              </a:rPr>
              <a:t> is </a:t>
            </a: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fundamental concept in the world of research and statistics. It is a testable statement that explains what is happening or observed. It proposes the relation between the various participating variables.</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Hypothesis is also called </a:t>
            </a:r>
            <a:r>
              <a:rPr lang="en-US" sz="2000" b="1">
                <a:latin typeface="Times New Roman"/>
                <a:ea typeface="Times New Roman"/>
                <a:cs typeface="Times New Roman"/>
                <a:sym typeface="Times New Roman"/>
              </a:rPr>
              <a:t>Theory, Thesis, Guess, Assumption, or Suggestion</a:t>
            </a:r>
            <a:r>
              <a:rPr lang="en-US" sz="2000">
                <a:latin typeface="Times New Roman"/>
                <a:ea typeface="Times New Roman"/>
                <a:cs typeface="Times New Roman"/>
                <a:sym typeface="Times New Roman"/>
              </a:rPr>
              <a:t>. Hypothesis creates a structure that guides the search for knowledge.</a:t>
            </a:r>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b="1"/>
              <a:t>Types of Hypothesis</a:t>
            </a:r>
            <a:br>
              <a:rPr lang="en-US" sz="3600" b="1"/>
            </a:br>
            <a:endParaRPr sz="3600"/>
          </a:p>
        </p:txBody>
      </p:sp>
      <p:sp>
        <p:nvSpPr>
          <p:cNvPr id="317" name="Google Shape;317;p38"/>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spcBef>
                <a:spcPts val="0"/>
              </a:spcBef>
              <a:spcAft>
                <a:spcPts val="0"/>
              </a:spcAft>
              <a:buClr>
                <a:schemeClr val="dk1"/>
              </a:buClr>
              <a:buSzPct val="100000"/>
              <a:buChar char="•"/>
            </a:pPr>
            <a:r>
              <a:rPr lang="en-US" sz="2600">
                <a:latin typeface="Times New Roman"/>
                <a:ea typeface="Times New Roman"/>
                <a:cs typeface="Times New Roman"/>
                <a:sym typeface="Times New Roman"/>
              </a:rPr>
              <a:t>Here are some common types of hypotheses: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Simple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Complex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Directional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Non-directional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Null Hypothesis (H0)</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Alternative Hypothesis (H1 or Ha)</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Statistical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Research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Associative Hypothesis</a:t>
            </a:r>
            <a:endParaRPr/>
          </a:p>
          <a:p>
            <a:pPr marL="342900" lvl="0" indent="-342900" algn="just" rtl="0">
              <a:spcBef>
                <a:spcPts val="481"/>
              </a:spcBef>
              <a:spcAft>
                <a:spcPts val="0"/>
              </a:spcAft>
              <a:buClr>
                <a:schemeClr val="dk1"/>
              </a:buClr>
              <a:buSzPct val="100000"/>
              <a:buChar char="•"/>
            </a:pPr>
            <a:r>
              <a:rPr lang="en-US" sz="2600">
                <a:latin typeface="Times New Roman"/>
                <a:ea typeface="Times New Roman"/>
                <a:cs typeface="Times New Roman"/>
                <a:sym typeface="Times New Roman"/>
              </a:rPr>
              <a:t>Causal Hypothesis</a:t>
            </a:r>
            <a:endParaRPr/>
          </a:p>
          <a:p>
            <a:pPr marL="342900" lvl="0" indent="-154940" algn="l" rtl="0">
              <a:spcBef>
                <a:spcPts val="592"/>
              </a:spcBef>
              <a:spcAft>
                <a:spcPts val="0"/>
              </a:spcAft>
              <a:buClr>
                <a:schemeClr val="dk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9"/>
          <p:cNvSpPr txBox="1"/>
          <p:nvPr/>
        </p:nvSpPr>
        <p:spPr>
          <a:xfrm>
            <a:off x="76200" y="181963"/>
            <a:ext cx="8991600" cy="6495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Simple Hypothesis</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Simple Hypothesis guesses a connection between two things. It says that there is a connection or difference between variables, but it doesn't tell us which way the relationship goes.</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Example: </a:t>
            </a:r>
            <a:endParaRPr sz="1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Studying more can help you do better on tests.</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Getting more sun makes people have higher amounts of vitamin D.</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Complex Hypothesis</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Complex Hypothesis tells us what will happen when more than two things are connected. It looks at how different things interact and may be linked together.</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Example:</a:t>
            </a:r>
            <a:endParaRPr sz="1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How rich you are, how easy it is to get education and healthcare greatly affects the number of years people live.</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A new medicine's success relies on the amount used, how old a person is who takes it and their genes.</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Directional Hypothesis</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Directional Hypothesis says how one thing is related to another. For example, it guesses that one thing will help or hurt another thing.</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Example:</a:t>
            </a:r>
            <a:endParaRPr sz="1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Drinking more sweet drinks is linked to a higher body weight score.</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Too much stress makes people less productive at work.</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Non-Directional Hypothesis</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Non-Directional Hypothesis are the one that don't say how the relationship between things will be. They just say that there is a connection, without telling which way it goes.</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Example:</a:t>
            </a:r>
            <a:endParaRPr sz="1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Drinking caffeine can affect how well you sleep.</a:t>
            </a:r>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People often like different kinds of music based on their gender.</a:t>
            </a:r>
            <a:endParaRPr/>
          </a:p>
          <a:p>
            <a:pPr marL="0" marR="0" lvl="0" indent="0" algn="just" rtl="0">
              <a:spcBef>
                <a:spcPts val="0"/>
              </a:spcBef>
              <a:spcAft>
                <a:spcPts val="0"/>
              </a:spcAft>
              <a:buNone/>
            </a:pPr>
            <a:endParaRPr sz="16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0"/>
          <p:cNvSpPr txBox="1"/>
          <p:nvPr/>
        </p:nvSpPr>
        <p:spPr>
          <a:xfrm>
            <a:off x="304800" y="228600"/>
            <a:ext cx="8382000" cy="646330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Null Hypothesis (H0)</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Null hypothesis is a statement that says there's no connection or difference between different things. It implies that any seen impacts are because of luck or random changes in the information.</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The average test scores of Group A and Group B are not much different.</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There is no connection between using a certain fertilizer and how much it helps crops grow.</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Alternative Hypothesis (H1 or Ha)</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Alternative Hypothesis is different from the null hypothesis and shows that there's a big connection or gap between variables. Scientists want to say no to the null hypothesis and choose the alternative one.</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Patients on Diet A have much different cholesterol levels than those following Diet B.</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Exposure to a certain type of light can change how plants grow compared to normal sunlight.</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Statistical Hypothesis</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Statistical Hypothesis are used in math testing and include making ideas about what groups or bits of them look like. You aim to get information or test certain things using these top-level, common words only.</a:t>
            </a:r>
            <a:endParaRPr/>
          </a:p>
          <a:p>
            <a:pPr marL="0" marR="0" lvl="0" indent="0" algn="just" rtl="0">
              <a:spcBef>
                <a:spcPts val="0"/>
              </a:spcBef>
              <a:spcAft>
                <a:spcPts val="0"/>
              </a:spcAft>
              <a:buNone/>
            </a:pPr>
            <a:r>
              <a:rPr lang="en-US" sz="1800" b="1">
                <a:solidFill>
                  <a:schemeClr val="dk1"/>
                </a:solidFill>
                <a:latin typeface="Times New Roman"/>
                <a:ea typeface="Times New Roman"/>
                <a:cs typeface="Times New Roman"/>
                <a:sym typeface="Times New Roman"/>
              </a:rPr>
              <a:t>Example:</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The average smarts score of kids in a certain school area is 100.</a:t>
            </a:r>
            <a:endParaRPr/>
          </a:p>
          <a:p>
            <a:pPr marL="0" marR="0" lvl="0" indent="0" algn="just" rtl="0">
              <a:spcBef>
                <a:spcPts val="0"/>
              </a:spcBef>
              <a:spcAft>
                <a:spcPts val="0"/>
              </a:spcAft>
              <a:buNone/>
            </a:pPr>
            <a:r>
              <a:rPr lang="en-US" sz="1800">
                <a:solidFill>
                  <a:schemeClr val="dk1"/>
                </a:solidFill>
                <a:latin typeface="Times New Roman"/>
                <a:ea typeface="Times New Roman"/>
                <a:cs typeface="Times New Roman"/>
                <a:sym typeface="Times New Roman"/>
              </a:rPr>
              <a:t>The usual time it takes to finish a job using Method A is the same as with Method B.</a:t>
            </a:r>
            <a:endParaRPr sz="18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1"/>
          <p:cNvSpPr txBox="1"/>
          <p:nvPr/>
        </p:nvSpPr>
        <p:spPr>
          <a:xfrm>
            <a:off x="152400" y="76200"/>
            <a:ext cx="8763000" cy="7018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dirty="0">
                <a:solidFill>
                  <a:schemeClr val="dk1"/>
                </a:solidFill>
                <a:latin typeface="Times New Roman"/>
                <a:ea typeface="Times New Roman"/>
                <a:cs typeface="Times New Roman"/>
                <a:sym typeface="Times New Roman"/>
              </a:rPr>
              <a:t>Research Hypothesis</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Research Hypothesis comes from the research question and tells what link is expected between things or factors. It leads the study and chooses where to look more closely.</a:t>
            </a:r>
            <a:endParaRPr dirty="0"/>
          </a:p>
          <a:p>
            <a:pPr marL="0" marR="0" lvl="0" indent="0" algn="just" rtl="0">
              <a:spcBef>
                <a:spcPts val="0"/>
              </a:spcBef>
              <a:spcAft>
                <a:spcPts val="0"/>
              </a:spcAft>
              <a:buNone/>
            </a:pPr>
            <a:r>
              <a:rPr lang="en-US" sz="1800" b="1" dirty="0">
                <a:solidFill>
                  <a:schemeClr val="dk1"/>
                </a:solidFill>
                <a:latin typeface="Times New Roman"/>
                <a:ea typeface="Times New Roman"/>
                <a:cs typeface="Times New Roman"/>
                <a:sym typeface="Times New Roman"/>
              </a:rPr>
              <a:t>Example:</a:t>
            </a: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Having more kids go to early learning classes helps them do better in school when they get older.</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Using specific ways of talking affects how much customers get involved in marketing activities.</a:t>
            </a:r>
            <a:endParaRPr dirty="0"/>
          </a:p>
          <a:p>
            <a:pPr marL="0" marR="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b="1" dirty="0">
                <a:solidFill>
                  <a:schemeClr val="dk1"/>
                </a:solidFill>
                <a:latin typeface="Times New Roman"/>
                <a:ea typeface="Times New Roman"/>
                <a:cs typeface="Times New Roman"/>
                <a:sym typeface="Times New Roman"/>
              </a:rPr>
              <a:t>Associative Hypothesis</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Associative Hypothesis guesses that there is a link or connection between things without really saying it caused them. It means that when one thing changes, it is connected to another thing changing.</a:t>
            </a:r>
            <a:endParaRPr dirty="0"/>
          </a:p>
          <a:p>
            <a:pPr marL="0" marR="0" lvl="0" indent="0" algn="just" rtl="0">
              <a:spcBef>
                <a:spcPts val="0"/>
              </a:spcBef>
              <a:spcAft>
                <a:spcPts val="0"/>
              </a:spcAft>
              <a:buNone/>
            </a:pPr>
            <a:r>
              <a:rPr lang="en-US" sz="1800" b="1" dirty="0">
                <a:solidFill>
                  <a:schemeClr val="dk1"/>
                </a:solidFill>
                <a:latin typeface="Times New Roman"/>
                <a:ea typeface="Times New Roman"/>
                <a:cs typeface="Times New Roman"/>
                <a:sym typeface="Times New Roman"/>
              </a:rPr>
              <a:t>Example:</a:t>
            </a: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Regular exercise helps to lower the chances of heart disease.</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Going to school more can help people make more money.</a:t>
            </a:r>
            <a:endParaRPr dirty="0"/>
          </a:p>
          <a:p>
            <a:pPr marL="0" marR="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b="1" dirty="0">
                <a:solidFill>
                  <a:schemeClr val="dk1"/>
                </a:solidFill>
                <a:latin typeface="Times New Roman"/>
                <a:ea typeface="Times New Roman"/>
                <a:cs typeface="Times New Roman"/>
                <a:sym typeface="Times New Roman"/>
              </a:rPr>
              <a:t>Causal Hypothesis</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Causal Hypothesis are different from other ideas because they say that one thing causes another. This means there's a cause and effect relationship between variables involved in the situation. They say that when one thing changes, it directly makes another thing change.</a:t>
            </a:r>
            <a:endParaRPr dirty="0"/>
          </a:p>
          <a:p>
            <a:pPr marL="0" marR="0" lvl="0" indent="0" algn="just" rtl="0">
              <a:spcBef>
                <a:spcPts val="0"/>
              </a:spcBef>
              <a:spcAft>
                <a:spcPts val="0"/>
              </a:spcAft>
              <a:buNone/>
            </a:pPr>
            <a:r>
              <a:rPr lang="en-US" sz="1800" b="1" dirty="0">
                <a:solidFill>
                  <a:schemeClr val="dk1"/>
                </a:solidFill>
                <a:latin typeface="Times New Roman"/>
                <a:ea typeface="Times New Roman"/>
                <a:cs typeface="Times New Roman"/>
                <a:sym typeface="Times New Roman"/>
              </a:rPr>
              <a:t>Example:</a:t>
            </a: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Playing violent video games makes teens more likely to act aggressively.</a:t>
            </a:r>
            <a:endParaRPr dirty="0"/>
          </a:p>
          <a:p>
            <a:pPr marL="0" marR="0" lvl="0" indent="0" algn="just" rtl="0">
              <a:spcBef>
                <a:spcPts val="0"/>
              </a:spcBef>
              <a:spcAft>
                <a:spcPts val="0"/>
              </a:spcAft>
              <a:buNone/>
            </a:pPr>
            <a:r>
              <a:rPr lang="en-US" sz="1800" dirty="0">
                <a:solidFill>
                  <a:schemeClr val="dk1"/>
                </a:solidFill>
                <a:latin typeface="Times New Roman"/>
                <a:ea typeface="Times New Roman"/>
                <a:cs typeface="Times New Roman"/>
                <a:sym typeface="Times New Roman"/>
              </a:rPr>
              <a:t>Less clean air directly impacts breathing health in city populations.</a:t>
            </a:r>
            <a:endParaRPr dirty="0"/>
          </a:p>
          <a:p>
            <a:pPr marL="0" marR="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i="1" spc="600" dirty="0">
                <a:effectLst/>
                <a:latin typeface="Times New Roman"/>
                <a:ea typeface="Times New Roman"/>
                <a:cs typeface="Times New Roman"/>
                <a:sym typeface="Times New Roman"/>
              </a:rPr>
              <a:t>Hypothesis Testing</a:t>
            </a:r>
            <a:endParaRPr sz="3200" b="1" i="1" spc="600" dirty="0">
              <a:effectLst/>
              <a:latin typeface="Times New Roman"/>
              <a:ea typeface="Times New Roman"/>
              <a:cs typeface="Times New Roman"/>
              <a:sym typeface="Times New Roman"/>
            </a:endParaRPr>
          </a:p>
        </p:txBody>
      </p:sp>
      <p:sp>
        <p:nvSpPr>
          <p:cNvPr id="338" name="Google Shape;338;p4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Definition</a:t>
            </a:r>
            <a:endParaRPr sz="2000" b="1">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Hypothesis testing</a:t>
            </a:r>
            <a:r>
              <a:rPr lang="en-US" sz="2000">
                <a:latin typeface="Times New Roman"/>
                <a:ea typeface="Times New Roman"/>
                <a:cs typeface="Times New Roman"/>
                <a:sym typeface="Times New Roman"/>
              </a:rPr>
              <a:t> is a statistical procedure used to </a:t>
            </a:r>
            <a:r>
              <a:rPr lang="en-US" sz="2000" b="1">
                <a:latin typeface="Times New Roman"/>
                <a:ea typeface="Times New Roman"/>
                <a:cs typeface="Times New Roman"/>
                <a:sym typeface="Times New Roman"/>
              </a:rPr>
              <a:t>make decisions or inferences about a population parameter based on sample data</a:t>
            </a:r>
            <a:r>
              <a:rPr lang="en-US" sz="2000">
                <a:latin typeface="Times New Roman"/>
                <a:ea typeface="Times New Roman"/>
                <a:cs typeface="Times New Roman"/>
                <a:sym typeface="Times New Roman"/>
              </a:rPr>
              <a:t>. It involves formulating two competing hypotheses—the null hypothesis (H₀) and the alternative hypothesis (H₁)—and using sample evidence to determine whether to reject or fail to reject the null hypothesis at a given level of significance.</a:t>
            </a:r>
            <a:endParaRPr/>
          </a:p>
          <a:p>
            <a:pPr marL="342900" lvl="0" indent="-215900" algn="l" rtl="0">
              <a:spcBef>
                <a:spcPts val="400"/>
              </a:spcBef>
              <a:spcAft>
                <a:spcPts val="0"/>
              </a:spcAft>
              <a:buClr>
                <a:schemeClr val="dk1"/>
              </a:buClr>
              <a:buSzPts val="2000"/>
              <a:buNone/>
            </a:pPr>
            <a:endParaRPr sz="200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Z-test : Formula, Types, Examples</a:t>
            </a:r>
            <a:endParaRPr sz="3200" b="1">
              <a:latin typeface="Times New Roman"/>
              <a:ea typeface="Times New Roman"/>
              <a:cs typeface="Times New Roman"/>
              <a:sym typeface="Times New Roman"/>
            </a:endParaRPr>
          </a:p>
        </p:txBody>
      </p:sp>
      <p:sp>
        <p:nvSpPr>
          <p:cNvPr id="344" name="Google Shape;344;p43"/>
          <p:cNvSpPr txBox="1">
            <a:spLocks noGrp="1"/>
          </p:cNvSpPr>
          <p:nvPr>
            <p:ph idx="1"/>
          </p:nvPr>
        </p:nvSpPr>
        <p:spPr>
          <a:xfrm>
            <a:off x="279400" y="1435100"/>
            <a:ext cx="8737600" cy="4975850"/>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45700" rIns="91425" bIns="45700" anchor="t" anchorCtr="0">
            <a:noAutofit/>
          </a:bodyPr>
          <a:lstStyle/>
          <a:p>
            <a:pPr marL="342900" lvl="0" indent="-339725" algn="l" rtl="0">
              <a:spcBef>
                <a:spcPts val="400"/>
              </a:spcBef>
              <a:spcAft>
                <a:spcPts val="0"/>
              </a:spcAft>
              <a:buSzPts val="1750"/>
              <a:buChar char="•"/>
            </a:pPr>
            <a:r>
              <a:rPr lang="en-US"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rPr>
              <a:t>Z test is a statistical test that is conducted on data that approximately follows a normal distribution. The z test can be performed on one sample, two samples, or on proportions for hypothesis testing. It checks if the means of two large samples are different or not when the population variance is known.</a:t>
            </a:r>
            <a:endParaRPr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endParaRPr>
          </a:p>
          <a:p>
            <a:pPr marL="342900" lvl="0" indent="-339725" algn="l" rtl="0">
              <a:spcBef>
                <a:spcPts val="0"/>
              </a:spcBef>
              <a:spcAft>
                <a:spcPts val="0"/>
              </a:spcAft>
              <a:buSzPts val="1750"/>
              <a:buChar char="•"/>
            </a:pPr>
            <a:r>
              <a:rPr lang="en-US"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rPr>
              <a:t>A z test can further be classified into left-tailed, right-tailed, and two-tailed hypothesis tests depending upon the parameters of the data. In this article, we will learn more about the z test, its formula, the z test statistic, and how to perform the test for different types of data using examples.</a:t>
            </a:r>
            <a:endParaRPr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endParaRPr>
          </a:p>
          <a:p>
            <a:pPr marL="342900" lvl="0" indent="-327025" algn="just" rtl="0">
              <a:spcBef>
                <a:spcPts val="0"/>
              </a:spcBef>
              <a:spcAft>
                <a:spcPts val="0"/>
              </a:spcAft>
              <a:buSzPts val="1750"/>
              <a:buFont typeface="Times New Roman"/>
              <a:buChar char="•"/>
            </a:pPr>
            <a:endParaRPr sz="1400" dirty="0">
              <a:ln w="0"/>
              <a:solidFill>
                <a:schemeClr val="tx1"/>
              </a:solidFill>
              <a:effectLst>
                <a:outerShdw blurRad="38100" dist="19050" dir="2700000" algn="tl" rotWithShape="0">
                  <a:schemeClr val="dk1">
                    <a:alpha val="40000"/>
                  </a:schemeClr>
                </a:outerShdw>
              </a:effectLst>
              <a:latin typeface="Times New Roman" pitchFamily="18" charset="0"/>
              <a:ea typeface="Times New Roman"/>
              <a:cs typeface="Times New Roman" pitchFamily="18" charset="0"/>
              <a:sym typeface="Times New Roman"/>
            </a:endParaRPr>
          </a:p>
          <a:p>
            <a:pPr marL="0" lvl="0" indent="0" algn="just" rtl="0">
              <a:spcBef>
                <a:spcPts val="400"/>
              </a:spcBef>
              <a:spcAft>
                <a:spcPts val="0"/>
              </a:spcAft>
              <a:buClr>
                <a:schemeClr val="dk1"/>
              </a:buClr>
              <a:buSzPts val="1550"/>
              <a:buNone/>
            </a:pPr>
            <a:endParaRPr sz="1400" dirty="0">
              <a:ln w="0"/>
              <a:solidFill>
                <a:schemeClr val="tx1"/>
              </a:solidFill>
              <a:effectLst>
                <a:outerShdw blurRad="38100" dist="19050" dir="2700000" algn="tl" rotWithShape="0">
                  <a:schemeClr val="dk1">
                    <a:alpha val="40000"/>
                  </a:schemeClr>
                </a:outerShdw>
              </a:effectLst>
              <a:latin typeface="Times New Roman" pitchFamily="18" charset="0"/>
              <a:ea typeface="Times New Roman"/>
              <a:cs typeface="Times New Roman" pitchFamily="18" charset="0"/>
              <a:sym typeface="Times New Roman"/>
            </a:endParaRPr>
          </a:p>
          <a:p>
            <a:pPr marL="0" lvl="0" indent="0" algn="l" rtl="0">
              <a:spcBef>
                <a:spcPts val="0"/>
              </a:spcBef>
              <a:spcAft>
                <a:spcPts val="0"/>
              </a:spcAft>
              <a:buClr>
                <a:schemeClr val="dk1"/>
              </a:buClr>
              <a:buSzPts val="852"/>
              <a:buFont typeface="Arial"/>
              <a:buNone/>
            </a:pPr>
            <a:r>
              <a:rPr lang="en-US"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rPr>
              <a:t>What is Z Test?</a:t>
            </a:r>
            <a:endParaRPr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endParaRPr>
          </a:p>
          <a:p>
            <a:pPr marL="0" lvl="0" indent="0" algn="l" rtl="0">
              <a:spcBef>
                <a:spcPts val="1500"/>
              </a:spcBef>
              <a:spcAft>
                <a:spcPts val="0"/>
              </a:spcAft>
              <a:buClr>
                <a:schemeClr val="dk1"/>
              </a:buClr>
              <a:buSzPts val="852"/>
              <a:buFont typeface="Arial"/>
              <a:buNone/>
            </a:pPr>
            <a:r>
              <a:rPr lang="en-US"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rPr>
              <a:t>A z test is a test that is used to check if the </a:t>
            </a:r>
            <a:r>
              <a:rPr lang="en-US" sz="1400" dirty="0">
                <a:ln w="0"/>
                <a:solidFill>
                  <a:schemeClr val="tx1"/>
                </a:solidFill>
                <a:effectLst>
                  <a:outerShdw blurRad="38100" dist="19050" dir="2700000" algn="tl" rotWithShape="0">
                    <a:schemeClr val="dk1">
                      <a:alpha val="40000"/>
                    </a:schemeClr>
                  </a:outerShdw>
                </a:effectLst>
                <a:uFill>
                  <a:noFill/>
                </a:uFill>
                <a:latin typeface="Times New Roman" pitchFamily="18" charset="0"/>
                <a:ea typeface="Arial"/>
                <a:cs typeface="Times New Roman" pitchFamily="18" charset="0"/>
                <a:sym typeface="Arial"/>
              </a:rPr>
              <a:t>means</a:t>
            </a:r>
            <a:r>
              <a:rPr lang="en-US"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rPr>
              <a:t> of two populations are different or not provided the data follows a normal distribution. For this purpose, the null hypothesis and the alternative hypothesis must be set up and the value of the z test statistic must be calculated. The decision criterion is based on the z critical value.</a:t>
            </a:r>
            <a:endParaRPr sz="1400" dirty="0">
              <a:ln w="0"/>
              <a:solidFill>
                <a:schemeClr val="tx1"/>
              </a:solidFill>
              <a:effectLst>
                <a:outerShdw blurRad="38100" dist="19050" dir="2700000" algn="tl" rotWithShape="0">
                  <a:schemeClr val="dk1">
                    <a:alpha val="40000"/>
                  </a:schemeClr>
                </a:outerShdw>
              </a:effectLst>
              <a:latin typeface="Times New Roman" pitchFamily="18" charset="0"/>
              <a:ea typeface="Arial"/>
              <a:cs typeface="Times New Roman" pitchFamily="18" charset="0"/>
              <a:sym typeface="Arial"/>
            </a:endParaRPr>
          </a:p>
          <a:p>
            <a:pPr marL="114300" indent="0">
              <a:lnSpc>
                <a:spcPct val="115000"/>
              </a:lnSpc>
              <a:spcBef>
                <a:spcPts val="1100"/>
              </a:spcBef>
              <a:buSzPts val="852"/>
              <a:buNone/>
            </a:pPr>
            <a:r>
              <a:rPr lang="en-US" sz="1400" dirty="0">
                <a:ln w="0"/>
                <a:solidFill>
                  <a:schemeClr val="tx1"/>
                </a:solidFill>
                <a:effectLst>
                  <a:outerShdw blurRad="38100" dist="19050" dir="2700000" algn="tl" rotWithShape="0">
                    <a:schemeClr val="dk1">
                      <a:alpha val="40000"/>
                    </a:schemeClr>
                  </a:outerShdw>
                </a:effectLst>
                <a:latin typeface="Times New Roman" pitchFamily="18" charset="0"/>
                <a:cs typeface="Times New Roman" pitchFamily="18" charset="0"/>
              </a:rPr>
              <a:t>Z Test Definition</a:t>
            </a:r>
          </a:p>
          <a:p>
            <a:pPr marL="114300" lvl="0" indent="0">
              <a:spcBef>
                <a:spcPts val="1100"/>
              </a:spcBef>
              <a:buClr>
                <a:schemeClr val="dk1"/>
              </a:buClr>
              <a:buSzPts val="852"/>
              <a:buNone/>
            </a:pPr>
            <a:r>
              <a:rPr lang="en-US" sz="1400" dirty="0">
                <a:ln w="0"/>
                <a:solidFill>
                  <a:schemeClr val="tx1"/>
                </a:solidFill>
                <a:effectLst>
                  <a:outerShdw blurRad="38100" dist="19050" dir="2700000" algn="tl" rotWithShape="0">
                    <a:schemeClr val="dk1">
                      <a:alpha val="40000"/>
                    </a:schemeClr>
                  </a:outerShdw>
                </a:effectLst>
                <a:latin typeface="Times New Roman" pitchFamily="18" charset="0"/>
                <a:cs typeface="Times New Roman" pitchFamily="18" charset="0"/>
              </a:rPr>
              <a:t>A z test is conducted on a population that follows a </a:t>
            </a:r>
            <a:r>
              <a:rPr lang="en-US" sz="1400" dirty="0">
                <a:ln w="0"/>
                <a:solidFill>
                  <a:schemeClr val="tx1"/>
                </a:solidFill>
                <a:effectLst>
                  <a:outerShdw blurRad="38100" dist="19050" dir="2700000" algn="tl" rotWithShape="0">
                    <a:schemeClr val="dk1">
                      <a:alpha val="40000"/>
                    </a:schemeClr>
                  </a:outerShdw>
                </a:effectLst>
                <a:uFill>
                  <a:noFill/>
                </a:uFill>
                <a:latin typeface="Times New Roman" pitchFamily="18" charset="0"/>
                <a:cs typeface="Times New Roman" pitchFamily="18" charset="0"/>
              </a:rPr>
              <a:t>normal distribution</a:t>
            </a:r>
            <a:r>
              <a:rPr lang="en-US" sz="1400" dirty="0">
                <a:ln w="0"/>
                <a:solidFill>
                  <a:schemeClr val="tx1"/>
                </a:solidFill>
                <a:effectLst>
                  <a:outerShdw blurRad="38100" dist="19050" dir="2700000" algn="tl" rotWithShape="0">
                    <a:schemeClr val="dk1">
                      <a:alpha val="40000"/>
                    </a:schemeClr>
                  </a:outerShdw>
                </a:effectLst>
                <a:latin typeface="Times New Roman" pitchFamily="18" charset="0"/>
                <a:cs typeface="Times New Roman" pitchFamily="18" charset="0"/>
              </a:rPr>
              <a:t> with independent data points and has a sample size that is greater than or equal to 30. It is used to check whether the means of two populations are equal to each other when the population </a:t>
            </a:r>
            <a:r>
              <a:rPr lang="en-US" sz="1400" dirty="0">
                <a:ln w="0"/>
                <a:solidFill>
                  <a:schemeClr val="tx1"/>
                </a:solidFill>
                <a:effectLst>
                  <a:outerShdw blurRad="38100" dist="19050" dir="2700000" algn="tl" rotWithShape="0">
                    <a:schemeClr val="dk1">
                      <a:alpha val="40000"/>
                    </a:schemeClr>
                  </a:outerShdw>
                </a:effectLst>
                <a:uFill>
                  <a:noFill/>
                </a:uFill>
                <a:latin typeface="Times New Roman" pitchFamily="18" charset="0"/>
                <a:cs typeface="Times New Roman" pitchFamily="18" charset="0"/>
              </a:rPr>
              <a:t>variance</a:t>
            </a:r>
            <a:r>
              <a:rPr lang="en-US" sz="1400" dirty="0">
                <a:ln w="0"/>
                <a:solidFill>
                  <a:schemeClr val="tx1"/>
                </a:solidFill>
                <a:effectLst>
                  <a:outerShdw blurRad="38100" dist="19050" dir="2700000" algn="tl" rotWithShape="0">
                    <a:schemeClr val="dk1">
                      <a:alpha val="40000"/>
                    </a:schemeClr>
                  </a:outerShdw>
                </a:effectLst>
                <a:latin typeface="Times New Roman" pitchFamily="18" charset="0"/>
                <a:cs typeface="Times New Roman" pitchFamily="18" charset="0"/>
              </a:rPr>
              <a:t> is known. The null hypothesis of a z test can be rejected if the z test statistic is statistically significant when compared with the critical value.</a:t>
            </a:r>
          </a:p>
          <a:p>
            <a:pPr marL="342900" lvl="0" indent="-215900" algn="just" rtl="0">
              <a:spcBef>
                <a:spcPts val="400"/>
              </a:spcBef>
              <a:spcAft>
                <a:spcPts val="0"/>
              </a:spcAft>
              <a:buClr>
                <a:schemeClr val="dk1"/>
              </a:buClr>
              <a:buSzPts val="1550"/>
              <a:buNone/>
            </a:pPr>
            <a:endParaRPr sz="1200" b="1" dirty="0">
              <a:latin typeface="Times New Roman" pitchFamily="18" charset="0"/>
              <a:ea typeface="Times New Roman"/>
              <a:cs typeface="Times New Roman"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240" y="426720"/>
            <a:ext cx="8879840" cy="5005473"/>
          </a:xfrm>
          <a:prstGeom prst="rect">
            <a:avLst/>
          </a:prstGeom>
        </p:spPr>
        <p:txBody>
          <a:bodyPr wrap="square">
            <a:spAutoFit/>
          </a:bodyPr>
          <a:lstStyle/>
          <a:p>
            <a:pPr fontAlgn="base"/>
            <a:r>
              <a:rPr lang="en-US" b="1" dirty="0"/>
              <a:t>One-Sample Z Test</a:t>
            </a:r>
          </a:p>
          <a:p>
            <a:pPr fontAlgn="base"/>
            <a:r>
              <a:rPr lang="en-US" dirty="0"/>
              <a:t>A one-sample z test is used to check if there is a difference between the sample mean and the population mean when the population standard deviation is known. The formula for the z test statistic is given as follows:</a:t>
            </a:r>
          </a:p>
          <a:p>
            <a:pPr fontAlgn="base"/>
            <a:r>
              <a:rPr lang="en-US" dirty="0"/>
              <a:t>                   is the sample mean, μ is the population mean, σ is the population standard deviation and n is the </a:t>
            </a:r>
          </a:p>
          <a:p>
            <a:pPr fontAlgn="base"/>
            <a:r>
              <a:rPr lang="en-US" dirty="0"/>
              <a:t>                     sample size.</a:t>
            </a:r>
          </a:p>
          <a:p>
            <a:pPr fontAlgn="base"/>
            <a:endParaRPr lang="en-US" dirty="0"/>
          </a:p>
          <a:p>
            <a:pPr fontAlgn="base"/>
            <a:r>
              <a:rPr lang="en-US" dirty="0"/>
              <a:t>The algorithm to set a one sample z test based on the z test statistic is given as follows:</a:t>
            </a:r>
          </a:p>
          <a:p>
            <a:pPr fontAlgn="base"/>
            <a:r>
              <a:rPr lang="en-US" b="1" dirty="0"/>
              <a:t>Left Tailed Test:</a:t>
            </a:r>
            <a:endParaRPr lang="en-US" dirty="0"/>
          </a:p>
          <a:p>
            <a:pPr fontAlgn="base"/>
            <a:r>
              <a:rPr lang="en-US" dirty="0"/>
              <a:t>Null Hypothesis: H0 :μ=μ0</a:t>
            </a:r>
          </a:p>
          <a:p>
            <a:pPr fontAlgn="base"/>
            <a:r>
              <a:rPr lang="en-US" dirty="0"/>
              <a:t>Alternate Hypothesis: H1: μ&lt;μ0</a:t>
            </a:r>
          </a:p>
          <a:p>
            <a:pPr fontAlgn="base"/>
            <a:r>
              <a:rPr lang="en-US" dirty="0"/>
              <a:t>Decision Criteria: If the z statistic &lt; z critical value then reject the null hypothesis.</a:t>
            </a:r>
          </a:p>
          <a:p>
            <a:pPr fontAlgn="base"/>
            <a:endParaRPr lang="en-US" dirty="0"/>
          </a:p>
          <a:p>
            <a:pPr fontAlgn="base"/>
            <a:r>
              <a:rPr lang="en-US" b="1" dirty="0"/>
              <a:t>Right Tailed Test:</a:t>
            </a:r>
            <a:endParaRPr lang="en-US" dirty="0"/>
          </a:p>
          <a:p>
            <a:pPr fontAlgn="base"/>
            <a:r>
              <a:rPr lang="en-US" dirty="0"/>
              <a:t>Null Hypothesis: H0: </a:t>
            </a:r>
            <a:r>
              <a:rPr lang="el-GR" dirty="0"/>
              <a:t>μ=μ0</a:t>
            </a:r>
          </a:p>
          <a:p>
            <a:pPr fontAlgn="base"/>
            <a:r>
              <a:rPr lang="en-US" dirty="0"/>
              <a:t>Alternate Hypothesis: H1: </a:t>
            </a:r>
            <a:r>
              <a:rPr lang="el-GR" dirty="0"/>
              <a:t>μ&gt;μ0</a:t>
            </a:r>
          </a:p>
          <a:p>
            <a:pPr fontAlgn="base"/>
            <a:r>
              <a:rPr lang="en-US" dirty="0"/>
              <a:t>Decision Criteria: If the z statistic &gt; z critical value then reject the null hypothesis.</a:t>
            </a:r>
          </a:p>
          <a:p>
            <a:pPr fontAlgn="base"/>
            <a:r>
              <a:rPr lang="en-US" b="1" dirty="0"/>
              <a:t>Two Tailed Test:</a:t>
            </a:r>
            <a:endParaRPr lang="en-US" dirty="0"/>
          </a:p>
          <a:p>
            <a:pPr fontAlgn="base"/>
            <a:r>
              <a:rPr lang="en-US" dirty="0"/>
              <a:t>Null Hypothesis: H0 : </a:t>
            </a:r>
            <a:r>
              <a:rPr lang="el-GR" dirty="0"/>
              <a:t>μ=μ0</a:t>
            </a:r>
          </a:p>
          <a:p>
            <a:pPr fontAlgn="base"/>
            <a:r>
              <a:rPr lang="en-US" dirty="0"/>
              <a:t>Alternate Hypothesis: H1 : </a:t>
            </a:r>
            <a:r>
              <a:rPr lang="el-GR" dirty="0"/>
              <a:t>μ≠μ0</a:t>
            </a:r>
          </a:p>
          <a:p>
            <a:pPr fontAlgn="base"/>
            <a:r>
              <a:rPr lang="en-US" dirty="0"/>
              <a:t>Decision Criteria: If the z statistic &gt; z critical value then reject the null hypothesis.</a:t>
            </a:r>
          </a:p>
          <a:p>
            <a:pPr fontAlgn="base"/>
            <a:endParaRPr lang="en-US" dirty="0"/>
          </a:p>
          <a:p>
            <a:pPr lvl="0">
              <a:lnSpc>
                <a:spcPct val="115000"/>
              </a:lnSpc>
              <a:spcBef>
                <a:spcPts val="1100"/>
              </a:spcBef>
              <a:buClr>
                <a:schemeClr val="dk1"/>
              </a:buClr>
              <a:buSzPts val="852"/>
            </a:pPr>
            <a:endParaRPr lang="en-US" dirty="0">
              <a:solidFill>
                <a:srgbClr val="333333"/>
              </a:solidFill>
              <a:highlight>
                <a:srgbClr val="FFFFFF"/>
              </a:highligh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 y="1162844"/>
            <a:ext cx="955040"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05421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765" y="91441"/>
            <a:ext cx="8994235" cy="484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21607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573090"/>
            <a:ext cx="5104124" cy="5456893"/>
          </a:xfrm>
          <a:prstGeom prst="rect">
            <a:avLst/>
          </a:prstGeom>
        </p:spPr>
      </p:pic>
    </p:spTree>
    <p:extLst>
      <p:ext uri="{BB962C8B-B14F-4D97-AF65-F5344CB8AC3E}">
        <p14:creationId xmlns:p14="http://schemas.microsoft.com/office/powerpoint/2010/main" val="23940736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240" y="264160"/>
            <a:ext cx="8788400" cy="1815882"/>
          </a:xfrm>
          <a:prstGeom prst="rect">
            <a:avLst/>
          </a:prstGeom>
        </p:spPr>
        <p:txBody>
          <a:bodyPr wrap="square">
            <a:spAutoFit/>
          </a:bodyPr>
          <a:lstStyle/>
          <a:p>
            <a:pPr fontAlgn="base"/>
            <a:r>
              <a:rPr lang="en-US" b="1" dirty="0"/>
              <a:t>How to Calculate Z Test Statistic?</a:t>
            </a:r>
          </a:p>
          <a:p>
            <a:pPr fontAlgn="base"/>
            <a:r>
              <a:rPr lang="en-US" dirty="0"/>
              <a:t>The most important step in calculating the z test statistic is to interpret the problem correctly. It is necessary to determine which tailed test needs to be conducted and what type of test does the z statistic belong to. Suppose a teacher claims that his section's students will score higher than his colleague's section. The mean score is 22.1 for 60 students belonging to his section with a standard deviation of 4.8. For his colleague's section, the mean score is 18.8 for 40 students and the standard deviation is 8.1. Test his claim at </a:t>
            </a:r>
            <a:r>
              <a:rPr lang="en-US" dirty="0" err="1"/>
              <a:t>αα</a:t>
            </a:r>
            <a:r>
              <a:rPr lang="en-US" dirty="0"/>
              <a:t> = 0.05. The steps to calculate the z test statistic are as follows:</a:t>
            </a:r>
          </a:p>
          <a:p>
            <a:pPr fontAlgn="base"/>
            <a:endParaRPr lang="en-US" dirty="0"/>
          </a:p>
        </p:txBody>
      </p:sp>
      <p:pic>
        <p:nvPicPr>
          <p:cNvPr id="1026" name="Picture 2"/>
          <p:cNvPicPr>
            <a:picLocks noChangeAspect="1" noChangeArrowheads="1"/>
          </p:cNvPicPr>
          <p:nvPr/>
        </p:nvPicPr>
        <p:blipFill>
          <a:blip r:embed="rId2"/>
          <a:srcRect/>
          <a:stretch>
            <a:fillRect/>
          </a:stretch>
        </p:blipFill>
        <p:spPr bwMode="auto">
          <a:xfrm>
            <a:off x="1922087" y="2531735"/>
            <a:ext cx="6490393" cy="2246224"/>
          </a:xfrm>
          <a:prstGeom prst="rect">
            <a:avLst/>
          </a:prstGeom>
          <a:noFill/>
          <a:ln w="9525">
            <a:noFill/>
            <a:miter lim="800000"/>
            <a:headEnd/>
            <a:tailEnd/>
          </a:ln>
        </p:spPr>
      </p:pic>
      <p:pic>
        <p:nvPicPr>
          <p:cNvPr id="1027" name="Picture 3"/>
          <p:cNvPicPr>
            <a:picLocks noChangeAspect="1" noChangeArrowheads="1"/>
          </p:cNvPicPr>
          <p:nvPr/>
        </p:nvPicPr>
        <p:blipFill>
          <a:blip r:embed="rId3"/>
          <a:srcRect/>
          <a:stretch>
            <a:fillRect/>
          </a:stretch>
        </p:blipFill>
        <p:spPr bwMode="auto">
          <a:xfrm>
            <a:off x="365760" y="5023168"/>
            <a:ext cx="8046720" cy="134302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sz="3600" b="1">
                <a:latin typeface="Times New Roman"/>
                <a:ea typeface="Times New Roman"/>
                <a:cs typeface="Times New Roman"/>
                <a:sym typeface="Times New Roman"/>
              </a:rPr>
              <a:t>T-test</a:t>
            </a:r>
            <a:br>
              <a:rPr lang="en-US" b="1"/>
            </a:br>
            <a:endParaRPr/>
          </a:p>
        </p:txBody>
      </p:sp>
      <p:sp>
        <p:nvSpPr>
          <p:cNvPr id="350" name="Google Shape;350;p44"/>
          <p:cNvSpPr txBox="1">
            <a:spLocks noGrp="1"/>
          </p:cNvSpPr>
          <p:nvPr>
            <p:ph idx="1"/>
          </p:nvPr>
        </p:nvSpPr>
        <p:spPr>
          <a:xfrm>
            <a:off x="152400" y="914400"/>
            <a:ext cx="8763000" cy="5715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latin typeface="Times New Roman"/>
                <a:ea typeface="Times New Roman"/>
                <a:cs typeface="Times New Roman"/>
                <a:sym typeface="Times New Roman"/>
              </a:rPr>
              <a:t>The t-test is used to compare the averages of two groups to see if they are significantly different from each other. Suppose you want to compare the test scores of two groups of students:</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Group 1: </a:t>
            </a:r>
            <a:r>
              <a:rPr lang="en-US" sz="2000">
                <a:latin typeface="Times New Roman"/>
                <a:ea typeface="Times New Roman"/>
                <a:cs typeface="Times New Roman"/>
                <a:sym typeface="Times New Roman"/>
              </a:rPr>
              <a:t>30 students who studied with Method A.</a:t>
            </a:r>
            <a:endParaRPr/>
          </a:p>
          <a:p>
            <a:pPr marL="342900" lvl="0" indent="-342900" algn="l"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Group 2: </a:t>
            </a:r>
            <a:r>
              <a:rPr lang="en-US" sz="2000">
                <a:latin typeface="Times New Roman"/>
                <a:ea typeface="Times New Roman"/>
                <a:cs typeface="Times New Roman"/>
                <a:sym typeface="Times New Roman"/>
              </a:rPr>
              <a:t>30 students who studied with Method B.</a:t>
            </a:r>
            <a:endParaRPr/>
          </a:p>
          <a:p>
            <a:pPr marL="342900" lvl="0" indent="-342900" algn="l"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We use a </a:t>
            </a:r>
            <a:r>
              <a:rPr lang="en-US" sz="2000" b="1">
                <a:latin typeface="Times New Roman"/>
                <a:ea typeface="Times New Roman"/>
                <a:cs typeface="Times New Roman"/>
                <a:sym typeface="Times New Roman"/>
              </a:rPr>
              <a:t>t-test</a:t>
            </a:r>
            <a:r>
              <a:rPr lang="en-US" sz="2000">
                <a:latin typeface="Times New Roman"/>
                <a:ea typeface="Times New Roman"/>
                <a:cs typeface="Times New Roman"/>
                <a:sym typeface="Times New Roman"/>
              </a:rPr>
              <a:t> to check if there is a significant difference in the average test scores between the two.</a:t>
            </a:r>
            <a:endParaRPr sz="2000">
              <a:latin typeface="Times New Roman"/>
              <a:ea typeface="Times New Roman"/>
              <a:cs typeface="Times New Roman"/>
              <a:sym typeface="Times New Roman"/>
            </a:endParaRPr>
          </a:p>
        </p:txBody>
      </p:sp>
      <p:pic>
        <p:nvPicPr>
          <p:cNvPr id="351" name="Google Shape;351;p44"/>
          <p:cNvPicPr preferRelativeResize="0"/>
          <p:nvPr/>
        </p:nvPicPr>
        <p:blipFill rotWithShape="1">
          <a:blip r:embed="rId3">
            <a:alphaModFix/>
          </a:blip>
          <a:srcRect/>
          <a:stretch/>
        </p:blipFill>
        <p:spPr>
          <a:xfrm>
            <a:off x="914400" y="3525520"/>
            <a:ext cx="7086600" cy="2971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5"/>
          <p:cNvSpPr txBox="1">
            <a:spLocks noGrp="1"/>
          </p:cNvSpPr>
          <p:nvPr>
            <p:ph type="title"/>
          </p:nvPr>
        </p:nvSpPr>
        <p:spPr>
          <a:xfrm>
            <a:off x="457200" y="274649"/>
            <a:ext cx="8229600" cy="10011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F test</a:t>
            </a:r>
            <a:endParaRPr sz="3200">
              <a:latin typeface="Times New Roman"/>
              <a:ea typeface="Times New Roman"/>
              <a:cs typeface="Times New Roman"/>
              <a:sym typeface="Times New Roman"/>
            </a:endParaRPr>
          </a:p>
        </p:txBody>
      </p:sp>
      <p:sp>
        <p:nvSpPr>
          <p:cNvPr id="357" name="Google Shape;357;p45"/>
          <p:cNvSpPr txBox="1">
            <a:spLocks noGrp="1"/>
          </p:cNvSpPr>
          <p:nvPr>
            <p:ph idx="1"/>
          </p:nvPr>
        </p:nvSpPr>
        <p:spPr>
          <a:xfrm>
            <a:off x="159500" y="1196175"/>
            <a:ext cx="8745300" cy="53961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dirty="0">
                <a:latin typeface="Times New Roman"/>
                <a:ea typeface="Times New Roman"/>
                <a:cs typeface="Times New Roman"/>
                <a:sym typeface="Times New Roman"/>
              </a:rPr>
              <a:t>F test </a:t>
            </a:r>
            <a:r>
              <a:rPr lang="en-US" sz="2000" dirty="0">
                <a:latin typeface="Times New Roman"/>
                <a:ea typeface="Times New Roman"/>
                <a:cs typeface="Times New Roman"/>
                <a:sym typeface="Times New Roman"/>
              </a:rPr>
              <a:t>is a</a:t>
            </a:r>
            <a:r>
              <a:rPr lang="en-US" sz="2000" b="1" dirty="0">
                <a:latin typeface="Times New Roman"/>
                <a:ea typeface="Times New Roman"/>
                <a:cs typeface="Times New Roman"/>
                <a:sym typeface="Times New Roman"/>
              </a:rPr>
              <a:t> statistical test </a:t>
            </a:r>
            <a:r>
              <a:rPr lang="en-US" sz="2000" dirty="0">
                <a:latin typeface="Times New Roman"/>
                <a:ea typeface="Times New Roman"/>
                <a:cs typeface="Times New Roman"/>
                <a:sym typeface="Times New Roman"/>
              </a:rPr>
              <a:t>that is used in hypothesis testing that determines whether the variances of two samples are equal or not.</a:t>
            </a:r>
            <a:endParaRPr dirty="0"/>
          </a:p>
          <a:p>
            <a:pPr marL="342900" lvl="0" indent="-342900" algn="just" rtl="0">
              <a:spcBef>
                <a:spcPts val="400"/>
              </a:spcBef>
              <a:spcAft>
                <a:spcPts val="0"/>
              </a:spcAft>
              <a:buClr>
                <a:schemeClr val="dk1"/>
              </a:buClr>
              <a:buSzPts val="2000"/>
              <a:buChar char="•"/>
            </a:pPr>
            <a:r>
              <a:rPr lang="en-US" sz="2000" b="1" dirty="0">
                <a:latin typeface="Times New Roman"/>
                <a:ea typeface="Times New Roman"/>
                <a:cs typeface="Times New Roman"/>
                <a:sym typeface="Times New Roman"/>
              </a:rPr>
              <a:t>F-distribution</a:t>
            </a:r>
            <a:endParaRPr dirty="0"/>
          </a:p>
          <a:p>
            <a:pPr marL="342900" lvl="0" indent="-342900" algn="just" rtl="0">
              <a:spcBef>
                <a:spcPts val="400"/>
              </a:spcBef>
              <a:spcAft>
                <a:spcPts val="0"/>
              </a:spcAft>
              <a:buClr>
                <a:schemeClr val="dk1"/>
              </a:buClr>
              <a:buSzPts val="2000"/>
              <a:buChar char="•"/>
            </a:pPr>
            <a:r>
              <a:rPr lang="en-US" sz="2000" dirty="0">
                <a:latin typeface="Times New Roman"/>
                <a:ea typeface="Times New Roman"/>
                <a:cs typeface="Times New Roman"/>
                <a:sym typeface="Times New Roman"/>
              </a:rPr>
              <a:t>The F-distribution is a continuous statistical distribution used to test whether two samples have the same variance. The F-Distribution has two parameters the numerator degrees of freedom (df1) and the denominator degrees of freedom (df2). </a:t>
            </a:r>
            <a:r>
              <a:rPr lang="en-US" sz="2000" b="1" dirty="0">
                <a:latin typeface="Times New Roman"/>
                <a:ea typeface="Times New Roman"/>
                <a:cs typeface="Times New Roman"/>
                <a:sym typeface="Times New Roman"/>
              </a:rPr>
              <a:t>Formula for F-distribution:</a:t>
            </a:r>
            <a:endParaRPr sz="2000" dirty="0">
              <a:latin typeface="Times New Roman"/>
              <a:ea typeface="Times New Roman"/>
              <a:cs typeface="Times New Roman"/>
              <a:sym typeface="Times New Roman"/>
            </a:endParaRPr>
          </a:p>
          <a:p>
            <a:pPr marL="342900" lvl="0" algn="just">
              <a:spcBef>
                <a:spcPts val="400"/>
              </a:spcBef>
              <a:buSzPts val="2000"/>
            </a:pPr>
            <a:r>
              <a:rPr lang="en-US" sz="2000" dirty="0">
                <a:latin typeface="Times New Roman"/>
                <a:ea typeface="Times New Roman"/>
                <a:cs typeface="Times New Roman"/>
                <a:sym typeface="Times New Roman"/>
              </a:rPr>
              <a:t>f-value= sample1/df1</a:t>
            </a:r>
          </a:p>
          <a:p>
            <a:pPr marL="342900" lvl="0" algn="just">
              <a:spcBef>
                <a:spcPts val="400"/>
              </a:spcBef>
              <a:buSzPts val="2000"/>
            </a:pPr>
            <a:r>
              <a:rPr lang="en-US" sz="2000" dirty="0">
                <a:latin typeface="Times New Roman"/>
                <a:ea typeface="Times New Roman"/>
                <a:cs typeface="Times New Roman"/>
                <a:sym typeface="Times New Roman"/>
              </a:rPr>
              <a:t>               sample2/df2​</a:t>
            </a:r>
            <a:endParaRPr lang="en-US" sz="2000" dirty="0"/>
          </a:p>
          <a:p>
            <a:pPr marL="342900" lvl="0" algn="just">
              <a:spcBef>
                <a:spcPts val="400"/>
              </a:spcBef>
              <a:buSzPts val="2000"/>
            </a:pPr>
            <a:endParaRPr lang="en-US" sz="2000" dirty="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dirty="0">
                <a:latin typeface="Times New Roman"/>
                <a:ea typeface="Times New Roman"/>
                <a:cs typeface="Times New Roman"/>
                <a:sym typeface="Times New Roman"/>
              </a:rPr>
              <a:t>The independent random variables Samples 1 and 2, have a</a:t>
            </a:r>
            <a:r>
              <a:rPr lang="en-US" sz="2000" u="sng" dirty="0">
                <a:latin typeface="Times New Roman"/>
                <a:ea typeface="Times New Roman"/>
                <a:cs typeface="Times New Roman"/>
                <a:sym typeface="Times New Roman"/>
              </a:rPr>
              <a:t> </a:t>
            </a:r>
            <a:r>
              <a:rPr lang="en-US" sz="2000" dirty="0">
                <a:latin typeface="Times New Roman"/>
                <a:ea typeface="Times New Roman"/>
                <a:cs typeface="Times New Roman"/>
                <a:sym typeface="Times New Roman"/>
              </a:rPr>
              <a:t>chi-square distribution</a:t>
            </a:r>
            <a:r>
              <a:rPr lang="en-US" sz="2000" u="sng" dirty="0">
                <a:latin typeface="Times New Roman"/>
                <a:ea typeface="Times New Roman"/>
                <a:cs typeface="Times New Roman"/>
                <a:sym typeface="Times New Roman"/>
              </a:rPr>
              <a:t>.</a:t>
            </a:r>
            <a:endParaRPr sz="2000" u="sng" dirty="0">
              <a:latin typeface="Times New Roman"/>
              <a:ea typeface="Times New Roman"/>
              <a:cs typeface="Times New Roman"/>
              <a:sym typeface="Times New Roman"/>
            </a:endParaRPr>
          </a:p>
          <a:p>
            <a:pPr marL="342900" lvl="0" indent="-342900" algn="just" rtl="0">
              <a:spcBef>
                <a:spcPts val="400"/>
              </a:spcBef>
              <a:spcAft>
                <a:spcPts val="0"/>
              </a:spcAft>
              <a:buClr>
                <a:schemeClr val="dk1"/>
              </a:buClr>
              <a:buSzPts val="2000"/>
              <a:buChar char="•"/>
            </a:pPr>
            <a:r>
              <a:rPr lang="en-US" sz="2000" dirty="0">
                <a:latin typeface="Times New Roman"/>
                <a:ea typeface="Times New Roman"/>
                <a:cs typeface="Times New Roman"/>
                <a:sym typeface="Times New Roman"/>
              </a:rPr>
              <a:t>The related samples' degrees of freedom are denoted by df1 and df2.</a:t>
            </a:r>
            <a:endParaRPr dirty="0"/>
          </a:p>
          <a:p>
            <a:pPr marL="342900" lvl="0" indent="-215900" algn="just" rtl="0">
              <a:spcBef>
                <a:spcPts val="400"/>
              </a:spcBef>
              <a:spcAft>
                <a:spcPts val="0"/>
              </a:spcAft>
              <a:buClr>
                <a:schemeClr val="dk1"/>
              </a:buClr>
              <a:buSzPts val="2000"/>
              <a:buNone/>
            </a:pPr>
            <a:endParaRPr sz="2000" dirty="0">
              <a:latin typeface="Times New Roman"/>
              <a:ea typeface="Times New Roman"/>
              <a:cs typeface="Times New Roman"/>
              <a:sym typeface="Times New Roman"/>
            </a:endParaRPr>
          </a:p>
        </p:txBody>
      </p:sp>
      <p:cxnSp>
        <p:nvCxnSpPr>
          <p:cNvPr id="7" name="Straight Connector 6"/>
          <p:cNvCxnSpPr/>
          <p:nvPr/>
        </p:nvCxnSpPr>
        <p:spPr>
          <a:xfrm>
            <a:off x="1513840" y="3830320"/>
            <a:ext cx="1412240" cy="1016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6"/>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Anova</a:t>
            </a:r>
            <a:br>
              <a:rPr lang="en-US" sz="3200" b="1">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sp>
        <p:nvSpPr>
          <p:cNvPr id="363" name="Google Shape;363;p46"/>
          <p:cNvSpPr txBox="1">
            <a:spLocks noGrp="1"/>
          </p:cNvSpPr>
          <p:nvPr>
            <p:ph idx="1"/>
          </p:nvPr>
        </p:nvSpPr>
        <p:spPr>
          <a:xfrm>
            <a:off x="99250" y="937425"/>
            <a:ext cx="8778900" cy="55086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ANOVA Test, or Analysis of Variance,</a:t>
            </a:r>
            <a:r>
              <a:rPr lang="en-US" sz="2000">
                <a:latin typeface="Times New Roman"/>
                <a:ea typeface="Times New Roman"/>
                <a:cs typeface="Times New Roman"/>
                <a:sym typeface="Times New Roman"/>
              </a:rPr>
              <a:t> is a statistical method </a:t>
            </a:r>
            <a:r>
              <a:rPr lang="en-US" sz="2000" b="1">
                <a:latin typeface="Times New Roman"/>
                <a:ea typeface="Times New Roman"/>
                <a:cs typeface="Times New Roman"/>
                <a:sym typeface="Times New Roman"/>
              </a:rPr>
              <a:t>used to test the differences between the means of two or more groups.</a:t>
            </a:r>
            <a:r>
              <a:rPr lang="en-US" sz="2000">
                <a:latin typeface="Times New Roman"/>
                <a:ea typeface="Times New Roman"/>
                <a:cs typeface="Times New Roman"/>
                <a:sym typeface="Times New Roman"/>
              </a:rPr>
              <a:t> Developed by Ronald Fisher in the early 20th century, ANOVA helps determine whether there are any statistically significant differences between the means of three or more independent groups.</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The ANOVA analysis is a </a:t>
            </a:r>
            <a:r>
              <a:rPr lang="en-US" sz="2000" b="1">
                <a:latin typeface="Times New Roman"/>
                <a:ea typeface="Times New Roman"/>
                <a:cs typeface="Times New Roman"/>
                <a:sym typeface="Times New Roman"/>
              </a:rPr>
              <a:t>statistical relevance tool designed to evaluate whether or not the null hypothesis can be rejected while testing hypotheses</a:t>
            </a:r>
            <a:r>
              <a:rPr lang="en-US" sz="2000">
                <a:latin typeface="Times New Roman"/>
                <a:ea typeface="Times New Roman"/>
                <a:cs typeface="Times New Roman"/>
                <a:sym typeface="Times New Roman"/>
              </a:rPr>
              <a:t>. It is used to determine whether or not the means of three or more groups are equal.</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The ANOVA test is used to look for heterogeneity within groups as well as variability across groupings. The F-test returns the ANOVA test statistic.</a:t>
            </a:r>
            <a:endParaRPr/>
          </a:p>
          <a:p>
            <a:pPr marL="342900" lvl="0" indent="-139700" algn="l" rtl="0">
              <a:spcBef>
                <a:spcPts val="640"/>
              </a:spcBef>
              <a:spcAft>
                <a:spcPts val="0"/>
              </a:spcAft>
              <a:buClr>
                <a:schemeClr val="dk1"/>
              </a:buClr>
              <a:buSzPts val="32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Chi-square test</a:t>
            </a:r>
            <a:endParaRPr sz="3200" b="1">
              <a:latin typeface="Times New Roman"/>
              <a:ea typeface="Times New Roman"/>
              <a:cs typeface="Times New Roman"/>
              <a:sym typeface="Times New Roman"/>
            </a:endParaRPr>
          </a:p>
        </p:txBody>
      </p:sp>
      <p:sp>
        <p:nvSpPr>
          <p:cNvPr id="369" name="Google Shape;369;p47"/>
          <p:cNvSpPr txBox="1">
            <a:spLocks noGrp="1"/>
          </p:cNvSpPr>
          <p:nvPr>
            <p:ph idx="1"/>
          </p:nvPr>
        </p:nvSpPr>
        <p:spPr>
          <a:xfrm>
            <a:off x="152400" y="1143000"/>
            <a:ext cx="8534400" cy="49831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b="1">
                <a:latin typeface="Times New Roman"/>
                <a:ea typeface="Times New Roman"/>
                <a:cs typeface="Times New Roman"/>
                <a:sym typeface="Times New Roman"/>
              </a:rPr>
              <a:t>Chi-squared test</a:t>
            </a:r>
            <a:r>
              <a:rPr lang="en-US" sz="2000">
                <a:latin typeface="Times New Roman"/>
                <a:ea typeface="Times New Roman"/>
                <a:cs typeface="Times New Roman"/>
                <a:sym typeface="Times New Roman"/>
              </a:rPr>
              <a:t> indicates that there is a relationship between two entities. Handling data often involves testing hypotheses to extract useful information. In categorical analysis, chi-square tests are used to determine if observed patterns are likely to be purely random. The present manuscript expands upon chi-squared exam concepts, definitions, and procedures for doing them correctly.</a:t>
            </a:r>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What Is a Chi-Square Test?</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Chi-squared test, or χ² test, indicates that there is a relationship between two entities. For example, it can be demonstrated when we look out for people’s favorite colors and their preference for ice cream. The test is instrumental in telling whether these two variables are associated with each other. For instance, it is possible that individuals who prefer the color blue also tend to be in favor of chocolate ice cream. This test checks whether or not observed data fits those that would be expected assuming that association is absent at all, where there is a huge deviation.</a:t>
            </a:r>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8"/>
          <p:cNvSpPr txBox="1"/>
          <p:nvPr/>
        </p:nvSpPr>
        <p:spPr>
          <a:xfrm>
            <a:off x="228600" y="457200"/>
            <a:ext cx="8839200" cy="40934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1">
                <a:solidFill>
                  <a:schemeClr val="dk1"/>
                </a:solidFill>
                <a:latin typeface="Times New Roman"/>
                <a:ea typeface="Times New Roman"/>
                <a:cs typeface="Times New Roman"/>
                <a:sym typeface="Times New Roman"/>
              </a:rPr>
              <a:t>Formula For Chi-Square Test</a:t>
            </a:r>
            <a:endParaRPr/>
          </a:p>
          <a:p>
            <a:pPr marL="0" marR="0" lvl="0" indent="0" algn="just" rtl="0">
              <a:spcBef>
                <a:spcPts val="0"/>
              </a:spcBef>
              <a:spcAft>
                <a:spcPts val="0"/>
              </a:spcAft>
              <a:buNone/>
            </a:pPr>
            <a:r>
              <a:rPr lang="en-US" sz="2000" b="1">
                <a:solidFill>
                  <a:schemeClr val="dk1"/>
                </a:solidFill>
                <a:latin typeface="Times New Roman"/>
                <a:ea typeface="Times New Roman"/>
                <a:cs typeface="Times New Roman"/>
                <a:sym typeface="Times New Roman"/>
              </a:rPr>
              <a:t>(O</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 - E</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)² / E</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 = χ²</a:t>
            </a:r>
            <a:endParaRPr sz="20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000">
                <a:solidFill>
                  <a:schemeClr val="dk1"/>
                </a:solidFill>
                <a:latin typeface="Times New Roman"/>
                <a:ea typeface="Times New Roman"/>
                <a:cs typeface="Times New Roman"/>
                <a:sym typeface="Times New Roman"/>
              </a:rPr>
              <a:t>Symbols are broken down as follows:</a:t>
            </a:r>
            <a:endParaRPr/>
          </a:p>
          <a:p>
            <a:pPr marL="0" marR="0" lvl="0" indent="0" algn="just" rtl="0">
              <a:spcBef>
                <a:spcPts val="0"/>
              </a:spcBef>
              <a:spcAft>
                <a:spcPts val="0"/>
              </a:spcAft>
              <a:buNone/>
            </a:pPr>
            <a:r>
              <a:rPr lang="en-US" sz="2000" b="1">
                <a:solidFill>
                  <a:schemeClr val="dk1"/>
                </a:solidFill>
                <a:latin typeface="Times New Roman"/>
                <a:ea typeface="Times New Roman"/>
                <a:cs typeface="Times New Roman"/>
                <a:sym typeface="Times New Roman"/>
              </a:rPr>
              <a:t>Σ (sigma):</a:t>
            </a:r>
            <a:r>
              <a:rPr lang="en-US" sz="2000">
                <a:solidFill>
                  <a:schemeClr val="dk1"/>
                </a:solidFill>
                <a:latin typeface="Times New Roman"/>
                <a:ea typeface="Times New Roman"/>
                <a:cs typeface="Times New Roman"/>
                <a:sym typeface="Times New Roman"/>
              </a:rPr>
              <a:t> The symbol means sum, so each cell of your contingency table must be computed.</a:t>
            </a:r>
            <a:endParaRPr/>
          </a:p>
          <a:p>
            <a:pPr marL="0" marR="0" lvl="0" indent="0" algn="just" rtl="0">
              <a:spcBef>
                <a:spcPts val="0"/>
              </a:spcBef>
              <a:spcAft>
                <a:spcPts val="0"/>
              </a:spcAft>
              <a:buNone/>
            </a:pPr>
            <a:r>
              <a:rPr lang="en-US" sz="2000" b="1">
                <a:solidFill>
                  <a:schemeClr val="dk1"/>
                </a:solidFill>
                <a:latin typeface="Times New Roman"/>
                <a:ea typeface="Times New Roman"/>
                <a:cs typeface="Times New Roman"/>
                <a:sym typeface="Times New Roman"/>
              </a:rPr>
              <a:t>O</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This shorthand captures the idea of actual number of observations in a given cell of a contingency table, or what was actually counted.</a:t>
            </a:r>
            <a:endParaRPr/>
          </a:p>
          <a:p>
            <a:pPr marL="0" marR="0" lvl="0" indent="0" algn="just" rtl="0">
              <a:spcBef>
                <a:spcPts val="0"/>
              </a:spcBef>
              <a:spcAft>
                <a:spcPts val="0"/>
              </a:spcAft>
              <a:buNone/>
            </a:pPr>
            <a:r>
              <a:rPr lang="en-US" sz="2000" b="1">
                <a:solidFill>
                  <a:schemeClr val="dk1"/>
                </a:solidFill>
                <a:latin typeface="Times New Roman"/>
                <a:ea typeface="Times New Roman"/>
                <a:cs typeface="Times New Roman"/>
                <a:sym typeface="Times New Roman"/>
              </a:rPr>
              <a:t>E</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number of times you would expect to see a particular result under conditions where we assume the hypothesis of no association (null hypothesis) is called as the expected frequency i.e. E</a:t>
            </a:r>
            <a:r>
              <a:rPr lang="en-US" sz="2000" baseline="-25000">
                <a:solidFill>
                  <a:schemeClr val="dk1"/>
                </a:solidFill>
                <a:latin typeface="Times New Roman"/>
                <a:ea typeface="Times New Roman"/>
                <a:cs typeface="Times New Roman"/>
                <a:sym typeface="Times New Roman"/>
              </a:rPr>
              <a:t>i</a:t>
            </a:r>
            <a:r>
              <a:rPr lang="en-US" sz="2000">
                <a:solidFill>
                  <a:schemeClr val="dk1"/>
                </a:solidFill>
                <a:latin typeface="Times New Roman"/>
                <a:ea typeface="Times New Roman"/>
                <a:cs typeface="Times New Roman"/>
                <a:sym typeface="Times New Roman"/>
              </a:rPr>
              <a:t>.</a:t>
            </a:r>
            <a:endParaRPr/>
          </a:p>
          <a:p>
            <a:pPr marL="0" marR="0" lvl="0" indent="0" algn="just" rtl="0">
              <a:spcBef>
                <a:spcPts val="0"/>
              </a:spcBef>
              <a:spcAft>
                <a:spcPts val="0"/>
              </a:spcAft>
              <a:buNone/>
            </a:pPr>
            <a:r>
              <a:rPr lang="en-US" sz="2000" b="1">
                <a:solidFill>
                  <a:schemeClr val="dk1"/>
                </a:solidFill>
                <a:latin typeface="Times New Roman"/>
                <a:ea typeface="Times New Roman"/>
                <a:cs typeface="Times New Roman"/>
                <a:sym typeface="Times New Roman"/>
              </a:rPr>
              <a:t>(O</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 - E</a:t>
            </a:r>
            <a:r>
              <a:rPr lang="en-US" sz="2000" b="1" baseline="-25000">
                <a:solidFill>
                  <a:schemeClr val="dk1"/>
                </a:solidFill>
                <a:latin typeface="Times New Roman"/>
                <a:ea typeface="Times New Roman"/>
                <a:cs typeface="Times New Roman"/>
                <a:sym typeface="Times New Roman"/>
              </a:rPr>
              <a:t>i</a:t>
            </a:r>
            <a:r>
              <a:rPr lang="en-US" sz="2000" b="1">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difference between the expected and actual frequencies is computed in this section of the formula.</a:t>
            </a:r>
            <a:endParaRPr/>
          </a:p>
          <a:p>
            <a:pPr marL="0" marR="0" lvl="0" indent="0" algn="just" rtl="0">
              <a:spcBef>
                <a:spcPts val="0"/>
              </a:spcBef>
              <a:spcAft>
                <a:spcPts val="0"/>
              </a:spcAft>
              <a:buNone/>
            </a:pPr>
            <a:endParaRPr sz="20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Non-parametric Tests</a:t>
            </a:r>
            <a:endParaRPr sz="3200" b="1"/>
          </a:p>
        </p:txBody>
      </p:sp>
      <p:sp>
        <p:nvSpPr>
          <p:cNvPr id="380" name="Google Shape;380;p49"/>
          <p:cNvSpPr txBox="1">
            <a:spLocks noGrp="1"/>
          </p:cNvSpPr>
          <p:nvPr>
            <p:ph idx="1"/>
          </p:nvPr>
        </p:nvSpPr>
        <p:spPr>
          <a:xfrm>
            <a:off x="152400" y="1295400"/>
            <a:ext cx="8763000" cy="48307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a:latin typeface="Times New Roman"/>
                <a:ea typeface="Times New Roman"/>
                <a:cs typeface="Times New Roman"/>
                <a:sym typeface="Times New Roman"/>
              </a:rPr>
              <a:t>Non-parametric methods in statistics are techniques that do not assume a specific probability distribution for the data. Unlike parametric methods, which rely on fixed parameters (e.g., mean, variance), non-parametric methods are more flexible and useful when dealing with unknown or complex distributions. These methods are widely applied in hypothesis testing, regression, density estimation and classification.</a:t>
            </a:r>
            <a:endParaRPr/>
          </a:p>
          <a:p>
            <a:pPr marL="342900" lvl="0" indent="-342900" algn="just" rtl="0">
              <a:spcBef>
                <a:spcPts val="400"/>
              </a:spcBef>
              <a:spcAft>
                <a:spcPts val="0"/>
              </a:spcAft>
              <a:buClr>
                <a:schemeClr val="dk1"/>
              </a:buClr>
              <a:buSzPts val="2000"/>
              <a:buChar char="•"/>
            </a:pPr>
            <a:r>
              <a:rPr lang="en-US" sz="2000">
                <a:latin typeface="Times New Roman"/>
                <a:ea typeface="Times New Roman"/>
                <a:cs typeface="Times New Roman"/>
                <a:sym typeface="Times New Roman"/>
              </a:rPr>
              <a:t>Used to compare two independent groups when normality assumptions do not hold.</a:t>
            </a:r>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381" name="Google Shape;381;p49"/>
          <p:cNvPicPr preferRelativeResize="0"/>
          <p:nvPr/>
        </p:nvPicPr>
        <p:blipFill rotWithShape="1">
          <a:blip r:embed="rId3">
            <a:alphaModFix/>
          </a:blip>
          <a:srcRect/>
          <a:stretch/>
        </p:blipFill>
        <p:spPr>
          <a:xfrm>
            <a:off x="1447800" y="4191000"/>
            <a:ext cx="2505075" cy="6667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Regression analysis</a:t>
            </a:r>
            <a:endParaRPr b="1"/>
          </a:p>
        </p:txBody>
      </p:sp>
      <p:sp>
        <p:nvSpPr>
          <p:cNvPr id="387" name="Google Shape;387;p50"/>
          <p:cNvSpPr txBox="1">
            <a:spLocks noGrp="1"/>
          </p:cNvSpPr>
          <p:nvPr>
            <p:ph idx="1"/>
          </p:nvPr>
        </p:nvSpPr>
        <p:spPr>
          <a:xfrm>
            <a:off x="76200" y="1371600"/>
            <a:ext cx="8915400" cy="5334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sz="2000">
                <a:latin typeface="Times New Roman"/>
                <a:ea typeface="Times New Roman"/>
                <a:cs typeface="Times New Roman"/>
                <a:sym typeface="Times New Roman"/>
              </a:rPr>
              <a:t>Regression in machine learning refers to a </a:t>
            </a:r>
            <a:r>
              <a:rPr lang="en-US" sz="2000" b="1">
                <a:latin typeface="Times New Roman"/>
                <a:ea typeface="Times New Roman"/>
                <a:cs typeface="Times New Roman"/>
                <a:sym typeface="Times New Roman"/>
              </a:rPr>
              <a:t>supervised learning </a:t>
            </a:r>
            <a:r>
              <a:rPr lang="en-US" sz="2000">
                <a:latin typeface="Times New Roman"/>
                <a:ea typeface="Times New Roman"/>
                <a:cs typeface="Times New Roman"/>
                <a:sym typeface="Times New Roman"/>
              </a:rPr>
              <a:t>technique where the goal is to predict a continuous numerical value based on one or more independent features. It finds relationships between variables so that predictions can be made. we have two types of variables present in regression:</a:t>
            </a:r>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Dependent Variable (Target)</a:t>
            </a:r>
            <a:r>
              <a:rPr lang="en-US" sz="2000">
                <a:latin typeface="Times New Roman"/>
                <a:ea typeface="Times New Roman"/>
                <a:cs typeface="Times New Roman"/>
                <a:sym typeface="Times New Roman"/>
              </a:rPr>
              <a:t>: The variable we are trying to predict e.g house price.</a:t>
            </a:r>
            <a:endParaRPr/>
          </a:p>
          <a:p>
            <a:pPr marL="342900" lvl="0" indent="-342900" algn="just" rtl="0">
              <a:spcBef>
                <a:spcPts val="400"/>
              </a:spcBef>
              <a:spcAft>
                <a:spcPts val="0"/>
              </a:spcAft>
              <a:buClr>
                <a:schemeClr val="dk1"/>
              </a:buClr>
              <a:buSzPts val="2000"/>
              <a:buChar char="•"/>
            </a:pPr>
            <a:r>
              <a:rPr lang="en-US" sz="2000" b="1">
                <a:latin typeface="Times New Roman"/>
                <a:ea typeface="Times New Roman"/>
                <a:cs typeface="Times New Roman"/>
                <a:sym typeface="Times New Roman"/>
              </a:rPr>
              <a:t>Independent Variables (Features)</a:t>
            </a:r>
            <a:r>
              <a:rPr lang="en-US" sz="2000">
                <a:latin typeface="Times New Roman"/>
                <a:ea typeface="Times New Roman"/>
                <a:cs typeface="Times New Roman"/>
                <a:sym typeface="Times New Roman"/>
              </a:rPr>
              <a:t>: The input variables that influence the prediction e.g locality, number of rooms.</a:t>
            </a:r>
            <a:endParaRPr/>
          </a:p>
          <a:p>
            <a:pPr marL="342900" lvl="0" indent="-215900" algn="just" rtl="0">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1"/>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200"/>
              <a:buFont typeface="Calibri"/>
              <a:buNone/>
            </a:pPr>
            <a:r>
              <a:rPr lang="en-US" sz="3200" b="1"/>
              <a:t>Types of Regression</a:t>
            </a:r>
            <a:br>
              <a:rPr lang="en-US" sz="3200" b="1"/>
            </a:br>
            <a:endParaRPr sz="3200"/>
          </a:p>
        </p:txBody>
      </p:sp>
      <p:sp>
        <p:nvSpPr>
          <p:cNvPr id="393" name="Google Shape;393;p51"/>
          <p:cNvSpPr txBox="1">
            <a:spLocks noGrp="1"/>
          </p:cNvSpPr>
          <p:nvPr>
            <p:ph idx="1"/>
          </p:nvPr>
        </p:nvSpPr>
        <p:spPr>
          <a:xfrm>
            <a:off x="145350" y="914400"/>
            <a:ext cx="8853300" cy="57912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spcBef>
                <a:spcPts val="0"/>
              </a:spcBef>
              <a:spcAft>
                <a:spcPts val="0"/>
              </a:spcAft>
              <a:buClr>
                <a:schemeClr val="dk1"/>
              </a:buClr>
              <a:buSzPct val="100000"/>
              <a:buChar char="•"/>
            </a:pPr>
            <a:r>
              <a:rPr lang="en-US" b="1">
                <a:latin typeface="Times New Roman"/>
                <a:ea typeface="Times New Roman"/>
                <a:cs typeface="Times New Roman"/>
                <a:sym typeface="Times New Roman"/>
              </a:rPr>
              <a:t>Types of Regression</a:t>
            </a:r>
            <a:endParaRPr/>
          </a:p>
          <a:p>
            <a:pPr marL="0" lvl="0" indent="0" algn="just" rtl="0">
              <a:spcBef>
                <a:spcPts val="352"/>
              </a:spcBef>
              <a:spcAft>
                <a:spcPts val="0"/>
              </a:spcAft>
              <a:buClr>
                <a:schemeClr val="dk1"/>
              </a:buClr>
              <a:buSzPct val="100000"/>
              <a:buNone/>
            </a:pPr>
            <a:r>
              <a:rPr lang="en-US">
                <a:latin typeface="Times New Roman"/>
                <a:ea typeface="Times New Roman"/>
                <a:cs typeface="Times New Roman"/>
                <a:sym typeface="Times New Roman"/>
              </a:rPr>
              <a:t>Regression can be classified into different types based on the number of predictor variables and the nature of the relationship between variables:</a:t>
            </a:r>
            <a:endParaRPr/>
          </a:p>
          <a:p>
            <a:pPr marL="342900" lvl="0" indent="-342900" algn="just" rtl="0">
              <a:spcBef>
                <a:spcPts val="352"/>
              </a:spcBef>
              <a:spcAft>
                <a:spcPts val="0"/>
              </a:spcAft>
              <a:buClr>
                <a:schemeClr val="dk1"/>
              </a:buClr>
              <a:buSzPct val="100000"/>
              <a:buChar char="•"/>
            </a:pPr>
            <a:r>
              <a:rPr lang="en-US" b="1">
                <a:latin typeface="Times New Roman"/>
                <a:ea typeface="Times New Roman"/>
                <a:cs typeface="Times New Roman"/>
                <a:sym typeface="Times New Roman"/>
              </a:rPr>
              <a:t>1. Simple Linear Regression</a:t>
            </a:r>
            <a:endParaRPr/>
          </a:p>
          <a:p>
            <a:pPr marL="0" lvl="0" indent="0" algn="just" rtl="0">
              <a:spcBef>
                <a:spcPts val="352"/>
              </a:spcBef>
              <a:spcAft>
                <a:spcPts val="0"/>
              </a:spcAft>
              <a:buClr>
                <a:schemeClr val="dk1"/>
              </a:buClr>
              <a:buSzPct val="100000"/>
              <a:buNone/>
            </a:pPr>
            <a:r>
              <a:rPr lang="en-US" b="1">
                <a:latin typeface="Times New Roman"/>
                <a:ea typeface="Times New Roman"/>
                <a:cs typeface="Times New Roman"/>
                <a:sym typeface="Times New Roman"/>
              </a:rPr>
              <a:t>Linear regression </a:t>
            </a:r>
            <a:r>
              <a:rPr lang="en-US">
                <a:latin typeface="Times New Roman"/>
                <a:ea typeface="Times New Roman"/>
                <a:cs typeface="Times New Roman"/>
                <a:sym typeface="Times New Roman"/>
              </a:rPr>
              <a:t>is one of the simplest and most widely used statistical models. This assumes that there is a linear relationship between the independent and dependent variables. This means that the change in the dependent variable is proportional to the change in the independent variables.</a:t>
            </a:r>
            <a:r>
              <a:rPr lang="en-US" b="1">
                <a:latin typeface="Times New Roman"/>
                <a:ea typeface="Times New Roman"/>
                <a:cs typeface="Times New Roman"/>
                <a:sym typeface="Times New Roman"/>
              </a:rPr>
              <a:t> </a:t>
            </a:r>
            <a:r>
              <a:rPr lang="en-US">
                <a:latin typeface="Times New Roman"/>
                <a:ea typeface="Times New Roman"/>
                <a:cs typeface="Times New Roman"/>
                <a:sym typeface="Times New Roman"/>
              </a:rPr>
              <a:t>For example predicting the price of a house based on its size.</a:t>
            </a:r>
            <a:endParaRPr/>
          </a:p>
          <a:p>
            <a:pPr marL="342900" lvl="0" indent="-342900" algn="just" rtl="0">
              <a:spcBef>
                <a:spcPts val="352"/>
              </a:spcBef>
              <a:spcAft>
                <a:spcPts val="0"/>
              </a:spcAft>
              <a:buClr>
                <a:schemeClr val="dk1"/>
              </a:buClr>
              <a:buSzPct val="100000"/>
              <a:buChar char="•"/>
            </a:pPr>
            <a:r>
              <a:rPr lang="en-US" b="1">
                <a:latin typeface="Times New Roman"/>
                <a:ea typeface="Times New Roman"/>
                <a:cs typeface="Times New Roman"/>
                <a:sym typeface="Times New Roman"/>
              </a:rPr>
              <a:t>2. Multiple Linear Regression</a:t>
            </a:r>
            <a:endParaRPr/>
          </a:p>
          <a:p>
            <a:pPr marL="0" lvl="0" indent="0" algn="just" rtl="0">
              <a:spcBef>
                <a:spcPts val="352"/>
              </a:spcBef>
              <a:spcAft>
                <a:spcPts val="0"/>
              </a:spcAft>
              <a:buClr>
                <a:schemeClr val="dk1"/>
              </a:buClr>
              <a:buSzPct val="100000"/>
              <a:buNone/>
            </a:pPr>
            <a:r>
              <a:rPr lang="en-US">
                <a:latin typeface="Times New Roman"/>
                <a:ea typeface="Times New Roman"/>
                <a:cs typeface="Times New Roman"/>
                <a:sym typeface="Times New Roman"/>
              </a:rPr>
              <a:t>Multiple linear regression extends simple linear regression by using multiple independent variables to predict target variable.</a:t>
            </a:r>
            <a:r>
              <a:rPr lang="en-US" b="1">
                <a:latin typeface="Times New Roman"/>
                <a:ea typeface="Times New Roman"/>
                <a:cs typeface="Times New Roman"/>
                <a:sym typeface="Times New Roman"/>
              </a:rPr>
              <a:t> </a:t>
            </a:r>
            <a:r>
              <a:rPr lang="en-US">
                <a:latin typeface="Times New Roman"/>
                <a:ea typeface="Times New Roman"/>
                <a:cs typeface="Times New Roman"/>
                <a:sym typeface="Times New Roman"/>
              </a:rPr>
              <a:t>For example predicting the price of a house based on multiple features such as size, location, number of rooms, etc.</a:t>
            </a:r>
            <a:endParaRPr/>
          </a:p>
          <a:p>
            <a:pPr marL="342900" lvl="0" indent="-342900" algn="just" rtl="0">
              <a:spcBef>
                <a:spcPts val="352"/>
              </a:spcBef>
              <a:spcAft>
                <a:spcPts val="0"/>
              </a:spcAft>
              <a:buClr>
                <a:schemeClr val="dk1"/>
              </a:buClr>
              <a:buSzPct val="100000"/>
              <a:buChar char="•"/>
            </a:pPr>
            <a:r>
              <a:rPr lang="en-US" b="1">
                <a:latin typeface="Times New Roman"/>
                <a:ea typeface="Times New Roman"/>
                <a:cs typeface="Times New Roman"/>
                <a:sym typeface="Times New Roman"/>
              </a:rPr>
              <a:t>3. Polynomial Regression</a:t>
            </a:r>
            <a:endParaRPr/>
          </a:p>
          <a:p>
            <a:pPr marL="0" lvl="0" indent="0" algn="just" rtl="0">
              <a:spcBef>
                <a:spcPts val="352"/>
              </a:spcBef>
              <a:spcAft>
                <a:spcPts val="0"/>
              </a:spcAft>
              <a:buClr>
                <a:schemeClr val="dk1"/>
              </a:buClr>
              <a:buSzPct val="100000"/>
              <a:buNone/>
            </a:pPr>
            <a:r>
              <a:rPr lang="en-US">
                <a:latin typeface="Times New Roman"/>
                <a:ea typeface="Times New Roman"/>
                <a:cs typeface="Times New Roman"/>
                <a:sym typeface="Times New Roman"/>
              </a:rPr>
              <a:t>Polynomial regression  is used to model with non-linear relationships between the dependent variable and the independent variables. It adds polynomial terms to the linear regression model to capture more complex relationships.</a:t>
            </a:r>
            <a:r>
              <a:rPr lang="en-US" b="1">
                <a:latin typeface="Times New Roman"/>
                <a:ea typeface="Times New Roman"/>
                <a:cs typeface="Times New Roman"/>
                <a:sym typeface="Times New Roman"/>
              </a:rPr>
              <a:t> </a:t>
            </a:r>
            <a:r>
              <a:rPr lang="en-US">
                <a:latin typeface="Times New Roman"/>
                <a:ea typeface="Times New Roman"/>
                <a:cs typeface="Times New Roman"/>
                <a:sym typeface="Times New Roman"/>
              </a:rPr>
              <a:t>For example when we want to predict a non-linear trend like population growth over time we use polynomial regression.</a:t>
            </a:r>
            <a:endParaRPr/>
          </a:p>
          <a:p>
            <a:pPr marL="342900" lvl="0" indent="-342900" algn="just" rtl="0">
              <a:spcBef>
                <a:spcPts val="352"/>
              </a:spcBef>
              <a:spcAft>
                <a:spcPts val="0"/>
              </a:spcAft>
              <a:buClr>
                <a:schemeClr val="dk1"/>
              </a:buClr>
              <a:buSzPct val="100000"/>
              <a:buChar char="•"/>
            </a:pPr>
            <a:r>
              <a:rPr lang="en-US" b="1">
                <a:latin typeface="Times New Roman"/>
                <a:ea typeface="Times New Roman"/>
                <a:cs typeface="Times New Roman"/>
                <a:sym typeface="Times New Roman"/>
              </a:rPr>
              <a:t>4. Ridge &amp; Lasso Regression</a:t>
            </a:r>
            <a:endParaRPr/>
          </a:p>
          <a:p>
            <a:pPr marL="0" lvl="0" indent="0" algn="just" rtl="0">
              <a:spcBef>
                <a:spcPts val="352"/>
              </a:spcBef>
              <a:spcAft>
                <a:spcPts val="0"/>
              </a:spcAft>
              <a:buClr>
                <a:schemeClr val="dk1"/>
              </a:buClr>
              <a:buSzPct val="100000"/>
              <a:buNone/>
            </a:pPr>
            <a:r>
              <a:rPr lang="en-US">
                <a:latin typeface="Times New Roman"/>
                <a:ea typeface="Times New Roman"/>
                <a:cs typeface="Times New Roman"/>
                <a:sym typeface="Times New Roman"/>
              </a:rPr>
              <a:t>Ridge &amp; lasso regression are regularized versions of linear regression that help avoid overfitting by penalizing large coefficients.</a:t>
            </a:r>
            <a:r>
              <a:rPr lang="en-US" b="1">
                <a:latin typeface="Times New Roman"/>
                <a:ea typeface="Times New Roman"/>
                <a:cs typeface="Times New Roman"/>
                <a:sym typeface="Times New Roman"/>
              </a:rPr>
              <a:t> </a:t>
            </a:r>
            <a:r>
              <a:rPr lang="en-US">
                <a:latin typeface="Times New Roman"/>
                <a:ea typeface="Times New Roman"/>
                <a:cs typeface="Times New Roman"/>
                <a:sym typeface="Times New Roman"/>
              </a:rPr>
              <a:t>When there’s a risk of overfitting due to too many features we use these type of regression algorithms.</a:t>
            </a:r>
            <a:endParaRPr/>
          </a:p>
          <a:p>
            <a:pPr marL="342900" lvl="0" indent="-231140" algn="just" rtl="0">
              <a:spcBef>
                <a:spcPts val="352"/>
              </a:spcBef>
              <a:spcAft>
                <a:spcPts val="0"/>
              </a:spcAft>
              <a:buClr>
                <a:schemeClr val="dk1"/>
              </a:buClr>
              <a:buSzPct val="100000"/>
              <a:buNone/>
            </a:pP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TotalTime>
  <Words>6530</Words>
  <Application>Microsoft Office PowerPoint</Application>
  <PresentationFormat>On-screen Show (4:3)</PresentationFormat>
  <Paragraphs>549</Paragraphs>
  <Slides>55</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Arial Black</vt:lpstr>
      <vt:lpstr>Calibri</vt:lpstr>
      <vt:lpstr>Noto Sans Symbols</vt:lpstr>
      <vt:lpstr>Times New Roman</vt:lpstr>
      <vt:lpstr>Wingdings 2</vt:lpstr>
      <vt:lpstr>Slate</vt:lpstr>
      <vt:lpstr>2. Statistical Analysis in data science</vt:lpstr>
      <vt:lpstr>  What is Statistical Analysis?  </vt:lpstr>
      <vt:lpstr>Types of Data in statistics </vt:lpstr>
      <vt:lpstr>Quantitative Data  </vt:lpstr>
      <vt:lpstr>Types of Qualitative Data </vt:lpstr>
      <vt:lpstr>Types of Qualitative Data </vt:lpstr>
      <vt:lpstr>PowerPoint Presentation</vt:lpstr>
      <vt:lpstr> How is quantitative data collected? </vt:lpstr>
      <vt:lpstr>Types of Statistical Analysis</vt:lpstr>
      <vt:lpstr>PowerPoint Presentation</vt:lpstr>
      <vt:lpstr>PowerPoint Presentation</vt:lpstr>
      <vt:lpstr>Frequency in Descriptive Statistics</vt:lpstr>
      <vt:lpstr>Types of Frequency</vt:lpstr>
      <vt:lpstr>PowerPoint Presentation</vt:lpstr>
      <vt:lpstr>PowerPoint Presentation</vt:lpstr>
      <vt:lpstr>Measures of central tendency </vt:lpstr>
      <vt:lpstr>Measuring the Dispersion</vt:lpstr>
      <vt:lpstr>Measure of Dispersion </vt:lpstr>
      <vt:lpstr>Absolute Measure of Dispersion </vt:lpstr>
      <vt:lpstr>Relative Measure of Dispersion </vt:lpstr>
      <vt:lpstr>Range of Data Set </vt:lpstr>
      <vt:lpstr>PowerPoint Presentation</vt:lpstr>
      <vt:lpstr>PowerPoint Presentation</vt:lpstr>
      <vt:lpstr>Variance </vt:lpstr>
      <vt:lpstr>PowerPoint Presentation</vt:lpstr>
      <vt:lpstr>Types of Variance </vt:lpstr>
      <vt:lpstr>PowerPoint Presentation</vt:lpstr>
      <vt:lpstr>PowerPoint Presentation</vt:lpstr>
      <vt:lpstr>PowerPoint Presentation</vt:lpstr>
      <vt:lpstr>Standard Deviation </vt:lpstr>
      <vt:lpstr>Range</vt:lpstr>
      <vt:lpstr>PowerPoint Presentation</vt:lpstr>
      <vt:lpstr>  Measure of Relationship:Covariance and Correlation  </vt:lpstr>
      <vt:lpstr>What is Correlation? </vt:lpstr>
      <vt:lpstr>PowerPoint Presentation</vt:lpstr>
      <vt:lpstr> Inferential statistics:-Parameter estimation for Statistical Inference </vt:lpstr>
      <vt:lpstr>Hypothesis  </vt:lpstr>
      <vt:lpstr>Types of Hypothesis </vt:lpstr>
      <vt:lpstr>PowerPoint Presentation</vt:lpstr>
      <vt:lpstr>PowerPoint Presentation</vt:lpstr>
      <vt:lpstr>PowerPoint Presentation</vt:lpstr>
      <vt:lpstr>Hypothesis Testing</vt:lpstr>
      <vt:lpstr>Z-test : Formula, Types, Examples</vt:lpstr>
      <vt:lpstr>PowerPoint Presentation</vt:lpstr>
      <vt:lpstr>PowerPoint Presentation</vt:lpstr>
      <vt:lpstr>PowerPoint Presentation</vt:lpstr>
      <vt:lpstr>PowerPoint Presentation</vt:lpstr>
      <vt:lpstr>T-test </vt:lpstr>
      <vt:lpstr>F test</vt:lpstr>
      <vt:lpstr>Anova </vt:lpstr>
      <vt:lpstr>Chi-square test</vt:lpstr>
      <vt:lpstr>PowerPoint Presentation</vt:lpstr>
      <vt:lpstr>Non-parametric Tests</vt:lpstr>
      <vt:lpstr>Regression analysis</vt:lpstr>
      <vt:lpstr>Types of Regression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Statistical Analysis in data science</dc:title>
  <dc:creator>Admin</dc:creator>
  <cp:lastModifiedBy>Paras Dangi</cp:lastModifiedBy>
  <cp:revision>16</cp:revision>
  <dcterms:created xsi:type="dcterms:W3CDTF">2025-06-11T04:16:12Z</dcterms:created>
  <dcterms:modified xsi:type="dcterms:W3CDTF">2025-08-24T08:27:56Z</dcterms:modified>
</cp:coreProperties>
</file>