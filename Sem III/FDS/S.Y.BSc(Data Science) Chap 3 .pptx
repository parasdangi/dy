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9144000" cy="6858000" type="screen4x3"/>
  <p:notesSz cx="6858000" cy="9144000"/>
  <p:embeddedFontLst>
    <p:embeddedFont>
      <p:font typeface="Calisto MT" panose="02040603050505030304" pitchFamily="18" charset="0"/>
      <p:regular r:id="rId39"/>
      <p:bold r:id="rId40"/>
      <p:italic r:id="rId41"/>
    </p:embeddedFont>
    <p:embeddedFont>
      <p:font typeface="Georgia" panose="02040502050405020303" pitchFamily="18" charset="0"/>
      <p:regular r:id="rId42"/>
      <p:bold r:id="rId43"/>
      <p:italic r:id="rId44"/>
      <p:boldItalic r:id="rId45"/>
    </p:embeddedFont>
    <p:embeddedFont>
      <p:font typeface="Nunito" pitchFamily="2" charset="0"/>
      <p:regular r:id="rId46"/>
      <p:bold r:id="rId47"/>
      <p:italic r:id="rId48"/>
      <p:boldItalic r:id="rId49"/>
    </p:embeddedFont>
    <p:embeddedFont>
      <p:font typeface="Wingdings 2" panose="05020102010507070707" pitchFamily="18" charset="2"/>
      <p:regular r:id="rId5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jRazjqoZIjZmRrnj44/QOHJTjE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43049AA-338F-4810-8551-781DCB540533}">
  <a:tblStyle styleId="{743049AA-338F-4810-8551-781DCB54053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566"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6f0d2aa6bf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6f0d2aa6b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6f0d2aa6bf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6f0d2aa6b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6f0d2aa6bf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6f0d2aa6b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6f0d2aa6bf_0_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6f0d2aa6b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6f0d2aa6bf_0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6f0d2aa6b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6f0d2aa6bf_0_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6f0d2aa6bf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6f0d2aa6bf_0_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6f0d2aa6bf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6f0d2aa6bf_0_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6f0d2aa6bf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f0d2aa6bf_0_1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f0d2aa6bf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6f0d2aa6bf_0_1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6f0d2aa6bf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6f0d2aa6bf_0_1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6f0d2aa6bf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6f0d2aa6bf_0_1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6f0d2aa6bf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6f0d2aa6bf_0_1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6f0d2aa6bf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6f0d2aa6bf_0_1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6f0d2aa6bf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6f0d2aa6bf_0_1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6f0d2aa6bf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6f0d2aa6bf_0_1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6f0d2aa6bf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6f0d2aa6bf_0_1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6f0d2aa6bf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6f0d2aa6bf_0_1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6f0d2aa6bf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6f0d2aa6bf_0_1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6f0d2aa6bf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6f0d2aa6bf_0_2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6f0d2aa6bf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73d798bde9_0_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73d798bde9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73de618263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73de61826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73de618263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73de61826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73de618263_0_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73de61826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73de618263_0_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73de618263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13551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98521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88204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56619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80396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73616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83359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41673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092494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2514458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971463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8373277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1215403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4297196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7199153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222778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00514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27490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327100" y="271750"/>
            <a:ext cx="8568900" cy="5943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alibri"/>
              <a:buNone/>
            </a:pPr>
            <a:r>
              <a:rPr lang="en-US" sz="4000" b="1"/>
              <a:t>Subject:Foundations of Data Science</a:t>
            </a:r>
            <a:br>
              <a:rPr lang="en-US" sz="4000" b="1"/>
            </a:br>
            <a:br>
              <a:rPr lang="en-US" sz="4000" b="1"/>
            </a:br>
            <a:r>
              <a:rPr lang="en-US" sz="3600">
                <a:solidFill>
                  <a:srgbClr val="00B0F0"/>
                </a:solidFill>
              </a:rPr>
              <a:t>Unit 3:Data Collection and Preprocessing</a:t>
            </a:r>
            <a:br>
              <a:rPr lang="en-US" sz="3200">
                <a:solidFill>
                  <a:srgbClr val="00B0F0"/>
                </a:solidFill>
              </a:rPr>
            </a:br>
            <a:r>
              <a:rPr lang="en-US" sz="2800" b="1"/>
              <a:t>Ms.Ashwini M. Patil</a:t>
            </a:r>
            <a:br>
              <a:rPr lang="en-US" sz="2800" b="1"/>
            </a:br>
            <a:r>
              <a:rPr lang="en-US" sz="2800" b="1"/>
              <a:t>Dr.D.Y.Patil Arts,Commerce and Science College,Pimpri,Pune 18</a:t>
            </a:r>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Structured data</a:t>
            </a:r>
            <a:endParaRPr/>
          </a:p>
        </p:txBody>
      </p:sp>
      <p:sp>
        <p:nvSpPr>
          <p:cNvPr id="90" name="Google Shape;90;p10"/>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marL="342900" lvl="0" indent="-342900" algn="just" rtl="0">
              <a:spcBef>
                <a:spcPts val="0"/>
              </a:spcBef>
              <a:spcAft>
                <a:spcPts val="0"/>
              </a:spcAft>
              <a:buClr>
                <a:schemeClr val="dk1"/>
              </a:buClr>
              <a:buSzPct val="100000"/>
              <a:buChar char="•"/>
            </a:pPr>
            <a:r>
              <a:rPr lang="en-US" sz="2800">
                <a:latin typeface="Times New Roman"/>
                <a:ea typeface="Times New Roman"/>
                <a:cs typeface="Times New Roman"/>
                <a:sym typeface="Times New Roman"/>
              </a:rPr>
              <a:t>Structured data send to data that is organized and design in a specific way to make it easily readable and understand by both humans and machines. This is typically achieved through the use of a well-defined schema or data model, which provides a structure for the data.</a:t>
            </a:r>
            <a:endParaRPr/>
          </a:p>
          <a:p>
            <a:pPr marL="342900" lvl="0" indent="-342900" algn="just" rtl="0">
              <a:spcBef>
                <a:spcPts val="518"/>
              </a:spcBef>
              <a:spcAft>
                <a:spcPts val="0"/>
              </a:spcAft>
              <a:buClr>
                <a:schemeClr val="dk1"/>
              </a:buClr>
              <a:buSzPct val="100000"/>
              <a:buChar char="•"/>
            </a:pPr>
            <a:r>
              <a:rPr lang="en-US" sz="2800">
                <a:latin typeface="Times New Roman"/>
                <a:ea typeface="Times New Roman"/>
                <a:cs typeface="Times New Roman"/>
                <a:sym typeface="Times New Roman"/>
              </a:rPr>
              <a:t>For example, in a customer database, each record might contain fields for the customer's name, address, phone number, and email address. Structured data is highly valuable because it can be easily searched, queried, and analyzed using various tools and techniques.</a:t>
            </a:r>
            <a:endParaRPr/>
          </a:p>
          <a:p>
            <a:pPr marL="342900" lvl="0" indent="-154940" algn="l" rtl="0">
              <a:spcBef>
                <a:spcPts val="592"/>
              </a:spcBef>
              <a:spcAft>
                <a:spcPts val="0"/>
              </a:spcAft>
              <a:buClr>
                <a:schemeClr val="dk1"/>
              </a:buClr>
              <a:buSzPct val="100000"/>
              <a:buNone/>
            </a:pPr>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Semi-structured data</a:t>
            </a:r>
            <a:endParaRPr/>
          </a:p>
        </p:txBody>
      </p:sp>
      <p:sp>
        <p:nvSpPr>
          <p:cNvPr id="96" name="Google Shape;96;p1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600"/>
              <a:buChar char="•"/>
            </a:pPr>
            <a:r>
              <a:rPr lang="en-US" sz="2600">
                <a:latin typeface="Times New Roman"/>
                <a:ea typeface="Times New Roman"/>
                <a:cs typeface="Times New Roman"/>
                <a:sym typeface="Times New Roman"/>
              </a:rPr>
              <a:t>Semi-structured data is data that does not reside in a traditional relational database (like SQL) but still has some organizational properties, such as tags or markers, that make it easier to analyze than completely unstructured data.</a:t>
            </a:r>
            <a:endParaRPr/>
          </a:p>
          <a:p>
            <a:pPr marL="342900" lvl="0" indent="-342900" algn="just" rtl="0">
              <a:spcBef>
                <a:spcPts val="520"/>
              </a:spcBef>
              <a:spcAft>
                <a:spcPts val="0"/>
              </a:spcAft>
              <a:buClr>
                <a:schemeClr val="dk1"/>
              </a:buClr>
              <a:buSzPts val="2600"/>
              <a:buChar char="•"/>
            </a:pPr>
            <a:r>
              <a:rPr lang="en-US" sz="2600">
                <a:latin typeface="Times New Roman"/>
                <a:ea typeface="Times New Roman"/>
                <a:cs typeface="Times New Roman"/>
                <a:sym typeface="Times New Roman"/>
              </a:rPr>
              <a:t>It doesn't follow a strict schema like structured data, but it still contains elements like labels or keys that make the data identifiable and searchable.</a:t>
            </a:r>
            <a:endParaRPr/>
          </a:p>
          <a:p>
            <a:pPr marL="342900" lvl="0" indent="-139700" algn="l" rtl="0">
              <a:spcBef>
                <a:spcPts val="640"/>
              </a:spcBef>
              <a:spcAft>
                <a:spcPts val="0"/>
              </a:spcAft>
              <a:buClr>
                <a:schemeClr val="dk1"/>
              </a:buClr>
              <a:buSzPts val="3200"/>
              <a:buNone/>
            </a:pPr>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Unstructured data</a:t>
            </a:r>
            <a:endParaRPr/>
          </a:p>
        </p:txBody>
      </p:sp>
      <p:sp>
        <p:nvSpPr>
          <p:cNvPr id="102" name="Google Shape;102;p1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Char char="•"/>
            </a:pPr>
            <a:r>
              <a:rPr lang="en-US" sz="2400">
                <a:latin typeface="Times New Roman"/>
                <a:ea typeface="Times New Roman"/>
                <a:cs typeface="Times New Roman"/>
                <a:sym typeface="Times New Roman"/>
              </a:rPr>
              <a:t>Unstructured data refers to information that does not have a predefined format or structure. It is messy, unorganized and hard to sort. Unlike structured data, which is organized into rows and columns (like an Excel sheet), unstructured data comes in many different forms such as text documents, images, audio files, videos and social media posts. Because this type of data does not follow a clear pattern, it’s harder to store, process and search.</a:t>
            </a:r>
            <a:endParaRPr sz="2400">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dirty="0"/>
              <a:t>Data Sources</a:t>
            </a:r>
            <a:endParaRPr dirty="0"/>
          </a:p>
        </p:txBody>
      </p:sp>
      <p:sp>
        <p:nvSpPr>
          <p:cNvPr id="108" name="Google Shape;108;p1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ct val="100000"/>
              <a:buChar char="•"/>
            </a:pPr>
            <a:r>
              <a:rPr lang="en-US" b="1" dirty="0"/>
              <a:t>1. Open Data </a:t>
            </a:r>
            <a:r>
              <a:rPr lang="en-US" dirty="0"/>
              <a:t>Open data refers to data that is freely available for anyone to access, use, and share. Governments, research institutions, and international organizations often publish open datasets to promote transparency, innovation, and public participation. These datasets are usually well-structured and include topics such as health, education, weather, and economics. Open data plays a vital role in research, policy-making, and data analysis by providing reliable and accessible information to the public.</a:t>
            </a:r>
            <a:endParaRPr dirty="0"/>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p:nvPr/>
        </p:nvSpPr>
        <p:spPr>
          <a:xfrm>
            <a:off x="152400" y="152400"/>
            <a:ext cx="8839200" cy="72960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800"/>
              <a:buFont typeface="Calibri"/>
              <a:buNone/>
            </a:pPr>
            <a:r>
              <a:rPr lang="en-US" sz="1800" b="1" dirty="0">
                <a:solidFill>
                  <a:schemeClr val="dk1"/>
                </a:solidFill>
                <a:latin typeface="Calibri"/>
                <a:ea typeface="Calibri"/>
                <a:cs typeface="Calibri"/>
                <a:sym typeface="Calibri"/>
              </a:rPr>
              <a:t>2. Social Media Data </a:t>
            </a:r>
            <a:endParaRPr dirty="0"/>
          </a:p>
          <a:p>
            <a:pPr marL="0" marR="0" lvl="0" indent="0" algn="just" rtl="0">
              <a:spcBef>
                <a:spcPts val="0"/>
              </a:spcBef>
              <a:spcAft>
                <a:spcPts val="0"/>
              </a:spcAft>
              <a:buClr>
                <a:schemeClr val="dk1"/>
              </a:buClr>
              <a:buSzPts val="1800"/>
              <a:buFont typeface="Calibri"/>
              <a:buNone/>
            </a:pPr>
            <a:r>
              <a:rPr lang="en-US" sz="1800" dirty="0">
                <a:solidFill>
                  <a:schemeClr val="dk1"/>
                </a:solidFill>
                <a:latin typeface="Calibri"/>
                <a:ea typeface="Calibri"/>
                <a:cs typeface="Calibri"/>
                <a:sym typeface="Calibri"/>
              </a:rPr>
              <a:t>Social media data is generated by users on platforms like Twitter, Facebook, Instagram, YouTube, and LinkedIn. It includes a variety of formats such as text posts, comments, photos, videos, likes, shares, and hashtags. This type of data is unstructured and constantly evolving, making it both valuable and challenging to analyze. Businesses and researchers use social media data for sentiment analysis, trend detection, brand monitoring, and public opinion studies. However, due to its personal and informal nature, privacy and ethical considerations are crucial when using this data.</a:t>
            </a:r>
            <a:endParaRPr dirty="0"/>
          </a:p>
          <a:p>
            <a:pPr marL="0" marR="0" lvl="0" indent="0" algn="just" rtl="0">
              <a:spcBef>
                <a:spcPts val="0"/>
              </a:spcBef>
              <a:spcAft>
                <a:spcPts val="0"/>
              </a:spcAft>
              <a:buNone/>
            </a:pPr>
            <a:r>
              <a:rPr lang="en-US" sz="1800" b="1" dirty="0">
                <a:solidFill>
                  <a:schemeClr val="dk1"/>
                </a:solidFill>
                <a:latin typeface="Calibri"/>
                <a:ea typeface="Calibri"/>
                <a:cs typeface="Calibri"/>
                <a:sym typeface="Calibri"/>
              </a:rPr>
              <a:t>3. Multimodal Data </a:t>
            </a:r>
            <a:endParaRPr dirty="0"/>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Multimodal data combines multiple types of data sources such as text, audio, images, video, and sensor readings. This kind of data provides a richer and more comprehensive understanding of complex systems and behaviors. For example, in healthcare, a diagnosis might involve patient reports (text), MRI scans (image), and doctor consultations (audio). In AI applications like self-driving cars, cameras, radar, and GPS data work together to detect and respond to the environment. Although powerful, multimodal data is complex to manage, requiring advanced tools for synchronization, processing, and interpretation.</a:t>
            </a:r>
            <a:endParaRPr dirty="0"/>
          </a:p>
          <a:p>
            <a:pPr marL="0" marR="0" lvl="0" indent="0" algn="just" rtl="0">
              <a:spcBef>
                <a:spcPts val="0"/>
              </a:spcBef>
              <a:spcAft>
                <a:spcPts val="0"/>
              </a:spcAft>
              <a:buNone/>
            </a:pPr>
            <a:r>
              <a:rPr lang="en-US" sz="1800" b="1" dirty="0">
                <a:solidFill>
                  <a:schemeClr val="dk1"/>
                </a:solidFill>
                <a:latin typeface="Calibri"/>
                <a:ea typeface="Calibri"/>
                <a:cs typeface="Calibri"/>
                <a:sym typeface="Calibri"/>
              </a:rPr>
              <a:t>4. Standard Datasets </a:t>
            </a:r>
            <a:r>
              <a:rPr lang="en-US" sz="1800" dirty="0">
                <a:solidFill>
                  <a:schemeClr val="dk1"/>
                </a:solidFill>
                <a:latin typeface="Calibri"/>
                <a:ea typeface="Calibri"/>
                <a:cs typeface="Calibri"/>
                <a:sym typeface="Calibri"/>
              </a:rPr>
              <a:t>Standard datasets are publicly available, curated collections of data commonly used for academic research, benchmarking, and training machine learning models. These datasets are often domain-specific — such as IMDB for sentiment analysis in NLP, MNIST for digit recognition in image processing, or MIMIC-III for healthcare analytics. They help researchers evaluate model performance under consistent conditions and compare results fairly. Because they are pre-cleaned and well-documented, standard datasets save time in data collection and preprocessing, making them ideal for learning, competitions, and prototyping.</a:t>
            </a:r>
            <a:endParaRPr dirty="0"/>
          </a:p>
          <a:p>
            <a:pPr marL="0" marR="0" lvl="0" indent="0" algn="just" rtl="0">
              <a:spcBef>
                <a:spcPts val="0"/>
              </a:spcBef>
              <a:spcAft>
                <a:spcPts val="0"/>
              </a:spcAft>
              <a:buNone/>
            </a:pPr>
            <a:endParaRPr sz="1800" dirty="0">
              <a:solidFill>
                <a:schemeClr val="dk1"/>
              </a:solidFill>
              <a:latin typeface="Calibri"/>
              <a:ea typeface="Calibri"/>
              <a:cs typeface="Calibri"/>
              <a:sym typeface="Calibri"/>
            </a:endParaRPr>
          </a:p>
          <a:p>
            <a:pPr marL="0" marR="0" lvl="0" indent="0" algn="just"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Standard Datasets</a:t>
            </a:r>
            <a:endParaRPr/>
          </a:p>
        </p:txBody>
      </p:sp>
      <p:sp>
        <p:nvSpPr>
          <p:cNvPr id="119" name="Google Shape;119;p18"/>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marL="342900" lvl="0" indent="-327660" algn="just" rtl="0">
              <a:spcBef>
                <a:spcPts val="0"/>
              </a:spcBef>
              <a:spcAft>
                <a:spcPts val="0"/>
              </a:spcAft>
              <a:buClr>
                <a:schemeClr val="dk1"/>
              </a:buClr>
              <a:buSzPct val="100000"/>
              <a:buChar char="•"/>
            </a:pPr>
            <a:r>
              <a:rPr lang="en-US"/>
              <a:t>Iris Dataset:</a:t>
            </a:r>
            <a:endParaRPr/>
          </a:p>
          <a:p>
            <a:pPr marL="0" lvl="0" indent="0" algn="just" rtl="0">
              <a:spcBef>
                <a:spcPts val="448"/>
              </a:spcBef>
              <a:spcAft>
                <a:spcPts val="0"/>
              </a:spcAft>
              <a:buClr>
                <a:schemeClr val="dk1"/>
              </a:buClr>
              <a:buSzPct val="100000"/>
              <a:buNone/>
            </a:pPr>
            <a:r>
              <a:rPr lang="en-US"/>
              <a:t>A classic dataset for classification tasks, the Iris dataset contains</a:t>
            </a:r>
            <a:endParaRPr/>
          </a:p>
          <a:p>
            <a:pPr marL="0" lvl="0" indent="0" algn="just" rtl="0">
              <a:spcBef>
                <a:spcPts val="448"/>
              </a:spcBef>
              <a:spcAft>
                <a:spcPts val="0"/>
              </a:spcAft>
              <a:buClr>
                <a:schemeClr val="dk1"/>
              </a:buClr>
              <a:buSzPct val="100000"/>
              <a:buNone/>
            </a:pPr>
            <a:r>
              <a:rPr lang="en-US"/>
              <a:t>measurements of various features of three species of iris flowers. It's</a:t>
            </a:r>
            <a:endParaRPr/>
          </a:p>
          <a:p>
            <a:pPr marL="0" lvl="0" indent="0" algn="just" rtl="0">
              <a:spcBef>
                <a:spcPts val="448"/>
              </a:spcBef>
              <a:spcAft>
                <a:spcPts val="0"/>
              </a:spcAft>
              <a:buClr>
                <a:schemeClr val="dk1"/>
              </a:buClr>
              <a:buSzPct val="100000"/>
              <a:buNone/>
            </a:pPr>
            <a:r>
              <a:rPr lang="en-US"/>
              <a:t>often used to demonstrate classification algorithms and techniques.</a:t>
            </a:r>
            <a:endParaRPr/>
          </a:p>
          <a:p>
            <a:pPr marL="342900" lvl="0" indent="-327660" algn="just" rtl="0">
              <a:spcBef>
                <a:spcPts val="448"/>
              </a:spcBef>
              <a:spcAft>
                <a:spcPts val="0"/>
              </a:spcAft>
              <a:buClr>
                <a:schemeClr val="dk1"/>
              </a:buClr>
              <a:buSzPct val="100000"/>
              <a:buChar char="•"/>
            </a:pPr>
            <a:r>
              <a:rPr lang="en-US"/>
              <a:t> MNIST Dataset:</a:t>
            </a:r>
            <a:endParaRPr/>
          </a:p>
          <a:p>
            <a:pPr marL="0" lvl="0" indent="0" algn="just" rtl="0">
              <a:spcBef>
                <a:spcPts val="448"/>
              </a:spcBef>
              <a:spcAft>
                <a:spcPts val="0"/>
              </a:spcAft>
              <a:buClr>
                <a:schemeClr val="dk1"/>
              </a:buClr>
              <a:buSzPct val="100000"/>
              <a:buNone/>
            </a:pPr>
            <a:r>
              <a:rPr lang="en-US"/>
              <a:t>The MNIST dataset is a collection of handwritten digits (0-9), widely</a:t>
            </a:r>
            <a:endParaRPr/>
          </a:p>
          <a:p>
            <a:pPr marL="0" lvl="0" indent="0" algn="just" rtl="0">
              <a:spcBef>
                <a:spcPts val="448"/>
              </a:spcBef>
              <a:spcAft>
                <a:spcPts val="0"/>
              </a:spcAft>
              <a:buClr>
                <a:schemeClr val="dk1"/>
              </a:buClr>
              <a:buSzPct val="100000"/>
              <a:buNone/>
            </a:pPr>
            <a:r>
              <a:rPr lang="en-US"/>
              <a:t>used for training and evaluating image classification algorithms. It has</a:t>
            </a:r>
            <a:endParaRPr/>
          </a:p>
          <a:p>
            <a:pPr marL="0" lvl="0" indent="0" algn="just" rtl="0">
              <a:spcBef>
                <a:spcPts val="448"/>
              </a:spcBef>
              <a:spcAft>
                <a:spcPts val="0"/>
              </a:spcAft>
              <a:buClr>
                <a:schemeClr val="dk1"/>
              </a:buClr>
              <a:buSzPct val="100000"/>
              <a:buNone/>
            </a:pPr>
            <a:r>
              <a:rPr lang="en-US"/>
              <a:t>played a significant role in the development of machine learning</a:t>
            </a:r>
            <a:endParaRPr/>
          </a:p>
          <a:p>
            <a:pPr marL="0" lvl="0" indent="0" algn="just" rtl="0">
              <a:spcBef>
                <a:spcPts val="448"/>
              </a:spcBef>
              <a:spcAft>
                <a:spcPts val="0"/>
              </a:spcAft>
              <a:buClr>
                <a:schemeClr val="dk1"/>
              </a:buClr>
              <a:buSzPct val="100000"/>
              <a:buNone/>
            </a:pPr>
            <a:r>
              <a:rPr lang="en-US"/>
              <a:t>techniques.</a:t>
            </a:r>
            <a:endParaRPr/>
          </a:p>
          <a:p>
            <a:pPr marL="342900" lvl="0" indent="-327660" algn="just" rtl="0">
              <a:spcBef>
                <a:spcPts val="448"/>
              </a:spcBef>
              <a:spcAft>
                <a:spcPts val="0"/>
              </a:spcAft>
              <a:buClr>
                <a:schemeClr val="dk1"/>
              </a:buClr>
              <a:buSzPct val="100000"/>
              <a:buChar char="•"/>
            </a:pPr>
            <a:r>
              <a:rPr lang="en-US"/>
              <a:t>IMDB Movie Reviews Dataset:</a:t>
            </a:r>
            <a:endParaRPr/>
          </a:p>
          <a:p>
            <a:pPr marL="0" lvl="0" indent="0" algn="just" rtl="0">
              <a:spcBef>
                <a:spcPts val="448"/>
              </a:spcBef>
              <a:spcAft>
                <a:spcPts val="0"/>
              </a:spcAft>
              <a:buClr>
                <a:schemeClr val="dk1"/>
              </a:buClr>
              <a:buSzPct val="100000"/>
              <a:buNone/>
            </a:pPr>
            <a:r>
              <a:rPr lang="en-US"/>
              <a:t>A dataset of movie reviews labeled as positive or negative sentiment.</a:t>
            </a:r>
            <a:endParaRPr/>
          </a:p>
          <a:p>
            <a:pPr marL="0" lvl="0" indent="0" algn="just" rtl="0">
              <a:spcBef>
                <a:spcPts val="448"/>
              </a:spcBef>
              <a:spcAft>
                <a:spcPts val="0"/>
              </a:spcAft>
              <a:buClr>
                <a:schemeClr val="dk1"/>
              </a:buClr>
              <a:buSzPct val="100000"/>
              <a:buNone/>
            </a:pPr>
            <a:r>
              <a:rPr lang="en-US"/>
              <a:t>It's a common dataset for sentiment analysis tasks, helping to develop</a:t>
            </a:r>
            <a:endParaRPr/>
          </a:p>
          <a:p>
            <a:pPr marL="0" lvl="0" indent="0" algn="just" rtl="0">
              <a:spcBef>
                <a:spcPts val="448"/>
              </a:spcBef>
              <a:spcAft>
                <a:spcPts val="0"/>
              </a:spcAft>
              <a:buClr>
                <a:schemeClr val="dk1"/>
              </a:buClr>
              <a:buSzPct val="100000"/>
              <a:buNone/>
            </a:pPr>
            <a:r>
              <a:rPr lang="en-US"/>
              <a:t>algorithms that can classify text sentiment.</a:t>
            </a:r>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p:nvPr/>
        </p:nvSpPr>
        <p:spPr>
          <a:xfrm>
            <a:off x="152400" y="304800"/>
            <a:ext cx="8534400" cy="4525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UCI Machine Learning Repository:</a:t>
            </a:r>
            <a:endParaRPr dirty="0"/>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The UCI Machine Learning Repository hosts a collection of datasets covering various domains, including biology, medicine, physics, economics, and more. These datasets are often used for benchmarking purposes.</a:t>
            </a:r>
            <a:endParaRPr dirty="0"/>
          </a:p>
          <a:p>
            <a:pPr marL="0" marR="0" lvl="0" indent="0" algn="just" rtl="0">
              <a:spcBef>
                <a:spcPts val="0"/>
              </a:spcBef>
              <a:spcAft>
                <a:spcPts val="0"/>
              </a:spcAft>
              <a:buNone/>
            </a:pPr>
            <a:endParaRPr sz="18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Fashion MNIST:</a:t>
            </a:r>
            <a:endParaRPr dirty="0"/>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Similar to the MNIST dataset, Fashion MNIST contains grayscale images of various clothing items. It's used as an alternative to MNIST for testing classification algorithms.</a:t>
            </a:r>
            <a:endParaRPr dirty="0"/>
          </a:p>
          <a:p>
            <a:pPr marL="0" marR="0" lvl="0" indent="0" algn="just" rtl="0">
              <a:spcBef>
                <a:spcPts val="0"/>
              </a:spcBef>
              <a:spcAft>
                <a:spcPts val="0"/>
              </a:spcAft>
              <a:buNone/>
            </a:pPr>
            <a:endParaRPr sz="18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UCF101 Action Recognition Dataset:</a:t>
            </a:r>
            <a:endParaRPr dirty="0"/>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A video dataset containing human actions from different categories, commonly used for video classification and action recognition tasks.</a:t>
            </a:r>
            <a:endParaRPr dirty="0"/>
          </a:p>
          <a:p>
            <a:pPr marL="0" marR="0" lvl="0" indent="0" algn="just" rtl="0">
              <a:spcBef>
                <a:spcPts val="0"/>
              </a:spcBef>
              <a:spcAft>
                <a:spcPts val="0"/>
              </a:spcAft>
              <a:buNone/>
            </a:pPr>
            <a:endParaRPr sz="18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Enron Email Dataset:</a:t>
            </a:r>
            <a:endParaRPr dirty="0"/>
          </a:p>
          <a:p>
            <a:pPr marL="0" marR="0" lvl="0" indent="0" algn="just" rtl="0">
              <a:spcBef>
                <a:spcPts val="0"/>
              </a:spcBef>
              <a:spcAft>
                <a:spcPts val="0"/>
              </a:spcAft>
              <a:buNone/>
            </a:pPr>
            <a:r>
              <a:rPr lang="en-US" sz="1800" dirty="0">
                <a:solidFill>
                  <a:schemeClr val="dk1"/>
                </a:solidFill>
                <a:latin typeface="Calibri"/>
                <a:ea typeface="Calibri"/>
                <a:cs typeface="Calibri"/>
                <a:sym typeface="Calibri"/>
              </a:rPr>
              <a:t>This dataset contains emails from the Enron Corporation, which is used for studying email analysis, text mining, and natural language processing tasks.</a:t>
            </a:r>
            <a:endParaRPr sz="1800"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Data Formats</a:t>
            </a:r>
            <a:endParaRPr/>
          </a:p>
        </p:txBody>
      </p:sp>
      <p:sp>
        <p:nvSpPr>
          <p:cNvPr id="130" name="Google Shape;130;p2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t>Structured Data Formats:</a:t>
            </a:r>
            <a:endParaRPr/>
          </a:p>
          <a:p>
            <a:pPr marL="0"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CSV (Comma-Separated Values)</a:t>
            </a:r>
            <a:endParaRPr/>
          </a:p>
          <a:p>
            <a:pPr marL="0"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Excel Spreadsheets</a:t>
            </a:r>
            <a:endParaRPr/>
          </a:p>
          <a:p>
            <a:pPr marL="0"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SQL Databases</a:t>
            </a:r>
            <a:endParaRPr/>
          </a:p>
          <a:p>
            <a:pPr marL="0"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Parquet</a:t>
            </a:r>
            <a:endParaRPr/>
          </a:p>
          <a:p>
            <a:pPr marL="342900" lvl="0" indent="-342900" algn="just" rtl="0">
              <a:spcBef>
                <a:spcPts val="480"/>
              </a:spcBef>
              <a:spcAft>
                <a:spcPts val="0"/>
              </a:spcAft>
              <a:buClr>
                <a:schemeClr val="dk1"/>
              </a:buClr>
              <a:buSzPts val="2400"/>
              <a:buChar char="•"/>
            </a:pPr>
            <a:r>
              <a:rPr lang="en-US" sz="2400">
                <a:latin typeface="Times New Roman"/>
                <a:ea typeface="Times New Roman"/>
                <a:cs typeface="Times New Roman"/>
                <a:sym typeface="Times New Roman"/>
              </a:rPr>
              <a:t>ORC (Optimized Row Columnar)</a:t>
            </a:r>
            <a:endParaRPr/>
          </a:p>
          <a:p>
            <a:pPr marL="0"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Semi-Structured Data Formats:</a:t>
            </a:r>
            <a:endParaRPr/>
          </a:p>
          <a:p>
            <a:pPr marL="0"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JSON (JavaScript Object Notation)</a:t>
            </a:r>
            <a:endParaRPr/>
          </a:p>
          <a:p>
            <a:pPr marL="0" lvl="0" indent="0" algn="just" rtl="0">
              <a:spcBef>
                <a:spcPts val="480"/>
              </a:spcBef>
              <a:spcAft>
                <a:spcPts val="0"/>
              </a:spcAft>
              <a:buClr>
                <a:schemeClr val="dk1"/>
              </a:buClr>
              <a:buSzPts val="2400"/>
              <a:buNone/>
            </a:pPr>
            <a:r>
              <a:rPr lang="en-US" sz="2400">
                <a:latin typeface="Times New Roman"/>
                <a:ea typeface="Times New Roman"/>
                <a:cs typeface="Times New Roman"/>
                <a:sym typeface="Times New Roman"/>
              </a:rPr>
              <a:t>XML (eXtensible Markup Language)</a:t>
            </a:r>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p:nvPr/>
        </p:nvSpPr>
        <p:spPr>
          <a:xfrm>
            <a:off x="228600" y="152400"/>
            <a:ext cx="8915400" cy="415498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Arial"/>
              <a:buChar char="•"/>
            </a:pPr>
            <a:r>
              <a:rPr lang="en-US" sz="2400" dirty="0">
                <a:latin typeface="Times New Roman"/>
                <a:ea typeface="Times New Roman"/>
                <a:cs typeface="Times New Roman"/>
                <a:sym typeface="Times New Roman"/>
              </a:rPr>
              <a:t>Unstructured Data Formats:</a:t>
            </a:r>
            <a:endParaRPr dirty="0"/>
          </a:p>
          <a:p>
            <a:pPr marL="0" marR="0" lvl="0" indent="0" algn="l" rtl="0">
              <a:spcBef>
                <a:spcPts val="0"/>
              </a:spcBef>
              <a:spcAft>
                <a:spcPts val="0"/>
              </a:spcAft>
              <a:buNone/>
            </a:pPr>
            <a:r>
              <a:rPr lang="en-US" sz="2400" dirty="0">
                <a:latin typeface="Times New Roman"/>
                <a:ea typeface="Times New Roman"/>
                <a:cs typeface="Times New Roman"/>
                <a:sym typeface="Times New Roman"/>
              </a:rPr>
              <a:t>Text Documents</a:t>
            </a:r>
            <a:endParaRPr dirty="0"/>
          </a:p>
          <a:p>
            <a:pPr marL="0" marR="0" lvl="0" indent="0" algn="l" rtl="0">
              <a:spcBef>
                <a:spcPts val="0"/>
              </a:spcBef>
              <a:spcAft>
                <a:spcPts val="0"/>
              </a:spcAft>
              <a:buNone/>
            </a:pPr>
            <a:r>
              <a:rPr lang="en-US" sz="2400" dirty="0">
                <a:latin typeface="Times New Roman"/>
                <a:ea typeface="Times New Roman"/>
                <a:cs typeface="Times New Roman"/>
                <a:sym typeface="Times New Roman"/>
              </a:rPr>
              <a:t>Images</a:t>
            </a:r>
            <a:endParaRPr dirty="0"/>
          </a:p>
          <a:p>
            <a:pPr marL="0" marR="0" lvl="0" indent="0" algn="l" rtl="0">
              <a:spcBef>
                <a:spcPts val="0"/>
              </a:spcBef>
              <a:spcAft>
                <a:spcPts val="0"/>
              </a:spcAft>
              <a:buNone/>
            </a:pPr>
            <a:r>
              <a:rPr lang="en-US" sz="2400" dirty="0">
                <a:latin typeface="Times New Roman"/>
                <a:ea typeface="Times New Roman"/>
                <a:cs typeface="Times New Roman"/>
                <a:sym typeface="Times New Roman"/>
              </a:rPr>
              <a:t>Audio</a:t>
            </a:r>
            <a:endParaRPr dirty="0"/>
          </a:p>
          <a:p>
            <a:pPr marL="0" marR="0" lvl="0" indent="0" algn="l" rtl="0">
              <a:spcBef>
                <a:spcPts val="0"/>
              </a:spcBef>
              <a:spcAft>
                <a:spcPts val="0"/>
              </a:spcAft>
              <a:buNone/>
            </a:pPr>
            <a:r>
              <a:rPr lang="en-US" sz="2400" dirty="0">
                <a:latin typeface="Times New Roman"/>
                <a:ea typeface="Times New Roman"/>
                <a:cs typeface="Times New Roman"/>
                <a:sym typeface="Times New Roman"/>
              </a:rPr>
              <a:t>Video</a:t>
            </a:r>
            <a:endParaRPr dirty="0"/>
          </a:p>
          <a:p>
            <a:pPr marL="0" marR="0" lvl="0" indent="0" algn="l" rtl="0">
              <a:spcBef>
                <a:spcPts val="0"/>
              </a:spcBef>
              <a:spcAft>
                <a:spcPts val="0"/>
              </a:spcAft>
              <a:buNone/>
            </a:pPr>
            <a:r>
              <a:rPr lang="en-US" sz="2400" dirty="0">
                <a:latin typeface="Times New Roman"/>
                <a:ea typeface="Times New Roman"/>
                <a:cs typeface="Times New Roman"/>
                <a:sym typeface="Times New Roman"/>
              </a:rPr>
              <a:t>PDF (Portable Document Format)</a:t>
            </a:r>
            <a:endParaRPr dirty="0"/>
          </a:p>
          <a:p>
            <a:pPr marL="0" marR="0" lvl="0" indent="0" algn="l" rtl="0">
              <a:spcBef>
                <a:spcPts val="0"/>
              </a:spcBef>
              <a:spcAft>
                <a:spcPts val="0"/>
              </a:spcAft>
              <a:buNone/>
            </a:pPr>
            <a:endParaRPr sz="2400" dirty="0">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400"/>
              <a:buFont typeface="Arial"/>
              <a:buChar char="•"/>
            </a:pPr>
            <a:r>
              <a:rPr lang="en-US" sz="2400" dirty="0">
                <a:latin typeface="Times New Roman"/>
                <a:ea typeface="Times New Roman"/>
                <a:cs typeface="Times New Roman"/>
                <a:sym typeface="Times New Roman"/>
              </a:rPr>
              <a:t>Specialized Data Formats:</a:t>
            </a:r>
            <a:endParaRPr dirty="0"/>
          </a:p>
          <a:p>
            <a:pPr marL="0" marR="0" lvl="0" indent="0" algn="l" rtl="0">
              <a:spcBef>
                <a:spcPts val="0"/>
              </a:spcBef>
              <a:spcAft>
                <a:spcPts val="0"/>
              </a:spcAft>
              <a:buNone/>
            </a:pPr>
            <a:r>
              <a:rPr lang="en-US" sz="2400" dirty="0">
                <a:latin typeface="Times New Roman"/>
                <a:ea typeface="Times New Roman"/>
                <a:cs typeface="Times New Roman"/>
                <a:sym typeface="Times New Roman"/>
              </a:rPr>
              <a:t>NetCDF (Network Common Data Form)</a:t>
            </a:r>
            <a:endParaRPr dirty="0"/>
          </a:p>
          <a:p>
            <a:pPr marL="0" marR="0" lvl="0" indent="0" algn="l" rtl="0">
              <a:spcBef>
                <a:spcPts val="0"/>
              </a:spcBef>
              <a:spcAft>
                <a:spcPts val="0"/>
              </a:spcAft>
              <a:buNone/>
            </a:pPr>
            <a:r>
              <a:rPr lang="en-US" sz="2400" dirty="0">
                <a:latin typeface="Times New Roman"/>
                <a:ea typeface="Times New Roman"/>
                <a:cs typeface="Times New Roman"/>
                <a:sym typeface="Times New Roman"/>
              </a:rPr>
              <a:t>HDF5 (Hierarchical Data Format 5)</a:t>
            </a:r>
            <a:endParaRPr dirty="0"/>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p:nvPr/>
        </p:nvSpPr>
        <p:spPr>
          <a:xfrm>
            <a:off x="533400" y="228600"/>
            <a:ext cx="6324600" cy="526410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2400"/>
              <a:buFont typeface="Arial"/>
              <a:buChar char="•"/>
            </a:pPr>
            <a:r>
              <a:rPr lang="en-US" sz="2400" dirty="0">
                <a:latin typeface="Times New Roman"/>
                <a:ea typeface="Times New Roman"/>
                <a:cs typeface="Times New Roman"/>
                <a:sym typeface="Times New Roman"/>
              </a:rPr>
              <a:t>Database Formats:</a:t>
            </a:r>
            <a:endParaRPr dirty="0"/>
          </a:p>
          <a:p>
            <a:pPr marL="0" marR="0" lvl="0" indent="0" algn="just" rtl="0">
              <a:spcBef>
                <a:spcPts val="0"/>
              </a:spcBef>
              <a:spcAft>
                <a:spcPts val="0"/>
              </a:spcAft>
              <a:buNone/>
            </a:pPr>
            <a:r>
              <a:rPr lang="en-US" sz="2400" dirty="0">
                <a:latin typeface="Times New Roman"/>
                <a:ea typeface="Times New Roman"/>
                <a:cs typeface="Times New Roman"/>
                <a:sym typeface="Times New Roman"/>
              </a:rPr>
              <a:t>SQL Databases</a:t>
            </a:r>
            <a:endParaRPr dirty="0"/>
          </a:p>
          <a:p>
            <a:pPr marL="0" marR="0" lvl="0" indent="0" algn="just" rtl="0">
              <a:spcBef>
                <a:spcPts val="0"/>
              </a:spcBef>
              <a:spcAft>
                <a:spcPts val="0"/>
              </a:spcAft>
              <a:buNone/>
            </a:pPr>
            <a:r>
              <a:rPr lang="en-US" sz="2400" dirty="0">
                <a:latin typeface="Times New Roman"/>
                <a:ea typeface="Times New Roman"/>
                <a:cs typeface="Times New Roman"/>
                <a:sym typeface="Times New Roman"/>
              </a:rPr>
              <a:t>NoSQL Databases</a:t>
            </a:r>
            <a:endParaRPr dirty="0"/>
          </a:p>
          <a:p>
            <a:pPr marL="0" marR="0" lvl="0" indent="0" algn="just" rtl="0">
              <a:spcBef>
                <a:spcPts val="0"/>
              </a:spcBef>
              <a:spcAft>
                <a:spcPts val="0"/>
              </a:spcAft>
              <a:buNone/>
            </a:pPr>
            <a:endParaRPr sz="2400" dirty="0">
              <a:latin typeface="Times New Roman"/>
              <a:ea typeface="Times New Roman"/>
              <a:cs typeface="Times New Roman"/>
              <a:sym typeface="Times New Roman"/>
            </a:endParaRPr>
          </a:p>
          <a:p>
            <a:pPr marL="285750" marR="0" lvl="0" indent="-285750" algn="just" rtl="0">
              <a:spcBef>
                <a:spcPts val="0"/>
              </a:spcBef>
              <a:spcAft>
                <a:spcPts val="0"/>
              </a:spcAft>
              <a:buClr>
                <a:schemeClr val="dk1"/>
              </a:buClr>
              <a:buSzPts val="2400"/>
              <a:buFont typeface="Arial"/>
              <a:buChar char="•"/>
            </a:pPr>
            <a:r>
              <a:rPr lang="en-US" sz="2400" dirty="0">
                <a:latin typeface="Times New Roman"/>
                <a:ea typeface="Times New Roman"/>
                <a:cs typeface="Times New Roman"/>
                <a:sym typeface="Times New Roman"/>
              </a:rPr>
              <a:t>Web Data Formats:</a:t>
            </a:r>
            <a:endParaRPr dirty="0"/>
          </a:p>
          <a:p>
            <a:pPr marL="0" marR="0" lvl="0" indent="0" algn="just" rtl="0">
              <a:spcBef>
                <a:spcPts val="0"/>
              </a:spcBef>
              <a:spcAft>
                <a:spcPts val="0"/>
              </a:spcAft>
              <a:buNone/>
            </a:pPr>
            <a:r>
              <a:rPr lang="en-US" sz="2400" dirty="0">
                <a:latin typeface="Times New Roman"/>
                <a:ea typeface="Times New Roman"/>
                <a:cs typeface="Times New Roman"/>
                <a:sym typeface="Times New Roman"/>
              </a:rPr>
              <a:t>HTML (Hypertext Markup Language)</a:t>
            </a:r>
            <a:endParaRPr dirty="0"/>
          </a:p>
          <a:p>
            <a:pPr marL="0" marR="0" lvl="0" indent="0" algn="just" rtl="0">
              <a:spcBef>
                <a:spcPts val="0"/>
              </a:spcBef>
              <a:spcAft>
                <a:spcPts val="0"/>
              </a:spcAft>
              <a:buNone/>
            </a:pPr>
            <a:r>
              <a:rPr lang="en-US" sz="2400" dirty="0">
                <a:latin typeface="Times New Roman"/>
                <a:ea typeface="Times New Roman"/>
                <a:cs typeface="Times New Roman"/>
                <a:sym typeface="Times New Roman"/>
              </a:rPr>
              <a:t>JSON and XML</a:t>
            </a:r>
            <a:endParaRPr dirty="0"/>
          </a:p>
          <a:p>
            <a:pPr marL="0" marR="0" lvl="0" indent="0" algn="just" rtl="0">
              <a:spcBef>
                <a:spcPts val="0"/>
              </a:spcBef>
              <a:spcAft>
                <a:spcPts val="0"/>
              </a:spcAft>
              <a:buNone/>
            </a:pPr>
            <a:endParaRPr sz="2400" dirty="0">
              <a:latin typeface="Times New Roman"/>
              <a:ea typeface="Times New Roman"/>
              <a:cs typeface="Times New Roman"/>
              <a:sym typeface="Times New Roman"/>
            </a:endParaRPr>
          </a:p>
          <a:p>
            <a:pPr marL="285750" marR="0" lvl="0" indent="-285750" algn="just" rtl="0">
              <a:spcBef>
                <a:spcPts val="0"/>
              </a:spcBef>
              <a:spcAft>
                <a:spcPts val="0"/>
              </a:spcAft>
              <a:buClr>
                <a:schemeClr val="dk1"/>
              </a:buClr>
              <a:buSzPts val="2400"/>
              <a:buFont typeface="Arial"/>
              <a:buChar char="•"/>
            </a:pPr>
            <a:r>
              <a:rPr lang="en-US" sz="2400" dirty="0">
                <a:latin typeface="Times New Roman"/>
                <a:ea typeface="Times New Roman"/>
                <a:cs typeface="Times New Roman"/>
                <a:sym typeface="Times New Roman"/>
              </a:rPr>
              <a:t>Binary Formats:</a:t>
            </a:r>
            <a:endParaRPr dirty="0"/>
          </a:p>
          <a:p>
            <a:pPr marL="0" marR="0" lvl="0" indent="0" algn="just" rtl="0">
              <a:spcBef>
                <a:spcPts val="0"/>
              </a:spcBef>
              <a:spcAft>
                <a:spcPts val="0"/>
              </a:spcAft>
              <a:buNone/>
            </a:pPr>
            <a:r>
              <a:rPr lang="en-US" sz="2400" dirty="0">
                <a:latin typeface="Times New Roman"/>
                <a:ea typeface="Times New Roman"/>
                <a:cs typeface="Times New Roman"/>
                <a:sym typeface="Times New Roman"/>
              </a:rPr>
              <a:t>Protocol Buffers (</a:t>
            </a:r>
            <a:r>
              <a:rPr lang="en-US" sz="2400" dirty="0" err="1">
                <a:latin typeface="Times New Roman"/>
                <a:ea typeface="Times New Roman"/>
                <a:cs typeface="Times New Roman"/>
                <a:sym typeface="Times New Roman"/>
              </a:rPr>
              <a:t>protobuf</a:t>
            </a:r>
            <a:r>
              <a:rPr lang="en-US" sz="2400" dirty="0">
                <a:latin typeface="Times New Roman"/>
                <a:ea typeface="Times New Roman"/>
                <a:cs typeface="Times New Roman"/>
                <a:sym typeface="Times New Roman"/>
              </a:rPr>
              <a:t>)</a:t>
            </a:r>
            <a:endParaRPr dirty="0"/>
          </a:p>
          <a:p>
            <a:pPr marL="0" marR="0" lvl="0" indent="0" algn="just" rtl="0">
              <a:spcBef>
                <a:spcPts val="0"/>
              </a:spcBef>
              <a:spcAft>
                <a:spcPts val="0"/>
              </a:spcAft>
              <a:buNone/>
            </a:pPr>
            <a:r>
              <a:rPr lang="en-US" sz="2400" dirty="0">
                <a:latin typeface="Times New Roman"/>
                <a:ea typeface="Times New Roman"/>
                <a:cs typeface="Times New Roman"/>
                <a:sym typeface="Times New Roman"/>
              </a:rPr>
              <a:t>Avro</a:t>
            </a:r>
            <a:endParaRPr dirty="0"/>
          </a:p>
          <a:p>
            <a:pPr marL="285750" marR="0" lvl="0" indent="-285750" algn="just" rtl="0">
              <a:spcBef>
                <a:spcPts val="0"/>
              </a:spcBef>
              <a:spcAft>
                <a:spcPts val="0"/>
              </a:spcAft>
              <a:buClr>
                <a:schemeClr val="dk1"/>
              </a:buClr>
              <a:buSzPts val="2400"/>
              <a:buFont typeface="Arial"/>
              <a:buChar char="•"/>
            </a:pPr>
            <a:r>
              <a:rPr lang="en-US" sz="2400" dirty="0">
                <a:latin typeface="Times New Roman"/>
                <a:ea typeface="Times New Roman"/>
                <a:cs typeface="Times New Roman"/>
                <a:sym typeface="Times New Roman"/>
              </a:rPr>
              <a:t> Geospatial Data Formats:</a:t>
            </a:r>
            <a:endParaRPr dirty="0"/>
          </a:p>
          <a:p>
            <a:pPr marL="0" marR="0" lvl="0" indent="0" algn="just" rtl="0">
              <a:spcBef>
                <a:spcPts val="0"/>
              </a:spcBef>
              <a:spcAft>
                <a:spcPts val="0"/>
              </a:spcAft>
              <a:buNone/>
            </a:pPr>
            <a:r>
              <a:rPr lang="en-US" sz="2400" dirty="0">
                <a:latin typeface="Times New Roman"/>
                <a:ea typeface="Times New Roman"/>
                <a:cs typeface="Times New Roman"/>
                <a:sym typeface="Times New Roman"/>
              </a:rPr>
              <a:t>Shapefile</a:t>
            </a:r>
            <a:endParaRPr dirty="0"/>
          </a:p>
          <a:p>
            <a:pPr marL="0" marR="0" lvl="0" indent="0" algn="just" rtl="0">
              <a:spcBef>
                <a:spcPts val="0"/>
              </a:spcBef>
              <a:spcAft>
                <a:spcPts val="0"/>
              </a:spcAft>
              <a:buNone/>
            </a:pPr>
            <a:r>
              <a:rPr lang="en-US" sz="2400" dirty="0" err="1">
                <a:latin typeface="Times New Roman"/>
                <a:ea typeface="Times New Roman"/>
                <a:cs typeface="Times New Roman"/>
                <a:sym typeface="Times New Roman"/>
              </a:rPr>
              <a:t>GeoJSON</a:t>
            </a:r>
            <a:endParaRPr sz="2400"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36f0d2aa6bf_0_1"/>
          <p:cNvSpPr txBox="1"/>
          <p:nvPr/>
        </p:nvSpPr>
        <p:spPr>
          <a:xfrm>
            <a:off x="150950" y="150950"/>
            <a:ext cx="8895900" cy="25551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just" rtl="0">
              <a:spcBef>
                <a:spcPts val="0"/>
              </a:spcBef>
              <a:spcAft>
                <a:spcPts val="0"/>
              </a:spcAft>
              <a:buNone/>
            </a:pPr>
            <a:r>
              <a:rPr lang="en-US"/>
              <a:t>Data Preprocessing</a:t>
            </a:r>
            <a:endParaRPr/>
          </a:p>
          <a:p>
            <a:pPr marL="0" lvl="0" indent="0" algn="just" rtl="0">
              <a:spcBef>
                <a:spcPts val="0"/>
              </a:spcBef>
              <a:spcAft>
                <a:spcPts val="0"/>
              </a:spcAft>
              <a:buNone/>
            </a:pPr>
            <a:r>
              <a:rPr lang="en-US"/>
              <a:t>Data preprocessing is the process of preparing raw data for analysis by cleaning and transforming it into a usable format. In data mining it refers to preparing raw data for mining by performing tasks like cleaning, transforming, and organizing it into a format suitable for mining algorithms.</a:t>
            </a:r>
            <a:endParaRPr/>
          </a:p>
          <a:p>
            <a:pPr marL="457200" lvl="0" indent="-317500" algn="just" rtl="0">
              <a:spcBef>
                <a:spcPts val="0"/>
              </a:spcBef>
              <a:spcAft>
                <a:spcPts val="0"/>
              </a:spcAft>
              <a:buSzPts val="1400"/>
              <a:buChar char="●"/>
            </a:pPr>
            <a:r>
              <a:rPr lang="en-US"/>
              <a:t>Goal is to improve the quality of the data.</a:t>
            </a:r>
            <a:endParaRPr/>
          </a:p>
          <a:p>
            <a:pPr marL="457200" lvl="0" indent="-317500" algn="just" rtl="0">
              <a:spcBef>
                <a:spcPts val="0"/>
              </a:spcBef>
              <a:spcAft>
                <a:spcPts val="0"/>
              </a:spcAft>
              <a:buSzPts val="1400"/>
              <a:buChar char="●"/>
            </a:pPr>
            <a:r>
              <a:rPr lang="en-US"/>
              <a:t>Helps in handling missing values, removing duplicates, and normalizing data.</a:t>
            </a:r>
            <a:endParaRPr/>
          </a:p>
          <a:p>
            <a:pPr marL="457200" lvl="0" indent="-317500" algn="just" rtl="0">
              <a:spcBef>
                <a:spcPts val="0"/>
              </a:spcBef>
              <a:spcAft>
                <a:spcPts val="0"/>
              </a:spcAft>
              <a:buSzPts val="1400"/>
              <a:buChar char="●"/>
            </a:pPr>
            <a:r>
              <a:rPr lang="en-US"/>
              <a:t>Ensures the accuracy and consistency of the dataset.</a:t>
            </a:r>
            <a:endParaRPr sz="1350">
              <a:solidFill>
                <a:srgbClr val="FFFFFF"/>
              </a:solidFill>
              <a:highlight>
                <a:srgbClr val="131417"/>
              </a:highlight>
              <a:latin typeface="Nunito"/>
              <a:ea typeface="Nunito"/>
              <a:cs typeface="Nunito"/>
              <a:sym typeface="Nunito"/>
            </a:endParaRPr>
          </a:p>
          <a:p>
            <a:pPr marL="0" lvl="0" indent="0" algn="just" rtl="0">
              <a:spcBef>
                <a:spcPts val="0"/>
              </a:spcBef>
              <a:spcAft>
                <a:spcPts val="0"/>
              </a:spcAft>
              <a:buNone/>
            </a:pPr>
            <a:r>
              <a:rPr lang="en-US"/>
              <a:t>Steps in Data Preprocessing</a:t>
            </a:r>
            <a:endParaRPr/>
          </a:p>
          <a:p>
            <a:pPr marL="0" lvl="0" indent="0" algn="just" rtl="0">
              <a:spcBef>
                <a:spcPts val="0"/>
              </a:spcBef>
              <a:spcAft>
                <a:spcPts val="0"/>
              </a:spcAft>
              <a:buNone/>
            </a:pPr>
            <a:r>
              <a:rPr lang="en-US"/>
              <a:t>Some key steps in data preprocessing are Data Cleaning, Data Integration, Data Transformation, and Data Reduction.</a:t>
            </a:r>
            <a:endParaRPr/>
          </a:p>
          <a:p>
            <a:pPr marL="0" lvl="0" indent="0" algn="l" rtl="0">
              <a:spcBef>
                <a:spcPts val="0"/>
              </a:spcBef>
              <a:spcAft>
                <a:spcPts val="0"/>
              </a:spcAft>
              <a:buNone/>
            </a:pPr>
            <a:endParaRPr/>
          </a:p>
        </p:txBody>
      </p:sp>
      <p:pic>
        <p:nvPicPr>
          <p:cNvPr id="150" name="Google Shape;150;g36f0d2aa6bf_0_1"/>
          <p:cNvPicPr preferRelativeResize="0"/>
          <p:nvPr/>
        </p:nvPicPr>
        <p:blipFill>
          <a:blip r:embed="rId3">
            <a:alphaModFix/>
          </a:blip>
          <a:stretch>
            <a:fillRect/>
          </a:stretch>
        </p:blipFill>
        <p:spPr>
          <a:xfrm>
            <a:off x="1226733" y="3515193"/>
            <a:ext cx="6286500" cy="314325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6f0d2aa6bf_0_11"/>
          <p:cNvSpPr txBox="1"/>
          <p:nvPr/>
        </p:nvSpPr>
        <p:spPr>
          <a:xfrm>
            <a:off x="0" y="0"/>
            <a:ext cx="8573723" cy="6001613"/>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1400" b="1" dirty="0"/>
              <a:t>1. Data Cleaning</a:t>
            </a:r>
            <a:r>
              <a:rPr lang="en-US" sz="1400" dirty="0"/>
              <a:t>: It is the process of identifying and correcting errors or inconsistencies in the dataset. It involves handling missing values, removing duplicates, and correcting incorrect or outlier data to ensure the dataset is accurate and reliable. Clean data is essential for effective analysis, as it improves the quality of results and enhances the performance of data models.</a:t>
            </a:r>
            <a:endParaRPr sz="1400" dirty="0"/>
          </a:p>
          <a:p>
            <a:pPr marL="457200" lvl="0" indent="-317500" algn="just" rtl="0">
              <a:spcBef>
                <a:spcPts val="0"/>
              </a:spcBef>
              <a:spcAft>
                <a:spcPts val="0"/>
              </a:spcAft>
              <a:buSzPts val="1400"/>
              <a:buChar char="●"/>
            </a:pPr>
            <a:r>
              <a:rPr lang="en-US" sz="1400" dirty="0"/>
              <a:t>Missing Values: This occur when data is absent from a dataset. You can either ignore the rows with missing data or fill the gaps manually, with the attribute mean, or by using the most probable value. This ensures the dataset remains accurate and complete for analysis.</a:t>
            </a:r>
            <a:endParaRPr sz="1400" dirty="0"/>
          </a:p>
          <a:p>
            <a:pPr marL="457200" lvl="0" indent="-317500" algn="just" rtl="0">
              <a:spcBef>
                <a:spcPts val="0"/>
              </a:spcBef>
              <a:spcAft>
                <a:spcPts val="0"/>
              </a:spcAft>
              <a:buSzPts val="1400"/>
              <a:buChar char="●"/>
            </a:pPr>
            <a:r>
              <a:rPr lang="en-US" sz="1400" dirty="0"/>
              <a:t>Noisy Data: It refers to irrelevant or incorrect data that is difficult for machines to interpret, often caused by errors in data collection or entry. It can be handled in several ways:</a:t>
            </a:r>
            <a:endParaRPr sz="1400" dirty="0"/>
          </a:p>
          <a:p>
            <a:pPr marL="914400" lvl="1" indent="-317500" algn="just" rtl="0">
              <a:spcBef>
                <a:spcPts val="0"/>
              </a:spcBef>
              <a:spcAft>
                <a:spcPts val="0"/>
              </a:spcAft>
              <a:buSzPts val="1400"/>
              <a:buAutoNum type="alphaLcPeriod"/>
            </a:pPr>
            <a:r>
              <a:rPr lang="en-US" sz="1400" dirty="0"/>
              <a:t>Binning Method: The data is sorted into equal segments, and each segment is smoothed by replacing values with the mean or boundary values.</a:t>
            </a:r>
            <a:endParaRPr sz="1400" dirty="0"/>
          </a:p>
          <a:p>
            <a:pPr marL="914400" lvl="1" indent="-317500" algn="just" rtl="0">
              <a:spcBef>
                <a:spcPts val="0"/>
              </a:spcBef>
              <a:spcAft>
                <a:spcPts val="0"/>
              </a:spcAft>
              <a:buSzPts val="1400"/>
              <a:buAutoNum type="alphaLcPeriod"/>
            </a:pPr>
            <a:r>
              <a:rPr lang="en-US" sz="1400" dirty="0"/>
              <a:t>Regression: Data can be smoothed by fitting it to a regression function, either linear or multiple, to predict values.</a:t>
            </a:r>
            <a:endParaRPr sz="1400" dirty="0"/>
          </a:p>
          <a:p>
            <a:pPr marL="914400" lvl="1" indent="-317500" algn="just" rtl="0">
              <a:spcBef>
                <a:spcPts val="0"/>
              </a:spcBef>
              <a:spcAft>
                <a:spcPts val="0"/>
              </a:spcAft>
              <a:buSzPts val="1400"/>
              <a:buAutoNum type="alphaLcPeriod"/>
            </a:pPr>
            <a:r>
              <a:rPr lang="en-US" sz="1400" dirty="0"/>
              <a:t>Clustering: This method groups similar data points together, with outliers either being undetected or falling outside the clusters. These techniques help remove noise and improve data quality.</a:t>
            </a:r>
            <a:endParaRPr sz="1400" dirty="0"/>
          </a:p>
          <a:p>
            <a:pPr marL="457200" lvl="0" indent="-317500" algn="just" rtl="0">
              <a:spcBef>
                <a:spcPts val="0"/>
              </a:spcBef>
              <a:spcAft>
                <a:spcPts val="0"/>
              </a:spcAft>
              <a:buSzPts val="1400"/>
              <a:buChar char="●"/>
            </a:pPr>
            <a:r>
              <a:rPr lang="en-US" sz="1400" dirty="0"/>
              <a:t>Removing Duplicates: It involves identifying and eliminating repeated data entries to ensure accuracy and consistency in the dataset. This process prevents errors and ensures reliable analysis by keeping only unique records.</a:t>
            </a:r>
            <a:endParaRPr sz="1400" dirty="0"/>
          </a:p>
          <a:p>
            <a:pPr marL="0" lvl="0" indent="0" algn="just" rtl="0">
              <a:spcBef>
                <a:spcPts val="0"/>
              </a:spcBef>
              <a:spcAft>
                <a:spcPts val="0"/>
              </a:spcAft>
              <a:buNone/>
            </a:pPr>
            <a:r>
              <a:rPr lang="en-US" sz="1400" b="1" dirty="0"/>
              <a:t> Data Integration:</a:t>
            </a:r>
            <a:r>
              <a:rPr lang="en-US" sz="1400" dirty="0"/>
              <a:t> It involves merging data from various sources into a single, unified dataset. It can be challenging due to differences in data formats, structures, and meanings. Techniques like record linkage and data fusion help in combining data efficiently, ensuring consistency and accuracy.</a:t>
            </a:r>
            <a:endParaRPr sz="1400" dirty="0"/>
          </a:p>
          <a:p>
            <a:pPr marL="457200" lvl="0" indent="-317500" algn="just" rtl="0">
              <a:spcBef>
                <a:spcPts val="0"/>
              </a:spcBef>
              <a:spcAft>
                <a:spcPts val="0"/>
              </a:spcAft>
              <a:buSzPts val="1400"/>
              <a:buChar char="●"/>
            </a:pPr>
            <a:r>
              <a:rPr lang="en-US" sz="1400" dirty="0"/>
              <a:t>Record Linkage is the process of identifying and matching records from different datasets that refer to the same entity, even if they are represented differently. It helps in combining data from various sources by finding corresponding records based on common identifiers or attributes.</a:t>
            </a:r>
            <a:endParaRPr sz="1400" dirty="0"/>
          </a:p>
          <a:p>
            <a:pPr marL="457200" lvl="0" indent="-317500" algn="just" rtl="0">
              <a:spcBef>
                <a:spcPts val="0"/>
              </a:spcBef>
              <a:spcAft>
                <a:spcPts val="0"/>
              </a:spcAft>
              <a:buSzPts val="1400"/>
              <a:buChar char="●"/>
            </a:pPr>
            <a:r>
              <a:rPr lang="en-US" sz="1400" dirty="0"/>
              <a:t>Data Fusion involves combining data from multiple sources to create a more comprehensive and accurate dataset. It integrates information that may be inconsistent or incomplete from different sources, ensuring a unified and richer dataset for analysis.</a:t>
            </a:r>
            <a:endParaRPr sz="1400" dirty="0">
              <a:solidFill>
                <a:srgbClr val="FFFFFF"/>
              </a:solidFill>
              <a:highlight>
                <a:srgbClr val="131417"/>
              </a:highlight>
              <a:latin typeface="Nunito"/>
              <a:ea typeface="Nunito"/>
              <a:cs typeface="Nunito"/>
              <a:sym typeface="Nunito"/>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36f0d2aa6bf_0_20"/>
          <p:cNvSpPr txBox="1"/>
          <p:nvPr/>
        </p:nvSpPr>
        <p:spPr>
          <a:xfrm>
            <a:off x="0" y="0"/>
            <a:ext cx="9144000" cy="4702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b="1" dirty="0"/>
              <a:t>3. Data Transformation:</a:t>
            </a:r>
            <a:r>
              <a:rPr lang="en-US" dirty="0"/>
              <a:t> It involves converting data into a format suitable for analysis. Common techniques include normalization, which scales data to a common range; standardization, which adjusts data to have zero mean and unit variance; and discretization, which converts continuous data into discrete categories. These techniques help prepare the data for more accurate analysis.</a:t>
            </a:r>
            <a:endParaRPr dirty="0"/>
          </a:p>
          <a:p>
            <a:pPr marL="457200" lvl="0" indent="-317500" algn="just" rtl="0">
              <a:spcBef>
                <a:spcPts val="0"/>
              </a:spcBef>
              <a:spcAft>
                <a:spcPts val="0"/>
              </a:spcAft>
              <a:buSzPts val="1400"/>
              <a:buChar char="●"/>
            </a:pPr>
            <a:r>
              <a:rPr lang="en-US" dirty="0"/>
              <a:t>Data Normalization: The process of scaling data to a common range to ensure consistency across variables.</a:t>
            </a:r>
            <a:endParaRPr dirty="0"/>
          </a:p>
          <a:p>
            <a:pPr marL="457200" lvl="0" indent="-317500" algn="just" rtl="0">
              <a:spcBef>
                <a:spcPts val="0"/>
              </a:spcBef>
              <a:spcAft>
                <a:spcPts val="0"/>
              </a:spcAft>
              <a:buSzPts val="1400"/>
              <a:buChar char="●"/>
            </a:pPr>
            <a:r>
              <a:rPr lang="en-US" dirty="0"/>
              <a:t>Discretization: Converting continuous data into discrete categories for easier analysis.</a:t>
            </a:r>
            <a:endParaRPr dirty="0"/>
          </a:p>
          <a:p>
            <a:pPr marL="457200" lvl="0" indent="-317500" algn="just" rtl="0">
              <a:spcBef>
                <a:spcPts val="0"/>
              </a:spcBef>
              <a:spcAft>
                <a:spcPts val="0"/>
              </a:spcAft>
              <a:buSzPts val="1400"/>
              <a:buChar char="●"/>
            </a:pPr>
            <a:r>
              <a:rPr lang="en-US" dirty="0"/>
              <a:t>Data Aggregation: Combining multiple data points into a summary form, such as averages or totals, to simplify analysis.</a:t>
            </a:r>
            <a:endParaRPr dirty="0"/>
          </a:p>
          <a:p>
            <a:pPr marL="457200" lvl="0" indent="-317500" algn="just" rtl="0">
              <a:spcBef>
                <a:spcPts val="0"/>
              </a:spcBef>
              <a:spcAft>
                <a:spcPts val="0"/>
              </a:spcAft>
              <a:buSzPts val="1400"/>
              <a:buChar char="●"/>
            </a:pPr>
            <a:r>
              <a:rPr lang="en-US" dirty="0"/>
              <a:t>Concept Hierarchy Generation: Organizing data into a hierarchy of concepts to provide a higher-level view for better understanding and analysis.</a:t>
            </a:r>
            <a:endParaRPr dirty="0"/>
          </a:p>
          <a:p>
            <a:pPr marL="0" lvl="0" indent="0" algn="just" rtl="0">
              <a:spcBef>
                <a:spcPts val="0"/>
              </a:spcBef>
              <a:spcAft>
                <a:spcPts val="0"/>
              </a:spcAft>
              <a:buNone/>
            </a:pPr>
            <a:r>
              <a:rPr lang="en-US" b="1" dirty="0"/>
              <a:t>4. Data Reduction:</a:t>
            </a:r>
            <a:r>
              <a:rPr lang="en-US" dirty="0"/>
              <a:t> It reduces the dataset's size while maintaining key information. This can be done through feature selection, which chooses the most relevant features, and feature extraction, which transforms the data into a lower-dimensional space while preserving important details. It uses various reduction techniques such as,</a:t>
            </a:r>
            <a:endParaRPr dirty="0"/>
          </a:p>
          <a:p>
            <a:pPr marL="457200" lvl="0" indent="-317500" algn="just" rtl="0">
              <a:spcBef>
                <a:spcPts val="0"/>
              </a:spcBef>
              <a:spcAft>
                <a:spcPts val="0"/>
              </a:spcAft>
              <a:buSzPts val="1400"/>
              <a:buChar char="●"/>
            </a:pPr>
            <a:r>
              <a:rPr lang="en-US" dirty="0"/>
              <a:t>Dimensionality Reduction (e.g., Principal Component Analysis): A technique that reduces the number of variables in a dataset while retaining its essential information.</a:t>
            </a:r>
            <a:endParaRPr dirty="0"/>
          </a:p>
          <a:p>
            <a:pPr marL="457200" lvl="0" indent="-317500" algn="just" rtl="0">
              <a:spcBef>
                <a:spcPts val="0"/>
              </a:spcBef>
              <a:spcAft>
                <a:spcPts val="0"/>
              </a:spcAft>
              <a:buSzPts val="1400"/>
              <a:buChar char="●"/>
            </a:pPr>
            <a:r>
              <a:rPr lang="en-US" dirty="0"/>
              <a:t>Numerosity Reduction: Reducing the number of data points by methods like sampling to simplify the dataset without losing critical patterns.</a:t>
            </a:r>
            <a:endParaRPr dirty="0"/>
          </a:p>
          <a:p>
            <a:pPr marL="457200" lvl="0" indent="-317500" algn="just" rtl="0">
              <a:spcBef>
                <a:spcPts val="0"/>
              </a:spcBef>
              <a:spcAft>
                <a:spcPts val="0"/>
              </a:spcAft>
              <a:buSzPts val="1400"/>
              <a:buChar char="●"/>
            </a:pPr>
            <a:r>
              <a:rPr lang="en-US" dirty="0"/>
              <a:t>Data Compression: Reducing the size of data by encoding it in a more compact form, making it easier to store and process.</a:t>
            </a:r>
            <a:endParaRPr sz="1350" dirty="0">
              <a:solidFill>
                <a:srgbClr val="FFFFFF"/>
              </a:solidFill>
              <a:highlight>
                <a:srgbClr val="131417"/>
              </a:highlight>
              <a:latin typeface="Nunito"/>
              <a:ea typeface="Nunito"/>
              <a:cs typeface="Nunito"/>
              <a:sym typeface="Nunito"/>
            </a:endParaRPr>
          </a:p>
          <a:p>
            <a:pPr marL="457200" lvl="0" indent="0" algn="just" rtl="0">
              <a:lnSpc>
                <a:spcPct val="158000"/>
              </a:lnSpc>
              <a:spcBef>
                <a:spcPts val="0"/>
              </a:spcBef>
              <a:spcAft>
                <a:spcPts val="1800"/>
              </a:spcAft>
              <a:buNone/>
            </a:pPr>
            <a:endParaRPr sz="1350" dirty="0">
              <a:solidFill>
                <a:srgbClr val="FFFFFF"/>
              </a:solidFill>
              <a:highlight>
                <a:srgbClr val="131417"/>
              </a:highlight>
              <a:latin typeface="Nunito"/>
              <a:ea typeface="Nunito"/>
              <a:cs typeface="Nunito"/>
              <a:sym typeface="Nunito"/>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6f0d2aa6bf_0_27"/>
          <p:cNvSpPr txBox="1"/>
          <p:nvPr/>
        </p:nvSpPr>
        <p:spPr>
          <a:xfrm>
            <a:off x="0" y="0"/>
            <a:ext cx="9144000" cy="3180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b="1"/>
              <a:t>Data Cleaning</a:t>
            </a:r>
            <a:endParaRPr b="1"/>
          </a:p>
          <a:p>
            <a:pPr marL="0" lvl="0" indent="0" algn="just" rtl="0">
              <a:spcBef>
                <a:spcPts val="0"/>
              </a:spcBef>
              <a:spcAft>
                <a:spcPts val="0"/>
              </a:spcAft>
              <a:buNone/>
            </a:pPr>
            <a:r>
              <a:rPr lang="en-US"/>
              <a:t>Data cleaning is a important step in the machine learning (ML) pipeline as it involves identifying and removing any missing duplicate or irrelevant data. The goal of data cleaning is to ensure that the data is accurate, consistent and free of errors as raw data is often noisy, incomplete and inconsistent which can negatively impact the accuracy of model and its reliability of insights derived from it. Professional data scientists usually invest a large portion of their time in this step because of the belief that Clean datasets also helps in EDA that enhance the interpretability of data so that right actions can be taken based on insights.</a:t>
            </a:r>
            <a:endParaRPr/>
          </a:p>
          <a:p>
            <a:pPr marL="0" lvl="0" indent="0" algn="just" rtl="0">
              <a:spcBef>
                <a:spcPts val="0"/>
              </a:spcBef>
              <a:spcAft>
                <a:spcPts val="0"/>
              </a:spcAft>
              <a:buNone/>
            </a:pPr>
            <a:endParaRPr/>
          </a:p>
          <a:p>
            <a:pPr marL="0" lvl="0" indent="0" algn="just" rtl="0">
              <a:spcBef>
                <a:spcPts val="0"/>
              </a:spcBef>
              <a:spcAft>
                <a:spcPts val="0"/>
              </a:spcAft>
              <a:buNone/>
            </a:pPr>
            <a:r>
              <a:rPr lang="en-US" b="1"/>
              <a:t>How to Perform Data Cleanliness?</a:t>
            </a:r>
            <a:endParaRPr b="1"/>
          </a:p>
          <a:p>
            <a:pPr marL="0" lvl="0" indent="0" algn="just" rtl="0">
              <a:spcBef>
                <a:spcPts val="0"/>
              </a:spcBef>
              <a:spcAft>
                <a:spcPts val="0"/>
              </a:spcAft>
              <a:buNone/>
            </a:pPr>
            <a:r>
              <a:rPr lang="en-US"/>
              <a:t>The process begins by thorough understanding data and its structure to identify issues like missing values, duplicates and outliers. Performing data cleaning involves a systematic process to identify and remove errors in a dataset. The following are essential steps to perform data cleaning.</a:t>
            </a:r>
            <a:endParaRPr sz="1350">
              <a:solidFill>
                <a:srgbClr val="FFFFFF"/>
              </a:solidFill>
              <a:highlight>
                <a:srgbClr val="131417"/>
              </a:highlight>
              <a:latin typeface="Nunito"/>
              <a:ea typeface="Nunito"/>
              <a:cs typeface="Nunito"/>
              <a:sym typeface="Nunito"/>
            </a:endParaRPr>
          </a:p>
          <a:p>
            <a:pPr marL="0" lvl="0" indent="0" algn="just" rtl="0">
              <a:lnSpc>
                <a:spcPct val="115000"/>
              </a:lnSpc>
              <a:spcBef>
                <a:spcPts val="0"/>
              </a:spcBef>
              <a:spcAft>
                <a:spcPts val="0"/>
              </a:spcAft>
              <a:buNone/>
            </a:pPr>
            <a:endParaRPr sz="1100">
              <a:solidFill>
                <a:schemeClr val="dk1"/>
              </a:solidFill>
            </a:endParaRPr>
          </a:p>
          <a:p>
            <a:pPr marL="0" lvl="0" indent="0" algn="just" rtl="0">
              <a:spcBef>
                <a:spcPts val="0"/>
              </a:spcBef>
              <a:spcAft>
                <a:spcPts val="0"/>
              </a:spcAft>
              <a:buNone/>
            </a:pPr>
            <a:endParaRPr/>
          </a:p>
        </p:txBody>
      </p:sp>
      <p:pic>
        <p:nvPicPr>
          <p:cNvPr id="166" name="Google Shape;166;g36f0d2aa6bf_0_27"/>
          <p:cNvPicPr preferRelativeResize="0"/>
          <p:nvPr/>
        </p:nvPicPr>
        <p:blipFill>
          <a:blip r:embed="rId3">
            <a:alphaModFix/>
          </a:blip>
          <a:stretch>
            <a:fillRect/>
          </a:stretch>
        </p:blipFill>
        <p:spPr>
          <a:xfrm>
            <a:off x="2413415" y="3987384"/>
            <a:ext cx="4568997" cy="287061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6f0d2aa6bf_0_37"/>
          <p:cNvSpPr txBox="1"/>
          <p:nvPr/>
        </p:nvSpPr>
        <p:spPr>
          <a:xfrm>
            <a:off x="86275" y="75475"/>
            <a:ext cx="9208800" cy="5571900"/>
          </a:xfrm>
          <a:prstGeom prst="rect">
            <a:avLst/>
          </a:prstGeom>
          <a:noFill/>
          <a:ln>
            <a:noFill/>
          </a:ln>
        </p:spPr>
        <p:txBody>
          <a:bodyPr spcFirstLastPara="1" wrap="square" lIns="91425" tIns="91425" rIns="91425" bIns="91425" anchor="t" anchorCtr="0">
            <a:spAutoFit/>
          </a:bodyPr>
          <a:lstStyle/>
          <a:p>
            <a:pPr marL="457200" lvl="0" indent="-317500" algn="just" rtl="0">
              <a:spcBef>
                <a:spcPts val="0"/>
              </a:spcBef>
              <a:spcAft>
                <a:spcPts val="0"/>
              </a:spcAft>
              <a:buSzPts val="1400"/>
              <a:buChar char="●"/>
            </a:pPr>
            <a:r>
              <a:rPr lang="en-US"/>
              <a:t>Removal of Unwanted Observations: Identify and remove irrelevant or redundant (unwanted) observations from the dataset. This step involves analyzing data entries for duplicate records, irrelevant information or data points that do not contribute to analysis and prediction. Removing them from dataset helps reducing noise and improving the overall quality of dataset.</a:t>
            </a:r>
            <a:endParaRPr/>
          </a:p>
          <a:p>
            <a:pPr marL="457200" lvl="0" indent="-317500" algn="just" rtl="0">
              <a:spcBef>
                <a:spcPts val="0"/>
              </a:spcBef>
              <a:spcAft>
                <a:spcPts val="0"/>
              </a:spcAft>
              <a:buSzPts val="1400"/>
              <a:buChar char="●"/>
            </a:pPr>
            <a:r>
              <a:rPr lang="en-US"/>
              <a:t>Fixing Structure errors: Address structural issues in the dataset such as inconsistencies in data formats or variable types. Standardize formats ensure uniformity in data structure and hence data consistency.</a:t>
            </a:r>
            <a:endParaRPr/>
          </a:p>
          <a:p>
            <a:pPr marL="457200" lvl="0" indent="-317500" algn="just" rtl="0">
              <a:spcBef>
                <a:spcPts val="0"/>
              </a:spcBef>
              <a:spcAft>
                <a:spcPts val="0"/>
              </a:spcAft>
              <a:buSzPts val="1400"/>
              <a:buChar char="●"/>
            </a:pPr>
            <a:r>
              <a:rPr lang="en-US"/>
              <a:t>Managing outliers: Outliers are those points that deviate significantly from dataset mean. Identifying and managing outliers significantly improve model accuracy as these extreme values influence analysis. Depending on the context decide whether to remove outliers or transform them to minimize their impact on analysis.</a:t>
            </a:r>
            <a:endParaRPr/>
          </a:p>
          <a:p>
            <a:pPr marL="457200" lvl="0" indent="-317500" algn="just" rtl="0">
              <a:spcBef>
                <a:spcPts val="0"/>
              </a:spcBef>
              <a:spcAft>
                <a:spcPts val="0"/>
              </a:spcAft>
              <a:buSzPts val="1400"/>
              <a:buChar char="●"/>
            </a:pPr>
            <a:r>
              <a:rPr lang="en-US"/>
              <a:t>Handling Missing Data: To handle missing data effectively we need to impute missing values based on statistical methods, removing records with missing values or employing advanced imputation techniques. Handling missing data helps preventing biases and maintaining the integrity of data.</a:t>
            </a:r>
            <a:endParaRPr/>
          </a:p>
          <a:p>
            <a:pPr marL="0" lvl="0" indent="0" algn="just" rtl="0">
              <a:spcBef>
                <a:spcPts val="0"/>
              </a:spcBef>
              <a:spcAft>
                <a:spcPts val="0"/>
              </a:spcAft>
              <a:buNone/>
            </a:pPr>
            <a:endParaRPr/>
          </a:p>
          <a:p>
            <a:pPr marL="0" lvl="0" indent="0" algn="just" rtl="0">
              <a:spcBef>
                <a:spcPts val="0"/>
              </a:spcBef>
              <a:spcAft>
                <a:spcPts val="0"/>
              </a:spcAft>
              <a:buNone/>
            </a:pPr>
            <a:endParaRPr/>
          </a:p>
          <a:p>
            <a:pPr marL="0" lvl="0" indent="0" algn="just" rtl="0">
              <a:spcBef>
                <a:spcPts val="0"/>
              </a:spcBef>
              <a:spcAft>
                <a:spcPts val="0"/>
              </a:spcAft>
              <a:buClr>
                <a:schemeClr val="dk1"/>
              </a:buClr>
              <a:buSzPts val="1100"/>
              <a:buFont typeface="Arial"/>
              <a:buNone/>
            </a:pPr>
            <a:r>
              <a:rPr lang="en-US"/>
              <a:t>Python Implementation for Database Cleaning</a:t>
            </a:r>
            <a:endParaRPr/>
          </a:p>
          <a:p>
            <a:pPr marL="0" lvl="0" indent="0" algn="just" rtl="0">
              <a:spcBef>
                <a:spcPts val="0"/>
              </a:spcBef>
              <a:spcAft>
                <a:spcPts val="0"/>
              </a:spcAft>
              <a:buClr>
                <a:schemeClr val="dk1"/>
              </a:buClr>
              <a:buSzPts val="1100"/>
              <a:buFont typeface="Arial"/>
              <a:buNone/>
            </a:pPr>
            <a:r>
              <a:rPr lang="en-US"/>
              <a:t>Let's understand each step for Database Cleaning, using titanic dataset. Below are the necessary steps:</a:t>
            </a:r>
            <a:endParaRPr/>
          </a:p>
          <a:p>
            <a:pPr marL="457200" lvl="0" indent="-317500" algn="just" rtl="0">
              <a:spcBef>
                <a:spcPts val="0"/>
              </a:spcBef>
              <a:spcAft>
                <a:spcPts val="0"/>
              </a:spcAft>
              <a:buSzPts val="1400"/>
              <a:buChar char="●"/>
            </a:pPr>
            <a:r>
              <a:rPr lang="en-US"/>
              <a:t>Import the necessary libraries</a:t>
            </a:r>
            <a:endParaRPr/>
          </a:p>
          <a:p>
            <a:pPr marL="457200" lvl="0" indent="-317500" algn="just" rtl="0">
              <a:spcBef>
                <a:spcPts val="0"/>
              </a:spcBef>
              <a:spcAft>
                <a:spcPts val="0"/>
              </a:spcAft>
              <a:buSzPts val="1400"/>
              <a:buChar char="●"/>
            </a:pPr>
            <a:r>
              <a:rPr lang="en-US"/>
              <a:t>Load the dataset</a:t>
            </a:r>
            <a:endParaRPr/>
          </a:p>
          <a:p>
            <a:pPr marL="457200" lvl="0" indent="-317500" algn="just" rtl="0">
              <a:spcBef>
                <a:spcPts val="0"/>
              </a:spcBef>
              <a:spcAft>
                <a:spcPts val="0"/>
              </a:spcAft>
              <a:buSzPts val="1400"/>
              <a:buChar char="●"/>
            </a:pPr>
            <a:r>
              <a:rPr lang="en-US"/>
              <a:t>Check the data information using df.info()</a:t>
            </a:r>
            <a:endParaRPr sz="1350">
              <a:solidFill>
                <a:srgbClr val="FFFFFF"/>
              </a:solidFill>
              <a:highlight>
                <a:srgbClr val="131417"/>
              </a:highlight>
              <a:latin typeface="Nunito"/>
              <a:ea typeface="Nunito"/>
              <a:cs typeface="Nunito"/>
              <a:sym typeface="Nunito"/>
            </a:endParaRPr>
          </a:p>
          <a:p>
            <a:pPr marL="0" lvl="0" indent="0" algn="just" rtl="0">
              <a:spcBef>
                <a:spcPts val="0"/>
              </a:spcBef>
              <a:spcAft>
                <a:spcPts val="0"/>
              </a:spcAft>
              <a:buNone/>
            </a:pPr>
            <a:endParaRPr/>
          </a:p>
          <a:p>
            <a:pPr marL="0" lvl="0" indent="0" algn="just" rtl="0">
              <a:spcBef>
                <a:spcPts val="0"/>
              </a:spcBef>
              <a:spcAft>
                <a:spcPts val="0"/>
              </a:spcAft>
              <a:buClr>
                <a:schemeClr val="dk1"/>
              </a:buClr>
              <a:buSzPts val="1100"/>
              <a:buFont typeface="Arial"/>
              <a:buNone/>
            </a:pPr>
            <a:r>
              <a:rPr lang="en-US"/>
              <a:t>import pandas as pd</a:t>
            </a:r>
            <a:endParaRPr/>
          </a:p>
          <a:p>
            <a:pPr marL="0" lvl="0" indent="0" algn="just" rtl="0">
              <a:spcBef>
                <a:spcPts val="0"/>
              </a:spcBef>
              <a:spcAft>
                <a:spcPts val="0"/>
              </a:spcAft>
              <a:buClr>
                <a:schemeClr val="dk1"/>
              </a:buClr>
              <a:buSzPts val="1100"/>
              <a:buFont typeface="Arial"/>
              <a:buNone/>
            </a:pPr>
            <a:r>
              <a:rPr lang="en-US"/>
              <a:t>import numpy as np</a:t>
            </a:r>
            <a:endParaRPr/>
          </a:p>
          <a:p>
            <a:pPr marL="0" lvl="0" indent="0" algn="just" rtl="0">
              <a:spcBef>
                <a:spcPts val="0"/>
              </a:spcBef>
              <a:spcAft>
                <a:spcPts val="0"/>
              </a:spcAft>
              <a:buClr>
                <a:schemeClr val="dk1"/>
              </a:buClr>
              <a:buSzPts val="1100"/>
              <a:buFont typeface="Arial"/>
              <a:buNone/>
            </a:pPr>
            <a:endParaRPr/>
          </a:p>
          <a:p>
            <a:pPr marL="0" lvl="0" indent="0" algn="just" rtl="0">
              <a:spcBef>
                <a:spcPts val="0"/>
              </a:spcBef>
              <a:spcAft>
                <a:spcPts val="0"/>
              </a:spcAft>
              <a:buNone/>
            </a:pPr>
            <a:endParaRPr/>
          </a:p>
        </p:txBody>
      </p:sp>
      <p:graphicFrame>
        <p:nvGraphicFramePr>
          <p:cNvPr id="172" name="Google Shape;172;g36f0d2aa6bf_0_37"/>
          <p:cNvGraphicFramePr/>
          <p:nvPr>
            <p:extLst>
              <p:ext uri="{D42A27DB-BD31-4B8C-83A1-F6EECF244321}">
                <p14:modId xmlns:p14="http://schemas.microsoft.com/office/powerpoint/2010/main" val="979807561"/>
              </p:ext>
            </p:extLst>
          </p:nvPr>
        </p:nvGraphicFramePr>
        <p:xfrm>
          <a:off x="1394085" y="5126199"/>
          <a:ext cx="6189990" cy="2103090"/>
        </p:xfrm>
        <a:graphic>
          <a:graphicData uri="http://schemas.openxmlformats.org/drawingml/2006/table">
            <a:tbl>
              <a:tblPr>
                <a:noFill/>
                <a:tableStyleId>{743049AA-338F-4810-8551-781DCB540533}</a:tableStyleId>
              </a:tblPr>
              <a:tblGrid>
                <a:gridCol w="6189990">
                  <a:extLst>
                    <a:ext uri="{9D8B030D-6E8A-4147-A177-3AD203B41FA5}">
                      <a16:colId xmlns:a16="http://schemas.microsoft.com/office/drawing/2014/main" val="20000"/>
                    </a:ext>
                  </a:extLst>
                </a:gridCol>
              </a:tblGrid>
              <a:tr h="1113303">
                <a:tc>
                  <a:txBody>
                    <a:bodyPr/>
                    <a:lstStyle/>
                    <a:p>
                      <a:pPr marL="0" lvl="0" indent="0" algn="l" rtl="0">
                        <a:spcBef>
                          <a:spcPts val="0"/>
                        </a:spcBef>
                        <a:spcAft>
                          <a:spcPts val="0"/>
                        </a:spcAft>
                        <a:buNone/>
                      </a:pPr>
                      <a:r>
                        <a:rPr lang="en-US" dirty="0">
                          <a:solidFill>
                            <a:schemeClr val="dk1"/>
                          </a:solidFill>
                        </a:rPr>
                        <a:t>import pandas as pd</a:t>
                      </a:r>
                      <a:endParaRPr dirty="0">
                        <a:solidFill>
                          <a:schemeClr val="dk1"/>
                        </a:solidFill>
                      </a:endParaRPr>
                    </a:p>
                    <a:p>
                      <a:pPr marL="0" lvl="0" indent="0" algn="l" rtl="0">
                        <a:spcBef>
                          <a:spcPts val="0"/>
                        </a:spcBef>
                        <a:spcAft>
                          <a:spcPts val="0"/>
                        </a:spcAft>
                        <a:buNone/>
                      </a:pPr>
                      <a:r>
                        <a:rPr lang="en-US" dirty="0">
                          <a:solidFill>
                            <a:schemeClr val="dk1"/>
                          </a:solidFill>
                        </a:rPr>
                        <a:t>import </a:t>
                      </a:r>
                      <a:r>
                        <a:rPr lang="en-US" dirty="0" err="1">
                          <a:solidFill>
                            <a:schemeClr val="dk1"/>
                          </a:solidFill>
                        </a:rPr>
                        <a:t>numpy</a:t>
                      </a:r>
                      <a:r>
                        <a:rPr lang="en-US" dirty="0">
                          <a:solidFill>
                            <a:schemeClr val="dk1"/>
                          </a:solidFill>
                        </a:rPr>
                        <a:t> as np </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#Load the dataset</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err="1">
                          <a:solidFill>
                            <a:schemeClr val="dk1"/>
                          </a:solidFill>
                        </a:rPr>
                        <a:t>df</a:t>
                      </a:r>
                      <a:r>
                        <a:rPr lang="en-US" dirty="0">
                          <a:solidFill>
                            <a:schemeClr val="dk1"/>
                          </a:solidFill>
                        </a:rPr>
                        <a:t> = </a:t>
                      </a:r>
                      <a:r>
                        <a:rPr lang="en-US" dirty="0" err="1">
                          <a:solidFill>
                            <a:schemeClr val="dk1"/>
                          </a:solidFill>
                        </a:rPr>
                        <a:t>pd.read_csv</a:t>
                      </a:r>
                      <a:r>
                        <a:rPr lang="en-US" dirty="0">
                          <a:solidFill>
                            <a:schemeClr val="dk1"/>
                          </a:solidFill>
                        </a:rPr>
                        <a:t>('titanic.csv')</a:t>
                      </a: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err="1">
                          <a:solidFill>
                            <a:schemeClr val="dk1"/>
                          </a:solidFill>
                        </a:rPr>
                        <a:t>df.head</a:t>
                      </a:r>
                      <a:r>
                        <a:rPr lang="en-US" dirty="0">
                          <a:solidFill>
                            <a:schemeClr val="dk1"/>
                          </a:solidFill>
                        </a:rPr>
                        <a:t>()</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6f0d2aa6bf_0_49"/>
          <p:cNvSpPr txBox="1"/>
          <p:nvPr/>
        </p:nvSpPr>
        <p:spPr>
          <a:xfrm>
            <a:off x="0" y="43150"/>
            <a:ext cx="9144000" cy="5873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Data Inspection and Exploration</a:t>
            </a:r>
            <a:endParaRPr/>
          </a:p>
          <a:p>
            <a:pPr marL="0" lvl="0" indent="0" algn="l" rtl="0">
              <a:spcBef>
                <a:spcPts val="0"/>
              </a:spcBef>
              <a:spcAft>
                <a:spcPts val="0"/>
              </a:spcAft>
              <a:buNone/>
            </a:pPr>
            <a:r>
              <a:rPr lang="en-US"/>
              <a:t>Let's first understand the data by inspecting its structure and identifying missing values, outliers and inconsistencies and check the duplicate rows with below python code:</a:t>
            </a:r>
            <a:endParaRPr sz="1350">
              <a:solidFill>
                <a:srgbClr val="FFFFFF"/>
              </a:solidFill>
              <a:highlight>
                <a:srgbClr val="131417"/>
              </a:highlight>
              <a:latin typeface="Nunito"/>
              <a:ea typeface="Nunito"/>
              <a:cs typeface="Nunito"/>
              <a:sym typeface="Nunito"/>
            </a:endParaRPr>
          </a:p>
          <a:p>
            <a:pPr marL="0" lvl="0" indent="0" algn="l" rtl="0">
              <a:lnSpc>
                <a:spcPct val="115000"/>
              </a:lnSpc>
              <a:spcBef>
                <a:spcPts val="0"/>
              </a:spcBef>
              <a:spcAft>
                <a:spcPts val="0"/>
              </a:spcAft>
              <a:buNone/>
            </a:pPr>
            <a:endParaRPr sz="1350">
              <a:solidFill>
                <a:srgbClr val="FFFFFF"/>
              </a:solidFill>
              <a:highlight>
                <a:srgbClr val="131417"/>
              </a:highlight>
              <a:latin typeface="Nunito"/>
              <a:ea typeface="Nunito"/>
              <a:cs typeface="Nunito"/>
              <a:sym typeface="Nunito"/>
            </a:endParaRPr>
          </a:p>
          <a:p>
            <a:pPr marL="0" lvl="0" indent="0" algn="l" rtl="0">
              <a:lnSpc>
                <a:spcPct val="115000"/>
              </a:lnSpc>
              <a:spcBef>
                <a:spcPts val="800"/>
              </a:spcBef>
              <a:spcAft>
                <a:spcPts val="0"/>
              </a:spcAft>
              <a:buNone/>
            </a:pPr>
            <a:endParaRPr sz="1350">
              <a:solidFill>
                <a:srgbClr val="FFFFFF"/>
              </a:solidFill>
              <a:highlight>
                <a:srgbClr val="131417"/>
              </a:highlight>
              <a:latin typeface="Nunito"/>
              <a:ea typeface="Nunito"/>
              <a:cs typeface="Nunito"/>
              <a:sym typeface="Nunito"/>
            </a:endParaRPr>
          </a:p>
          <a:p>
            <a:pPr marL="0" lvl="0" indent="0" algn="l" rtl="0">
              <a:spcBef>
                <a:spcPts val="800"/>
              </a:spcBef>
              <a:spcAft>
                <a:spcPts val="0"/>
              </a:spcAft>
              <a:buNone/>
            </a:pPr>
            <a:r>
              <a:rPr lang="en-US"/>
              <a:t>Check the data information using df.info()</a:t>
            </a:r>
            <a:endParaRPr/>
          </a:p>
          <a:p>
            <a:pPr marL="0" lvl="0" indent="0" algn="l" rtl="0">
              <a:lnSpc>
                <a:spcPct val="115000"/>
              </a:lnSpc>
              <a:spcBef>
                <a:spcPts val="0"/>
              </a:spcBef>
              <a:spcAft>
                <a:spcPts val="0"/>
              </a:spcAft>
              <a:buNone/>
            </a:pPr>
            <a:endParaRPr sz="1350" b="1">
              <a:solidFill>
                <a:srgbClr val="FFFFFF"/>
              </a:solidFill>
              <a:highlight>
                <a:srgbClr val="131417"/>
              </a:highlight>
              <a:latin typeface="Nunito"/>
              <a:ea typeface="Nunito"/>
              <a:cs typeface="Nunito"/>
              <a:sym typeface="Nunito"/>
            </a:endParaRPr>
          </a:p>
          <a:p>
            <a:pPr marL="0" lvl="0" indent="0" algn="l" rtl="0">
              <a:spcBef>
                <a:spcPts val="80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Check the Categorical and Numerical Columns. </a:t>
            </a:r>
            <a:endParaRPr sz="1350" b="1">
              <a:solidFill>
                <a:srgbClr val="FFFFFF"/>
              </a:solidFill>
              <a:highlight>
                <a:srgbClr val="131417"/>
              </a:highlight>
              <a:latin typeface="Nunito"/>
              <a:ea typeface="Nunito"/>
              <a:cs typeface="Nunito"/>
              <a:sym typeface="Nunito"/>
            </a:endParaRPr>
          </a:p>
          <a:p>
            <a:pPr marL="0" lvl="0" indent="0" algn="l" rtl="0">
              <a:lnSpc>
                <a:spcPct val="115000"/>
              </a:lnSpc>
              <a:spcBef>
                <a:spcPts val="0"/>
              </a:spcBef>
              <a:spcAft>
                <a:spcPts val="0"/>
              </a:spcAft>
              <a:buNone/>
            </a:pPr>
            <a:endParaRPr sz="1350" b="1">
              <a:solidFill>
                <a:srgbClr val="FFFFFF"/>
              </a:solidFill>
              <a:highlight>
                <a:srgbClr val="131417"/>
              </a:highlight>
              <a:latin typeface="Nunito"/>
              <a:ea typeface="Nunito"/>
              <a:cs typeface="Nunito"/>
              <a:sym typeface="Nunito"/>
            </a:endParaRPr>
          </a:p>
          <a:p>
            <a:pPr marL="0" lvl="0" indent="0" algn="l" rtl="0">
              <a:lnSpc>
                <a:spcPct val="115000"/>
              </a:lnSpc>
              <a:spcBef>
                <a:spcPts val="800"/>
              </a:spcBef>
              <a:spcAft>
                <a:spcPts val="0"/>
              </a:spcAft>
              <a:buNone/>
            </a:pPr>
            <a:endParaRPr sz="1350">
              <a:solidFill>
                <a:srgbClr val="FFFFFF"/>
              </a:solidFill>
              <a:highlight>
                <a:srgbClr val="131417"/>
              </a:highlight>
              <a:latin typeface="Nunito"/>
              <a:ea typeface="Nunito"/>
              <a:cs typeface="Nunito"/>
              <a:sym typeface="Nunito"/>
            </a:endParaRPr>
          </a:p>
          <a:p>
            <a:pPr marL="0" lvl="0" indent="0" algn="l" rtl="0">
              <a:lnSpc>
                <a:spcPct val="115000"/>
              </a:lnSpc>
              <a:spcBef>
                <a:spcPts val="800"/>
              </a:spcBef>
              <a:spcAft>
                <a:spcPts val="0"/>
              </a:spcAft>
              <a:buNone/>
            </a:pPr>
            <a:endParaRPr sz="1350">
              <a:solidFill>
                <a:srgbClr val="FFFFFF"/>
              </a:solidFill>
              <a:highlight>
                <a:srgbClr val="131417"/>
              </a:highlight>
              <a:latin typeface="Nunito"/>
              <a:ea typeface="Nunito"/>
              <a:cs typeface="Nunito"/>
              <a:sym typeface="Nunito"/>
            </a:endParaRPr>
          </a:p>
          <a:p>
            <a:pPr marL="0" lvl="0" indent="0" algn="l" rtl="0">
              <a:lnSpc>
                <a:spcPct val="115000"/>
              </a:lnSpc>
              <a:spcBef>
                <a:spcPts val="800"/>
              </a:spcBef>
              <a:spcAft>
                <a:spcPts val="0"/>
              </a:spcAft>
              <a:buNone/>
            </a:pPr>
            <a:endParaRPr sz="1350">
              <a:solidFill>
                <a:srgbClr val="FFFFFF"/>
              </a:solidFill>
              <a:highlight>
                <a:srgbClr val="131417"/>
              </a:highlight>
              <a:latin typeface="Nunito"/>
              <a:ea typeface="Nunito"/>
              <a:cs typeface="Nunito"/>
              <a:sym typeface="Nunito"/>
            </a:endParaRPr>
          </a:p>
          <a:p>
            <a:pPr marL="0" lvl="0" indent="0" algn="l" rtl="0">
              <a:lnSpc>
                <a:spcPct val="115000"/>
              </a:lnSpc>
              <a:spcBef>
                <a:spcPts val="800"/>
              </a:spcBef>
              <a:spcAft>
                <a:spcPts val="0"/>
              </a:spcAft>
              <a:buNone/>
            </a:pPr>
            <a:endParaRPr sz="1350">
              <a:solidFill>
                <a:srgbClr val="FFFFFF"/>
              </a:solidFill>
              <a:highlight>
                <a:srgbClr val="131417"/>
              </a:highlight>
              <a:latin typeface="Nunito"/>
              <a:ea typeface="Nunito"/>
              <a:cs typeface="Nunito"/>
              <a:sym typeface="Nunito"/>
            </a:endParaRPr>
          </a:p>
          <a:p>
            <a:pPr marL="0" lvl="0" indent="0" algn="l" rtl="0">
              <a:lnSpc>
                <a:spcPct val="115000"/>
              </a:lnSpc>
              <a:spcBef>
                <a:spcPts val="800"/>
              </a:spcBef>
              <a:spcAft>
                <a:spcPts val="0"/>
              </a:spcAft>
              <a:buNone/>
            </a:pPr>
            <a:endParaRPr sz="1350">
              <a:solidFill>
                <a:srgbClr val="FFFFFF"/>
              </a:solidFill>
              <a:highlight>
                <a:srgbClr val="131417"/>
              </a:highlight>
              <a:latin typeface="Nunito"/>
              <a:ea typeface="Nunito"/>
              <a:cs typeface="Nunito"/>
              <a:sym typeface="Nunito"/>
            </a:endParaRPr>
          </a:p>
          <a:p>
            <a:pPr marL="0" lvl="0" indent="0" algn="l" rtl="0">
              <a:spcBef>
                <a:spcPts val="800"/>
              </a:spcBef>
              <a:spcAft>
                <a:spcPts val="0"/>
              </a:spcAft>
              <a:buNone/>
            </a:pPr>
            <a:r>
              <a:rPr lang="en-US"/>
              <a:t>Check the total number of Unique Values in the Categorical Columns</a:t>
            </a:r>
            <a:endParaRPr sz="1200" b="1">
              <a:solidFill>
                <a:srgbClr val="FFFFFF"/>
              </a:solidFill>
              <a:highlight>
                <a:srgbClr val="131417"/>
              </a:highlight>
              <a:latin typeface="Nunito"/>
              <a:ea typeface="Nunito"/>
              <a:cs typeface="Nunito"/>
              <a:sym typeface="Nunito"/>
            </a:endParaRPr>
          </a:p>
          <a:p>
            <a:pPr marL="0" lvl="0" indent="0" algn="l" rtl="0">
              <a:lnSpc>
                <a:spcPct val="115000"/>
              </a:lnSpc>
              <a:spcBef>
                <a:spcPts val="0"/>
              </a:spcBef>
              <a:spcAft>
                <a:spcPts val="0"/>
              </a:spcAft>
              <a:buNone/>
            </a:pPr>
            <a:endParaRPr sz="1350">
              <a:solidFill>
                <a:srgbClr val="FFFFFF"/>
              </a:solidFill>
              <a:highlight>
                <a:srgbClr val="131417"/>
              </a:highlight>
              <a:latin typeface="Nunito"/>
              <a:ea typeface="Nunito"/>
              <a:cs typeface="Nunito"/>
              <a:sym typeface="Nunito"/>
            </a:endParaRPr>
          </a:p>
          <a:p>
            <a:pPr marL="0" lvl="0" indent="0" algn="l" rtl="0">
              <a:lnSpc>
                <a:spcPct val="115000"/>
              </a:lnSpc>
              <a:spcBef>
                <a:spcPts val="800"/>
              </a:spcBef>
              <a:spcAft>
                <a:spcPts val="0"/>
              </a:spcAft>
              <a:buNone/>
            </a:pPr>
            <a:endParaRPr sz="1350">
              <a:solidFill>
                <a:srgbClr val="FFFFFF"/>
              </a:solidFill>
              <a:highlight>
                <a:srgbClr val="131417"/>
              </a:highlight>
              <a:latin typeface="Nunito"/>
              <a:ea typeface="Nunito"/>
              <a:cs typeface="Nunito"/>
              <a:sym typeface="Nunito"/>
            </a:endParaRPr>
          </a:p>
          <a:p>
            <a:pPr marL="0" lvl="0" indent="0" algn="l" rtl="0">
              <a:lnSpc>
                <a:spcPct val="115000"/>
              </a:lnSpc>
              <a:spcBef>
                <a:spcPts val="800"/>
              </a:spcBef>
              <a:spcAft>
                <a:spcPts val="800"/>
              </a:spcAft>
              <a:buNone/>
            </a:pPr>
            <a:endParaRPr sz="1350">
              <a:solidFill>
                <a:srgbClr val="FFFFFF"/>
              </a:solidFill>
              <a:highlight>
                <a:srgbClr val="131417"/>
              </a:highlight>
              <a:latin typeface="Nunito"/>
              <a:ea typeface="Nunito"/>
              <a:cs typeface="Nunito"/>
              <a:sym typeface="Nunito"/>
            </a:endParaRPr>
          </a:p>
        </p:txBody>
      </p:sp>
      <p:graphicFrame>
        <p:nvGraphicFramePr>
          <p:cNvPr id="178" name="Google Shape;178;g36f0d2aa6bf_0_49"/>
          <p:cNvGraphicFramePr/>
          <p:nvPr/>
        </p:nvGraphicFramePr>
        <p:xfrm>
          <a:off x="230025" y="877000"/>
          <a:ext cx="7239000" cy="457170"/>
        </p:xfrm>
        <a:graphic>
          <a:graphicData uri="http://schemas.openxmlformats.org/drawingml/2006/table">
            <a:tbl>
              <a:tblPr>
                <a:noFill/>
                <a:tableStyleId>{743049AA-338F-4810-8551-781DCB540533}</a:tableStyleId>
              </a:tblPr>
              <a:tblGrid>
                <a:gridCol w="72390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en-US"/>
                        <a:t>df.duplicated()</a:t>
                      </a:r>
                      <a:endParaRPr/>
                    </a:p>
                  </a:txBody>
                  <a:tcPr marL="91425" marR="91425" marT="91425" marB="91425"/>
                </a:tc>
                <a:extLst>
                  <a:ext uri="{0D108BD9-81ED-4DB2-BD59-A6C34878D82A}">
                    <a16:rowId xmlns:a16="http://schemas.microsoft.com/office/drawing/2014/main" val="10000"/>
                  </a:ext>
                </a:extLst>
              </a:tr>
            </a:tbl>
          </a:graphicData>
        </a:graphic>
      </p:graphicFrame>
      <p:sp>
        <p:nvSpPr>
          <p:cNvPr id="179" name="Google Shape;179;g36f0d2aa6bf_0_49"/>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graphicFrame>
        <p:nvGraphicFramePr>
          <p:cNvPr id="180" name="Google Shape;180;g36f0d2aa6bf_0_49"/>
          <p:cNvGraphicFramePr/>
          <p:nvPr/>
        </p:nvGraphicFramePr>
        <p:xfrm>
          <a:off x="456475" y="1750000"/>
          <a:ext cx="7239000" cy="457170"/>
        </p:xfrm>
        <a:graphic>
          <a:graphicData uri="http://schemas.openxmlformats.org/drawingml/2006/table">
            <a:tbl>
              <a:tblPr>
                <a:noFill/>
                <a:tableStyleId>{743049AA-338F-4810-8551-781DCB540533}</a:tableStyleId>
              </a:tblPr>
              <a:tblGrid>
                <a:gridCol w="72390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en-US"/>
                        <a:t>df.info()</a:t>
                      </a:r>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181" name="Google Shape;181;g36f0d2aa6bf_0_49"/>
          <p:cNvGraphicFramePr/>
          <p:nvPr/>
        </p:nvGraphicFramePr>
        <p:xfrm>
          <a:off x="230025" y="2796400"/>
          <a:ext cx="7961475" cy="2103090"/>
        </p:xfrm>
        <a:graphic>
          <a:graphicData uri="http://schemas.openxmlformats.org/drawingml/2006/table">
            <a:tbl>
              <a:tblPr>
                <a:noFill/>
                <a:tableStyleId>{743049AA-338F-4810-8551-781DCB540533}</a:tableStyleId>
              </a:tblPr>
              <a:tblGrid>
                <a:gridCol w="7961475">
                  <a:extLst>
                    <a:ext uri="{9D8B030D-6E8A-4147-A177-3AD203B41FA5}">
                      <a16:colId xmlns:a16="http://schemas.microsoft.com/office/drawing/2014/main" val="20000"/>
                    </a:ext>
                  </a:extLst>
                </a:gridCol>
              </a:tblGrid>
              <a:tr h="1719475">
                <a:tc>
                  <a:txBody>
                    <a:bodyPr/>
                    <a:lstStyle/>
                    <a:p>
                      <a:pPr marL="0" lvl="0" indent="0" algn="l" rtl="0">
                        <a:spcBef>
                          <a:spcPts val="0"/>
                        </a:spcBef>
                        <a:spcAft>
                          <a:spcPts val="0"/>
                        </a:spcAft>
                        <a:buClr>
                          <a:schemeClr val="dk1"/>
                        </a:buClr>
                        <a:buSzPts val="1100"/>
                        <a:buFont typeface="Arial"/>
                        <a:buNone/>
                      </a:pPr>
                      <a:r>
                        <a:rPr lang="en-US"/>
                        <a:t># Categorical columns</a:t>
                      </a:r>
                      <a:endParaRPr/>
                    </a:p>
                    <a:p>
                      <a:pPr marL="0" lvl="0" indent="0" algn="l" rtl="0">
                        <a:spcBef>
                          <a:spcPts val="0"/>
                        </a:spcBef>
                        <a:spcAft>
                          <a:spcPts val="0"/>
                        </a:spcAft>
                        <a:buClr>
                          <a:schemeClr val="dk1"/>
                        </a:buClr>
                        <a:buSzPts val="1100"/>
                        <a:buFont typeface="Arial"/>
                        <a:buNone/>
                      </a:pPr>
                      <a:r>
                        <a:rPr lang="en-US"/>
                        <a:t>cat_col = [col for col in df.columns if df[col].dtype == 'object']</a:t>
                      </a:r>
                      <a:endParaRPr/>
                    </a:p>
                    <a:p>
                      <a:pPr marL="0" lvl="0" indent="0" algn="l" rtl="0">
                        <a:spcBef>
                          <a:spcPts val="0"/>
                        </a:spcBef>
                        <a:spcAft>
                          <a:spcPts val="0"/>
                        </a:spcAft>
                        <a:buClr>
                          <a:schemeClr val="dk1"/>
                        </a:buClr>
                        <a:buSzPts val="1100"/>
                        <a:buFont typeface="Arial"/>
                        <a:buNone/>
                      </a:pPr>
                      <a:r>
                        <a:rPr lang="en-US"/>
                        <a:t>print('Categorical columns :',cat_col)</a:t>
                      </a:r>
                      <a:endParaRPr/>
                    </a:p>
                    <a:p>
                      <a:pPr marL="0" lvl="0" indent="0" algn="l" rtl="0">
                        <a:spcBef>
                          <a:spcPts val="0"/>
                        </a:spcBef>
                        <a:spcAft>
                          <a:spcPts val="0"/>
                        </a:spcAft>
                        <a:buClr>
                          <a:schemeClr val="dk1"/>
                        </a:buClr>
                        <a:buSzPts val="1100"/>
                        <a:buFont typeface="Arial"/>
                        <a:buNone/>
                      </a:pPr>
                      <a:r>
                        <a:rPr lang="en-US"/>
                        <a:t># Numerical columns</a:t>
                      </a:r>
                      <a:endParaRPr/>
                    </a:p>
                    <a:p>
                      <a:pPr marL="0" lvl="0" indent="0" algn="l" rtl="0">
                        <a:spcBef>
                          <a:spcPts val="0"/>
                        </a:spcBef>
                        <a:spcAft>
                          <a:spcPts val="0"/>
                        </a:spcAft>
                        <a:buClr>
                          <a:schemeClr val="dk1"/>
                        </a:buClr>
                        <a:buSzPts val="1100"/>
                        <a:buFont typeface="Arial"/>
                        <a:buNone/>
                      </a:pPr>
                      <a:r>
                        <a:rPr lang="en-US"/>
                        <a:t>num_col = [col for col in df.columns if df[col].dtype != 'object']</a:t>
                      </a:r>
                      <a:endParaRPr/>
                    </a:p>
                    <a:p>
                      <a:pPr marL="0" lvl="0" indent="0" algn="l" rtl="0">
                        <a:spcBef>
                          <a:spcPts val="0"/>
                        </a:spcBef>
                        <a:spcAft>
                          <a:spcPts val="0"/>
                        </a:spcAft>
                        <a:buClr>
                          <a:schemeClr val="dk1"/>
                        </a:buClr>
                        <a:buSzPts val="1100"/>
                        <a:buFont typeface="Arial"/>
                        <a:buNone/>
                      </a:pPr>
                      <a:r>
                        <a:rPr lang="en-US"/>
                        <a:t>print('Numerical columns :',num_col)</a:t>
                      </a:r>
                      <a:endParaRPr/>
                    </a:p>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182" name="Google Shape;182;g36f0d2aa6bf_0_49"/>
          <p:cNvGraphicFramePr/>
          <p:nvPr/>
        </p:nvGraphicFramePr>
        <p:xfrm>
          <a:off x="95238" y="4954825"/>
          <a:ext cx="7961475" cy="457170"/>
        </p:xfrm>
        <a:graphic>
          <a:graphicData uri="http://schemas.openxmlformats.org/drawingml/2006/table">
            <a:tbl>
              <a:tblPr>
                <a:noFill/>
                <a:tableStyleId>{743049AA-338F-4810-8551-781DCB540533}</a:tableStyleId>
              </a:tblPr>
              <a:tblGrid>
                <a:gridCol w="796147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US"/>
                        <a:t>df[cat_col].nunique()</a:t>
                      </a:r>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6f0d2aa6bf_0_79"/>
          <p:cNvSpPr txBox="1"/>
          <p:nvPr/>
        </p:nvSpPr>
        <p:spPr>
          <a:xfrm>
            <a:off x="0" y="0"/>
            <a:ext cx="8939100" cy="729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t>Removal of all Above Unwanted Observations</a:t>
            </a:r>
            <a:endParaRPr b="1"/>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b="1"/>
              <a:t>Drop Name and Ticket Columns</a:t>
            </a:r>
            <a:endParaRPr b="1"/>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b="1"/>
              <a:t>Handling Missing Data</a:t>
            </a:r>
            <a:endParaRPr b="1"/>
          </a:p>
          <a:p>
            <a:pPr marL="0" lvl="0" indent="0" algn="l" rtl="0">
              <a:spcBef>
                <a:spcPts val="0"/>
              </a:spcBef>
              <a:spcAft>
                <a:spcPts val="0"/>
              </a:spcAft>
              <a:buNone/>
            </a:pPr>
            <a:endParaRPr b="1"/>
          </a:p>
          <a:p>
            <a:pPr marL="0" lvl="0" indent="0" algn="l" rtl="0">
              <a:spcBef>
                <a:spcPts val="0"/>
              </a:spcBef>
              <a:spcAft>
                <a:spcPts val="0"/>
              </a:spcAft>
              <a:buNone/>
            </a:pPr>
            <a:endParaRPr b="1"/>
          </a:p>
          <a:p>
            <a:pPr marL="0" lvl="0" indent="0" algn="l" rtl="0">
              <a:spcBef>
                <a:spcPts val="0"/>
              </a:spcBef>
              <a:spcAft>
                <a:spcPts val="0"/>
              </a:spcAft>
              <a:buNone/>
            </a:pPr>
            <a:endParaRPr b="1"/>
          </a:p>
          <a:p>
            <a:pPr marL="0" lvl="0" indent="0" algn="l" rtl="0">
              <a:spcBef>
                <a:spcPts val="0"/>
              </a:spcBef>
              <a:spcAft>
                <a:spcPts val="0"/>
              </a:spcAft>
              <a:buNone/>
            </a:pPr>
            <a:r>
              <a:rPr lang="en-US"/>
              <a:t>As we can see from the above result that Cabin has 77% null values and Age has 19.87% and Embarked has 0.22% of null values.</a:t>
            </a:r>
            <a:endParaRPr/>
          </a:p>
          <a:p>
            <a:pPr marL="0" lvl="0" indent="0" algn="l" rtl="0">
              <a:spcBef>
                <a:spcPts val="0"/>
              </a:spcBef>
              <a:spcAft>
                <a:spcPts val="0"/>
              </a:spcAft>
              <a:buNone/>
            </a:pPr>
            <a:r>
              <a:rPr lang="en-US"/>
              <a:t>So, it's not a good idea to fill 77% of null values. So we will drop the Cabin column. Embarked column has only 0.22% of null values so, we drop the null values rows of Embarked column.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b="1"/>
              <a:t>Imputing the missing values from past observations.</a:t>
            </a:r>
            <a:endParaRPr b="1"/>
          </a:p>
          <a:p>
            <a:pPr marL="457200" lvl="0" indent="-317500" algn="l" rtl="0">
              <a:spcBef>
                <a:spcPts val="0"/>
              </a:spcBef>
              <a:spcAft>
                <a:spcPts val="0"/>
              </a:spcAft>
              <a:buSzPts val="1400"/>
              <a:buChar char="●"/>
            </a:pPr>
            <a:r>
              <a:rPr lang="en-US"/>
              <a:t>Again "missingness" is almost informative in itself and we should tell our algorithm if a value was missing.</a:t>
            </a:r>
            <a:endParaRPr/>
          </a:p>
          <a:p>
            <a:pPr marL="457200" lvl="0" indent="-317500" algn="l" rtl="0">
              <a:spcBef>
                <a:spcPts val="0"/>
              </a:spcBef>
              <a:spcAft>
                <a:spcPts val="0"/>
              </a:spcAft>
              <a:buSzPts val="1400"/>
              <a:buChar char="●"/>
            </a:pPr>
            <a:r>
              <a:rPr lang="en-US"/>
              <a:t>Even if we build a model to impute our values we’re not adding any real information. we’re just reinforcing the patterns already provided by other features. We can use Mean imputation or Median imputations for the case.</a:t>
            </a:r>
            <a:endParaRPr sz="1350">
              <a:solidFill>
                <a:srgbClr val="FFFFFF"/>
              </a:solidFill>
              <a:highlight>
                <a:srgbClr val="131417"/>
              </a:highlight>
              <a:latin typeface="Nunito"/>
              <a:ea typeface="Nunito"/>
              <a:cs typeface="Nunito"/>
              <a:sym typeface="Nunito"/>
            </a:endParaRPr>
          </a:p>
          <a:p>
            <a:pPr marL="0" lvl="0" indent="0" algn="l" rtl="0">
              <a:spcBef>
                <a:spcPts val="0"/>
              </a:spcBef>
              <a:spcAft>
                <a:spcPts val="0"/>
              </a:spcAft>
              <a:buNone/>
            </a:pPr>
            <a:endParaRPr/>
          </a:p>
          <a:p>
            <a:pPr marL="0" lvl="0" indent="0" algn="l" rtl="0">
              <a:spcBef>
                <a:spcPts val="0"/>
              </a:spcBef>
              <a:spcAft>
                <a:spcPts val="0"/>
              </a:spcAft>
              <a:buNone/>
            </a:pPr>
            <a:endParaRPr b="1"/>
          </a:p>
          <a:p>
            <a:pPr marL="0" lvl="0" indent="0" algn="l" rtl="0">
              <a:spcBef>
                <a:spcPts val="0"/>
              </a:spcBef>
              <a:spcAft>
                <a:spcPts val="0"/>
              </a:spcAft>
              <a:buNone/>
            </a:pPr>
            <a:endParaRPr/>
          </a:p>
          <a:p>
            <a:pPr marL="0" lvl="0" indent="0" algn="l" rtl="0">
              <a:spcBef>
                <a:spcPts val="0"/>
              </a:spcBef>
              <a:spcAft>
                <a:spcPts val="0"/>
              </a:spcAft>
              <a:buNone/>
            </a:pPr>
            <a:endParaRPr/>
          </a:p>
        </p:txBody>
      </p:sp>
      <p:graphicFrame>
        <p:nvGraphicFramePr>
          <p:cNvPr id="188" name="Google Shape;188;g36f0d2aa6bf_0_79"/>
          <p:cNvGraphicFramePr/>
          <p:nvPr/>
        </p:nvGraphicFramePr>
        <p:xfrm>
          <a:off x="100625" y="400200"/>
          <a:ext cx="7239000" cy="457170"/>
        </p:xfrm>
        <a:graphic>
          <a:graphicData uri="http://schemas.openxmlformats.org/drawingml/2006/table">
            <a:tbl>
              <a:tblPr>
                <a:noFill/>
                <a:tableStyleId>{743049AA-338F-4810-8551-781DCB540533}</a:tableStyleId>
              </a:tblPr>
              <a:tblGrid>
                <a:gridCol w="72390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en-US"/>
                        <a:t>df['Ticket'].unique()[:50]</a:t>
                      </a:r>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189" name="Google Shape;189;g36f0d2aa6bf_0_79"/>
          <p:cNvGraphicFramePr/>
          <p:nvPr/>
        </p:nvGraphicFramePr>
        <p:xfrm>
          <a:off x="100625" y="1200500"/>
          <a:ext cx="7239000" cy="1005810"/>
        </p:xfrm>
        <a:graphic>
          <a:graphicData uri="http://schemas.openxmlformats.org/drawingml/2006/table">
            <a:tbl>
              <a:tblPr>
                <a:noFill/>
                <a:tableStyleId>{743049AA-338F-4810-8551-781DCB540533}</a:tableStyleId>
              </a:tblPr>
              <a:tblGrid>
                <a:gridCol w="72390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n-US"/>
                        <a:t>df1 = df.drop(columns=['Name','Ticket'])</a:t>
                      </a:r>
                      <a:endParaRPr/>
                    </a:p>
                    <a:p>
                      <a:pPr marL="0" lvl="0" indent="0" algn="l" rtl="0">
                        <a:spcBef>
                          <a:spcPts val="0"/>
                        </a:spcBef>
                        <a:spcAft>
                          <a:spcPts val="0"/>
                        </a:spcAft>
                        <a:buClr>
                          <a:schemeClr val="dk1"/>
                        </a:buClr>
                        <a:buSzPts val="1100"/>
                        <a:buFont typeface="Arial"/>
                        <a:buNone/>
                      </a:pPr>
                      <a:r>
                        <a:rPr lang="en-US"/>
                        <a:t>df1.shape</a:t>
                      </a:r>
                      <a:endParaRPr/>
                    </a:p>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190" name="Google Shape;190;g36f0d2aa6bf_0_79"/>
          <p:cNvGraphicFramePr/>
          <p:nvPr/>
        </p:nvGraphicFramePr>
        <p:xfrm>
          <a:off x="176125" y="2548375"/>
          <a:ext cx="7239000" cy="457170"/>
        </p:xfrm>
        <a:graphic>
          <a:graphicData uri="http://schemas.openxmlformats.org/drawingml/2006/table">
            <a:tbl>
              <a:tblPr>
                <a:noFill/>
                <a:tableStyleId>{743049AA-338F-4810-8551-781DCB540533}</a:tableStyleId>
              </a:tblPr>
              <a:tblGrid>
                <a:gridCol w="72390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en-US"/>
                        <a:t>round((df1.isnull().sum()/df1.shape[0])*100,2)</a:t>
                      </a:r>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191" name="Google Shape;191;g36f0d2aa6bf_0_79"/>
          <p:cNvGraphicFramePr/>
          <p:nvPr/>
        </p:nvGraphicFramePr>
        <p:xfrm>
          <a:off x="100625" y="4004100"/>
          <a:ext cx="7239000" cy="1280130"/>
        </p:xfrm>
        <a:graphic>
          <a:graphicData uri="http://schemas.openxmlformats.org/drawingml/2006/table">
            <a:tbl>
              <a:tblPr>
                <a:noFill/>
                <a:tableStyleId>{743049AA-338F-4810-8551-781DCB540533}</a:tableStyleId>
              </a:tblPr>
              <a:tblGrid>
                <a:gridCol w="72390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n-US"/>
                        <a:t>df2 = df1.drop(columns='Cabin')</a:t>
                      </a:r>
                      <a:endParaRPr/>
                    </a:p>
                    <a:p>
                      <a:pPr marL="0" lvl="0" indent="0" algn="l" rtl="0">
                        <a:spcBef>
                          <a:spcPts val="0"/>
                        </a:spcBef>
                        <a:spcAft>
                          <a:spcPts val="0"/>
                        </a:spcAft>
                        <a:buClr>
                          <a:schemeClr val="dk1"/>
                        </a:buClr>
                        <a:buSzPts val="1100"/>
                        <a:buFont typeface="Arial"/>
                        <a:buNone/>
                      </a:pPr>
                      <a:r>
                        <a:rPr lang="en-US"/>
                        <a:t>df2.dropna(subset=['Embarked'], axis=0, inplace=True)</a:t>
                      </a:r>
                      <a:endParaRPr/>
                    </a:p>
                    <a:p>
                      <a:pPr marL="0" lvl="0" indent="0" algn="l" rtl="0">
                        <a:spcBef>
                          <a:spcPts val="0"/>
                        </a:spcBef>
                        <a:spcAft>
                          <a:spcPts val="0"/>
                        </a:spcAft>
                        <a:buClr>
                          <a:schemeClr val="dk1"/>
                        </a:buClr>
                        <a:buSzPts val="1100"/>
                        <a:buFont typeface="Arial"/>
                        <a:buNone/>
                      </a:pPr>
                      <a:r>
                        <a:rPr lang="en-US"/>
                        <a:t>df2.shape</a:t>
                      </a:r>
                      <a:endParaRPr/>
                    </a:p>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192" name="Google Shape;192;g36f0d2aa6bf_0_79"/>
          <p:cNvGraphicFramePr/>
          <p:nvPr/>
        </p:nvGraphicFramePr>
        <p:xfrm>
          <a:off x="176125" y="6322425"/>
          <a:ext cx="8543725" cy="1554450"/>
        </p:xfrm>
        <a:graphic>
          <a:graphicData uri="http://schemas.openxmlformats.org/drawingml/2006/table">
            <a:tbl>
              <a:tblPr>
                <a:noFill/>
                <a:tableStyleId>{743049AA-338F-4810-8551-781DCB540533}</a:tableStyleId>
              </a:tblPr>
              <a:tblGrid>
                <a:gridCol w="8543725">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n-US" dirty="0"/>
                        <a:t># Mean imputation</a:t>
                      </a:r>
                      <a:endParaRPr dirty="0"/>
                    </a:p>
                    <a:p>
                      <a:pPr marL="0" lvl="0" indent="0" algn="l" rtl="0">
                        <a:spcBef>
                          <a:spcPts val="0"/>
                        </a:spcBef>
                        <a:spcAft>
                          <a:spcPts val="0"/>
                        </a:spcAft>
                        <a:buClr>
                          <a:schemeClr val="dk1"/>
                        </a:buClr>
                        <a:buSzPts val="1100"/>
                        <a:buFont typeface="Arial"/>
                        <a:buNone/>
                      </a:pPr>
                      <a:r>
                        <a:rPr lang="en-US" dirty="0"/>
                        <a:t>df3 = df2.fillna(df2.Age.mean())</a:t>
                      </a:r>
                      <a:endParaRPr dirty="0"/>
                    </a:p>
                    <a:p>
                      <a:pPr marL="0" lvl="0" indent="0" algn="l" rtl="0">
                        <a:spcBef>
                          <a:spcPts val="0"/>
                        </a:spcBef>
                        <a:spcAft>
                          <a:spcPts val="0"/>
                        </a:spcAft>
                        <a:buClr>
                          <a:schemeClr val="dk1"/>
                        </a:buClr>
                        <a:buSzPts val="1100"/>
                        <a:buFont typeface="Arial"/>
                        <a:buNone/>
                      </a:pPr>
                      <a:r>
                        <a:rPr lang="en-US" dirty="0"/>
                        <a:t># Let's check the null values again</a:t>
                      </a:r>
                      <a:endParaRPr dirty="0"/>
                    </a:p>
                    <a:p>
                      <a:pPr marL="0" lvl="0" indent="0" algn="l" rtl="0">
                        <a:spcBef>
                          <a:spcPts val="0"/>
                        </a:spcBef>
                        <a:spcAft>
                          <a:spcPts val="0"/>
                        </a:spcAft>
                        <a:buClr>
                          <a:schemeClr val="dk1"/>
                        </a:buClr>
                        <a:buSzPts val="1100"/>
                        <a:buFont typeface="Arial"/>
                        <a:buNone/>
                      </a:pPr>
                      <a:r>
                        <a:rPr lang="en-US" dirty="0"/>
                        <a:t>df3.isnull().sum()</a:t>
                      </a:r>
                      <a:endParaRPr dirty="0"/>
                    </a:p>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6f0d2aa6bf_0_99"/>
          <p:cNvSpPr txBox="1"/>
          <p:nvPr/>
        </p:nvSpPr>
        <p:spPr>
          <a:xfrm>
            <a:off x="0" y="0"/>
            <a:ext cx="9025500" cy="557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t>Handling Outliers</a:t>
            </a:r>
            <a:endParaRPr b="1"/>
          </a:p>
          <a:p>
            <a:pPr marL="0" lvl="0" indent="0" algn="l" rtl="0">
              <a:spcBef>
                <a:spcPts val="0"/>
              </a:spcBef>
              <a:spcAft>
                <a:spcPts val="0"/>
              </a:spcAft>
              <a:buNone/>
            </a:pPr>
            <a:r>
              <a:rPr lang="en-US"/>
              <a:t>Outliers are extreme values that deviate significantly from the majority of the data. They can negatively impact the analysis and model performance. Techniques such as clustering, interpolation or transformation can be used to handle outliers.</a:t>
            </a:r>
            <a:endParaRPr/>
          </a:p>
          <a:p>
            <a:pPr marL="0" lvl="0" indent="0" algn="l" rtl="0">
              <a:spcBef>
                <a:spcPts val="0"/>
              </a:spcBef>
              <a:spcAft>
                <a:spcPts val="0"/>
              </a:spcAft>
              <a:buNone/>
            </a:pPr>
            <a:r>
              <a:rPr lang="en-US"/>
              <a:t>To check the outliers we generally use a box plot. A box plot is a graphical representation of a dataset's distribution. It shows a variable's median, quartiles and potential outliers. The line inside the box denotes the median while the box itself denotes the interquartile range (IQR). The box plot extend to the most extreme non-outlier values within 1.5 times the IQR. Individual points beyond the box are considered potential outliers. A box plot offers an easy-to-understand overview of the range of the data and makes it possible to identify outliers or skewness in the distribution.</a:t>
            </a:r>
            <a:endParaRPr/>
          </a:p>
          <a:p>
            <a:pPr marL="0" lvl="0" indent="0" algn="l" rtl="0">
              <a:spcBef>
                <a:spcPts val="0"/>
              </a:spcBef>
              <a:spcAft>
                <a:spcPts val="0"/>
              </a:spcAft>
              <a:buNone/>
            </a:pPr>
            <a:r>
              <a:rPr lang="en-US"/>
              <a:t>Let's plot the box plot for Age column data.</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As we can see from the above Box and whisker plot, Our age dataset has outliers values. The values less than 5 and more than 55 are outliers.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graphicFrame>
        <p:nvGraphicFramePr>
          <p:cNvPr id="198" name="Google Shape;198;g36f0d2aa6bf_0_99"/>
          <p:cNvGraphicFramePr/>
          <p:nvPr/>
        </p:nvGraphicFramePr>
        <p:xfrm>
          <a:off x="111425" y="2591500"/>
          <a:ext cx="7239000" cy="2377410"/>
        </p:xfrm>
        <a:graphic>
          <a:graphicData uri="http://schemas.openxmlformats.org/drawingml/2006/table">
            <a:tbl>
              <a:tblPr>
                <a:noFill/>
                <a:tableStyleId>{743049AA-338F-4810-8551-781DCB540533}</a:tableStyleId>
              </a:tblPr>
              <a:tblGrid>
                <a:gridCol w="72390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n-US"/>
                        <a:t>import matplotlib.pyplot as plt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plt.boxplot(df3['Age'], vert=False)</a:t>
                      </a:r>
                      <a:endParaRPr/>
                    </a:p>
                    <a:p>
                      <a:pPr marL="0" lvl="0" indent="0" algn="l" rtl="0">
                        <a:spcBef>
                          <a:spcPts val="0"/>
                        </a:spcBef>
                        <a:spcAft>
                          <a:spcPts val="0"/>
                        </a:spcAft>
                        <a:buClr>
                          <a:schemeClr val="dk1"/>
                        </a:buClr>
                        <a:buSzPts val="1100"/>
                        <a:buFont typeface="Arial"/>
                        <a:buNone/>
                      </a:pPr>
                      <a:r>
                        <a:rPr lang="en-US"/>
                        <a:t>plt.ylabel('Variable')</a:t>
                      </a:r>
                      <a:endParaRPr/>
                    </a:p>
                    <a:p>
                      <a:pPr marL="0" lvl="0" indent="0" algn="l" rtl="0">
                        <a:spcBef>
                          <a:spcPts val="0"/>
                        </a:spcBef>
                        <a:spcAft>
                          <a:spcPts val="0"/>
                        </a:spcAft>
                        <a:buClr>
                          <a:schemeClr val="dk1"/>
                        </a:buClr>
                        <a:buSzPts val="1100"/>
                        <a:buFont typeface="Arial"/>
                        <a:buNone/>
                      </a:pPr>
                      <a:r>
                        <a:rPr lang="en-US"/>
                        <a:t>plt.xlabel('Age')</a:t>
                      </a:r>
                      <a:endParaRPr/>
                    </a:p>
                    <a:p>
                      <a:pPr marL="0" lvl="0" indent="0" algn="l" rtl="0">
                        <a:spcBef>
                          <a:spcPts val="0"/>
                        </a:spcBef>
                        <a:spcAft>
                          <a:spcPts val="0"/>
                        </a:spcAft>
                        <a:buClr>
                          <a:schemeClr val="dk1"/>
                        </a:buClr>
                        <a:buSzPts val="1100"/>
                        <a:buFont typeface="Arial"/>
                        <a:buNone/>
                      </a:pPr>
                      <a:r>
                        <a:rPr lang="en-US"/>
                        <a:t>plt.title('Box Plot')</a:t>
                      </a:r>
                      <a:endParaRPr/>
                    </a:p>
                    <a:p>
                      <a:pPr marL="0" lvl="0" indent="0" algn="l" rtl="0">
                        <a:spcBef>
                          <a:spcPts val="0"/>
                        </a:spcBef>
                        <a:spcAft>
                          <a:spcPts val="0"/>
                        </a:spcAft>
                        <a:buClr>
                          <a:schemeClr val="dk1"/>
                        </a:buClr>
                        <a:buSzPts val="1100"/>
                        <a:buFont typeface="Arial"/>
                        <a:buNone/>
                      </a:pPr>
                      <a:r>
                        <a:rPr lang="en-US"/>
                        <a:t>plt.show()</a:t>
                      </a:r>
                      <a:endParaRPr/>
                    </a:p>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199" name="Google Shape;199;g36f0d2aa6bf_0_99"/>
          <p:cNvGraphicFramePr/>
          <p:nvPr/>
        </p:nvGraphicFramePr>
        <p:xfrm>
          <a:off x="176100" y="5120125"/>
          <a:ext cx="7497800" cy="4297650"/>
        </p:xfrm>
        <a:graphic>
          <a:graphicData uri="http://schemas.openxmlformats.org/drawingml/2006/table">
            <a:tbl>
              <a:tblPr>
                <a:noFill/>
                <a:tableStyleId>{743049AA-338F-4810-8551-781DCB540533}</a:tableStyleId>
              </a:tblPr>
              <a:tblGrid>
                <a:gridCol w="749780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Clr>
                          <a:schemeClr val="dk1"/>
                        </a:buClr>
                        <a:buSzPts val="1100"/>
                        <a:buFont typeface="Arial"/>
                        <a:buNone/>
                      </a:pPr>
                      <a:r>
                        <a:rPr lang="en-US"/>
                        <a:t># calculate summary statistics</a:t>
                      </a:r>
                      <a:endParaRPr/>
                    </a:p>
                    <a:p>
                      <a:pPr marL="0" lvl="0" indent="0" algn="l" rtl="0">
                        <a:spcBef>
                          <a:spcPts val="0"/>
                        </a:spcBef>
                        <a:spcAft>
                          <a:spcPts val="0"/>
                        </a:spcAft>
                        <a:buClr>
                          <a:schemeClr val="dk1"/>
                        </a:buClr>
                        <a:buSzPts val="1100"/>
                        <a:buFont typeface="Arial"/>
                        <a:buNone/>
                      </a:pPr>
                      <a:r>
                        <a:rPr lang="en-US"/>
                        <a:t>mean = df3['Age'].mean()</a:t>
                      </a:r>
                      <a:endParaRPr/>
                    </a:p>
                    <a:p>
                      <a:pPr marL="0" lvl="0" indent="0" algn="l" rtl="0">
                        <a:spcBef>
                          <a:spcPts val="0"/>
                        </a:spcBef>
                        <a:spcAft>
                          <a:spcPts val="0"/>
                        </a:spcAft>
                        <a:buClr>
                          <a:schemeClr val="dk1"/>
                        </a:buClr>
                        <a:buSzPts val="1100"/>
                        <a:buFont typeface="Arial"/>
                        <a:buNone/>
                      </a:pPr>
                      <a:r>
                        <a:rPr lang="en-US"/>
                        <a:t>std  = df3['Age'].std()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 Calculate the lower and upper bounds</a:t>
                      </a:r>
                      <a:endParaRPr/>
                    </a:p>
                    <a:p>
                      <a:pPr marL="0" lvl="0" indent="0" algn="l" rtl="0">
                        <a:spcBef>
                          <a:spcPts val="0"/>
                        </a:spcBef>
                        <a:spcAft>
                          <a:spcPts val="0"/>
                        </a:spcAft>
                        <a:buClr>
                          <a:schemeClr val="dk1"/>
                        </a:buClr>
                        <a:buSzPts val="1100"/>
                        <a:buFont typeface="Arial"/>
                        <a:buNone/>
                      </a:pPr>
                      <a:r>
                        <a:rPr lang="en-US"/>
                        <a:t>lower_bound = mean - std*2</a:t>
                      </a:r>
                      <a:endParaRPr/>
                    </a:p>
                    <a:p>
                      <a:pPr marL="0" lvl="0" indent="0" algn="l" rtl="0">
                        <a:spcBef>
                          <a:spcPts val="0"/>
                        </a:spcBef>
                        <a:spcAft>
                          <a:spcPts val="0"/>
                        </a:spcAft>
                        <a:buClr>
                          <a:schemeClr val="dk1"/>
                        </a:buClr>
                        <a:buSzPts val="1100"/>
                        <a:buFont typeface="Arial"/>
                        <a:buNone/>
                      </a:pPr>
                      <a:r>
                        <a:rPr lang="en-US"/>
                        <a:t>upper_bound = mean + std*2</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print('Lower Bound :',lower_bound)</a:t>
                      </a:r>
                      <a:endParaRPr/>
                    </a:p>
                    <a:p>
                      <a:pPr marL="0" lvl="0" indent="0" algn="l" rtl="0">
                        <a:spcBef>
                          <a:spcPts val="0"/>
                        </a:spcBef>
                        <a:spcAft>
                          <a:spcPts val="0"/>
                        </a:spcAft>
                        <a:buClr>
                          <a:schemeClr val="dk1"/>
                        </a:buClr>
                        <a:buSzPts val="1100"/>
                        <a:buFont typeface="Arial"/>
                        <a:buNone/>
                      </a:pPr>
                      <a:r>
                        <a:rPr lang="en-US"/>
                        <a:t>print('Upper Bound :',upper_bound)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 Drop the outliers</a:t>
                      </a:r>
                      <a:endParaRPr/>
                    </a:p>
                    <a:p>
                      <a:pPr marL="0" lvl="0" indent="0" algn="l" rtl="0">
                        <a:spcBef>
                          <a:spcPts val="0"/>
                        </a:spcBef>
                        <a:spcAft>
                          <a:spcPts val="0"/>
                        </a:spcAft>
                        <a:buClr>
                          <a:schemeClr val="dk1"/>
                        </a:buClr>
                        <a:buSzPts val="1100"/>
                        <a:buFont typeface="Arial"/>
                        <a:buNone/>
                      </a:pPr>
                      <a:r>
                        <a:rPr lang="en-US"/>
                        <a:t>df4 = df3[(df3['Age'] &gt;= lower_bound) </a:t>
                      </a:r>
                      <a:endParaRPr/>
                    </a:p>
                    <a:p>
                      <a:pPr marL="0" lvl="0" indent="0" algn="l" rtl="0">
                        <a:spcBef>
                          <a:spcPts val="0"/>
                        </a:spcBef>
                        <a:spcAft>
                          <a:spcPts val="0"/>
                        </a:spcAft>
                        <a:buClr>
                          <a:schemeClr val="dk1"/>
                        </a:buClr>
                        <a:buSzPts val="1100"/>
                        <a:buFont typeface="Arial"/>
                        <a:buNone/>
                      </a:pPr>
                      <a:r>
                        <a:rPr lang="en-US"/>
                        <a:t>                &amp; (df3['Age'] &lt;= upper_bound)]</a:t>
                      </a:r>
                      <a:endParaRPr/>
                    </a:p>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36f0d2aa6bf_0_113"/>
          <p:cNvSpPr txBox="1"/>
          <p:nvPr/>
        </p:nvSpPr>
        <p:spPr>
          <a:xfrm>
            <a:off x="0" y="0"/>
            <a:ext cx="8993100" cy="535528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b="1" dirty="0"/>
              <a:t>Data Transformation </a:t>
            </a:r>
            <a:endParaRPr sz="1200" b="1" dirty="0"/>
          </a:p>
          <a:p>
            <a:pPr marL="0" lvl="0" indent="0" algn="l" rtl="0">
              <a:spcBef>
                <a:spcPts val="0"/>
              </a:spcBef>
              <a:spcAft>
                <a:spcPts val="0"/>
              </a:spcAft>
              <a:buNone/>
            </a:pPr>
            <a:r>
              <a:rPr lang="en-US" sz="1200" dirty="0"/>
              <a:t>Data transformation involves converting the data from one form to another to make it more suitable for analysis. Techniques such as normalization, scaling or encoding can be used to transform the data.</a:t>
            </a:r>
            <a:endParaRPr sz="1200" dirty="0"/>
          </a:p>
          <a:p>
            <a:pPr marL="0" lvl="0" indent="0" algn="l" rtl="0">
              <a:spcBef>
                <a:spcPts val="0"/>
              </a:spcBef>
              <a:spcAft>
                <a:spcPts val="0"/>
              </a:spcAft>
              <a:buNone/>
            </a:pPr>
            <a:r>
              <a:rPr lang="en-US" sz="1200" dirty="0"/>
              <a:t>Data validation and verification</a:t>
            </a:r>
            <a:endParaRPr sz="1200" dirty="0"/>
          </a:p>
          <a:p>
            <a:pPr marL="0" lvl="0" indent="0" algn="l" rtl="0">
              <a:spcBef>
                <a:spcPts val="0"/>
              </a:spcBef>
              <a:spcAft>
                <a:spcPts val="0"/>
              </a:spcAft>
              <a:buNone/>
            </a:pPr>
            <a:r>
              <a:rPr lang="en-US" sz="1200" dirty="0"/>
              <a:t>Data validation and verification involve ensuring that the data is accurate and consistent by comparing it with external sources or expert knowledge. </a:t>
            </a:r>
            <a:endParaRPr sz="1200" dirty="0"/>
          </a:p>
          <a:p>
            <a:pPr marL="0" lvl="0" indent="0" algn="l" rtl="0">
              <a:spcBef>
                <a:spcPts val="0"/>
              </a:spcBef>
              <a:spcAft>
                <a:spcPts val="0"/>
              </a:spcAft>
              <a:buNone/>
            </a:pPr>
            <a:r>
              <a:rPr lang="en-US" sz="1200" dirty="0"/>
              <a:t>For the machine learning prediction we separate independent and target features. Here we will consider only 'Sex' 'Age' '</a:t>
            </a:r>
            <a:r>
              <a:rPr lang="en-US" sz="1200" dirty="0" err="1"/>
              <a:t>SibSp</a:t>
            </a:r>
            <a:r>
              <a:rPr lang="en-US" sz="1200" dirty="0"/>
              <a:t>', 'Parch' 'Fare' 'Embarked' only as the independent features and Survived as target variables because </a:t>
            </a:r>
            <a:r>
              <a:rPr lang="en-US" sz="1200" dirty="0" err="1"/>
              <a:t>PassengerId</a:t>
            </a:r>
            <a:r>
              <a:rPr lang="en-US" sz="1200" dirty="0"/>
              <a:t> will not affect the survival rate.</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US" sz="1200" b="1" dirty="0"/>
              <a:t>Data formatting</a:t>
            </a:r>
            <a:endParaRPr sz="1200" b="1" dirty="0"/>
          </a:p>
          <a:p>
            <a:pPr marL="0" lvl="0" indent="0" algn="l" rtl="0">
              <a:spcBef>
                <a:spcPts val="0"/>
              </a:spcBef>
              <a:spcAft>
                <a:spcPts val="0"/>
              </a:spcAft>
              <a:buNone/>
            </a:pPr>
            <a:r>
              <a:rPr lang="en-US" sz="1200" dirty="0"/>
              <a:t>Data formatting involves converting the data into a standard format or structure that can be easily processed by the algorithms or models used for analysis. Here we will discuss commonly used data formatting techniques i.e. Scaling and Normalization.</a:t>
            </a:r>
            <a:endParaRPr sz="1200" dirty="0"/>
          </a:p>
          <a:p>
            <a:pPr marL="0" lvl="0" indent="0" algn="l" rtl="0">
              <a:spcBef>
                <a:spcPts val="0"/>
              </a:spcBef>
              <a:spcAft>
                <a:spcPts val="0"/>
              </a:spcAft>
              <a:buNone/>
            </a:pPr>
            <a:r>
              <a:rPr lang="en-US" sz="1200" dirty="0"/>
              <a:t>Scaling</a:t>
            </a:r>
            <a:endParaRPr sz="1200" dirty="0"/>
          </a:p>
          <a:p>
            <a:pPr marL="457200" lvl="0" indent="-317500" algn="l" rtl="0">
              <a:spcBef>
                <a:spcPts val="0"/>
              </a:spcBef>
              <a:spcAft>
                <a:spcPts val="0"/>
              </a:spcAft>
              <a:buSzPts val="1400"/>
              <a:buChar char="●"/>
            </a:pPr>
            <a:r>
              <a:rPr lang="en-US" sz="1200" dirty="0"/>
              <a:t>Scaling involves transforming the values of features to a specific range. It maintains the shape of the original distribution while changing the scale.</a:t>
            </a:r>
            <a:endParaRPr sz="1200" dirty="0"/>
          </a:p>
          <a:p>
            <a:pPr marL="457200" lvl="0" indent="-317500" algn="l" rtl="0">
              <a:spcBef>
                <a:spcPts val="0"/>
              </a:spcBef>
              <a:spcAft>
                <a:spcPts val="0"/>
              </a:spcAft>
              <a:buSzPts val="1400"/>
              <a:buChar char="●"/>
            </a:pPr>
            <a:r>
              <a:rPr lang="en-US" sz="1200" dirty="0"/>
              <a:t>Particularly useful when features have different scales, and certain algorithms are sensitive to the magnitude of the features.</a:t>
            </a:r>
            <a:endParaRPr sz="1200" dirty="0"/>
          </a:p>
          <a:p>
            <a:pPr marL="457200" lvl="0" indent="-317500" algn="l" rtl="0">
              <a:spcBef>
                <a:spcPts val="0"/>
              </a:spcBef>
              <a:spcAft>
                <a:spcPts val="0"/>
              </a:spcAft>
              <a:buSzPts val="1400"/>
              <a:buChar char="●"/>
            </a:pPr>
            <a:r>
              <a:rPr lang="en-US" sz="1200" dirty="0"/>
              <a:t>Common scaling methods include Min-Max scaling and Standardization (Z-score scaling).</a:t>
            </a:r>
            <a:endParaRPr sz="1200" dirty="0"/>
          </a:p>
          <a:p>
            <a:pPr marL="0" lvl="0" indent="0" algn="l" rtl="0">
              <a:spcBef>
                <a:spcPts val="0"/>
              </a:spcBef>
              <a:spcAft>
                <a:spcPts val="0"/>
              </a:spcAft>
              <a:buNone/>
            </a:pPr>
            <a:r>
              <a:rPr lang="en-US" sz="1200" dirty="0"/>
              <a:t>Min-Max Scaling: Min-Max scaling rescales the values to a specified range, typically between 0 and 1. It preserves the original distribution and ensures that the minimum value maps to 0 and the maximum value maps to 1.</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p:txBody>
      </p:sp>
      <p:graphicFrame>
        <p:nvGraphicFramePr>
          <p:cNvPr id="205" name="Google Shape;205;g36f0d2aa6bf_0_113"/>
          <p:cNvGraphicFramePr/>
          <p:nvPr>
            <p:extLst>
              <p:ext uri="{D42A27DB-BD31-4B8C-83A1-F6EECF244321}">
                <p14:modId xmlns:p14="http://schemas.microsoft.com/office/powerpoint/2010/main" val="3795140607"/>
              </p:ext>
            </p:extLst>
          </p:nvPr>
        </p:nvGraphicFramePr>
        <p:xfrm>
          <a:off x="1514006" y="1858780"/>
          <a:ext cx="6640643" cy="822930"/>
        </p:xfrm>
        <a:graphic>
          <a:graphicData uri="http://schemas.openxmlformats.org/drawingml/2006/table">
            <a:tbl>
              <a:tblPr>
                <a:noFill/>
                <a:tableStyleId>{743049AA-338F-4810-8551-781DCB540533}</a:tableStyleId>
              </a:tblPr>
              <a:tblGrid>
                <a:gridCol w="6640643">
                  <a:extLst>
                    <a:ext uri="{9D8B030D-6E8A-4147-A177-3AD203B41FA5}">
                      <a16:colId xmlns:a16="http://schemas.microsoft.com/office/drawing/2014/main" val="20000"/>
                    </a:ext>
                  </a:extLst>
                </a:gridCol>
              </a:tblGrid>
              <a:tr h="629587">
                <a:tc>
                  <a:txBody>
                    <a:bodyPr/>
                    <a:lstStyle/>
                    <a:p>
                      <a:pPr marL="0" lvl="0" indent="0" algn="l" rtl="0">
                        <a:spcBef>
                          <a:spcPts val="0"/>
                        </a:spcBef>
                        <a:spcAft>
                          <a:spcPts val="0"/>
                        </a:spcAft>
                        <a:buClr>
                          <a:schemeClr val="dk1"/>
                        </a:buClr>
                        <a:buSzPts val="1100"/>
                        <a:buFont typeface="Arial"/>
                        <a:buNone/>
                      </a:pPr>
                      <a:r>
                        <a:rPr lang="en-US" dirty="0"/>
                        <a:t>X = df3[['</a:t>
                      </a:r>
                      <a:r>
                        <a:rPr lang="en-US" dirty="0" err="1"/>
                        <a:t>Pclass</a:t>
                      </a:r>
                      <a:r>
                        <a:rPr lang="en-US" dirty="0"/>
                        <a:t>','</a:t>
                      </a:r>
                      <a:r>
                        <a:rPr lang="en-US" dirty="0" err="1"/>
                        <a:t>Sex','Age</a:t>
                      </a:r>
                      <a:r>
                        <a:rPr lang="en-US" dirty="0"/>
                        <a:t>', '</a:t>
                      </a:r>
                      <a:r>
                        <a:rPr lang="en-US" dirty="0" err="1"/>
                        <a:t>SibSp</a:t>
                      </a:r>
                      <a:r>
                        <a:rPr lang="en-US" dirty="0"/>
                        <a:t>','</a:t>
                      </a:r>
                      <a:r>
                        <a:rPr lang="en-US" dirty="0" err="1"/>
                        <a:t>Parch','Fare','Embarked</a:t>
                      </a:r>
                      <a:r>
                        <a:rPr lang="en-US" dirty="0"/>
                        <a:t>']]</a:t>
                      </a:r>
                      <a:endParaRPr dirty="0"/>
                    </a:p>
                    <a:p>
                      <a:pPr marL="0" lvl="0" indent="0" algn="l" rtl="0">
                        <a:spcBef>
                          <a:spcPts val="0"/>
                        </a:spcBef>
                        <a:spcAft>
                          <a:spcPts val="0"/>
                        </a:spcAft>
                        <a:buClr>
                          <a:schemeClr val="dk1"/>
                        </a:buClr>
                        <a:buSzPts val="1100"/>
                        <a:buFont typeface="Arial"/>
                        <a:buNone/>
                      </a:pPr>
                      <a:r>
                        <a:rPr lang="en-US" dirty="0"/>
                        <a:t>Y = df3['Survived']</a:t>
                      </a:r>
                      <a:endParaRPr dirty="0"/>
                    </a:p>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206" name="Google Shape;206;g36f0d2aa6bf_0_113"/>
          <p:cNvGraphicFramePr/>
          <p:nvPr>
            <p:extLst>
              <p:ext uri="{D42A27DB-BD31-4B8C-83A1-F6EECF244321}">
                <p14:modId xmlns:p14="http://schemas.microsoft.com/office/powerpoint/2010/main" val="1611203798"/>
              </p:ext>
            </p:extLst>
          </p:nvPr>
        </p:nvGraphicFramePr>
        <p:xfrm>
          <a:off x="0" y="4663470"/>
          <a:ext cx="9144000" cy="2194530"/>
        </p:xfrm>
        <a:graphic>
          <a:graphicData uri="http://schemas.openxmlformats.org/drawingml/2006/table">
            <a:tbl>
              <a:tblPr>
                <a:noFill/>
                <a:tableStyleId>{743049AA-338F-4810-8551-781DCB540533}</a:tableStyleId>
              </a:tblPr>
              <a:tblGrid>
                <a:gridCol w="9144000">
                  <a:extLst>
                    <a:ext uri="{9D8B030D-6E8A-4147-A177-3AD203B41FA5}">
                      <a16:colId xmlns:a16="http://schemas.microsoft.com/office/drawing/2014/main" val="20000"/>
                    </a:ext>
                  </a:extLst>
                </a:gridCol>
              </a:tblGrid>
              <a:tr h="1303721">
                <a:tc>
                  <a:txBody>
                    <a:bodyPr/>
                    <a:lstStyle/>
                    <a:p>
                      <a:pPr marL="0" lvl="0" indent="0" algn="l" rtl="0">
                        <a:spcBef>
                          <a:spcPts val="0"/>
                        </a:spcBef>
                        <a:spcAft>
                          <a:spcPts val="0"/>
                        </a:spcAft>
                        <a:buClr>
                          <a:schemeClr val="dk1"/>
                        </a:buClr>
                        <a:buSzPts val="1100"/>
                        <a:buFont typeface="Arial"/>
                        <a:buNone/>
                      </a:pPr>
                      <a:r>
                        <a:rPr lang="en-US" sz="1100" dirty="0"/>
                        <a:t>from </a:t>
                      </a:r>
                      <a:r>
                        <a:rPr lang="en-US" sz="1100" dirty="0" err="1"/>
                        <a:t>sklearn.preprocessing</a:t>
                      </a:r>
                      <a:r>
                        <a:rPr lang="en-US" sz="1100" dirty="0"/>
                        <a:t> import </a:t>
                      </a:r>
                      <a:r>
                        <a:rPr lang="en-US" sz="1100" dirty="0" err="1"/>
                        <a:t>MinMaxScaler</a:t>
                      </a:r>
                      <a:endParaRPr sz="1100" dirty="0"/>
                    </a:p>
                    <a:p>
                      <a:pPr marL="0" lvl="0" indent="0" algn="l" rtl="0">
                        <a:spcBef>
                          <a:spcPts val="0"/>
                        </a:spcBef>
                        <a:spcAft>
                          <a:spcPts val="0"/>
                        </a:spcAft>
                        <a:buClr>
                          <a:schemeClr val="dk1"/>
                        </a:buClr>
                        <a:buSzPts val="1100"/>
                        <a:buFont typeface="Arial"/>
                        <a:buNone/>
                      </a:pPr>
                      <a:endParaRPr sz="1100" dirty="0"/>
                    </a:p>
                    <a:p>
                      <a:pPr marL="0" lvl="0" indent="0" algn="l" rtl="0">
                        <a:spcBef>
                          <a:spcPts val="0"/>
                        </a:spcBef>
                        <a:spcAft>
                          <a:spcPts val="0"/>
                        </a:spcAft>
                        <a:buClr>
                          <a:schemeClr val="dk1"/>
                        </a:buClr>
                        <a:buSzPts val="1100"/>
                        <a:buFont typeface="Arial"/>
                        <a:buNone/>
                      </a:pPr>
                      <a:r>
                        <a:rPr lang="en-US" sz="1100" dirty="0"/>
                        <a:t># </a:t>
                      </a:r>
                      <a:r>
                        <a:rPr lang="en-US" sz="1100" dirty="0" err="1"/>
                        <a:t>initialising</a:t>
                      </a:r>
                      <a:r>
                        <a:rPr lang="en-US" sz="1100" dirty="0"/>
                        <a:t> the </a:t>
                      </a:r>
                      <a:r>
                        <a:rPr lang="en-US" sz="1100" dirty="0" err="1"/>
                        <a:t>MinMaxScaler</a:t>
                      </a:r>
                      <a:endParaRPr sz="1100" dirty="0"/>
                    </a:p>
                    <a:p>
                      <a:pPr marL="0" lvl="0" indent="0" algn="l" rtl="0">
                        <a:spcBef>
                          <a:spcPts val="0"/>
                        </a:spcBef>
                        <a:spcAft>
                          <a:spcPts val="0"/>
                        </a:spcAft>
                        <a:buClr>
                          <a:schemeClr val="dk1"/>
                        </a:buClr>
                        <a:buSzPts val="1100"/>
                        <a:buFont typeface="Arial"/>
                        <a:buNone/>
                      </a:pPr>
                      <a:r>
                        <a:rPr lang="en-US" sz="1100" dirty="0"/>
                        <a:t>scaler = </a:t>
                      </a:r>
                      <a:r>
                        <a:rPr lang="en-US" sz="1100" dirty="0" err="1"/>
                        <a:t>MinMaxScaler</a:t>
                      </a:r>
                      <a:r>
                        <a:rPr lang="en-US" sz="1100" dirty="0"/>
                        <a:t>(</a:t>
                      </a:r>
                      <a:r>
                        <a:rPr lang="en-US" sz="1100" dirty="0" err="1"/>
                        <a:t>feature_range</a:t>
                      </a:r>
                      <a:r>
                        <a:rPr lang="en-US" sz="1100" dirty="0"/>
                        <a:t>=(0, 1))</a:t>
                      </a:r>
                      <a:endParaRPr sz="1100" dirty="0"/>
                    </a:p>
                    <a:p>
                      <a:pPr marL="0" lvl="0" indent="0" algn="l" rtl="0">
                        <a:spcBef>
                          <a:spcPts val="0"/>
                        </a:spcBef>
                        <a:spcAft>
                          <a:spcPts val="0"/>
                        </a:spcAft>
                        <a:buClr>
                          <a:schemeClr val="dk1"/>
                        </a:buClr>
                        <a:buSzPts val="1100"/>
                        <a:buFont typeface="Arial"/>
                        <a:buNone/>
                      </a:pPr>
                      <a:endParaRPr sz="1100" dirty="0"/>
                    </a:p>
                    <a:p>
                      <a:pPr marL="0" lvl="0" indent="0" algn="l" rtl="0">
                        <a:spcBef>
                          <a:spcPts val="0"/>
                        </a:spcBef>
                        <a:spcAft>
                          <a:spcPts val="0"/>
                        </a:spcAft>
                        <a:buClr>
                          <a:schemeClr val="dk1"/>
                        </a:buClr>
                        <a:buSzPts val="1100"/>
                        <a:buFont typeface="Arial"/>
                        <a:buNone/>
                      </a:pPr>
                      <a:r>
                        <a:rPr lang="en-US" sz="1100" dirty="0"/>
                        <a:t># Numerical columns</a:t>
                      </a:r>
                      <a:endParaRPr sz="1100" dirty="0"/>
                    </a:p>
                    <a:p>
                      <a:pPr marL="0" lvl="0" indent="0" algn="l" rtl="0">
                        <a:spcBef>
                          <a:spcPts val="0"/>
                        </a:spcBef>
                        <a:spcAft>
                          <a:spcPts val="0"/>
                        </a:spcAft>
                        <a:buClr>
                          <a:schemeClr val="dk1"/>
                        </a:buClr>
                        <a:buSzPts val="1100"/>
                        <a:buFont typeface="Arial"/>
                        <a:buNone/>
                      </a:pPr>
                      <a:r>
                        <a:rPr lang="en-US" sz="1100" dirty="0" err="1"/>
                        <a:t>num_col</a:t>
                      </a:r>
                      <a:r>
                        <a:rPr lang="en-US" sz="1100" dirty="0"/>
                        <a:t>_ = [col for col in </a:t>
                      </a:r>
                      <a:r>
                        <a:rPr lang="en-US" sz="1100" dirty="0" err="1"/>
                        <a:t>X.columns</a:t>
                      </a:r>
                      <a:r>
                        <a:rPr lang="en-US" sz="1100" dirty="0"/>
                        <a:t> if X[col].</a:t>
                      </a:r>
                      <a:r>
                        <a:rPr lang="en-US" sz="1100" dirty="0" err="1"/>
                        <a:t>dtype</a:t>
                      </a:r>
                      <a:r>
                        <a:rPr lang="en-US" sz="1100" dirty="0"/>
                        <a:t> != 'object']</a:t>
                      </a:r>
                      <a:endParaRPr sz="1100" dirty="0"/>
                    </a:p>
                    <a:p>
                      <a:pPr marL="0" lvl="0" indent="0" algn="l" rtl="0">
                        <a:spcBef>
                          <a:spcPts val="0"/>
                        </a:spcBef>
                        <a:spcAft>
                          <a:spcPts val="0"/>
                        </a:spcAft>
                        <a:buClr>
                          <a:schemeClr val="dk1"/>
                        </a:buClr>
                        <a:buSzPts val="1100"/>
                        <a:buFont typeface="Arial"/>
                        <a:buNone/>
                      </a:pPr>
                      <a:r>
                        <a:rPr lang="en-US" sz="1100" dirty="0"/>
                        <a:t>x1 = X</a:t>
                      </a:r>
                      <a:endParaRPr sz="1100" dirty="0"/>
                    </a:p>
                    <a:p>
                      <a:pPr marL="0" lvl="0" indent="0" algn="l" rtl="0">
                        <a:spcBef>
                          <a:spcPts val="0"/>
                        </a:spcBef>
                        <a:spcAft>
                          <a:spcPts val="0"/>
                        </a:spcAft>
                        <a:buClr>
                          <a:schemeClr val="dk1"/>
                        </a:buClr>
                        <a:buSzPts val="1100"/>
                        <a:buFont typeface="Arial"/>
                        <a:buNone/>
                      </a:pPr>
                      <a:r>
                        <a:rPr lang="en-US" sz="1100" dirty="0"/>
                        <a:t># learning the statistical parameters for each of the data and transforming</a:t>
                      </a:r>
                      <a:endParaRPr sz="1100" dirty="0"/>
                    </a:p>
                    <a:p>
                      <a:pPr marL="0" lvl="0" indent="0" algn="l" rtl="0">
                        <a:spcBef>
                          <a:spcPts val="0"/>
                        </a:spcBef>
                        <a:spcAft>
                          <a:spcPts val="0"/>
                        </a:spcAft>
                        <a:buClr>
                          <a:schemeClr val="dk1"/>
                        </a:buClr>
                        <a:buSzPts val="1100"/>
                        <a:buFont typeface="Arial"/>
                        <a:buNone/>
                      </a:pPr>
                      <a:r>
                        <a:rPr lang="en-US" sz="1100" dirty="0"/>
                        <a:t>x1[</a:t>
                      </a:r>
                      <a:r>
                        <a:rPr lang="en-US" sz="1100" dirty="0" err="1"/>
                        <a:t>num_col</a:t>
                      </a:r>
                      <a:r>
                        <a:rPr lang="en-US" sz="1100" dirty="0"/>
                        <a:t>_] = </a:t>
                      </a:r>
                      <a:r>
                        <a:rPr lang="en-US" sz="1100" dirty="0" err="1"/>
                        <a:t>scaler.fit_transform</a:t>
                      </a:r>
                      <a:r>
                        <a:rPr lang="en-US" sz="1100" dirty="0"/>
                        <a:t>(x1[</a:t>
                      </a:r>
                      <a:r>
                        <a:rPr lang="en-US" sz="1100" dirty="0" err="1"/>
                        <a:t>num_col</a:t>
                      </a:r>
                      <a:r>
                        <a:rPr lang="en-US" sz="1100" dirty="0"/>
                        <a:t>_])</a:t>
                      </a:r>
                      <a:endParaRPr sz="1100" dirty="0"/>
                    </a:p>
                    <a:p>
                      <a:pPr marL="0" lvl="0" indent="0" algn="l" rtl="0">
                        <a:spcBef>
                          <a:spcPts val="0"/>
                        </a:spcBef>
                        <a:spcAft>
                          <a:spcPts val="0"/>
                        </a:spcAft>
                        <a:buClr>
                          <a:schemeClr val="dk1"/>
                        </a:buClr>
                        <a:buSzPts val="1100"/>
                        <a:buFont typeface="Arial"/>
                        <a:buNone/>
                      </a:pPr>
                      <a:r>
                        <a:rPr lang="en-US" sz="1100" dirty="0"/>
                        <a:t>x1.head()</a:t>
                      </a:r>
                      <a:endParaRPr sz="1100" dirty="0"/>
                    </a:p>
                    <a:p>
                      <a:pPr marL="0" lvl="0" indent="0" algn="l" rtl="0">
                        <a:spcBef>
                          <a:spcPts val="0"/>
                        </a:spcBef>
                        <a:spcAft>
                          <a:spcPts val="0"/>
                        </a:spcAft>
                        <a:buNone/>
                      </a:pPr>
                      <a:endParaRPr sz="1100" dirty="0"/>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36f0d2aa6bf_0_125"/>
          <p:cNvSpPr txBox="1"/>
          <p:nvPr/>
        </p:nvSpPr>
        <p:spPr>
          <a:xfrm>
            <a:off x="0" y="0"/>
            <a:ext cx="90900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Standardization (Z-score scaling): Standardization transforms the values to have a mean of 0 and a standard deviation of 1. It centers the data around the mean and scales it based on the standard deviation. Standardization makes the data more suitable for algorithms that assume a Gaussian distribution or require features to have zero mean and unit variance.</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Z = (X - μ) / σ</a:t>
            </a:r>
            <a:endParaRPr/>
          </a:p>
          <a:p>
            <a:pPr marL="0" lvl="0" indent="0" algn="l" rtl="0">
              <a:spcBef>
                <a:spcPts val="0"/>
              </a:spcBef>
              <a:spcAft>
                <a:spcPts val="0"/>
              </a:spcAft>
              <a:buClr>
                <a:schemeClr val="dk1"/>
              </a:buClr>
              <a:buSzPts val="1100"/>
              <a:buFont typeface="Arial"/>
              <a:buNone/>
            </a:pPr>
            <a:r>
              <a:rPr lang="en-US"/>
              <a:t>Where,</a:t>
            </a:r>
            <a:endParaRPr/>
          </a:p>
          <a:p>
            <a:pPr marL="457200" lvl="0" indent="-317500" algn="l" rtl="0">
              <a:spcBef>
                <a:spcPts val="0"/>
              </a:spcBef>
              <a:spcAft>
                <a:spcPts val="0"/>
              </a:spcAft>
              <a:buSzPts val="1400"/>
              <a:buChar char="●"/>
            </a:pPr>
            <a:r>
              <a:rPr lang="en-US"/>
              <a:t>X = Data</a:t>
            </a:r>
            <a:endParaRPr/>
          </a:p>
          <a:p>
            <a:pPr marL="457200" lvl="0" indent="-317500" algn="l" rtl="0">
              <a:spcBef>
                <a:spcPts val="0"/>
              </a:spcBef>
              <a:spcAft>
                <a:spcPts val="0"/>
              </a:spcAft>
              <a:buSzPts val="1400"/>
              <a:buChar char="●"/>
            </a:pPr>
            <a:r>
              <a:rPr lang="en-US"/>
              <a:t>μ = Mean value of X</a:t>
            </a:r>
            <a:endParaRPr/>
          </a:p>
          <a:p>
            <a:pPr marL="457200" lvl="0" indent="-317500" algn="l" rtl="0">
              <a:spcBef>
                <a:spcPts val="0"/>
              </a:spcBef>
              <a:spcAft>
                <a:spcPts val="0"/>
              </a:spcAft>
              <a:buSzPts val="1400"/>
              <a:buChar char="●"/>
            </a:pPr>
            <a:r>
              <a:rPr lang="en-US"/>
              <a:t>σ = Standard deviation of X</a:t>
            </a:r>
            <a:endParaRPr sz="1350">
              <a:solidFill>
                <a:srgbClr val="FFFFFF"/>
              </a:solidFill>
              <a:highlight>
                <a:srgbClr val="131417"/>
              </a:highlight>
              <a:latin typeface="Nunito"/>
              <a:ea typeface="Nunito"/>
              <a:cs typeface="Nunito"/>
              <a:sym typeface="Nunito"/>
            </a:endParaRPr>
          </a:p>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6f0d2aa6bf_0_133"/>
          <p:cNvSpPr txBox="1"/>
          <p:nvPr/>
        </p:nvSpPr>
        <p:spPr>
          <a:xfrm>
            <a:off x="0" y="0"/>
            <a:ext cx="9144000" cy="70863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800"/>
              </a:spcBef>
              <a:spcAft>
                <a:spcPts val="0"/>
              </a:spcAft>
              <a:buClr>
                <a:schemeClr val="dk1"/>
              </a:buClr>
              <a:buSzPts val="1100"/>
              <a:buFont typeface="Arial"/>
              <a:buNone/>
            </a:pPr>
            <a:r>
              <a:rPr lang="en-US" sz="1700" b="1">
                <a:solidFill>
                  <a:srgbClr val="05192D"/>
                </a:solidFill>
                <a:highlight>
                  <a:srgbClr val="FFFFFF"/>
                </a:highlight>
              </a:rPr>
              <a:t>What is Normalization?</a:t>
            </a:r>
            <a:endParaRPr sz="1700" b="1">
              <a:solidFill>
                <a:srgbClr val="05192D"/>
              </a:solidFill>
              <a:highlight>
                <a:srgbClr val="FFFFFF"/>
              </a:highlight>
            </a:endParaRPr>
          </a:p>
          <a:p>
            <a:pPr marL="0" lvl="0" indent="0" algn="l" rtl="0">
              <a:lnSpc>
                <a:spcPct val="115000"/>
              </a:lnSpc>
              <a:spcBef>
                <a:spcPts val="1800"/>
              </a:spcBef>
              <a:spcAft>
                <a:spcPts val="0"/>
              </a:spcAft>
              <a:buClr>
                <a:schemeClr val="dk1"/>
              </a:buClr>
              <a:buSzPts val="1100"/>
              <a:buFont typeface="Arial"/>
              <a:buNone/>
            </a:pPr>
            <a:r>
              <a:rPr lang="en-US" sz="1100">
                <a:solidFill>
                  <a:srgbClr val="05192D"/>
                </a:solidFill>
                <a:highlight>
                  <a:srgbClr val="FFFFFF"/>
                </a:highlight>
              </a:rPr>
              <a:t>Normalization is a broad idea, and there are different ways to normalize data. Generally speaking, normalization refers to the process of adjusting values measured on different scales to a common scale. Sometime's, it's best to illustrate with an example. For each type of normalization below, we will consider a model to understand the relationship between the price of a house and its size.</a:t>
            </a:r>
            <a:endParaRPr sz="1100">
              <a:solidFill>
                <a:srgbClr val="05192D"/>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US" sz="1300" b="1">
                <a:solidFill>
                  <a:srgbClr val="05192D"/>
                </a:solidFill>
                <a:highlight>
                  <a:srgbClr val="FFFFFF"/>
                </a:highlight>
              </a:rPr>
              <a:t>Types of normalization</a:t>
            </a:r>
            <a:endParaRPr sz="1300" b="1">
              <a:solidFill>
                <a:srgbClr val="05192D"/>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US" sz="1100">
                <a:solidFill>
                  <a:srgbClr val="05192D"/>
                </a:solidFill>
                <a:highlight>
                  <a:srgbClr val="FFFFFF"/>
                </a:highlight>
              </a:rPr>
              <a:t>Let's look at some of the main types. Keep in mind, this is not a comprehensive list: </a:t>
            </a:r>
            <a:endParaRPr sz="1100">
              <a:solidFill>
                <a:srgbClr val="05192D"/>
              </a:solidFill>
              <a:highlight>
                <a:srgbClr val="FFFFFF"/>
              </a:highlight>
            </a:endParaRPr>
          </a:p>
          <a:p>
            <a:pPr marL="0" lvl="0" indent="0" algn="l" rtl="0">
              <a:lnSpc>
                <a:spcPct val="115000"/>
              </a:lnSpc>
              <a:spcBef>
                <a:spcPts val="1100"/>
              </a:spcBef>
              <a:spcAft>
                <a:spcPts val="0"/>
              </a:spcAft>
              <a:buClr>
                <a:schemeClr val="dk1"/>
              </a:buClr>
              <a:buSzPts val="1100"/>
              <a:buFont typeface="Arial"/>
              <a:buNone/>
            </a:pPr>
            <a:r>
              <a:rPr lang="en-US" sz="1100" b="1">
                <a:solidFill>
                  <a:srgbClr val="05192D"/>
                </a:solidFill>
                <a:highlight>
                  <a:srgbClr val="FFFFFF"/>
                </a:highlight>
              </a:rPr>
              <a:t>Min-max normalization</a:t>
            </a:r>
            <a:endParaRPr sz="1100" b="1">
              <a:solidFill>
                <a:srgbClr val="05192D"/>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US" sz="1100">
                <a:solidFill>
                  <a:srgbClr val="05192D"/>
                </a:solidFill>
                <a:highlight>
                  <a:srgbClr val="FFFFFF"/>
                </a:highlight>
              </a:rPr>
              <a:t>With min-max normalization, we might rescale the sizes of the houses to fit within a range of 0 to 1. This means that the smallest house size would be represented as 0, and the largest house size would be represented as 1.</a:t>
            </a:r>
            <a:endParaRPr sz="1100">
              <a:solidFill>
                <a:srgbClr val="05192D"/>
              </a:solidFill>
              <a:highlight>
                <a:srgbClr val="FFFFFF"/>
              </a:highlight>
            </a:endParaRPr>
          </a:p>
          <a:p>
            <a:pPr marL="0" lvl="0" indent="0" algn="l" rtl="0">
              <a:lnSpc>
                <a:spcPct val="115000"/>
              </a:lnSpc>
              <a:spcBef>
                <a:spcPts val="1100"/>
              </a:spcBef>
              <a:spcAft>
                <a:spcPts val="0"/>
              </a:spcAft>
              <a:buClr>
                <a:schemeClr val="dk1"/>
              </a:buClr>
              <a:buSzPts val="1100"/>
              <a:buFont typeface="Arial"/>
              <a:buNone/>
            </a:pPr>
            <a:r>
              <a:rPr lang="en-US" sz="1100" b="1">
                <a:solidFill>
                  <a:srgbClr val="05192D"/>
                </a:solidFill>
                <a:highlight>
                  <a:srgbClr val="FFFFFF"/>
                </a:highlight>
              </a:rPr>
              <a:t>Log normalization</a:t>
            </a:r>
            <a:endParaRPr sz="1100" b="1">
              <a:solidFill>
                <a:srgbClr val="05192D"/>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US" sz="1100" b="1">
                <a:solidFill>
                  <a:srgbClr val="05192D"/>
                </a:solidFill>
                <a:highlight>
                  <a:srgbClr val="FFFFFF"/>
                </a:highlight>
              </a:rPr>
              <a:t>Log normalization</a:t>
            </a:r>
            <a:r>
              <a:rPr lang="en-US" sz="1100">
                <a:solidFill>
                  <a:srgbClr val="05192D"/>
                </a:solidFill>
                <a:highlight>
                  <a:srgbClr val="FFFFFF"/>
                </a:highlight>
              </a:rPr>
              <a:t> is another normalization technique. By using log normalization, we apply a logarithmic transformation to the house prices. This technique helps reduce the impact of larger prices, especially if there are significant differences between them.</a:t>
            </a:r>
            <a:endParaRPr sz="1100">
              <a:solidFill>
                <a:srgbClr val="05192D"/>
              </a:solidFill>
              <a:highlight>
                <a:srgbClr val="FFFFFF"/>
              </a:highlight>
            </a:endParaRPr>
          </a:p>
          <a:p>
            <a:pPr marL="0" lvl="0" indent="0" algn="l" rtl="0">
              <a:lnSpc>
                <a:spcPct val="115000"/>
              </a:lnSpc>
              <a:spcBef>
                <a:spcPts val="1100"/>
              </a:spcBef>
              <a:spcAft>
                <a:spcPts val="0"/>
              </a:spcAft>
              <a:buClr>
                <a:schemeClr val="dk1"/>
              </a:buClr>
              <a:buSzPts val="1100"/>
              <a:buFont typeface="Arial"/>
              <a:buNone/>
            </a:pPr>
            <a:r>
              <a:rPr lang="en-US" sz="1100" b="1">
                <a:solidFill>
                  <a:srgbClr val="05192D"/>
                </a:solidFill>
                <a:highlight>
                  <a:srgbClr val="FFFFFF"/>
                </a:highlight>
              </a:rPr>
              <a:t>Decimal scaling</a:t>
            </a:r>
            <a:endParaRPr sz="1100" b="1">
              <a:solidFill>
                <a:srgbClr val="05192D"/>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US" sz="1100">
                <a:solidFill>
                  <a:srgbClr val="05192D"/>
                </a:solidFill>
                <a:highlight>
                  <a:srgbClr val="FFFFFF"/>
                </a:highlight>
              </a:rPr>
              <a:t>Decimal scaling is another normailzation technique. For this example, we might adjust the sizes of the houses by shifting the decimal point to make the values smaller. This means that the house sizes are transformed to a more manageable scale while keeping their relative differences intact.</a:t>
            </a:r>
            <a:endParaRPr sz="1100">
              <a:solidFill>
                <a:srgbClr val="05192D"/>
              </a:solidFill>
              <a:highlight>
                <a:srgbClr val="FFFFFF"/>
              </a:highlight>
            </a:endParaRPr>
          </a:p>
          <a:p>
            <a:pPr marL="0" lvl="0" indent="0" algn="l" rtl="0">
              <a:lnSpc>
                <a:spcPct val="115000"/>
              </a:lnSpc>
              <a:spcBef>
                <a:spcPts val="11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600"/>
              </a:spcBef>
              <a:spcAft>
                <a:spcPts val="0"/>
              </a:spcAft>
              <a:buClr>
                <a:schemeClr val="dk1"/>
              </a:buClr>
              <a:buSzPts val="1100"/>
              <a:buFont typeface="Arial"/>
              <a:buNone/>
            </a:pPr>
            <a:r>
              <a:rPr lang="en-US" sz="1100" b="1">
                <a:solidFill>
                  <a:srgbClr val="05192D"/>
                </a:solidFill>
                <a:highlight>
                  <a:srgbClr val="FFFFFF"/>
                </a:highlight>
              </a:rPr>
              <a:t>Mean normalization (mean-centering)</a:t>
            </a:r>
            <a:endParaRPr sz="1100" b="1">
              <a:solidFill>
                <a:srgbClr val="05192D"/>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r>
              <a:rPr lang="en-US" sz="1100">
                <a:solidFill>
                  <a:srgbClr val="05192D"/>
                </a:solidFill>
                <a:highlight>
                  <a:srgbClr val="FFFFFF"/>
                </a:highlight>
              </a:rPr>
              <a:t>Mean normalization, in this context, would involve adjusting the house prices by subtracting the average price from each house's price. This process centers the prices at zero, showing how each house's size compares to the average. By doing this, we can analyze which house sizes are larger or smaller than average, making it easier to interpret their relative prices.</a:t>
            </a:r>
            <a:endParaRPr sz="1100">
              <a:solidFill>
                <a:srgbClr val="05192D"/>
              </a:solidFill>
              <a:highlight>
                <a:srgbClr val="FFFFFF"/>
              </a:highlight>
            </a:endParaRPr>
          </a:p>
          <a:p>
            <a:pPr marL="0" lvl="0" indent="0" algn="l" rtl="0">
              <a:lnSpc>
                <a:spcPct val="184090"/>
              </a:lnSpc>
              <a:spcBef>
                <a:spcPts val="1100"/>
              </a:spcBef>
              <a:spcAft>
                <a:spcPts val="0"/>
              </a:spcAft>
              <a:buNone/>
            </a:pPr>
            <a:r>
              <a:rPr lang="en-US" sz="1350">
                <a:solidFill>
                  <a:srgbClr val="707070"/>
                </a:solidFill>
                <a:highlight>
                  <a:srgbClr val="FFFFFF"/>
                </a:highlight>
              </a:rPr>
              <a:t>.</a:t>
            </a:r>
            <a:endParaRPr sz="1350">
              <a:solidFill>
                <a:srgbClr val="707070"/>
              </a:solidFill>
              <a:highlight>
                <a:srgbClr val="FFFFFF"/>
              </a:highlight>
            </a:endParaRPr>
          </a:p>
          <a:p>
            <a:pPr marL="0" lvl="0" indent="0" algn="l" rtl="0">
              <a:lnSpc>
                <a:spcPct val="115000"/>
              </a:lnSpc>
              <a:spcBef>
                <a:spcPts val="1200"/>
              </a:spcBef>
              <a:spcAft>
                <a:spcPts val="1200"/>
              </a:spcAft>
              <a:buNone/>
            </a:pPr>
            <a:endParaRPr sz="1200">
              <a:solidFill>
                <a:srgbClr val="707070"/>
              </a:solidFill>
              <a:highlight>
                <a:srgbClr val="FFFFFF"/>
              </a:highlight>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6f0d2aa6bf_0_144"/>
          <p:cNvSpPr txBox="1"/>
          <p:nvPr/>
        </p:nvSpPr>
        <p:spPr>
          <a:xfrm>
            <a:off x="0" y="-239225"/>
            <a:ext cx="9144000" cy="575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300" b="1">
                <a:solidFill>
                  <a:srgbClr val="05192D"/>
                </a:solidFill>
                <a:highlight>
                  <a:srgbClr val="FFFFFF"/>
                </a:highlight>
              </a:rPr>
              <a:t>When should you normalize data?</a:t>
            </a:r>
            <a:endParaRPr sz="1300" b="1">
              <a:solidFill>
                <a:srgbClr val="05192D"/>
              </a:solidFill>
              <a:highlight>
                <a:srgbClr val="FFFFFF"/>
              </a:highlight>
            </a:endParaRPr>
          </a:p>
          <a:p>
            <a:pPr marL="0" lvl="0" indent="0" algn="l" rtl="0">
              <a:lnSpc>
                <a:spcPct val="115000"/>
              </a:lnSpc>
              <a:spcBef>
                <a:spcPts val="1200"/>
              </a:spcBef>
              <a:spcAft>
                <a:spcPts val="0"/>
              </a:spcAft>
              <a:buNone/>
            </a:pPr>
            <a:r>
              <a:rPr lang="en-US" sz="1100">
                <a:solidFill>
                  <a:srgbClr val="05192D"/>
                </a:solidFill>
                <a:highlight>
                  <a:srgbClr val="FFFFFF"/>
                </a:highlight>
              </a:rPr>
              <a:t>As you may have inferred from the above examples, normalization is particularly useful when the distribution of the data is unknown or does not follow a </a:t>
            </a:r>
            <a:r>
              <a:rPr lang="en-US" sz="1100" b="1">
                <a:solidFill>
                  <a:srgbClr val="05192D"/>
                </a:solidFill>
                <a:highlight>
                  <a:srgbClr val="FFFFFF"/>
                </a:highlight>
              </a:rPr>
              <a:t>Gaussian distribution</a:t>
            </a:r>
            <a:r>
              <a:rPr lang="en-US" sz="1100">
                <a:solidFill>
                  <a:srgbClr val="05192D"/>
                </a:solidFill>
                <a:highlight>
                  <a:srgbClr val="FFFFFF"/>
                </a:highlight>
              </a:rPr>
              <a:t>. House prices are a good example here because some houses are very, very expensive, and models don’t always deal well with outliers.</a:t>
            </a:r>
            <a:endParaRPr sz="1100">
              <a:solidFill>
                <a:srgbClr val="05192D"/>
              </a:solidFill>
              <a:highlight>
                <a:srgbClr val="FFFFFF"/>
              </a:highlight>
            </a:endParaRPr>
          </a:p>
          <a:p>
            <a:pPr marL="0" lvl="0" indent="0" algn="l" rtl="0">
              <a:lnSpc>
                <a:spcPct val="115000"/>
              </a:lnSpc>
              <a:spcBef>
                <a:spcPts val="1100"/>
              </a:spcBef>
              <a:spcAft>
                <a:spcPts val="0"/>
              </a:spcAft>
              <a:buNone/>
            </a:pPr>
            <a:r>
              <a:rPr lang="en-US" sz="1100">
                <a:solidFill>
                  <a:srgbClr val="05192D"/>
                </a:solidFill>
                <a:highlight>
                  <a:srgbClr val="FFFFFF"/>
                </a:highlight>
              </a:rPr>
              <a:t>So, the goal of normalization is to make a better model. We might normalize the dependent variable so the errors are more evenly distributed, or else we might normalize the input variables to ensure that features with larger scales do not dominate those with smaller scales.</a:t>
            </a:r>
            <a:endParaRPr sz="1100">
              <a:solidFill>
                <a:srgbClr val="05192D"/>
              </a:solidFill>
              <a:highlight>
                <a:srgbClr val="FFFFFF"/>
              </a:highlight>
            </a:endParaRPr>
          </a:p>
          <a:p>
            <a:pPr marL="0" lvl="0" indent="0" algn="l" rtl="0">
              <a:lnSpc>
                <a:spcPct val="115000"/>
              </a:lnSpc>
              <a:spcBef>
                <a:spcPts val="1100"/>
              </a:spcBef>
              <a:spcAft>
                <a:spcPts val="0"/>
              </a:spcAft>
              <a:buNone/>
            </a:pPr>
            <a:r>
              <a:rPr lang="en-US" sz="1100">
                <a:solidFill>
                  <a:srgbClr val="05192D"/>
                </a:solidFill>
                <a:highlight>
                  <a:srgbClr val="FFFFFF"/>
                </a:highlight>
              </a:rPr>
              <a:t>Normalization is most effective in the following scenarios:</a:t>
            </a:r>
            <a:endParaRPr sz="1100">
              <a:solidFill>
                <a:srgbClr val="05192D"/>
              </a:solidFill>
              <a:highlight>
                <a:srgbClr val="FFFFFF"/>
              </a:highlight>
            </a:endParaRPr>
          </a:p>
          <a:p>
            <a:pPr marL="457200" lvl="0" indent="-314325" algn="l" rtl="0">
              <a:lnSpc>
                <a:spcPct val="115000"/>
              </a:lnSpc>
              <a:spcBef>
                <a:spcPts val="1100"/>
              </a:spcBef>
              <a:spcAft>
                <a:spcPts val="0"/>
              </a:spcAft>
              <a:buClr>
                <a:srgbClr val="05192D"/>
              </a:buClr>
              <a:buSzPts val="1350"/>
              <a:buChar char="●"/>
            </a:pPr>
            <a:r>
              <a:rPr lang="en-US" sz="1350" b="1">
                <a:solidFill>
                  <a:srgbClr val="05192D"/>
                </a:solidFill>
                <a:highlight>
                  <a:srgbClr val="FFFFFF"/>
                </a:highlight>
              </a:rPr>
              <a:t>Unknown or Non-Gaussian Distribution</a:t>
            </a:r>
            <a:r>
              <a:rPr lang="en-US" sz="1350">
                <a:solidFill>
                  <a:srgbClr val="05192D"/>
                </a:solidFill>
                <a:highlight>
                  <a:srgbClr val="FFFFFF"/>
                </a:highlight>
              </a:rPr>
              <a:t>: When the distribution of data is not known or does not follow a normal (Gaussian) pattern. For example in </a:t>
            </a:r>
            <a:r>
              <a:rPr lang="en-US" sz="1350" b="1">
                <a:solidFill>
                  <a:srgbClr val="05192D"/>
                </a:solidFill>
                <a:highlight>
                  <a:srgbClr val="FFFFFF"/>
                </a:highlight>
              </a:rPr>
              <a:t>linear regression</a:t>
            </a:r>
            <a:r>
              <a:rPr lang="en-US" sz="1350">
                <a:solidFill>
                  <a:srgbClr val="05192D"/>
                </a:solidFill>
                <a:highlight>
                  <a:srgbClr val="FFFFFF"/>
                </a:highlight>
              </a:rPr>
              <a:t>, we may want to normalize the dependent variable so it looks more like a bell curve, which allows for better confidence in our estimates.</a:t>
            </a:r>
            <a:endParaRPr sz="1350">
              <a:solidFill>
                <a:srgbClr val="05192D"/>
              </a:solidFill>
              <a:highlight>
                <a:srgbClr val="FFFFFF"/>
              </a:highlight>
            </a:endParaRPr>
          </a:p>
          <a:p>
            <a:pPr marL="457200" lvl="0" indent="-314325" algn="l" rtl="0">
              <a:lnSpc>
                <a:spcPct val="115000"/>
              </a:lnSpc>
              <a:spcBef>
                <a:spcPts val="0"/>
              </a:spcBef>
              <a:spcAft>
                <a:spcPts val="0"/>
              </a:spcAft>
              <a:buClr>
                <a:srgbClr val="05192D"/>
              </a:buClr>
              <a:buSzPts val="1350"/>
              <a:buChar char="●"/>
            </a:pPr>
            <a:r>
              <a:rPr lang="en-US" sz="1350" b="1">
                <a:solidFill>
                  <a:srgbClr val="05192D"/>
                </a:solidFill>
                <a:highlight>
                  <a:srgbClr val="FFFFFF"/>
                </a:highlight>
              </a:rPr>
              <a:t>Distance-Based Algorithms</a:t>
            </a:r>
            <a:r>
              <a:rPr lang="en-US" sz="1350">
                <a:solidFill>
                  <a:srgbClr val="05192D"/>
                </a:solidFill>
                <a:highlight>
                  <a:srgbClr val="FFFFFF"/>
                </a:highlight>
              </a:rPr>
              <a:t>: Normalization is needed when using machine learning algorithms that rely on distances between data points, such as </a:t>
            </a:r>
            <a:r>
              <a:rPr lang="en-US" sz="1350" b="1">
                <a:solidFill>
                  <a:srgbClr val="05192D"/>
                </a:solidFill>
                <a:highlight>
                  <a:srgbClr val="FFFFFF"/>
                </a:highlight>
              </a:rPr>
              <a:t>k-Nearest Neighbors (k-NN)</a:t>
            </a:r>
            <a:r>
              <a:rPr lang="en-US" sz="1350">
                <a:solidFill>
                  <a:srgbClr val="05192D"/>
                </a:solidFill>
                <a:highlight>
                  <a:srgbClr val="FFFFFF"/>
                </a:highlight>
              </a:rPr>
              <a:t>, to prevent features with larger scales from dominating the distance calculations.</a:t>
            </a:r>
            <a:endParaRPr sz="1350">
              <a:solidFill>
                <a:srgbClr val="05192D"/>
              </a:solidFill>
              <a:highlight>
                <a:srgbClr val="FFFFFF"/>
              </a:highlight>
            </a:endParaRPr>
          </a:p>
          <a:p>
            <a:pPr marL="0" lvl="0" indent="0" algn="l" rtl="0">
              <a:lnSpc>
                <a:spcPct val="120000"/>
              </a:lnSpc>
              <a:spcBef>
                <a:spcPts val="2700"/>
              </a:spcBef>
              <a:spcAft>
                <a:spcPts val="0"/>
              </a:spcAft>
              <a:buNone/>
            </a:pPr>
            <a:r>
              <a:rPr lang="en-US" sz="1700" b="1">
                <a:solidFill>
                  <a:srgbClr val="05192D"/>
                </a:solidFill>
                <a:highlight>
                  <a:srgbClr val="FFFFFF"/>
                </a:highlight>
              </a:rPr>
              <a:t>What is Standardization?</a:t>
            </a:r>
            <a:endParaRPr sz="1700" b="1">
              <a:solidFill>
                <a:srgbClr val="05192D"/>
              </a:solidFill>
              <a:highlight>
                <a:srgbClr val="FFFFFF"/>
              </a:highlight>
            </a:endParaRPr>
          </a:p>
          <a:p>
            <a:pPr marL="0" lvl="0" indent="0" algn="l" rtl="0">
              <a:lnSpc>
                <a:spcPct val="115000"/>
              </a:lnSpc>
              <a:spcBef>
                <a:spcPts val="1800"/>
              </a:spcBef>
              <a:spcAft>
                <a:spcPts val="0"/>
              </a:spcAft>
              <a:buNone/>
            </a:pPr>
            <a:r>
              <a:rPr lang="en-US" sz="1100">
                <a:solidFill>
                  <a:srgbClr val="05192D"/>
                </a:solidFill>
                <a:highlight>
                  <a:srgbClr val="FFFFFF"/>
                </a:highlight>
              </a:rPr>
              <a:t>While normalization scales features to a specific range, standardization, which is also called z-score scaling, transforms data to have a mean of 0 and a standard deviation of 1. This process adjusts the feature values by subtracting the mean and dividing by the standard deviation. You might have heard of ‘centering and scaling’ data. Well, standardization refers to the same thing: first centering, then scaling.</a:t>
            </a:r>
            <a:endParaRPr sz="1100">
              <a:solidFill>
                <a:srgbClr val="05192D"/>
              </a:solidFill>
              <a:highlight>
                <a:srgbClr val="FFFFFF"/>
              </a:highlight>
            </a:endParaRPr>
          </a:p>
          <a:p>
            <a:pPr marL="0" lvl="0" indent="0" algn="l" rtl="0">
              <a:lnSpc>
                <a:spcPct val="115000"/>
              </a:lnSpc>
              <a:spcBef>
                <a:spcPts val="1100"/>
              </a:spcBef>
              <a:spcAft>
                <a:spcPts val="0"/>
              </a:spcAft>
              <a:buNone/>
            </a:pPr>
            <a:r>
              <a:rPr lang="en-US" sz="1100">
                <a:solidFill>
                  <a:srgbClr val="05192D"/>
                </a:solidFill>
                <a:highlight>
                  <a:srgbClr val="FFFFFF"/>
                </a:highlight>
              </a:rPr>
              <a:t>The formula for standardization is:</a:t>
            </a:r>
            <a:endParaRPr sz="1100">
              <a:solidFill>
                <a:srgbClr val="05192D"/>
              </a:solidFill>
              <a:highlight>
                <a:srgbClr val="FFFFFF"/>
              </a:highlight>
            </a:endParaRPr>
          </a:p>
          <a:p>
            <a:pPr marL="0" lvl="0" indent="0" algn="l" rtl="0">
              <a:lnSpc>
                <a:spcPct val="115000"/>
              </a:lnSpc>
              <a:spcBef>
                <a:spcPts val="1100"/>
              </a:spcBef>
              <a:spcAft>
                <a:spcPts val="2700"/>
              </a:spcAft>
              <a:buNone/>
            </a:pPr>
            <a:endParaRPr sz="1350">
              <a:solidFill>
                <a:srgbClr val="05192D"/>
              </a:solidFill>
              <a:highlight>
                <a:srgbClr val="FFFFFF"/>
              </a:highlight>
            </a:endParaRPr>
          </a:p>
        </p:txBody>
      </p:sp>
      <p:pic>
        <p:nvPicPr>
          <p:cNvPr id="222" name="Google Shape;222;g36f0d2aa6bf_0_144"/>
          <p:cNvPicPr preferRelativeResize="0"/>
          <p:nvPr/>
        </p:nvPicPr>
        <p:blipFill>
          <a:blip r:embed="rId3">
            <a:alphaModFix/>
          </a:blip>
          <a:stretch>
            <a:fillRect/>
          </a:stretch>
        </p:blipFill>
        <p:spPr>
          <a:xfrm>
            <a:off x="992050" y="5369950"/>
            <a:ext cx="5510101" cy="13263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36f0d2aa6bf_0_152"/>
          <p:cNvSpPr txBox="1"/>
          <p:nvPr/>
        </p:nvSpPr>
        <p:spPr>
          <a:xfrm>
            <a:off x="0" y="0"/>
            <a:ext cx="9068400" cy="541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100">
                <a:solidFill>
                  <a:srgbClr val="05192D"/>
                </a:solidFill>
                <a:highlight>
                  <a:srgbClr val="FFFFFF"/>
                </a:highlight>
              </a:rPr>
              <a:t>Where:</a:t>
            </a:r>
            <a:endParaRPr sz="1100">
              <a:solidFill>
                <a:srgbClr val="05192D"/>
              </a:solidFill>
              <a:highlight>
                <a:srgbClr val="FFFFFF"/>
              </a:highlight>
            </a:endParaRPr>
          </a:p>
          <a:p>
            <a:pPr marL="457200" lvl="0" indent="-314325" algn="l" rtl="0">
              <a:lnSpc>
                <a:spcPct val="115000"/>
              </a:lnSpc>
              <a:spcBef>
                <a:spcPts val="1100"/>
              </a:spcBef>
              <a:spcAft>
                <a:spcPts val="0"/>
              </a:spcAft>
              <a:buClr>
                <a:srgbClr val="05192D"/>
              </a:buClr>
              <a:buSzPts val="1350"/>
              <a:buChar char="●"/>
            </a:pPr>
            <a:r>
              <a:rPr lang="en-US" sz="1350" i="1">
                <a:solidFill>
                  <a:srgbClr val="05192D"/>
                </a:solidFill>
                <a:highlight>
                  <a:srgbClr val="FFFFFF"/>
                </a:highlight>
              </a:rPr>
              <a:t>X</a:t>
            </a:r>
            <a:r>
              <a:rPr lang="en-US" sz="1350">
                <a:solidFill>
                  <a:srgbClr val="05192D"/>
                </a:solidFill>
                <a:highlight>
                  <a:srgbClr val="FFFFFF"/>
                </a:highlight>
              </a:rPr>
              <a:t> is the original value,</a:t>
            </a:r>
            <a:endParaRPr sz="1350">
              <a:solidFill>
                <a:srgbClr val="05192D"/>
              </a:solidFill>
              <a:highlight>
                <a:srgbClr val="FFFFFF"/>
              </a:highlight>
            </a:endParaRPr>
          </a:p>
          <a:p>
            <a:pPr marL="457200" lvl="0" indent="-314325" algn="l" rtl="0">
              <a:lnSpc>
                <a:spcPct val="115000"/>
              </a:lnSpc>
              <a:spcBef>
                <a:spcPts val="0"/>
              </a:spcBef>
              <a:spcAft>
                <a:spcPts val="0"/>
              </a:spcAft>
              <a:buClr>
                <a:srgbClr val="05192D"/>
              </a:buClr>
              <a:buSzPts val="1350"/>
              <a:buChar char="●"/>
            </a:pPr>
            <a:r>
              <a:rPr lang="en-US" sz="1350" i="1">
                <a:solidFill>
                  <a:srgbClr val="05192D"/>
                </a:solidFill>
                <a:highlight>
                  <a:srgbClr val="FFFFFF"/>
                </a:highlight>
              </a:rPr>
              <a:t>mu </a:t>
            </a:r>
            <a:r>
              <a:rPr lang="en-US" sz="1350">
                <a:solidFill>
                  <a:srgbClr val="05192D"/>
                </a:solidFill>
                <a:highlight>
                  <a:srgbClr val="FFFFFF"/>
                </a:highlight>
              </a:rPr>
              <a:t>is the mean of the feature, and</a:t>
            </a:r>
            <a:endParaRPr sz="1350">
              <a:solidFill>
                <a:srgbClr val="05192D"/>
              </a:solidFill>
              <a:highlight>
                <a:srgbClr val="FFFFFF"/>
              </a:highlight>
            </a:endParaRPr>
          </a:p>
          <a:p>
            <a:pPr marL="457200" lvl="0" indent="-314325" algn="l" rtl="0">
              <a:lnSpc>
                <a:spcPct val="115000"/>
              </a:lnSpc>
              <a:spcBef>
                <a:spcPts val="0"/>
              </a:spcBef>
              <a:spcAft>
                <a:spcPts val="0"/>
              </a:spcAft>
              <a:buClr>
                <a:srgbClr val="05192D"/>
              </a:buClr>
              <a:buSzPts val="1350"/>
              <a:buChar char="●"/>
            </a:pPr>
            <a:r>
              <a:rPr lang="en-US" sz="1350" i="1">
                <a:solidFill>
                  <a:srgbClr val="05192D"/>
                </a:solidFill>
                <a:highlight>
                  <a:srgbClr val="FFFFFF"/>
                </a:highlight>
              </a:rPr>
              <a:t>sigma</a:t>
            </a:r>
            <a:r>
              <a:rPr lang="en-US" sz="1350">
                <a:solidFill>
                  <a:srgbClr val="05192D"/>
                </a:solidFill>
                <a:highlight>
                  <a:srgbClr val="FFFFFF"/>
                </a:highlight>
              </a:rPr>
              <a:t> is the standard deviation of the feature.</a:t>
            </a:r>
            <a:endParaRPr sz="1350">
              <a:solidFill>
                <a:srgbClr val="05192D"/>
              </a:solidFill>
              <a:highlight>
                <a:srgbClr val="FFFFFF"/>
              </a:highlight>
            </a:endParaRPr>
          </a:p>
          <a:p>
            <a:pPr marL="0" lvl="0" indent="0" algn="l" rtl="0">
              <a:lnSpc>
                <a:spcPct val="115000"/>
              </a:lnSpc>
              <a:spcBef>
                <a:spcPts val="2700"/>
              </a:spcBef>
              <a:spcAft>
                <a:spcPts val="0"/>
              </a:spcAft>
              <a:buNone/>
            </a:pPr>
            <a:r>
              <a:rPr lang="en-US" sz="1100">
                <a:solidFill>
                  <a:srgbClr val="05192D"/>
                </a:solidFill>
                <a:highlight>
                  <a:srgbClr val="FFFFFF"/>
                </a:highlight>
              </a:rPr>
              <a:t>This formula rescales the data in such a way that its distribution has a mean of 0 and a standard deviation of 1.</a:t>
            </a:r>
            <a:endParaRPr sz="1100">
              <a:solidFill>
                <a:srgbClr val="05192D"/>
              </a:solidFill>
              <a:highlight>
                <a:srgbClr val="FFFFFF"/>
              </a:highlight>
            </a:endParaRPr>
          </a:p>
          <a:p>
            <a:pPr marL="0" lvl="0" indent="0" algn="l" rtl="0">
              <a:lnSpc>
                <a:spcPct val="115000"/>
              </a:lnSpc>
              <a:spcBef>
                <a:spcPts val="1100"/>
              </a:spcBef>
              <a:spcAft>
                <a:spcPts val="0"/>
              </a:spcAft>
              <a:buNone/>
            </a:pPr>
            <a:endParaRPr sz="1100">
              <a:solidFill>
                <a:srgbClr val="05192D"/>
              </a:solidFill>
              <a:highlight>
                <a:srgbClr val="FFFFFF"/>
              </a:highlight>
            </a:endParaRPr>
          </a:p>
          <a:p>
            <a:pPr marL="0" lvl="0" indent="0" algn="l" rtl="0">
              <a:lnSpc>
                <a:spcPct val="115000"/>
              </a:lnSpc>
              <a:spcBef>
                <a:spcPts val="1200"/>
              </a:spcBef>
              <a:spcAft>
                <a:spcPts val="0"/>
              </a:spcAft>
              <a:buNone/>
            </a:pPr>
            <a:r>
              <a:rPr lang="en-US" sz="1300" b="1">
                <a:solidFill>
                  <a:srgbClr val="05192D"/>
                </a:solidFill>
                <a:highlight>
                  <a:srgbClr val="FFFFFF"/>
                </a:highlight>
              </a:rPr>
              <a:t>When should you standardize data?</a:t>
            </a:r>
            <a:endParaRPr sz="1300" b="1">
              <a:solidFill>
                <a:srgbClr val="05192D"/>
              </a:solidFill>
              <a:highlight>
                <a:srgbClr val="FFFFFF"/>
              </a:highlight>
            </a:endParaRPr>
          </a:p>
          <a:p>
            <a:pPr marL="0" lvl="0" indent="0" algn="l" rtl="0">
              <a:lnSpc>
                <a:spcPct val="115000"/>
              </a:lnSpc>
              <a:spcBef>
                <a:spcPts val="1200"/>
              </a:spcBef>
              <a:spcAft>
                <a:spcPts val="0"/>
              </a:spcAft>
              <a:buNone/>
            </a:pPr>
            <a:r>
              <a:rPr lang="en-US" sz="1100">
                <a:solidFill>
                  <a:srgbClr val="05192D"/>
                </a:solidFill>
                <a:highlight>
                  <a:srgbClr val="FFFFFF"/>
                </a:highlight>
              </a:rPr>
              <a:t>Standardization is most appropriate in the following cases:</a:t>
            </a:r>
            <a:endParaRPr sz="1100">
              <a:solidFill>
                <a:srgbClr val="05192D"/>
              </a:solidFill>
              <a:highlight>
                <a:srgbClr val="FFFFFF"/>
              </a:highlight>
            </a:endParaRPr>
          </a:p>
          <a:p>
            <a:pPr marL="457200" lvl="0" indent="-314325" algn="l" rtl="0">
              <a:lnSpc>
                <a:spcPct val="115000"/>
              </a:lnSpc>
              <a:spcBef>
                <a:spcPts val="1100"/>
              </a:spcBef>
              <a:spcAft>
                <a:spcPts val="0"/>
              </a:spcAft>
              <a:buClr>
                <a:srgbClr val="05192D"/>
              </a:buClr>
              <a:buSzPts val="1350"/>
              <a:buChar char="●"/>
            </a:pPr>
            <a:r>
              <a:rPr lang="en-US" sz="1350" b="1">
                <a:solidFill>
                  <a:srgbClr val="05192D"/>
                </a:solidFill>
                <a:highlight>
                  <a:srgbClr val="FFFFFF"/>
                </a:highlight>
              </a:rPr>
              <a:t>Gradient-based Algorithms</a:t>
            </a:r>
            <a:r>
              <a:rPr lang="en-US" sz="1350">
                <a:solidFill>
                  <a:srgbClr val="05192D"/>
                </a:solidFill>
                <a:highlight>
                  <a:srgbClr val="FFFFFF"/>
                </a:highlight>
              </a:rPr>
              <a:t>: </a:t>
            </a:r>
            <a:r>
              <a:rPr lang="en-US" sz="1350" b="1">
                <a:solidFill>
                  <a:srgbClr val="05192D"/>
                </a:solidFill>
                <a:highlight>
                  <a:srgbClr val="FFFFFF"/>
                </a:highlight>
              </a:rPr>
              <a:t>Support Vector Machine (SVM)</a:t>
            </a:r>
            <a:r>
              <a:rPr lang="en-US" sz="1350">
                <a:solidFill>
                  <a:srgbClr val="05192D"/>
                </a:solidFill>
                <a:highlight>
                  <a:srgbClr val="FFFFFF"/>
                </a:highlight>
              </a:rPr>
              <a:t> requires standardized data for optimal performance. While models like linear regression and logistic regression do not assume standardization, they may still benefit from it, particularly when features vary widely in magnitude, helping ensure balanced contributions from each feature and improving optimization.</a:t>
            </a:r>
            <a:endParaRPr sz="1350">
              <a:solidFill>
                <a:srgbClr val="05192D"/>
              </a:solidFill>
              <a:highlight>
                <a:srgbClr val="FFFFFF"/>
              </a:highlight>
            </a:endParaRPr>
          </a:p>
          <a:p>
            <a:pPr marL="457200" lvl="0" indent="-314325" algn="l" rtl="0">
              <a:lnSpc>
                <a:spcPct val="115000"/>
              </a:lnSpc>
              <a:spcBef>
                <a:spcPts val="0"/>
              </a:spcBef>
              <a:spcAft>
                <a:spcPts val="0"/>
              </a:spcAft>
              <a:buClr>
                <a:srgbClr val="05192D"/>
              </a:buClr>
              <a:buSzPts val="1350"/>
              <a:buChar char="●"/>
            </a:pPr>
            <a:r>
              <a:rPr lang="en-US" sz="1350" b="1">
                <a:solidFill>
                  <a:srgbClr val="05192D"/>
                </a:solidFill>
                <a:highlight>
                  <a:srgbClr val="FFFFFF"/>
                </a:highlight>
              </a:rPr>
              <a:t>Dimensionality Reduction</a:t>
            </a:r>
            <a:r>
              <a:rPr lang="en-US" sz="1350">
                <a:solidFill>
                  <a:srgbClr val="05192D"/>
                </a:solidFill>
                <a:highlight>
                  <a:srgbClr val="FFFFFF"/>
                </a:highlight>
              </a:rPr>
              <a:t>: Standardization is in dimensionality reduction techniques like </a:t>
            </a:r>
            <a:r>
              <a:rPr lang="en-US" sz="1350" b="1">
                <a:solidFill>
                  <a:srgbClr val="05192D"/>
                </a:solidFill>
                <a:highlight>
                  <a:srgbClr val="FFFFFF"/>
                </a:highlight>
              </a:rPr>
              <a:t>PCA(Principal Comonent Ana;ysis) </a:t>
            </a:r>
            <a:r>
              <a:rPr lang="en-US" sz="1350">
                <a:solidFill>
                  <a:srgbClr val="05192D"/>
                </a:solidFill>
                <a:highlight>
                  <a:srgbClr val="FFFFFF"/>
                </a:highlight>
              </a:rPr>
              <a:t> because PCA identifies the direction where the variance in the data is maximized. Mean normalization alone is not sufficient because PCA considers both the mean and variance, and different feature scales would distort the analysis.</a:t>
            </a:r>
            <a:endParaRPr sz="1350">
              <a:solidFill>
                <a:srgbClr val="05192D"/>
              </a:solidFill>
              <a:highlight>
                <a:srgbClr val="FFFFFF"/>
              </a:highlight>
            </a:endParaRPr>
          </a:p>
          <a:p>
            <a:pPr marL="0" lvl="0" indent="0" algn="l" rtl="0">
              <a:lnSpc>
                <a:spcPct val="115000"/>
              </a:lnSpc>
              <a:spcBef>
                <a:spcPts val="2700"/>
              </a:spcBef>
              <a:spcAft>
                <a:spcPts val="1100"/>
              </a:spcAft>
              <a:buNone/>
            </a:pPr>
            <a:endParaRPr sz="1100">
              <a:solidFill>
                <a:srgbClr val="05192D"/>
              </a:solidFill>
              <a:highlight>
                <a:srgbClr val="FFFFFF"/>
              </a:highlight>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6f0d2aa6bf_0_159"/>
          <p:cNvSpPr txBox="1"/>
          <p:nvPr/>
        </p:nvSpPr>
        <p:spPr>
          <a:xfrm>
            <a:off x="0" y="0"/>
            <a:ext cx="9068400" cy="55209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800"/>
              </a:spcBef>
              <a:spcAft>
                <a:spcPts val="0"/>
              </a:spcAft>
              <a:buNone/>
            </a:pPr>
            <a:r>
              <a:rPr lang="en-US" sz="1700" b="1">
                <a:solidFill>
                  <a:srgbClr val="05192D"/>
                </a:solidFill>
                <a:highlight>
                  <a:srgbClr val="FFFFFF"/>
                </a:highlight>
              </a:rPr>
              <a:t>Normalization vs. Standardization: Key Differences</a:t>
            </a:r>
            <a:endParaRPr sz="1700" b="1">
              <a:solidFill>
                <a:srgbClr val="05192D"/>
              </a:solidFill>
              <a:highlight>
                <a:srgbClr val="FFFFFF"/>
              </a:highlight>
            </a:endParaRPr>
          </a:p>
          <a:p>
            <a:pPr marL="0" lvl="0" indent="0" algn="l" rtl="0">
              <a:lnSpc>
                <a:spcPct val="115000"/>
              </a:lnSpc>
              <a:spcBef>
                <a:spcPts val="1800"/>
              </a:spcBef>
              <a:spcAft>
                <a:spcPts val="0"/>
              </a:spcAft>
              <a:buNone/>
            </a:pPr>
            <a:r>
              <a:rPr lang="en-US" sz="1100">
                <a:solidFill>
                  <a:srgbClr val="05192D"/>
                </a:solidFill>
                <a:highlight>
                  <a:srgbClr val="FFFFFF"/>
                </a:highlight>
              </a:rPr>
              <a:t>Sometimes, it’s difficult to distinguish between normalization and standardization. For one thing, normalization is sometimes used as a more general term, while standardization has a meaning that is a little more specific or specifically technical. Also, data analysts and data scientists who are familiar with the terms might still struggle to distinguish use cases.</a:t>
            </a:r>
            <a:endParaRPr sz="1100">
              <a:solidFill>
                <a:srgbClr val="05192D"/>
              </a:solidFill>
              <a:highlight>
                <a:srgbClr val="FFFFFF"/>
              </a:highlight>
            </a:endParaRPr>
          </a:p>
          <a:p>
            <a:pPr marL="0" lvl="0" indent="0" algn="l" rtl="0">
              <a:lnSpc>
                <a:spcPct val="115000"/>
              </a:lnSpc>
              <a:spcBef>
                <a:spcPts val="1100"/>
              </a:spcBef>
              <a:spcAft>
                <a:spcPts val="0"/>
              </a:spcAft>
              <a:buNone/>
            </a:pPr>
            <a:r>
              <a:rPr lang="en-US" sz="1100">
                <a:solidFill>
                  <a:srgbClr val="05192D"/>
                </a:solidFill>
                <a:highlight>
                  <a:srgbClr val="FFFFFF"/>
                </a:highlight>
              </a:rPr>
              <a:t>While both are feature scaling techniques, they differ in their approaches and applications. Understanding these differences is key to choosing the right technique for your machine learning model.</a:t>
            </a:r>
            <a:endParaRPr sz="1100">
              <a:solidFill>
                <a:srgbClr val="05192D"/>
              </a:solidFill>
              <a:highlight>
                <a:srgbClr val="FFFFFF"/>
              </a:highlight>
            </a:endParaRPr>
          </a:p>
          <a:p>
            <a:pPr marL="0" lvl="0" indent="0" algn="l" rtl="0">
              <a:lnSpc>
                <a:spcPct val="115000"/>
              </a:lnSpc>
              <a:spcBef>
                <a:spcPts val="1200"/>
              </a:spcBef>
              <a:spcAft>
                <a:spcPts val="0"/>
              </a:spcAft>
              <a:buNone/>
            </a:pPr>
            <a:r>
              <a:rPr lang="en-US" sz="1300" b="1">
                <a:solidFill>
                  <a:srgbClr val="05192D"/>
                </a:solidFill>
                <a:highlight>
                  <a:srgbClr val="FFFFFF"/>
                </a:highlight>
              </a:rPr>
              <a:t>Rescaling methods</a:t>
            </a:r>
            <a:endParaRPr sz="1300" b="1">
              <a:solidFill>
                <a:srgbClr val="05192D"/>
              </a:solidFill>
              <a:highlight>
                <a:srgbClr val="FFFFFF"/>
              </a:highlight>
            </a:endParaRPr>
          </a:p>
          <a:p>
            <a:pPr marL="0" lvl="0" indent="0" algn="l" rtl="0">
              <a:lnSpc>
                <a:spcPct val="115000"/>
              </a:lnSpc>
              <a:spcBef>
                <a:spcPts val="1200"/>
              </a:spcBef>
              <a:spcAft>
                <a:spcPts val="0"/>
              </a:spcAft>
              <a:buNone/>
            </a:pPr>
            <a:r>
              <a:rPr lang="en-US" sz="1100">
                <a:solidFill>
                  <a:srgbClr val="05192D"/>
                </a:solidFill>
                <a:highlight>
                  <a:srgbClr val="FFFFFF"/>
                </a:highlight>
              </a:rPr>
              <a:t>Normalization rescales feature values within a predefined range, often between 0 and 1, which is particularly useful for models where the scale of features varies greatly. In contrast, standardization centers data around the mean (0) and scales it according to the standard deviation (1).</a:t>
            </a:r>
            <a:endParaRPr sz="1100">
              <a:solidFill>
                <a:srgbClr val="05192D"/>
              </a:solidFill>
              <a:highlight>
                <a:srgbClr val="FFFFFF"/>
              </a:highlight>
            </a:endParaRPr>
          </a:p>
          <a:p>
            <a:pPr marL="0" lvl="0" indent="0" algn="l" rtl="0">
              <a:lnSpc>
                <a:spcPct val="115000"/>
              </a:lnSpc>
              <a:spcBef>
                <a:spcPts val="1200"/>
              </a:spcBef>
              <a:spcAft>
                <a:spcPts val="0"/>
              </a:spcAft>
              <a:buNone/>
            </a:pPr>
            <a:r>
              <a:rPr lang="en-US" sz="1300" b="1">
                <a:solidFill>
                  <a:srgbClr val="05192D"/>
                </a:solidFill>
                <a:highlight>
                  <a:srgbClr val="FFFFFF"/>
                </a:highlight>
              </a:rPr>
              <a:t>Sensitivity to outliers</a:t>
            </a:r>
            <a:endParaRPr sz="1300" b="1">
              <a:solidFill>
                <a:srgbClr val="05192D"/>
              </a:solidFill>
              <a:highlight>
                <a:srgbClr val="FFFFFF"/>
              </a:highlight>
            </a:endParaRPr>
          </a:p>
          <a:p>
            <a:pPr marL="0" lvl="0" indent="0" algn="l" rtl="0">
              <a:lnSpc>
                <a:spcPct val="115000"/>
              </a:lnSpc>
              <a:spcBef>
                <a:spcPts val="1200"/>
              </a:spcBef>
              <a:spcAft>
                <a:spcPts val="0"/>
              </a:spcAft>
              <a:buNone/>
            </a:pPr>
            <a:r>
              <a:rPr lang="en-US" sz="1100">
                <a:solidFill>
                  <a:srgbClr val="05192D"/>
                </a:solidFill>
                <a:highlight>
                  <a:srgbClr val="FFFFFF"/>
                </a:highlight>
              </a:rPr>
              <a:t>Different normalization techniques vary in their effectiveness at handling outliers. Mean normalization can successfully adjust for outliers in some scenarios, but other techniques might not be as effective. In general, normalization techniques do not handle the outlier problem as effectively as standardization because standardization explicitly relies on both the mean and the standard deviation.</a:t>
            </a:r>
            <a:endParaRPr sz="1100">
              <a:solidFill>
                <a:srgbClr val="05192D"/>
              </a:solidFill>
              <a:highlight>
                <a:srgbClr val="FFFFFF"/>
              </a:highlight>
            </a:endParaRPr>
          </a:p>
          <a:p>
            <a:pPr marL="0" lvl="0" indent="0" algn="l" rtl="0">
              <a:lnSpc>
                <a:spcPct val="115000"/>
              </a:lnSpc>
              <a:spcBef>
                <a:spcPts val="1200"/>
              </a:spcBef>
              <a:spcAft>
                <a:spcPts val="0"/>
              </a:spcAft>
              <a:buNone/>
            </a:pPr>
            <a:r>
              <a:rPr lang="en-US" sz="1300" b="1">
                <a:solidFill>
                  <a:srgbClr val="05192D"/>
                </a:solidFill>
                <a:highlight>
                  <a:srgbClr val="FFFFFF"/>
                </a:highlight>
              </a:rPr>
              <a:t>Use cases</a:t>
            </a:r>
            <a:endParaRPr sz="1300" b="1">
              <a:solidFill>
                <a:srgbClr val="05192D"/>
              </a:solidFill>
              <a:highlight>
                <a:srgbClr val="FFFFFF"/>
              </a:highlight>
            </a:endParaRPr>
          </a:p>
          <a:p>
            <a:pPr marL="0" lvl="0" indent="0" algn="l" rtl="0">
              <a:lnSpc>
                <a:spcPct val="115000"/>
              </a:lnSpc>
              <a:spcBef>
                <a:spcPts val="1200"/>
              </a:spcBef>
              <a:spcAft>
                <a:spcPts val="0"/>
              </a:spcAft>
              <a:buNone/>
            </a:pPr>
            <a:r>
              <a:rPr lang="en-US" sz="1100">
                <a:solidFill>
                  <a:srgbClr val="05192D"/>
                </a:solidFill>
                <a:highlight>
                  <a:srgbClr val="FFFFFF"/>
                </a:highlight>
              </a:rPr>
              <a:t>Normalization is widely used in distance-based algorithms like k-Nearest Neighbors (k-NN), where features must be on the same scale to ensure accuracy in distance calculations. Standardization, on the other hand, is vital for gradient-based algorithms such as Support Vector Machines (SVM) and is frequently applied in dimensionality reduction techniques like PCA, where maintaining the correct feature variance is important.</a:t>
            </a:r>
            <a:endParaRPr sz="1100">
              <a:solidFill>
                <a:srgbClr val="05192D"/>
              </a:solidFill>
              <a:highlight>
                <a:srgbClr val="FFFFFF"/>
              </a:highlight>
            </a:endParaRPr>
          </a:p>
          <a:p>
            <a:pPr marL="0" lvl="0" indent="0" algn="l" rtl="0">
              <a:lnSpc>
                <a:spcPct val="115000"/>
              </a:lnSpc>
              <a:spcBef>
                <a:spcPts val="1100"/>
              </a:spcBef>
              <a:spcAft>
                <a:spcPts val="1100"/>
              </a:spcAft>
              <a:buNone/>
            </a:pPr>
            <a:endParaRPr sz="1100">
              <a:solidFill>
                <a:srgbClr val="05192D"/>
              </a:solidFill>
              <a:highlight>
                <a:srgbClr val="FFFFFF"/>
              </a:highlight>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36f0d2aa6bf_0_167"/>
          <p:cNvSpPr txBox="1"/>
          <p:nvPr/>
        </p:nvSpPr>
        <p:spPr>
          <a:xfrm>
            <a:off x="0" y="0"/>
            <a:ext cx="9047100" cy="16242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1800"/>
              </a:spcBef>
              <a:spcAft>
                <a:spcPts val="0"/>
              </a:spcAft>
              <a:buNone/>
            </a:pPr>
            <a:r>
              <a:rPr lang="en-US" sz="1700" b="1">
                <a:solidFill>
                  <a:srgbClr val="05192D"/>
                </a:solidFill>
                <a:highlight>
                  <a:srgbClr val="FFFFFF"/>
                </a:highlight>
              </a:rPr>
              <a:t>Visualizing the Differences</a:t>
            </a:r>
            <a:endParaRPr sz="1700" b="1">
              <a:solidFill>
                <a:srgbClr val="05192D"/>
              </a:solidFill>
              <a:highlight>
                <a:srgbClr val="FFFFFF"/>
              </a:highlight>
            </a:endParaRPr>
          </a:p>
          <a:p>
            <a:pPr marL="0" lvl="0" indent="0" algn="l" rtl="0">
              <a:lnSpc>
                <a:spcPct val="115000"/>
              </a:lnSpc>
              <a:spcBef>
                <a:spcPts val="1800"/>
              </a:spcBef>
              <a:spcAft>
                <a:spcPts val="0"/>
              </a:spcAft>
              <a:buNone/>
            </a:pPr>
            <a:r>
              <a:rPr lang="en-US" sz="1100">
                <a:solidFill>
                  <a:srgbClr val="05192D"/>
                </a:solidFill>
                <a:highlight>
                  <a:srgbClr val="FFFFFF"/>
                </a:highlight>
              </a:rPr>
              <a:t>To understand the differences between normalization and standardization, it is helpful to see their effects visually and in terms of model performance. Here, I have included boxplots to show these different feature scaling techniques. Here, I have used min-max normalization on each of the variables in my dataset. We can see that no value is lower than 0 or bigger than 1.</a:t>
            </a:r>
            <a:endParaRPr sz="1100">
              <a:solidFill>
                <a:srgbClr val="05192D"/>
              </a:solidFill>
              <a:highlight>
                <a:srgbClr val="FFFFFF"/>
              </a:highlight>
            </a:endParaRPr>
          </a:p>
          <a:p>
            <a:pPr marL="0" lvl="0" indent="0" algn="l" rtl="0">
              <a:lnSpc>
                <a:spcPct val="115000"/>
              </a:lnSpc>
              <a:spcBef>
                <a:spcPts val="1100"/>
              </a:spcBef>
              <a:spcAft>
                <a:spcPts val="0"/>
              </a:spcAft>
              <a:buNone/>
            </a:pPr>
            <a:endParaRPr sz="1100">
              <a:solidFill>
                <a:schemeClr val="dk1"/>
              </a:solidFill>
            </a:endParaRPr>
          </a:p>
        </p:txBody>
      </p:sp>
      <p:pic>
        <p:nvPicPr>
          <p:cNvPr id="238" name="Google Shape;238;g36f0d2aa6bf_0_167"/>
          <p:cNvPicPr preferRelativeResize="0"/>
          <p:nvPr/>
        </p:nvPicPr>
        <p:blipFill>
          <a:blip r:embed="rId3">
            <a:alphaModFix/>
          </a:blip>
          <a:stretch>
            <a:fillRect/>
          </a:stretch>
        </p:blipFill>
        <p:spPr>
          <a:xfrm>
            <a:off x="324925" y="1366850"/>
            <a:ext cx="7960053" cy="4929001"/>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6f0d2aa6bf_0_174"/>
          <p:cNvSpPr txBox="1"/>
          <p:nvPr/>
        </p:nvSpPr>
        <p:spPr>
          <a:xfrm>
            <a:off x="0" y="0"/>
            <a:ext cx="9079200" cy="68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100">
                <a:solidFill>
                  <a:srgbClr val="05192D"/>
                </a:solidFill>
                <a:highlight>
                  <a:srgbClr val="FFFFFF"/>
                </a:highlight>
              </a:rPr>
              <a:t>In this second visual, I have used standardization on each of the variables. We can see that the data is centered at zero. </a:t>
            </a:r>
            <a:endParaRPr sz="1100">
              <a:solidFill>
                <a:srgbClr val="05192D"/>
              </a:solidFill>
              <a:highlight>
                <a:srgbClr val="FFFFFF"/>
              </a:highlight>
            </a:endParaRPr>
          </a:p>
          <a:p>
            <a:pPr marL="0" lvl="0" indent="0" algn="l" rtl="0">
              <a:lnSpc>
                <a:spcPct val="115000"/>
              </a:lnSpc>
              <a:spcBef>
                <a:spcPts val="1100"/>
              </a:spcBef>
              <a:spcAft>
                <a:spcPts val="0"/>
              </a:spcAft>
              <a:buNone/>
            </a:pPr>
            <a:endParaRPr sz="1100">
              <a:solidFill>
                <a:schemeClr val="dk1"/>
              </a:solidFill>
            </a:endParaRPr>
          </a:p>
        </p:txBody>
      </p:sp>
      <p:pic>
        <p:nvPicPr>
          <p:cNvPr id="244" name="Google Shape;244;g36f0d2aa6bf_0_174"/>
          <p:cNvPicPr preferRelativeResize="0"/>
          <p:nvPr/>
        </p:nvPicPr>
        <p:blipFill>
          <a:blip r:embed="rId3">
            <a:alphaModFix/>
          </a:blip>
          <a:stretch>
            <a:fillRect/>
          </a:stretch>
        </p:blipFill>
        <p:spPr>
          <a:xfrm>
            <a:off x="120000" y="518600"/>
            <a:ext cx="8839199" cy="5510564"/>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36f0d2aa6bf_0_181"/>
          <p:cNvSpPr txBox="1"/>
          <p:nvPr/>
        </p:nvSpPr>
        <p:spPr>
          <a:xfrm>
            <a:off x="0" y="0"/>
            <a:ext cx="9079200" cy="825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b="1"/>
              <a:t>Encoding categorical variable:</a:t>
            </a:r>
            <a:endParaRPr sz="2200" b="1"/>
          </a:p>
          <a:p>
            <a:pPr marL="0" lvl="0" indent="0" algn="l" rtl="0">
              <a:spcBef>
                <a:spcPts val="0"/>
              </a:spcBef>
              <a:spcAft>
                <a:spcPts val="0"/>
              </a:spcAft>
              <a:buNone/>
            </a:pPr>
            <a:r>
              <a:rPr lang="en-US"/>
              <a:t>Data Encoding is an important pre-processing step in Machine Learning. It refers to the process of converting categorical or textual data into numerical format, so that it can be used as input for algorithms to process. The reason for encoding is that most machine learning algorithms work with numbers and not with text or categorical variables.</a:t>
            </a:r>
            <a:endParaRPr/>
          </a:p>
          <a:p>
            <a:pPr marL="0" lvl="0" indent="0" algn="l" rtl="0">
              <a:spcBef>
                <a:spcPts val="0"/>
              </a:spcBef>
              <a:spcAft>
                <a:spcPts val="0"/>
              </a:spcAft>
              <a:buNone/>
            </a:pPr>
            <a:endParaRPr/>
          </a:p>
          <a:p>
            <a:pPr marL="0" lvl="0" indent="0" algn="l" rtl="0">
              <a:spcBef>
                <a:spcPts val="0"/>
              </a:spcBef>
              <a:spcAft>
                <a:spcPts val="0"/>
              </a:spcAft>
              <a:buNone/>
            </a:pPr>
            <a:r>
              <a:rPr lang="en-US" sz="1800" b="1">
                <a:solidFill>
                  <a:srgbClr val="242424"/>
                </a:solidFill>
                <a:highlight>
                  <a:srgbClr val="FFFFFF"/>
                </a:highlight>
              </a:rPr>
              <a:t>What is Categorical Data?</a:t>
            </a:r>
            <a:endParaRPr sz="1800" b="1">
              <a:solidFill>
                <a:srgbClr val="242424"/>
              </a:solidFill>
              <a:highlight>
                <a:srgbClr val="FFFFFF"/>
              </a:highlight>
            </a:endParaRPr>
          </a:p>
          <a:p>
            <a:pPr marL="0" lvl="0" indent="0" algn="l" rtl="0">
              <a:spcBef>
                <a:spcPts val="0"/>
              </a:spcBef>
              <a:spcAft>
                <a:spcPts val="0"/>
              </a:spcAft>
              <a:buNone/>
            </a:pPr>
            <a:r>
              <a:rPr lang="en-US" sz="1500">
                <a:solidFill>
                  <a:srgbClr val="242424"/>
                </a:solidFill>
                <a:highlight>
                  <a:srgbClr val="FFFFFF"/>
                </a:highlight>
                <a:latin typeface="Georgia"/>
                <a:ea typeface="Georgia"/>
                <a:cs typeface="Georgia"/>
                <a:sym typeface="Georgia"/>
              </a:rPr>
              <a:t>When we collect data, we often encounter different types of variables. One such type is categorical variables. Categorical variables are usually represented as ‘strings’ or ‘categories’ and are finite in number.</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1400"/>
              </a:spcBef>
              <a:spcAft>
                <a:spcPts val="0"/>
              </a:spcAft>
              <a:buClr>
                <a:schemeClr val="dk1"/>
              </a:buClr>
              <a:buSzPts val="1100"/>
              <a:buFont typeface="Arial"/>
              <a:buNone/>
            </a:pPr>
            <a:r>
              <a:rPr lang="en-US" sz="1500">
                <a:solidFill>
                  <a:srgbClr val="242424"/>
                </a:solidFill>
                <a:highlight>
                  <a:srgbClr val="FFFFFF"/>
                </a:highlight>
                <a:latin typeface="Georgia"/>
                <a:ea typeface="Georgia"/>
                <a:cs typeface="Georgia"/>
                <a:sym typeface="Georgia"/>
              </a:rPr>
              <a:t>There are two types of categorical data -</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3200"/>
              </a:spcBef>
              <a:spcAft>
                <a:spcPts val="0"/>
              </a:spcAft>
              <a:buNone/>
            </a:pPr>
            <a:r>
              <a:rPr lang="en-US" sz="1500">
                <a:solidFill>
                  <a:srgbClr val="242424"/>
                </a:solidFill>
                <a:highlight>
                  <a:srgbClr val="FFFFFF"/>
                </a:highlight>
                <a:latin typeface="Georgia"/>
                <a:ea typeface="Georgia"/>
                <a:cs typeface="Georgia"/>
                <a:sym typeface="Georgia"/>
              </a:rPr>
              <a:t>• </a:t>
            </a:r>
            <a:r>
              <a:rPr lang="en-US" sz="1500" b="1" i="1">
                <a:solidFill>
                  <a:srgbClr val="242424"/>
                </a:solidFill>
                <a:highlight>
                  <a:srgbClr val="FFFFFF"/>
                </a:highlight>
                <a:latin typeface="Georgia"/>
                <a:ea typeface="Georgia"/>
                <a:cs typeface="Georgia"/>
                <a:sym typeface="Georgia"/>
              </a:rPr>
              <a:t>Ordinal Data</a:t>
            </a:r>
            <a:endParaRPr sz="1500" b="1" i="1">
              <a:solidFill>
                <a:srgbClr val="242424"/>
              </a:solidFill>
              <a:highlight>
                <a:srgbClr val="FFFFFF"/>
              </a:highlight>
              <a:latin typeface="Georgia"/>
              <a:ea typeface="Georgia"/>
              <a:cs typeface="Georgia"/>
              <a:sym typeface="Georgia"/>
            </a:endParaRPr>
          </a:p>
          <a:p>
            <a:pPr marL="0" lvl="0" indent="0" algn="l" rtl="0">
              <a:lnSpc>
                <a:spcPct val="100000"/>
              </a:lnSpc>
              <a:spcBef>
                <a:spcPts val="3200"/>
              </a:spcBef>
              <a:spcAft>
                <a:spcPts val="0"/>
              </a:spcAft>
              <a:buNone/>
            </a:pPr>
            <a:r>
              <a:rPr lang="en-US" sz="1500" i="1">
                <a:solidFill>
                  <a:srgbClr val="242424"/>
                </a:solidFill>
                <a:highlight>
                  <a:srgbClr val="FFFFFF"/>
                </a:highlight>
                <a:latin typeface="Georgia"/>
                <a:ea typeface="Georgia"/>
                <a:cs typeface="Georgia"/>
                <a:sym typeface="Georgia"/>
              </a:rPr>
              <a:t>• </a:t>
            </a:r>
            <a:r>
              <a:rPr lang="en-US" sz="1500" b="1" i="1">
                <a:solidFill>
                  <a:srgbClr val="242424"/>
                </a:solidFill>
                <a:highlight>
                  <a:srgbClr val="FFFFFF"/>
                </a:highlight>
                <a:latin typeface="Georgia"/>
                <a:ea typeface="Georgia"/>
                <a:cs typeface="Georgia"/>
                <a:sym typeface="Georgia"/>
              </a:rPr>
              <a:t>Nominal Data</a:t>
            </a:r>
            <a:endParaRPr sz="1500" b="1" i="1">
              <a:solidFill>
                <a:srgbClr val="242424"/>
              </a:solidFill>
              <a:highlight>
                <a:srgbClr val="FFFFFF"/>
              </a:highlight>
              <a:latin typeface="Georgia"/>
              <a:ea typeface="Georgia"/>
              <a:cs typeface="Georgia"/>
              <a:sym typeface="Georgia"/>
            </a:endParaRPr>
          </a:p>
          <a:p>
            <a:pPr marL="0" lvl="0" indent="0" algn="l" rtl="0">
              <a:lnSpc>
                <a:spcPct val="97826"/>
              </a:lnSpc>
              <a:spcBef>
                <a:spcPts val="4500"/>
              </a:spcBef>
              <a:spcAft>
                <a:spcPts val="0"/>
              </a:spcAft>
              <a:buNone/>
            </a:pPr>
            <a:r>
              <a:rPr lang="en-US" sz="1800" b="1">
                <a:solidFill>
                  <a:srgbClr val="242424"/>
                </a:solidFill>
                <a:highlight>
                  <a:srgbClr val="FFFFFF"/>
                </a:highlight>
              </a:rPr>
              <a:t>examples of categorical variables:</a:t>
            </a:r>
            <a:endParaRPr sz="1800" b="1">
              <a:solidFill>
                <a:srgbClr val="242424"/>
              </a:solidFill>
              <a:highlight>
                <a:srgbClr val="FFFFFF"/>
              </a:highlight>
            </a:endParaRPr>
          </a:p>
          <a:p>
            <a:pPr marL="0" lvl="0" indent="0" algn="l" rtl="0">
              <a:lnSpc>
                <a:spcPct val="218181"/>
              </a:lnSpc>
              <a:spcBef>
                <a:spcPts val="1400"/>
              </a:spcBef>
              <a:spcAft>
                <a:spcPts val="0"/>
              </a:spcAft>
              <a:buNone/>
            </a:pPr>
            <a:r>
              <a:rPr lang="en-US" sz="1500" b="1">
                <a:solidFill>
                  <a:srgbClr val="242424"/>
                </a:solidFill>
                <a:highlight>
                  <a:srgbClr val="FFFFFF"/>
                </a:highlight>
                <a:latin typeface="Georgia"/>
                <a:ea typeface="Georgia"/>
                <a:cs typeface="Georgia"/>
                <a:sym typeface="Georgia"/>
              </a:rPr>
              <a:t>Places</a:t>
            </a:r>
            <a:r>
              <a:rPr lang="en-US" sz="1500">
                <a:solidFill>
                  <a:srgbClr val="242424"/>
                </a:solidFill>
                <a:highlight>
                  <a:srgbClr val="FFFFFF"/>
                </a:highlight>
                <a:latin typeface="Georgia"/>
                <a:ea typeface="Georgia"/>
                <a:cs typeface="Georgia"/>
                <a:sym typeface="Georgia"/>
              </a:rPr>
              <a:t>: Delhi, Mumbai, Ahmedabad, Bangalore, etc.</a:t>
            </a:r>
            <a:endParaRPr sz="1500">
              <a:solidFill>
                <a:srgbClr val="242424"/>
              </a:solidFill>
              <a:highlight>
                <a:srgbClr val="FFFFFF"/>
              </a:highlight>
              <a:latin typeface="Georgia"/>
              <a:ea typeface="Georgia"/>
              <a:cs typeface="Georgia"/>
              <a:sym typeface="Georgia"/>
            </a:endParaRPr>
          </a:p>
          <a:p>
            <a:pPr marL="0" lvl="0" indent="0" algn="l" rtl="0">
              <a:lnSpc>
                <a:spcPct val="218181"/>
              </a:lnSpc>
              <a:spcBef>
                <a:spcPts val="3200"/>
              </a:spcBef>
              <a:spcAft>
                <a:spcPts val="0"/>
              </a:spcAft>
              <a:buNone/>
            </a:pPr>
            <a:r>
              <a:rPr lang="en-US" sz="1500">
                <a:solidFill>
                  <a:srgbClr val="242424"/>
                </a:solidFill>
                <a:highlight>
                  <a:srgbClr val="FFFFFF"/>
                </a:highlight>
                <a:latin typeface="Georgia"/>
                <a:ea typeface="Georgia"/>
                <a:cs typeface="Georgia"/>
                <a:sym typeface="Georgia"/>
              </a:rPr>
              <a:t>• </a:t>
            </a:r>
            <a:r>
              <a:rPr lang="en-US" sz="1500" b="1">
                <a:solidFill>
                  <a:srgbClr val="242424"/>
                </a:solidFill>
                <a:highlight>
                  <a:srgbClr val="FFFFFF"/>
                </a:highlight>
                <a:latin typeface="Georgia"/>
                <a:ea typeface="Georgia"/>
                <a:cs typeface="Georgia"/>
                <a:sym typeface="Georgia"/>
              </a:rPr>
              <a:t>Departments</a:t>
            </a:r>
            <a:r>
              <a:rPr lang="en-US" sz="1500">
                <a:solidFill>
                  <a:srgbClr val="242424"/>
                </a:solidFill>
                <a:highlight>
                  <a:srgbClr val="FFFFFF"/>
                </a:highlight>
                <a:latin typeface="Georgia"/>
                <a:ea typeface="Georgia"/>
                <a:cs typeface="Georgia"/>
                <a:sym typeface="Georgia"/>
              </a:rPr>
              <a:t>: Finance, Human resources, IT, Production.</a:t>
            </a:r>
            <a:endParaRPr sz="1500">
              <a:solidFill>
                <a:srgbClr val="242424"/>
              </a:solidFill>
              <a:highlight>
                <a:srgbClr val="FFFFFF"/>
              </a:highlight>
              <a:latin typeface="Georgia"/>
              <a:ea typeface="Georgia"/>
              <a:cs typeface="Georgia"/>
              <a:sym typeface="Georgia"/>
            </a:endParaRPr>
          </a:p>
          <a:p>
            <a:pPr marL="0" lvl="0" indent="0" algn="l" rtl="0">
              <a:lnSpc>
                <a:spcPct val="218181"/>
              </a:lnSpc>
              <a:spcBef>
                <a:spcPts val="3200"/>
              </a:spcBef>
              <a:spcAft>
                <a:spcPts val="0"/>
              </a:spcAft>
              <a:buNone/>
            </a:pPr>
            <a:r>
              <a:rPr lang="en-US" sz="1500">
                <a:solidFill>
                  <a:srgbClr val="242424"/>
                </a:solidFill>
                <a:highlight>
                  <a:srgbClr val="FFFFFF"/>
                </a:highlight>
                <a:latin typeface="Georgia"/>
                <a:ea typeface="Georgia"/>
                <a:cs typeface="Georgia"/>
                <a:sym typeface="Georgia"/>
              </a:rPr>
              <a:t>• </a:t>
            </a:r>
            <a:r>
              <a:rPr lang="en-US" sz="1500" b="1">
                <a:solidFill>
                  <a:srgbClr val="242424"/>
                </a:solidFill>
                <a:highlight>
                  <a:srgbClr val="FFFFFF"/>
                </a:highlight>
                <a:latin typeface="Georgia"/>
                <a:ea typeface="Georgia"/>
                <a:cs typeface="Georgia"/>
                <a:sym typeface="Georgia"/>
              </a:rPr>
              <a:t>Grades</a:t>
            </a:r>
            <a:r>
              <a:rPr lang="en-US" sz="1500">
                <a:solidFill>
                  <a:srgbClr val="242424"/>
                </a:solidFill>
                <a:highlight>
                  <a:srgbClr val="FFFFFF"/>
                </a:highlight>
                <a:latin typeface="Georgia"/>
                <a:ea typeface="Georgia"/>
                <a:cs typeface="Georgia"/>
                <a:sym typeface="Georgia"/>
              </a:rPr>
              <a:t>: A, A-, B+, B, B- etc.</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3200"/>
              </a:spcBef>
              <a:spcAft>
                <a:spcPts val="0"/>
              </a:spcAft>
              <a:buNone/>
            </a:pPr>
            <a:endParaRPr sz="1500" b="1">
              <a:solidFill>
                <a:srgbClr val="242424"/>
              </a:solidFill>
              <a:highlight>
                <a:srgbClr val="FFFFFF"/>
              </a:highlight>
              <a:latin typeface="Georgia"/>
              <a:ea typeface="Georgia"/>
              <a:cs typeface="Georgia"/>
              <a:sym typeface="Georgia"/>
            </a:endParaRPr>
          </a:p>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36f0d2aa6bf_0_191"/>
          <p:cNvSpPr txBox="1"/>
          <p:nvPr/>
        </p:nvSpPr>
        <p:spPr>
          <a:xfrm>
            <a:off x="53900" y="64700"/>
            <a:ext cx="9144000" cy="4566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1500" b="1">
                <a:solidFill>
                  <a:srgbClr val="242424"/>
                </a:solidFill>
                <a:highlight>
                  <a:srgbClr val="FFFFFF"/>
                </a:highlight>
                <a:latin typeface="Georgia"/>
                <a:ea typeface="Georgia"/>
                <a:cs typeface="Georgia"/>
                <a:sym typeface="Georgia"/>
              </a:rPr>
              <a:t>Ordinal Data:</a:t>
            </a:r>
            <a:endParaRPr sz="1500" b="1">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a:solidFill>
                  <a:srgbClr val="242424"/>
                </a:solidFill>
                <a:highlight>
                  <a:srgbClr val="FFFFFF"/>
                </a:highlight>
                <a:latin typeface="Georgia"/>
                <a:ea typeface="Georgia"/>
                <a:cs typeface="Georgia"/>
                <a:sym typeface="Georgia"/>
              </a:rPr>
              <a:t>The categories of ordinal data have an </a:t>
            </a:r>
            <a:r>
              <a:rPr lang="en-US" sz="1500" b="1">
                <a:solidFill>
                  <a:srgbClr val="242424"/>
                </a:solidFill>
                <a:highlight>
                  <a:srgbClr val="FFFFFF"/>
                </a:highlight>
                <a:latin typeface="Georgia"/>
                <a:ea typeface="Georgia"/>
                <a:cs typeface="Georgia"/>
                <a:sym typeface="Georgia"/>
              </a:rPr>
              <a:t>Inherent Order</a:t>
            </a:r>
            <a:r>
              <a:rPr lang="en-US" sz="1500">
                <a:solidFill>
                  <a:srgbClr val="242424"/>
                </a:solidFill>
                <a:highlight>
                  <a:srgbClr val="FFFFFF"/>
                </a:highlight>
                <a:latin typeface="Georgia"/>
                <a:ea typeface="Georgia"/>
                <a:cs typeface="Georgia"/>
                <a:sym typeface="Georgia"/>
              </a:rPr>
              <a:t>. This means that the categories can be </a:t>
            </a:r>
            <a:r>
              <a:rPr lang="en-US" sz="1500" b="1">
                <a:solidFill>
                  <a:srgbClr val="242424"/>
                </a:solidFill>
                <a:highlight>
                  <a:srgbClr val="FFFFFF"/>
                </a:highlight>
                <a:latin typeface="Georgia"/>
                <a:ea typeface="Georgia"/>
                <a:cs typeface="Georgia"/>
                <a:sym typeface="Georgia"/>
              </a:rPr>
              <a:t>Ranked</a:t>
            </a:r>
            <a:r>
              <a:rPr lang="en-US" sz="1500">
                <a:solidFill>
                  <a:srgbClr val="242424"/>
                </a:solidFill>
                <a:highlight>
                  <a:srgbClr val="FFFFFF"/>
                </a:highlight>
                <a:latin typeface="Georgia"/>
                <a:ea typeface="Georgia"/>
                <a:cs typeface="Georgia"/>
                <a:sym typeface="Georgia"/>
              </a:rPr>
              <a:t> or ordered from highest to lowest or vice versa.</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a:solidFill>
                  <a:srgbClr val="242424"/>
                </a:solidFill>
                <a:highlight>
                  <a:srgbClr val="FFFFFF"/>
                </a:highlight>
                <a:latin typeface="Georgia"/>
                <a:ea typeface="Georgia"/>
                <a:cs typeface="Georgia"/>
                <a:sym typeface="Georgia"/>
              </a:rPr>
              <a:t>For example, the variable “highest degree a person has” is an ordinal variable. The categories (High school, Diploma, Bachelors, Masters, PhD) can be ranked in order of the level of education attained.</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b="1">
                <a:solidFill>
                  <a:srgbClr val="242424"/>
                </a:solidFill>
                <a:highlight>
                  <a:srgbClr val="FFFFFF"/>
                </a:highlight>
                <a:latin typeface="Georgia"/>
                <a:ea typeface="Georgia"/>
                <a:cs typeface="Georgia"/>
                <a:sym typeface="Georgia"/>
              </a:rPr>
              <a:t>Nominal Data:</a:t>
            </a:r>
            <a:endParaRPr sz="1500" b="1">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a:solidFill>
                  <a:srgbClr val="242424"/>
                </a:solidFill>
                <a:highlight>
                  <a:srgbClr val="FFFFFF"/>
                </a:highlight>
                <a:latin typeface="Georgia"/>
                <a:ea typeface="Georgia"/>
                <a:cs typeface="Georgia"/>
                <a:sym typeface="Georgia"/>
              </a:rPr>
              <a:t>The categories of nominal data </a:t>
            </a:r>
            <a:r>
              <a:rPr lang="en-US" sz="1500" b="1">
                <a:solidFill>
                  <a:srgbClr val="242424"/>
                </a:solidFill>
                <a:highlight>
                  <a:srgbClr val="FFFFFF"/>
                </a:highlight>
                <a:latin typeface="Georgia"/>
                <a:ea typeface="Georgia"/>
                <a:cs typeface="Georgia"/>
                <a:sym typeface="Georgia"/>
              </a:rPr>
              <a:t>do not have an Inherent Order</a:t>
            </a:r>
            <a:r>
              <a:rPr lang="en-US" sz="1500">
                <a:solidFill>
                  <a:srgbClr val="242424"/>
                </a:solidFill>
                <a:highlight>
                  <a:srgbClr val="FFFFFF"/>
                </a:highlight>
                <a:latin typeface="Georgia"/>
                <a:ea typeface="Georgia"/>
                <a:cs typeface="Georgia"/>
                <a:sym typeface="Georgia"/>
              </a:rPr>
              <a:t>. This means that the categories cannot be ranked or ordered.</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a:solidFill>
                  <a:srgbClr val="242424"/>
                </a:solidFill>
                <a:highlight>
                  <a:srgbClr val="FFFFFF"/>
                </a:highlight>
                <a:latin typeface="Georgia"/>
                <a:ea typeface="Georgia"/>
                <a:cs typeface="Georgia"/>
                <a:sym typeface="Georgia"/>
              </a:rPr>
              <a:t>For example, the variable “city where a person lives” is a nominal variable. The categories (Delhi, Mumbai, Ahmedabad, Bangalore, etc.) cannot be ranked or ordered.</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800" b="1">
                <a:solidFill>
                  <a:srgbClr val="242424"/>
                </a:solidFill>
                <a:highlight>
                  <a:srgbClr val="FFFFFF"/>
                </a:highlight>
              </a:rPr>
              <a:t>What is Data Encoding?</a:t>
            </a:r>
            <a:endParaRPr sz="1800" b="1">
              <a:solidFill>
                <a:srgbClr val="242424"/>
              </a:solidFill>
              <a:highlight>
                <a:srgbClr val="FFFFFF"/>
              </a:highlight>
            </a:endParaRPr>
          </a:p>
          <a:p>
            <a:pPr marL="0" lvl="0" indent="0" algn="l" rtl="0">
              <a:lnSpc>
                <a:spcPct val="100000"/>
              </a:lnSpc>
              <a:spcBef>
                <a:spcPts val="1400"/>
              </a:spcBef>
              <a:spcAft>
                <a:spcPts val="0"/>
              </a:spcAft>
              <a:buNone/>
            </a:pPr>
            <a:r>
              <a:rPr lang="en-US" sz="1500" b="1">
                <a:solidFill>
                  <a:srgbClr val="242424"/>
                </a:solidFill>
                <a:highlight>
                  <a:srgbClr val="FFFFFF"/>
                </a:highlight>
                <a:latin typeface="Georgia"/>
                <a:ea typeface="Georgia"/>
                <a:cs typeface="Georgia"/>
                <a:sym typeface="Georgia"/>
              </a:rPr>
              <a:t>Data Encoding</a:t>
            </a:r>
            <a:r>
              <a:rPr lang="en-US" sz="1500">
                <a:solidFill>
                  <a:srgbClr val="242424"/>
                </a:solidFill>
                <a:highlight>
                  <a:srgbClr val="FFFFFF"/>
                </a:highlight>
                <a:latin typeface="Georgia"/>
                <a:ea typeface="Georgia"/>
                <a:cs typeface="Georgia"/>
                <a:sym typeface="Georgia"/>
              </a:rPr>
              <a:t> is an important pre-processing step in Machine Learning. It refers to the process of converting categorical or textual data into numerical format, so that it can be used as input for algorithms to process. The reason for encoding is that most machine learning algorithms work with numbers and not with text or categorical variables.</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endParaRPr sz="1500">
              <a:solidFill>
                <a:srgbClr val="242424"/>
              </a:solidFill>
              <a:highlight>
                <a:srgbClr val="FFFFFF"/>
              </a:highlight>
              <a:latin typeface="Georgia"/>
              <a:ea typeface="Georgia"/>
              <a:cs typeface="Georgia"/>
              <a:sym typeface="Georgia"/>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6f0d2aa6bf_0_199"/>
          <p:cNvSpPr txBox="1"/>
          <p:nvPr/>
        </p:nvSpPr>
        <p:spPr>
          <a:xfrm>
            <a:off x="0" y="0"/>
            <a:ext cx="9057600" cy="7339200"/>
          </a:xfrm>
          <a:prstGeom prst="rect">
            <a:avLst/>
          </a:prstGeom>
          <a:noFill/>
          <a:ln>
            <a:noFill/>
          </a:ln>
        </p:spPr>
        <p:txBody>
          <a:bodyPr spcFirstLastPara="1" wrap="square" lIns="91425" tIns="91425" rIns="91425" bIns="91425" anchor="t" anchorCtr="0">
            <a:spAutoFit/>
          </a:bodyPr>
          <a:lstStyle/>
          <a:p>
            <a:pPr marL="0" lvl="0" indent="0" algn="l" rtl="0">
              <a:lnSpc>
                <a:spcPct val="97826"/>
              </a:lnSpc>
              <a:spcBef>
                <a:spcPts val="4500"/>
              </a:spcBef>
              <a:spcAft>
                <a:spcPts val="0"/>
              </a:spcAft>
              <a:buNone/>
            </a:pPr>
            <a:r>
              <a:rPr lang="en-US" sz="1800" b="1">
                <a:solidFill>
                  <a:srgbClr val="242424"/>
                </a:solidFill>
                <a:highlight>
                  <a:srgbClr val="FFFFFF"/>
                </a:highlight>
              </a:rPr>
              <a:t>Why it is Important?</a:t>
            </a:r>
            <a:endParaRPr sz="1800" b="1">
              <a:solidFill>
                <a:srgbClr val="242424"/>
              </a:solidFill>
              <a:highlight>
                <a:srgbClr val="FFFFFF"/>
              </a:highlight>
            </a:endParaRPr>
          </a:p>
          <a:p>
            <a:pPr marL="0" lvl="0" indent="0" algn="l" rtl="0">
              <a:lnSpc>
                <a:spcPct val="100000"/>
              </a:lnSpc>
              <a:spcBef>
                <a:spcPts val="1400"/>
              </a:spcBef>
              <a:spcAft>
                <a:spcPts val="0"/>
              </a:spcAft>
              <a:buNone/>
            </a:pPr>
            <a:r>
              <a:rPr lang="en-US" sz="1500">
                <a:solidFill>
                  <a:srgbClr val="242424"/>
                </a:solidFill>
                <a:highlight>
                  <a:srgbClr val="FFFFFF"/>
                </a:highlight>
                <a:latin typeface="Georgia"/>
                <a:ea typeface="Georgia"/>
                <a:cs typeface="Georgia"/>
                <a:sym typeface="Georgia"/>
              </a:rPr>
              <a:t>• Most machine learning algorithms work only with numerical data, so categorical variables (such as text labels) must be transformed into numerical values.</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a:solidFill>
                  <a:srgbClr val="242424"/>
                </a:solidFill>
                <a:highlight>
                  <a:srgbClr val="FFFFFF"/>
                </a:highlight>
                <a:latin typeface="Georgia"/>
                <a:ea typeface="Georgia"/>
                <a:cs typeface="Georgia"/>
                <a:sym typeface="Georgia"/>
              </a:rPr>
              <a:t>• This allows the model to identify patterns in the data and make predictions based on those patterns.</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a:solidFill>
                  <a:srgbClr val="242424"/>
                </a:solidFill>
                <a:highlight>
                  <a:srgbClr val="FFFFFF"/>
                </a:highlight>
                <a:latin typeface="Georgia"/>
                <a:ea typeface="Georgia"/>
                <a:cs typeface="Georgia"/>
                <a:sym typeface="Georgia"/>
              </a:rPr>
              <a:t>• Encoding also helps to prevent bias in the model by ensuring that all features are equally weighted.</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a:solidFill>
                  <a:srgbClr val="242424"/>
                </a:solidFill>
                <a:highlight>
                  <a:srgbClr val="FFFFFF"/>
                </a:highlight>
                <a:latin typeface="Georgia"/>
                <a:ea typeface="Georgia"/>
                <a:cs typeface="Georgia"/>
                <a:sym typeface="Georgia"/>
              </a:rPr>
              <a:t>• The choice of encoding method can have a significant impact on model performance, so it is important to choose an appropriate encoding technique based on the nature of the data and the specific requirements of the model.</a:t>
            </a:r>
            <a:endParaRPr sz="1500">
              <a:solidFill>
                <a:srgbClr val="242424"/>
              </a:solidFill>
              <a:highlight>
                <a:srgbClr val="FFFFFF"/>
              </a:highlight>
              <a:latin typeface="Georgia"/>
              <a:ea typeface="Georgia"/>
              <a:cs typeface="Georgia"/>
              <a:sym typeface="Georgia"/>
            </a:endParaRPr>
          </a:p>
          <a:p>
            <a:pPr marL="0" lvl="0" indent="0" algn="l" rtl="0">
              <a:lnSpc>
                <a:spcPct val="218181"/>
              </a:lnSpc>
              <a:spcBef>
                <a:spcPts val="3200"/>
              </a:spcBef>
              <a:spcAft>
                <a:spcPts val="0"/>
              </a:spcAft>
              <a:buNone/>
            </a:pPr>
            <a:r>
              <a:rPr lang="en-US" sz="1500" b="1">
                <a:solidFill>
                  <a:srgbClr val="242424"/>
                </a:solidFill>
                <a:highlight>
                  <a:srgbClr val="FFFFFF"/>
                </a:highlight>
                <a:latin typeface="Georgia"/>
                <a:ea typeface="Georgia"/>
                <a:cs typeface="Georgia"/>
                <a:sym typeface="Georgia"/>
              </a:rPr>
              <a:t>There are several methods for encoding categorical variables, including</a:t>
            </a:r>
            <a:endParaRPr sz="1500" b="1">
              <a:solidFill>
                <a:srgbClr val="242424"/>
              </a:solidFill>
              <a:highlight>
                <a:srgbClr val="FFFFFF"/>
              </a:highlight>
              <a:latin typeface="Georgia"/>
              <a:ea typeface="Georgia"/>
              <a:cs typeface="Georgia"/>
              <a:sym typeface="Georgia"/>
            </a:endParaRPr>
          </a:p>
          <a:p>
            <a:pPr marL="0" lvl="0" indent="0" algn="l" rtl="0">
              <a:lnSpc>
                <a:spcPct val="218181"/>
              </a:lnSpc>
              <a:spcBef>
                <a:spcPts val="0"/>
              </a:spcBef>
              <a:spcAft>
                <a:spcPts val="0"/>
              </a:spcAft>
              <a:buNone/>
            </a:pPr>
            <a:r>
              <a:rPr lang="en-US" sz="1500" i="1">
                <a:solidFill>
                  <a:srgbClr val="242424"/>
                </a:solidFill>
                <a:highlight>
                  <a:srgbClr val="FFFFFF"/>
                </a:highlight>
                <a:latin typeface="Georgia"/>
                <a:ea typeface="Georgia"/>
                <a:cs typeface="Georgia"/>
                <a:sym typeface="Georgia"/>
              </a:rPr>
              <a:t>1. One-Hot Encoding</a:t>
            </a:r>
            <a:endParaRPr sz="1500" i="1">
              <a:solidFill>
                <a:srgbClr val="242424"/>
              </a:solidFill>
              <a:highlight>
                <a:srgbClr val="FFFFFF"/>
              </a:highlight>
              <a:latin typeface="Georgia"/>
              <a:ea typeface="Georgia"/>
              <a:cs typeface="Georgia"/>
              <a:sym typeface="Georgia"/>
            </a:endParaRPr>
          </a:p>
          <a:p>
            <a:pPr marL="0" lvl="0" indent="0" algn="l" rtl="0">
              <a:lnSpc>
                <a:spcPct val="218181"/>
              </a:lnSpc>
              <a:spcBef>
                <a:spcPts val="0"/>
              </a:spcBef>
              <a:spcAft>
                <a:spcPts val="0"/>
              </a:spcAft>
              <a:buNone/>
            </a:pPr>
            <a:r>
              <a:rPr lang="en-US" sz="1500" i="1">
                <a:solidFill>
                  <a:srgbClr val="242424"/>
                </a:solidFill>
                <a:highlight>
                  <a:srgbClr val="FFFFFF"/>
                </a:highlight>
                <a:latin typeface="Georgia"/>
                <a:ea typeface="Georgia"/>
                <a:cs typeface="Georgia"/>
                <a:sym typeface="Georgia"/>
              </a:rPr>
              <a:t>2. Dummy Encoding</a:t>
            </a:r>
            <a:endParaRPr sz="1500" i="1">
              <a:solidFill>
                <a:srgbClr val="242424"/>
              </a:solidFill>
              <a:highlight>
                <a:srgbClr val="FFFFFF"/>
              </a:highlight>
              <a:latin typeface="Georgia"/>
              <a:ea typeface="Georgia"/>
              <a:cs typeface="Georgia"/>
              <a:sym typeface="Georgia"/>
            </a:endParaRPr>
          </a:p>
          <a:p>
            <a:pPr marL="0" lvl="0" indent="0" algn="l" rtl="0">
              <a:lnSpc>
                <a:spcPct val="218181"/>
              </a:lnSpc>
              <a:spcBef>
                <a:spcPts val="0"/>
              </a:spcBef>
              <a:spcAft>
                <a:spcPts val="0"/>
              </a:spcAft>
              <a:buNone/>
            </a:pPr>
            <a:r>
              <a:rPr lang="en-US" sz="1500" i="1">
                <a:solidFill>
                  <a:srgbClr val="242424"/>
                </a:solidFill>
                <a:highlight>
                  <a:srgbClr val="FFFFFF"/>
                </a:highlight>
                <a:latin typeface="Georgia"/>
                <a:ea typeface="Georgia"/>
                <a:cs typeface="Georgia"/>
                <a:sym typeface="Georgia"/>
              </a:rPr>
              <a:t>3.Ordinal Encoding</a:t>
            </a:r>
            <a:endParaRPr sz="1500" i="1">
              <a:solidFill>
                <a:srgbClr val="242424"/>
              </a:solidFill>
              <a:highlight>
                <a:srgbClr val="FFFFFF"/>
              </a:highlight>
              <a:latin typeface="Georgia"/>
              <a:ea typeface="Georgia"/>
              <a:cs typeface="Georgia"/>
              <a:sym typeface="Georgia"/>
            </a:endParaRPr>
          </a:p>
          <a:p>
            <a:pPr marL="0" lvl="0" indent="0" algn="l" rtl="0">
              <a:lnSpc>
                <a:spcPct val="218181"/>
              </a:lnSpc>
              <a:spcBef>
                <a:spcPts val="0"/>
              </a:spcBef>
              <a:spcAft>
                <a:spcPts val="0"/>
              </a:spcAft>
              <a:buNone/>
            </a:pPr>
            <a:r>
              <a:rPr lang="en-US" sz="1500" i="1">
                <a:solidFill>
                  <a:srgbClr val="242424"/>
                </a:solidFill>
                <a:highlight>
                  <a:srgbClr val="FFFFFF"/>
                </a:highlight>
                <a:latin typeface="Georgia"/>
                <a:ea typeface="Georgia"/>
                <a:cs typeface="Georgia"/>
                <a:sym typeface="Georgia"/>
              </a:rPr>
              <a:t>4. Binary Encoding</a:t>
            </a:r>
            <a:endParaRPr sz="1500" i="1">
              <a:solidFill>
                <a:srgbClr val="242424"/>
              </a:solidFill>
              <a:highlight>
                <a:srgbClr val="FFFFFF"/>
              </a:highlight>
              <a:latin typeface="Georgia"/>
              <a:ea typeface="Georgia"/>
              <a:cs typeface="Georgia"/>
              <a:sym typeface="Georgia"/>
            </a:endParaRPr>
          </a:p>
          <a:p>
            <a:pPr marL="0" lvl="0" indent="0" algn="l" rtl="0">
              <a:lnSpc>
                <a:spcPct val="218181"/>
              </a:lnSpc>
              <a:spcBef>
                <a:spcPts val="0"/>
              </a:spcBef>
              <a:spcAft>
                <a:spcPts val="0"/>
              </a:spcAft>
              <a:buNone/>
            </a:pPr>
            <a:r>
              <a:rPr lang="en-US" sz="1500" i="1">
                <a:solidFill>
                  <a:srgbClr val="242424"/>
                </a:solidFill>
                <a:highlight>
                  <a:srgbClr val="FFFFFF"/>
                </a:highlight>
                <a:latin typeface="Georgia"/>
                <a:ea typeface="Georgia"/>
                <a:cs typeface="Georgia"/>
                <a:sym typeface="Georgia"/>
              </a:rPr>
              <a:t>5. Count Encoding</a:t>
            </a:r>
            <a:endParaRPr sz="1500" i="1">
              <a:solidFill>
                <a:srgbClr val="242424"/>
              </a:solidFill>
              <a:highlight>
                <a:srgbClr val="FFFFFF"/>
              </a:highlight>
              <a:latin typeface="Georgia"/>
              <a:ea typeface="Georgia"/>
              <a:cs typeface="Georgia"/>
              <a:sym typeface="Georgia"/>
            </a:endParaRPr>
          </a:p>
          <a:p>
            <a:pPr marL="0" lvl="0" indent="0" algn="l" rtl="0">
              <a:lnSpc>
                <a:spcPct val="218181"/>
              </a:lnSpc>
              <a:spcBef>
                <a:spcPts val="0"/>
              </a:spcBef>
              <a:spcAft>
                <a:spcPts val="0"/>
              </a:spcAft>
              <a:buNone/>
            </a:pPr>
            <a:r>
              <a:rPr lang="en-US" sz="1500" i="1">
                <a:solidFill>
                  <a:srgbClr val="242424"/>
                </a:solidFill>
                <a:highlight>
                  <a:srgbClr val="FFFFFF"/>
                </a:highlight>
                <a:latin typeface="Georgia"/>
                <a:ea typeface="Georgia"/>
                <a:cs typeface="Georgia"/>
                <a:sym typeface="Georgia"/>
              </a:rPr>
              <a:t>6. Target Encoding</a:t>
            </a:r>
            <a:endParaRPr sz="1500" i="1">
              <a:solidFill>
                <a:srgbClr val="242424"/>
              </a:solidFill>
              <a:highlight>
                <a:srgbClr val="FFFFFF"/>
              </a:highlight>
              <a:latin typeface="Georgia"/>
              <a:ea typeface="Georgia"/>
              <a:cs typeface="Georgia"/>
              <a:sym typeface="Georgia"/>
            </a:endParaRPr>
          </a:p>
          <a:p>
            <a:pPr marL="0" lvl="0" indent="0" algn="l" rtl="0">
              <a:lnSpc>
                <a:spcPct val="218181"/>
              </a:lnSpc>
              <a:spcBef>
                <a:spcPts val="3200"/>
              </a:spcBef>
              <a:spcAft>
                <a:spcPts val="0"/>
              </a:spcAft>
              <a:buNone/>
            </a:pP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endParaRPr sz="1500">
              <a:solidFill>
                <a:srgbClr val="242424"/>
              </a:solidFill>
              <a:highlight>
                <a:srgbClr val="FFFFFF"/>
              </a:highlight>
              <a:latin typeface="Georgia"/>
              <a:ea typeface="Georgia"/>
              <a:cs typeface="Georgia"/>
              <a:sym typeface="Georgia"/>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g36f0d2aa6bf_0_205"/>
          <p:cNvSpPr txBox="1"/>
          <p:nvPr/>
        </p:nvSpPr>
        <p:spPr>
          <a:xfrm>
            <a:off x="0" y="0"/>
            <a:ext cx="9144000" cy="2683200"/>
          </a:xfrm>
          <a:prstGeom prst="rect">
            <a:avLst/>
          </a:prstGeom>
          <a:noFill/>
          <a:ln>
            <a:noFill/>
          </a:ln>
        </p:spPr>
        <p:txBody>
          <a:bodyPr spcFirstLastPara="1" wrap="square" lIns="91425" tIns="91425" rIns="91425" bIns="91425" anchor="t" anchorCtr="0">
            <a:spAutoFit/>
          </a:bodyPr>
          <a:lstStyle/>
          <a:p>
            <a:pPr marL="0" lvl="0" indent="0" algn="l" rtl="0">
              <a:lnSpc>
                <a:spcPct val="97826"/>
              </a:lnSpc>
              <a:spcBef>
                <a:spcPts val="4500"/>
              </a:spcBef>
              <a:spcAft>
                <a:spcPts val="0"/>
              </a:spcAft>
              <a:buNone/>
            </a:pPr>
            <a:r>
              <a:rPr lang="en-US" sz="1800" b="1">
                <a:solidFill>
                  <a:srgbClr val="242424"/>
                </a:solidFill>
                <a:highlight>
                  <a:srgbClr val="FFFFFF"/>
                </a:highlight>
              </a:rPr>
              <a:t>One-Hot Encoding:</a:t>
            </a:r>
            <a:endParaRPr sz="1800" b="1">
              <a:solidFill>
                <a:srgbClr val="242424"/>
              </a:solidFill>
              <a:highlight>
                <a:srgbClr val="FFFFFF"/>
              </a:highlight>
            </a:endParaRPr>
          </a:p>
          <a:p>
            <a:pPr marL="0" lvl="0" indent="0" algn="l" rtl="0">
              <a:lnSpc>
                <a:spcPct val="100000"/>
              </a:lnSpc>
              <a:spcBef>
                <a:spcPts val="1400"/>
              </a:spcBef>
              <a:spcAft>
                <a:spcPts val="0"/>
              </a:spcAft>
              <a:buNone/>
            </a:pPr>
            <a:r>
              <a:rPr lang="en-US" sz="1500">
                <a:solidFill>
                  <a:srgbClr val="242424"/>
                </a:solidFill>
                <a:highlight>
                  <a:srgbClr val="FFFFFF"/>
                </a:highlight>
                <a:latin typeface="Georgia"/>
                <a:ea typeface="Georgia"/>
                <a:cs typeface="Georgia"/>
                <a:sym typeface="Georgia"/>
              </a:rPr>
              <a:t>• One-Hot Encoding is the </a:t>
            </a:r>
            <a:r>
              <a:rPr lang="en-US" sz="1500" b="1">
                <a:solidFill>
                  <a:srgbClr val="242424"/>
                </a:solidFill>
                <a:highlight>
                  <a:srgbClr val="FFFFFF"/>
                </a:highlight>
                <a:latin typeface="Georgia"/>
                <a:ea typeface="Georgia"/>
                <a:cs typeface="Georgia"/>
                <a:sym typeface="Georgia"/>
              </a:rPr>
              <a:t>Most Common</a:t>
            </a:r>
            <a:r>
              <a:rPr lang="en-US" sz="1500">
                <a:solidFill>
                  <a:srgbClr val="242424"/>
                </a:solidFill>
                <a:highlight>
                  <a:srgbClr val="FFFFFF"/>
                </a:highlight>
                <a:latin typeface="Georgia"/>
                <a:ea typeface="Georgia"/>
                <a:cs typeface="Georgia"/>
                <a:sym typeface="Georgia"/>
              </a:rPr>
              <a:t> method for encoding </a:t>
            </a:r>
            <a:r>
              <a:rPr lang="en-US" sz="1500" b="1">
                <a:solidFill>
                  <a:srgbClr val="242424"/>
                </a:solidFill>
                <a:highlight>
                  <a:srgbClr val="FFFFFF"/>
                </a:highlight>
                <a:latin typeface="Georgia"/>
                <a:ea typeface="Georgia"/>
                <a:cs typeface="Georgia"/>
                <a:sym typeface="Georgia"/>
              </a:rPr>
              <a:t>Categorical</a:t>
            </a:r>
            <a:r>
              <a:rPr lang="en-US" sz="1500">
                <a:solidFill>
                  <a:srgbClr val="242424"/>
                </a:solidFill>
                <a:highlight>
                  <a:srgbClr val="FFFFFF"/>
                </a:highlight>
                <a:latin typeface="Georgia"/>
                <a:ea typeface="Georgia"/>
                <a:cs typeface="Georgia"/>
                <a:sym typeface="Georgia"/>
              </a:rPr>
              <a:t> variables.</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a:solidFill>
                  <a:srgbClr val="242424"/>
                </a:solidFill>
                <a:highlight>
                  <a:srgbClr val="FFFFFF"/>
                </a:highlight>
                <a:latin typeface="Georgia"/>
                <a:ea typeface="Georgia"/>
                <a:cs typeface="Georgia"/>
                <a:sym typeface="Georgia"/>
              </a:rPr>
              <a:t>• a </a:t>
            </a:r>
            <a:r>
              <a:rPr lang="en-US" sz="1500" b="1">
                <a:solidFill>
                  <a:srgbClr val="242424"/>
                </a:solidFill>
                <a:highlight>
                  <a:srgbClr val="FFFFFF"/>
                </a:highlight>
                <a:latin typeface="Georgia"/>
                <a:ea typeface="Georgia"/>
                <a:cs typeface="Georgia"/>
                <a:sym typeface="Georgia"/>
              </a:rPr>
              <a:t>Binary Column</a:t>
            </a:r>
            <a:r>
              <a:rPr lang="en-US" sz="1500">
                <a:solidFill>
                  <a:srgbClr val="242424"/>
                </a:solidFill>
                <a:highlight>
                  <a:srgbClr val="FFFFFF"/>
                </a:highlight>
                <a:latin typeface="Georgia"/>
                <a:ea typeface="Georgia"/>
                <a:cs typeface="Georgia"/>
                <a:sym typeface="Georgia"/>
              </a:rPr>
              <a:t> is created for each </a:t>
            </a:r>
            <a:r>
              <a:rPr lang="en-US" sz="1500" b="1">
                <a:solidFill>
                  <a:srgbClr val="242424"/>
                </a:solidFill>
                <a:highlight>
                  <a:srgbClr val="FFFFFF"/>
                </a:highlight>
                <a:latin typeface="Georgia"/>
                <a:ea typeface="Georgia"/>
                <a:cs typeface="Georgia"/>
                <a:sym typeface="Georgia"/>
              </a:rPr>
              <a:t>Unique Category</a:t>
            </a:r>
            <a:r>
              <a:rPr lang="en-US" sz="1500">
                <a:solidFill>
                  <a:srgbClr val="242424"/>
                </a:solidFill>
                <a:highlight>
                  <a:srgbClr val="FFFFFF"/>
                </a:highlight>
                <a:latin typeface="Georgia"/>
                <a:ea typeface="Georgia"/>
                <a:cs typeface="Georgia"/>
                <a:sym typeface="Georgia"/>
              </a:rPr>
              <a:t> in the variable.</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a:solidFill>
                  <a:srgbClr val="242424"/>
                </a:solidFill>
                <a:highlight>
                  <a:srgbClr val="FFFFFF"/>
                </a:highlight>
                <a:latin typeface="Georgia"/>
                <a:ea typeface="Georgia"/>
                <a:cs typeface="Georgia"/>
                <a:sym typeface="Georgia"/>
              </a:rPr>
              <a:t>• If a category is present in a sample, the corresponding column is set to 1, and all other columns are setto0.</a:t>
            </a: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endParaRPr sz="1500">
              <a:solidFill>
                <a:srgbClr val="242424"/>
              </a:solidFill>
              <a:highlight>
                <a:srgbClr val="FFFFFF"/>
              </a:highlight>
              <a:latin typeface="Georgia"/>
              <a:ea typeface="Georgia"/>
              <a:cs typeface="Georgia"/>
              <a:sym typeface="Georgia"/>
            </a:endParaRPr>
          </a:p>
          <a:p>
            <a:pPr marL="0" lvl="0" indent="0" algn="l" rtl="0">
              <a:lnSpc>
                <a:spcPct val="100000"/>
              </a:lnSpc>
              <a:spcBef>
                <a:spcPts val="0"/>
              </a:spcBef>
              <a:spcAft>
                <a:spcPts val="0"/>
              </a:spcAft>
              <a:buNone/>
            </a:pPr>
            <a:r>
              <a:rPr lang="en-US" sz="1500">
                <a:solidFill>
                  <a:srgbClr val="242424"/>
                </a:solidFill>
                <a:highlight>
                  <a:srgbClr val="FFFFFF"/>
                </a:highlight>
                <a:latin typeface="Georgia"/>
                <a:ea typeface="Georgia"/>
                <a:cs typeface="Georgia"/>
                <a:sym typeface="Georgia"/>
              </a:rPr>
              <a:t> For example, if a variable has three categories ‘A’, ‘B’ and ‘C’, three columns will be created and a sample with category ‘B’ will have the value [0,1,0].</a:t>
            </a:r>
            <a:endParaRPr sz="1500">
              <a:solidFill>
                <a:srgbClr val="242424"/>
              </a:solidFill>
              <a:highlight>
                <a:srgbClr val="FFFFFF"/>
              </a:highlight>
              <a:latin typeface="Georgia"/>
              <a:ea typeface="Georgia"/>
              <a:cs typeface="Georgia"/>
              <a:sym typeface="Georgia"/>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00000"/>
              </a:lnSpc>
              <a:spcBef>
                <a:spcPts val="0"/>
              </a:spcBef>
              <a:spcAft>
                <a:spcPts val="0"/>
              </a:spcAft>
              <a:buNone/>
            </a:pPr>
            <a:endParaRPr sz="1500">
              <a:solidFill>
                <a:srgbClr val="242424"/>
              </a:solidFill>
              <a:highlight>
                <a:srgbClr val="FFFFFF"/>
              </a:highlight>
              <a:latin typeface="Georgia"/>
              <a:ea typeface="Georgia"/>
              <a:cs typeface="Georgia"/>
              <a:sym typeface="Georgia"/>
            </a:endParaRPr>
          </a:p>
        </p:txBody>
      </p:sp>
      <p:pic>
        <p:nvPicPr>
          <p:cNvPr id="265" name="Google Shape;265;g36f0d2aa6bf_0_205"/>
          <p:cNvPicPr preferRelativeResize="0"/>
          <p:nvPr/>
        </p:nvPicPr>
        <p:blipFill>
          <a:blip r:embed="rId3">
            <a:alphaModFix/>
          </a:blip>
          <a:stretch>
            <a:fillRect/>
          </a:stretch>
        </p:blipFill>
        <p:spPr>
          <a:xfrm>
            <a:off x="66150" y="2177825"/>
            <a:ext cx="8334375" cy="2409825"/>
          </a:xfrm>
          <a:prstGeom prst="rect">
            <a:avLst/>
          </a:prstGeom>
          <a:noFill/>
          <a:ln>
            <a:noFill/>
          </a:ln>
        </p:spPr>
      </p:pic>
      <p:graphicFrame>
        <p:nvGraphicFramePr>
          <p:cNvPr id="266" name="Google Shape;266;g36f0d2aa6bf_0_205"/>
          <p:cNvGraphicFramePr/>
          <p:nvPr/>
        </p:nvGraphicFramePr>
        <p:xfrm>
          <a:off x="381000" y="4587650"/>
          <a:ext cx="7239000" cy="2125950"/>
        </p:xfrm>
        <a:graphic>
          <a:graphicData uri="http://schemas.openxmlformats.org/drawingml/2006/table">
            <a:tbl>
              <a:tblPr>
                <a:noFill/>
                <a:tableStyleId>{743049AA-338F-4810-8551-781DCB540533}</a:tableStyleId>
              </a:tblPr>
              <a:tblGrid>
                <a:gridCol w="72390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n-US" sz="1050">
                          <a:solidFill>
                            <a:srgbClr val="007400"/>
                          </a:solidFill>
                          <a:highlight>
                            <a:srgbClr val="F9F9F9"/>
                          </a:highlight>
                          <a:latin typeface="Courier New"/>
                          <a:ea typeface="Courier New"/>
                          <a:cs typeface="Courier New"/>
                          <a:sym typeface="Courier New"/>
                        </a:rPr>
                        <a:t># One-Hot Encoding:</a:t>
                      </a:r>
                      <a:endParaRPr sz="1050">
                        <a:solidFill>
                          <a:srgbClr val="007400"/>
                        </a:solidFill>
                        <a:highlight>
                          <a:srgbClr val="F9F9F9"/>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US" sz="1050">
                          <a:solidFill>
                            <a:srgbClr val="007400"/>
                          </a:solidFill>
                          <a:highlight>
                            <a:srgbClr val="F9F9F9"/>
                          </a:highlight>
                          <a:latin typeface="Courier New"/>
                          <a:ea typeface="Courier New"/>
                          <a:cs typeface="Courier New"/>
                          <a:sym typeface="Courier New"/>
                        </a:rPr>
                        <a:t># create a sample dataframe with a categorical variable</a:t>
                      </a:r>
                      <a:endParaRPr sz="1050">
                        <a:solidFill>
                          <a:srgbClr val="007400"/>
                        </a:solidFill>
                        <a:highlight>
                          <a:srgbClr val="F9F9F9"/>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US" sz="1050">
                          <a:solidFill>
                            <a:srgbClr val="836C28"/>
                          </a:solidFill>
                          <a:highlight>
                            <a:srgbClr val="F9F9F9"/>
                          </a:highlight>
                          <a:latin typeface="Courier New"/>
                          <a:ea typeface="Courier New"/>
                          <a:cs typeface="Courier New"/>
                          <a:sym typeface="Courier New"/>
                        </a:rPr>
                        <a:t>df</a:t>
                      </a:r>
                      <a:r>
                        <a:rPr lang="en-US" sz="1050">
                          <a:solidFill>
                            <a:srgbClr val="242424"/>
                          </a:solidFill>
                          <a:highlight>
                            <a:srgbClr val="F9F9F9"/>
                          </a:highlight>
                          <a:latin typeface="Courier New"/>
                          <a:ea typeface="Courier New"/>
                          <a:cs typeface="Courier New"/>
                          <a:sym typeface="Courier New"/>
                        </a:rPr>
                        <a:t> = pd.DataFrame({</a:t>
                      </a:r>
                      <a:r>
                        <a:rPr lang="en-US" sz="1050">
                          <a:solidFill>
                            <a:srgbClr val="C41A16"/>
                          </a:solidFill>
                          <a:highlight>
                            <a:srgbClr val="F9F9F9"/>
                          </a:highlight>
                          <a:latin typeface="Courier New"/>
                          <a:ea typeface="Courier New"/>
                          <a:cs typeface="Courier New"/>
                          <a:sym typeface="Courier New"/>
                        </a:rPr>
                        <a:t>'color'</a:t>
                      </a:r>
                      <a:r>
                        <a:rPr lang="en-US" sz="1050">
                          <a:solidFill>
                            <a:srgbClr val="242424"/>
                          </a:solidFill>
                          <a:highlight>
                            <a:srgbClr val="F9F9F9"/>
                          </a:highlight>
                          <a:latin typeface="Courier New"/>
                          <a:ea typeface="Courier New"/>
                          <a:cs typeface="Courier New"/>
                          <a:sym typeface="Courier New"/>
                        </a:rPr>
                        <a:t>: [</a:t>
                      </a:r>
                      <a:r>
                        <a:rPr lang="en-US" sz="1050">
                          <a:solidFill>
                            <a:srgbClr val="C41A16"/>
                          </a:solidFill>
                          <a:highlight>
                            <a:srgbClr val="F9F9F9"/>
                          </a:highlight>
                          <a:latin typeface="Courier New"/>
                          <a:ea typeface="Courier New"/>
                          <a:cs typeface="Courier New"/>
                          <a:sym typeface="Courier New"/>
                        </a:rPr>
                        <a:t>'red'</a:t>
                      </a:r>
                      <a:r>
                        <a:rPr lang="en-US" sz="1050">
                          <a:solidFill>
                            <a:srgbClr val="242424"/>
                          </a:solidFill>
                          <a:highlight>
                            <a:srgbClr val="F9F9F9"/>
                          </a:highlight>
                          <a:latin typeface="Courier New"/>
                          <a:ea typeface="Courier New"/>
                          <a:cs typeface="Courier New"/>
                          <a:sym typeface="Courier New"/>
                        </a:rPr>
                        <a:t>, </a:t>
                      </a:r>
                      <a:r>
                        <a:rPr lang="en-US" sz="1050">
                          <a:solidFill>
                            <a:srgbClr val="C41A16"/>
                          </a:solidFill>
                          <a:highlight>
                            <a:srgbClr val="F9F9F9"/>
                          </a:highlight>
                          <a:latin typeface="Courier New"/>
                          <a:ea typeface="Courier New"/>
                          <a:cs typeface="Courier New"/>
                          <a:sym typeface="Courier New"/>
                        </a:rPr>
                        <a:t>'green'</a:t>
                      </a:r>
                      <a:r>
                        <a:rPr lang="en-US" sz="1050">
                          <a:solidFill>
                            <a:srgbClr val="242424"/>
                          </a:solidFill>
                          <a:highlight>
                            <a:srgbClr val="F9F9F9"/>
                          </a:highlight>
                          <a:latin typeface="Courier New"/>
                          <a:ea typeface="Courier New"/>
                          <a:cs typeface="Courier New"/>
                          <a:sym typeface="Courier New"/>
                        </a:rPr>
                        <a:t>, </a:t>
                      </a:r>
                      <a:r>
                        <a:rPr lang="en-US" sz="1050">
                          <a:solidFill>
                            <a:srgbClr val="C41A16"/>
                          </a:solidFill>
                          <a:highlight>
                            <a:srgbClr val="F9F9F9"/>
                          </a:highlight>
                          <a:latin typeface="Courier New"/>
                          <a:ea typeface="Courier New"/>
                          <a:cs typeface="Courier New"/>
                          <a:sym typeface="Courier New"/>
                        </a:rPr>
                        <a:t>'blue'</a:t>
                      </a:r>
                      <a:r>
                        <a:rPr lang="en-US" sz="1050">
                          <a:solidFill>
                            <a:srgbClr val="242424"/>
                          </a:solidFill>
                          <a:highlight>
                            <a:srgbClr val="F9F9F9"/>
                          </a:highlight>
                          <a:latin typeface="Courier New"/>
                          <a:ea typeface="Courier New"/>
                          <a:cs typeface="Courier New"/>
                          <a:sym typeface="Courier New"/>
                        </a:rPr>
                        <a:t>, </a:t>
                      </a:r>
                      <a:r>
                        <a:rPr lang="en-US" sz="1050">
                          <a:solidFill>
                            <a:srgbClr val="C41A16"/>
                          </a:solidFill>
                          <a:highlight>
                            <a:srgbClr val="F9F9F9"/>
                          </a:highlight>
                          <a:latin typeface="Courier New"/>
                          <a:ea typeface="Courier New"/>
                          <a:cs typeface="Courier New"/>
                          <a:sym typeface="Courier New"/>
                        </a:rPr>
                        <a:t>'red'</a:t>
                      </a:r>
                      <a:r>
                        <a:rPr lang="en-US" sz="1050">
                          <a:solidFill>
                            <a:srgbClr val="242424"/>
                          </a:solidFill>
                          <a:highlight>
                            <a:srgbClr val="F9F9F9"/>
                          </a:highlight>
                          <a:latin typeface="Courier New"/>
                          <a:ea typeface="Courier New"/>
                          <a:cs typeface="Courier New"/>
                          <a:sym typeface="Courier New"/>
                        </a:rPr>
                        <a:t>]})</a:t>
                      </a:r>
                      <a:endParaRPr sz="1050">
                        <a:solidFill>
                          <a:srgbClr val="242424"/>
                        </a:solidFill>
                        <a:highlight>
                          <a:srgbClr val="F9F9F9"/>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Clr>
                          <a:schemeClr val="dk1"/>
                        </a:buClr>
                        <a:buSzPts val="1100"/>
                        <a:buFont typeface="Arial"/>
                        <a:buNone/>
                      </a:pPr>
                      <a:r>
                        <a:rPr lang="en-US" sz="1050">
                          <a:solidFill>
                            <a:srgbClr val="007400"/>
                          </a:solidFill>
                          <a:highlight>
                            <a:srgbClr val="F9F9F9"/>
                          </a:highlight>
                          <a:latin typeface="Courier New"/>
                          <a:ea typeface="Courier New"/>
                          <a:cs typeface="Courier New"/>
                          <a:sym typeface="Courier New"/>
                        </a:rPr>
                        <a:t># perform one-hot encoding on the 'color' column</a:t>
                      </a:r>
                      <a:endParaRPr sz="1050">
                        <a:solidFill>
                          <a:srgbClr val="007400"/>
                        </a:solidFill>
                        <a:highlight>
                          <a:srgbClr val="F9F9F9"/>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US" sz="1050">
                          <a:solidFill>
                            <a:srgbClr val="836C28"/>
                          </a:solidFill>
                          <a:highlight>
                            <a:srgbClr val="F9F9F9"/>
                          </a:highlight>
                          <a:latin typeface="Courier New"/>
                          <a:ea typeface="Courier New"/>
                          <a:cs typeface="Courier New"/>
                          <a:sym typeface="Courier New"/>
                        </a:rPr>
                        <a:t>one_hot</a:t>
                      </a:r>
                      <a:r>
                        <a:rPr lang="en-US" sz="1050">
                          <a:solidFill>
                            <a:srgbClr val="242424"/>
                          </a:solidFill>
                          <a:highlight>
                            <a:srgbClr val="F9F9F9"/>
                          </a:highlight>
                          <a:latin typeface="Courier New"/>
                          <a:ea typeface="Courier New"/>
                          <a:cs typeface="Courier New"/>
                          <a:sym typeface="Courier New"/>
                        </a:rPr>
                        <a:t> = pd.get_dummies(df[</a:t>
                      </a:r>
                      <a:r>
                        <a:rPr lang="en-US" sz="1050">
                          <a:solidFill>
                            <a:srgbClr val="C41A16"/>
                          </a:solidFill>
                          <a:highlight>
                            <a:srgbClr val="F9F9F9"/>
                          </a:highlight>
                          <a:latin typeface="Courier New"/>
                          <a:ea typeface="Courier New"/>
                          <a:cs typeface="Courier New"/>
                          <a:sym typeface="Courier New"/>
                        </a:rPr>
                        <a:t>'color'</a:t>
                      </a:r>
                      <a:r>
                        <a:rPr lang="en-US" sz="1050">
                          <a:solidFill>
                            <a:srgbClr val="242424"/>
                          </a:solidFill>
                          <a:highlight>
                            <a:srgbClr val="F9F9F9"/>
                          </a:highlight>
                          <a:latin typeface="Courier New"/>
                          <a:ea typeface="Courier New"/>
                          <a:cs typeface="Courier New"/>
                          <a:sym typeface="Courier New"/>
                        </a:rPr>
                        <a:t>])</a:t>
                      </a:r>
                      <a:endParaRPr sz="1050">
                        <a:solidFill>
                          <a:srgbClr val="242424"/>
                        </a:solidFill>
                        <a:highlight>
                          <a:srgbClr val="F9F9F9"/>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Clr>
                          <a:schemeClr val="dk1"/>
                        </a:buClr>
                        <a:buSzPts val="1100"/>
                        <a:buFont typeface="Arial"/>
                        <a:buNone/>
                      </a:pPr>
                      <a:r>
                        <a:rPr lang="en-US" sz="1050">
                          <a:solidFill>
                            <a:srgbClr val="007400"/>
                          </a:solidFill>
                          <a:highlight>
                            <a:srgbClr val="F9F9F9"/>
                          </a:highlight>
                          <a:latin typeface="Courier New"/>
                          <a:ea typeface="Courier New"/>
                          <a:cs typeface="Courier New"/>
                          <a:sym typeface="Courier New"/>
                        </a:rPr>
                        <a:t># concatenate the one-hot encoding with the original dataframe</a:t>
                      </a:r>
                      <a:endParaRPr sz="1050">
                        <a:solidFill>
                          <a:srgbClr val="007400"/>
                        </a:solidFill>
                        <a:highlight>
                          <a:srgbClr val="F9F9F9"/>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US" sz="1050">
                          <a:solidFill>
                            <a:srgbClr val="836C28"/>
                          </a:solidFill>
                          <a:highlight>
                            <a:srgbClr val="F9F9F9"/>
                          </a:highlight>
                          <a:latin typeface="Courier New"/>
                          <a:ea typeface="Courier New"/>
                          <a:cs typeface="Courier New"/>
                          <a:sym typeface="Courier New"/>
                        </a:rPr>
                        <a:t>df1</a:t>
                      </a:r>
                      <a:r>
                        <a:rPr lang="en-US" sz="1050">
                          <a:solidFill>
                            <a:srgbClr val="242424"/>
                          </a:solidFill>
                          <a:highlight>
                            <a:srgbClr val="F9F9F9"/>
                          </a:highlight>
                          <a:latin typeface="Courier New"/>
                          <a:ea typeface="Courier New"/>
                          <a:cs typeface="Courier New"/>
                          <a:sym typeface="Courier New"/>
                        </a:rPr>
                        <a:t> = pd.concat([df, </a:t>
                      </a:r>
                      <a:r>
                        <a:rPr lang="en-US" sz="1050">
                          <a:solidFill>
                            <a:srgbClr val="AA0D91"/>
                          </a:solidFill>
                          <a:highlight>
                            <a:srgbClr val="F9F9F9"/>
                          </a:highlight>
                          <a:latin typeface="Courier New"/>
                          <a:ea typeface="Courier New"/>
                          <a:cs typeface="Courier New"/>
                          <a:sym typeface="Courier New"/>
                        </a:rPr>
                        <a:t>on</a:t>
                      </a:r>
                      <a:r>
                        <a:rPr lang="en-US" sz="1050">
                          <a:solidFill>
                            <a:srgbClr val="242424"/>
                          </a:solidFill>
                          <a:highlight>
                            <a:srgbClr val="F9F9F9"/>
                          </a:highlight>
                          <a:latin typeface="Courier New"/>
                          <a:ea typeface="Courier New"/>
                          <a:cs typeface="Courier New"/>
                          <a:sym typeface="Courier New"/>
                        </a:rPr>
                        <a:t>e_hot], axis=</a:t>
                      </a:r>
                      <a:r>
                        <a:rPr lang="en-US" sz="1050">
                          <a:solidFill>
                            <a:srgbClr val="1C00CF"/>
                          </a:solidFill>
                          <a:highlight>
                            <a:srgbClr val="F9F9F9"/>
                          </a:highlight>
                          <a:latin typeface="Courier New"/>
                          <a:ea typeface="Courier New"/>
                          <a:cs typeface="Courier New"/>
                          <a:sym typeface="Courier New"/>
                        </a:rPr>
                        <a:t>1</a:t>
                      </a:r>
                      <a:r>
                        <a:rPr lang="en-US" sz="1050">
                          <a:solidFill>
                            <a:srgbClr val="242424"/>
                          </a:solidFill>
                          <a:highlight>
                            <a:srgbClr val="F9F9F9"/>
                          </a:highlight>
                          <a:latin typeface="Courier New"/>
                          <a:ea typeface="Courier New"/>
                          <a:cs typeface="Courier New"/>
                          <a:sym typeface="Courier New"/>
                        </a:rPr>
                        <a:t>)</a:t>
                      </a:r>
                      <a:endParaRPr sz="1050">
                        <a:solidFill>
                          <a:srgbClr val="242424"/>
                        </a:solidFill>
                        <a:highlight>
                          <a:srgbClr val="F9F9F9"/>
                        </a:highlight>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Clr>
                          <a:schemeClr val="dk1"/>
                        </a:buClr>
                        <a:buSzPts val="1100"/>
                        <a:buFont typeface="Arial"/>
                        <a:buNone/>
                      </a:pPr>
                      <a:r>
                        <a:rPr lang="en-US" sz="1050">
                          <a:solidFill>
                            <a:srgbClr val="007400"/>
                          </a:solidFill>
                          <a:highlight>
                            <a:srgbClr val="F9F9F9"/>
                          </a:highlight>
                          <a:latin typeface="Courier New"/>
                          <a:ea typeface="Courier New"/>
                          <a:cs typeface="Courier New"/>
                          <a:sym typeface="Courier New"/>
                        </a:rPr>
                        <a:t># drop the original 'color' column</a:t>
                      </a:r>
                      <a:endParaRPr sz="1050">
                        <a:solidFill>
                          <a:srgbClr val="007400"/>
                        </a:solidFill>
                        <a:highlight>
                          <a:srgbClr val="F9F9F9"/>
                        </a:highlight>
                        <a:latin typeface="Courier New"/>
                        <a:ea typeface="Courier New"/>
                        <a:cs typeface="Courier New"/>
                        <a:sym typeface="Courier New"/>
                      </a:endParaRPr>
                    </a:p>
                    <a:p>
                      <a:pPr marL="0" lvl="0" indent="0" algn="l" rtl="0">
                        <a:spcBef>
                          <a:spcPts val="0"/>
                        </a:spcBef>
                        <a:spcAft>
                          <a:spcPts val="0"/>
                        </a:spcAft>
                        <a:buNone/>
                      </a:pPr>
                      <a:r>
                        <a:rPr lang="en-US" sz="1050">
                          <a:solidFill>
                            <a:srgbClr val="836C28"/>
                          </a:solidFill>
                          <a:highlight>
                            <a:srgbClr val="F9F9F9"/>
                          </a:highlight>
                          <a:latin typeface="Courier New"/>
                          <a:ea typeface="Courier New"/>
                          <a:cs typeface="Courier New"/>
                          <a:sym typeface="Courier New"/>
                        </a:rPr>
                        <a:t>df1</a:t>
                      </a:r>
                      <a:r>
                        <a:rPr lang="en-US" sz="1050">
                          <a:solidFill>
                            <a:srgbClr val="242424"/>
                          </a:solidFill>
                          <a:highlight>
                            <a:srgbClr val="F9F9F9"/>
                          </a:highlight>
                          <a:latin typeface="Courier New"/>
                          <a:ea typeface="Courier New"/>
                          <a:cs typeface="Courier New"/>
                          <a:sym typeface="Courier New"/>
                        </a:rPr>
                        <a:t> = df1.drop(</a:t>
                      </a:r>
                      <a:r>
                        <a:rPr lang="en-US" sz="1050">
                          <a:solidFill>
                            <a:srgbClr val="C41A16"/>
                          </a:solidFill>
                          <a:highlight>
                            <a:srgbClr val="F9F9F9"/>
                          </a:highlight>
                          <a:latin typeface="Courier New"/>
                          <a:ea typeface="Courier New"/>
                          <a:cs typeface="Courier New"/>
                          <a:sym typeface="Courier New"/>
                        </a:rPr>
                        <a:t>'color'</a:t>
                      </a:r>
                      <a:r>
                        <a:rPr lang="en-US" sz="1050">
                          <a:solidFill>
                            <a:srgbClr val="242424"/>
                          </a:solidFill>
                          <a:highlight>
                            <a:srgbClr val="F9F9F9"/>
                          </a:highlight>
                          <a:latin typeface="Courier New"/>
                          <a:ea typeface="Courier New"/>
                          <a:cs typeface="Courier New"/>
                          <a:sym typeface="Courier New"/>
                        </a:rPr>
                        <a:t>, axis=</a:t>
                      </a:r>
                      <a:r>
                        <a:rPr lang="en-US" sz="1050">
                          <a:solidFill>
                            <a:srgbClr val="1C00CF"/>
                          </a:solidFill>
                          <a:highlight>
                            <a:srgbClr val="F9F9F9"/>
                          </a:highlight>
                          <a:latin typeface="Courier New"/>
                          <a:ea typeface="Courier New"/>
                          <a:cs typeface="Courier New"/>
                          <a:sym typeface="Courier New"/>
                        </a:rPr>
                        <a:t>1</a:t>
                      </a:r>
                      <a:r>
                        <a:rPr lang="en-US" sz="1050">
                          <a:solidFill>
                            <a:srgbClr val="242424"/>
                          </a:solidFill>
                          <a:highlight>
                            <a:srgbClr val="F9F9F9"/>
                          </a:highlight>
                          <a:latin typeface="Courier New"/>
                          <a:ea typeface="Courier New"/>
                          <a:cs typeface="Courier New"/>
                          <a:sym typeface="Courier New"/>
                        </a:rPr>
                        <a:t>)</a:t>
                      </a:r>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373d798bde9_0_3"/>
          <p:cNvSpPr txBox="1"/>
          <p:nvPr/>
        </p:nvSpPr>
        <p:spPr>
          <a:xfrm>
            <a:off x="0" y="0"/>
            <a:ext cx="9073800" cy="510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100" b="1">
                <a:solidFill>
                  <a:srgbClr val="273239"/>
                </a:solidFill>
                <a:highlight>
                  <a:srgbClr val="FFFFFF"/>
                </a:highlight>
              </a:rPr>
              <a:t>Data Reduction</a:t>
            </a:r>
            <a:endParaRPr sz="2100" b="1">
              <a:solidFill>
                <a:srgbClr val="273239"/>
              </a:solidFill>
              <a:highlight>
                <a:srgbClr val="FFFFFF"/>
              </a:highlight>
            </a:endParaRPr>
          </a:p>
          <a:p>
            <a:pPr marL="0" lvl="0" indent="0" algn="l" rtl="0">
              <a:lnSpc>
                <a:spcPct val="115000"/>
              </a:lnSpc>
              <a:spcBef>
                <a:spcPts val="0"/>
              </a:spcBef>
              <a:spcAft>
                <a:spcPts val="0"/>
              </a:spcAft>
              <a:buNone/>
            </a:pPr>
            <a:endParaRPr sz="2100" b="1">
              <a:solidFill>
                <a:srgbClr val="273239"/>
              </a:solidFill>
              <a:highlight>
                <a:srgbClr val="FFFFFF"/>
              </a:highlight>
            </a:endParaRPr>
          </a:p>
          <a:p>
            <a:pPr marL="0" lvl="0" indent="0" algn="l" rtl="0">
              <a:lnSpc>
                <a:spcPct val="115000"/>
              </a:lnSpc>
              <a:spcBef>
                <a:spcPts val="0"/>
              </a:spcBef>
              <a:spcAft>
                <a:spcPts val="0"/>
              </a:spcAft>
              <a:buNone/>
            </a:pPr>
            <a:r>
              <a:rPr lang="en-US" sz="1350">
                <a:solidFill>
                  <a:srgbClr val="273239"/>
                </a:solidFill>
                <a:highlight>
                  <a:srgbClr val="FFFFFF"/>
                </a:highlight>
                <a:latin typeface="Nunito"/>
                <a:ea typeface="Nunito"/>
                <a:cs typeface="Nunito"/>
                <a:sym typeface="Nunito"/>
              </a:rPr>
              <a:t>Data reduction is a technique used in data mining to reduce the size of a dataset while still preserving the most important information. This can be beneficial in situations where the dataset is too large to be processed efficiently, or where the dataset contains a large amount of irrelevant or redundant information.</a:t>
            </a:r>
            <a:endParaRPr sz="1350">
              <a:solidFill>
                <a:srgbClr val="273239"/>
              </a:solidFill>
              <a:highlight>
                <a:srgbClr val="FFFFFF"/>
              </a:highlight>
              <a:latin typeface="Nunito"/>
              <a:ea typeface="Nunito"/>
              <a:cs typeface="Nunito"/>
              <a:sym typeface="Nunito"/>
            </a:endParaRPr>
          </a:p>
          <a:p>
            <a:pPr marL="0" lvl="0" indent="0" algn="l" rtl="0">
              <a:lnSpc>
                <a:spcPct val="115000"/>
              </a:lnSpc>
              <a:spcBef>
                <a:spcPts val="0"/>
              </a:spcBef>
              <a:spcAft>
                <a:spcPts val="0"/>
              </a:spcAft>
              <a:buNone/>
            </a:pPr>
            <a:endParaRPr sz="1350">
              <a:solidFill>
                <a:srgbClr val="273239"/>
              </a:solidFill>
              <a:highlight>
                <a:srgbClr val="FFFFFF"/>
              </a:highlight>
              <a:latin typeface="Nunito"/>
              <a:ea typeface="Nunito"/>
              <a:cs typeface="Nunito"/>
              <a:sym typeface="Nunito"/>
            </a:endParaRPr>
          </a:p>
          <a:p>
            <a:pPr marL="0" lvl="0" indent="0" algn="l" rtl="0">
              <a:spcBef>
                <a:spcPts val="0"/>
              </a:spcBef>
              <a:spcAft>
                <a:spcPts val="0"/>
              </a:spcAft>
              <a:buClr>
                <a:schemeClr val="dk1"/>
              </a:buClr>
              <a:buSzPts val="1100"/>
              <a:buFont typeface="Arial"/>
              <a:buNone/>
            </a:pPr>
            <a:r>
              <a:rPr lang="en-US"/>
              <a:t>There are several different data reduction techniques that can be used in data mining, including:</a:t>
            </a:r>
            <a:endParaRPr/>
          </a:p>
          <a:p>
            <a:pPr marL="457200" lvl="0" indent="-317500" algn="l" rtl="0">
              <a:spcBef>
                <a:spcPts val="0"/>
              </a:spcBef>
              <a:spcAft>
                <a:spcPts val="0"/>
              </a:spcAft>
              <a:buSzPts val="1400"/>
              <a:buAutoNum type="arabicPeriod"/>
            </a:pPr>
            <a:r>
              <a:rPr lang="en-US"/>
              <a:t>Data Sampling: This technique involves selecting a subset of the data to work with, rather than using the entire dataset. This can be useful for reducing the size of a dataset while still preserving the overall trends and patterns in the data.</a:t>
            </a:r>
            <a:endParaRPr/>
          </a:p>
          <a:p>
            <a:pPr marL="457200" lvl="0" indent="-317500" algn="l" rtl="0">
              <a:spcBef>
                <a:spcPts val="0"/>
              </a:spcBef>
              <a:spcAft>
                <a:spcPts val="0"/>
              </a:spcAft>
              <a:buSzPts val="1400"/>
              <a:buAutoNum type="arabicPeriod"/>
            </a:pPr>
            <a:r>
              <a:rPr lang="en-US"/>
              <a:t>Dimensionality Reduction: This technique involves reducing the number of features in the dataset, either by removing features that are not relevant or by combining multiple features into a single feature.</a:t>
            </a:r>
            <a:endParaRPr/>
          </a:p>
          <a:p>
            <a:pPr marL="457200" lvl="0" indent="-317500" algn="l" rtl="0">
              <a:spcBef>
                <a:spcPts val="0"/>
              </a:spcBef>
              <a:spcAft>
                <a:spcPts val="0"/>
              </a:spcAft>
              <a:buSzPts val="1400"/>
              <a:buAutoNum type="arabicPeriod"/>
            </a:pPr>
            <a:r>
              <a:rPr lang="en-US"/>
              <a:t>Data Compression: This technique involves using techniques such as lossy or lossless compression to reduce the size of a dataset.</a:t>
            </a:r>
            <a:endParaRPr/>
          </a:p>
          <a:p>
            <a:pPr marL="457200" lvl="0" indent="-317500" algn="l" rtl="0">
              <a:spcBef>
                <a:spcPts val="0"/>
              </a:spcBef>
              <a:spcAft>
                <a:spcPts val="0"/>
              </a:spcAft>
              <a:buSzPts val="1400"/>
              <a:buAutoNum type="arabicPeriod"/>
            </a:pPr>
            <a:r>
              <a:rPr lang="en-US"/>
              <a:t>Data Discretization: This technique involves converting continuous data into discrete data by partitioning the range of possible values into intervals or bins.</a:t>
            </a:r>
            <a:endParaRPr/>
          </a:p>
          <a:p>
            <a:pPr marL="457200" lvl="0" indent="-317500" algn="l" rtl="0">
              <a:spcBef>
                <a:spcPts val="0"/>
              </a:spcBef>
              <a:spcAft>
                <a:spcPts val="0"/>
              </a:spcAft>
              <a:buSzPts val="1400"/>
              <a:buAutoNum type="arabicPeriod"/>
            </a:pPr>
            <a:r>
              <a:rPr lang="en-US"/>
              <a:t>Feature Selection: This technique involves selecting a subset of features from the dataset that are most relevant to the task at hand.</a:t>
            </a:r>
            <a:endParaRPr/>
          </a:p>
          <a:p>
            <a:pPr marL="457200" lvl="0" indent="-317500" algn="l" rtl="0">
              <a:spcBef>
                <a:spcPts val="0"/>
              </a:spcBef>
              <a:spcAft>
                <a:spcPts val="0"/>
              </a:spcAft>
              <a:buSzPts val="1400"/>
              <a:buAutoNum type="arabicPeriod"/>
            </a:pPr>
            <a:r>
              <a:rPr lang="en-US"/>
              <a:t>It's important to note that data reduction can have a trade-off between the accuracy and the size of the data. The more data is reduced, the less accurate the model will be and the less generalizable it will be.</a:t>
            </a:r>
            <a:endParaRPr/>
          </a:p>
          <a:p>
            <a:pPr marL="0" lvl="0" indent="0" algn="l" rtl="0">
              <a:lnSpc>
                <a:spcPct val="115000"/>
              </a:lnSpc>
              <a:spcBef>
                <a:spcPts val="0"/>
              </a:spcBef>
              <a:spcAft>
                <a:spcPts val="0"/>
              </a:spcAft>
              <a:buNone/>
            </a:pPr>
            <a:endParaRPr sz="1350">
              <a:solidFill>
                <a:srgbClr val="273239"/>
              </a:solidFill>
              <a:highlight>
                <a:srgbClr val="FFFFFF"/>
              </a:highlight>
              <a:latin typeface="Nunito"/>
              <a:ea typeface="Nunito"/>
              <a:cs typeface="Nunito"/>
              <a:sym typeface="Nunito"/>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73de618263_0_1"/>
          <p:cNvSpPr txBox="1"/>
          <p:nvPr/>
        </p:nvSpPr>
        <p:spPr>
          <a:xfrm>
            <a:off x="0" y="0"/>
            <a:ext cx="9144000" cy="6798300"/>
          </a:xfrm>
          <a:prstGeom prst="rect">
            <a:avLst/>
          </a:prstGeom>
          <a:noFill/>
          <a:ln>
            <a:noFill/>
          </a:ln>
        </p:spPr>
        <p:txBody>
          <a:bodyPr spcFirstLastPara="1" wrap="square" lIns="91425" tIns="91425" rIns="91425" bIns="91425" anchor="t" anchorCtr="0">
            <a:spAutoFit/>
          </a:bodyPr>
          <a:lstStyle/>
          <a:p>
            <a:pPr marL="0" lvl="0" indent="0" algn="l" rtl="0">
              <a:lnSpc>
                <a:spcPct val="117000"/>
              </a:lnSpc>
              <a:spcBef>
                <a:spcPts val="0"/>
              </a:spcBef>
              <a:spcAft>
                <a:spcPts val="0"/>
              </a:spcAft>
              <a:buNone/>
            </a:pPr>
            <a:r>
              <a:rPr lang="en-US" sz="1700" b="1">
                <a:solidFill>
                  <a:srgbClr val="161616"/>
                </a:solidFill>
                <a:highlight>
                  <a:srgbClr val="FFFFFF"/>
                </a:highlight>
              </a:rPr>
              <a:t>Types of data reduction</a:t>
            </a:r>
            <a:endParaRPr sz="1700" b="1">
              <a:solidFill>
                <a:srgbClr val="161616"/>
              </a:solidFill>
              <a:highlight>
                <a:srgbClr val="FFFFFF"/>
              </a:highlight>
            </a:endParaRPr>
          </a:p>
          <a:p>
            <a:pPr marL="0" lvl="0" indent="0" algn="l" rtl="0">
              <a:lnSpc>
                <a:spcPct val="125000"/>
              </a:lnSpc>
              <a:spcBef>
                <a:spcPts val="0"/>
              </a:spcBef>
              <a:spcAft>
                <a:spcPts val="0"/>
              </a:spcAft>
              <a:buNone/>
            </a:pPr>
            <a:r>
              <a:rPr lang="en-US" b="1">
                <a:solidFill>
                  <a:srgbClr val="161616"/>
                </a:solidFill>
                <a:highlight>
                  <a:srgbClr val="FFFFFF"/>
                </a:highlight>
              </a:rPr>
              <a:t>Dimensionality reduction</a:t>
            </a:r>
            <a:endParaRPr b="1">
              <a:solidFill>
                <a:srgbClr val="161616"/>
              </a:solidFill>
              <a:highlight>
                <a:srgbClr val="FFFFFF"/>
              </a:highlight>
            </a:endParaRPr>
          </a:p>
          <a:p>
            <a:pPr marL="0" lvl="0" indent="0" algn="l" rtl="0">
              <a:lnSpc>
                <a:spcPct val="150000"/>
              </a:lnSpc>
              <a:spcBef>
                <a:spcPts val="0"/>
              </a:spcBef>
              <a:spcAft>
                <a:spcPts val="0"/>
              </a:spcAft>
              <a:buNone/>
            </a:pPr>
            <a:r>
              <a:rPr lang="en-US" sz="1200">
                <a:solidFill>
                  <a:srgbClr val="161616"/>
                </a:solidFill>
                <a:highlight>
                  <a:srgbClr val="FFFFFF"/>
                </a:highlight>
              </a:rPr>
              <a:t>The notion of data dimensionality underpins this entire concept. Dimensionality refers to the number of attributes (or features) assigned to a single dataset. However, there’s a tradeoff at work here—the greater the amount of dimensionality, the more data storage demanded by that dataset. Furthermore, the higher the dimensionality, the more often data tends to be sparse, complicating necessary outlier analysis.</a:t>
            </a:r>
            <a:endParaRPr sz="1200">
              <a:solidFill>
                <a:srgbClr val="161616"/>
              </a:solidFill>
              <a:highlight>
                <a:srgbClr val="FFFFFF"/>
              </a:highlight>
            </a:endParaRPr>
          </a:p>
          <a:p>
            <a:pPr marL="0" lvl="0" indent="0" algn="l" rtl="0">
              <a:lnSpc>
                <a:spcPct val="150000"/>
              </a:lnSpc>
              <a:spcBef>
                <a:spcPts val="1800"/>
              </a:spcBef>
              <a:spcAft>
                <a:spcPts val="0"/>
              </a:spcAft>
              <a:buNone/>
            </a:pPr>
            <a:r>
              <a:rPr lang="en-US" sz="1200">
                <a:solidFill>
                  <a:srgbClr val="161616"/>
                </a:solidFill>
                <a:highlight>
                  <a:srgbClr val="FFFFFF"/>
                </a:highlight>
              </a:rPr>
              <a:t>Dimensionality reduction counters that by limiting the “noise” in the data and enabling better visualization of data. A prime example of dimensionality reduction is the wavelet transform method, which assists image compression by maintaining the relative distance that exists between objects at various resolution levels.</a:t>
            </a:r>
            <a:endParaRPr sz="1200">
              <a:solidFill>
                <a:srgbClr val="161616"/>
              </a:solidFill>
              <a:highlight>
                <a:srgbClr val="FFFFFF"/>
              </a:highlight>
            </a:endParaRPr>
          </a:p>
          <a:p>
            <a:pPr marL="0" lvl="0" indent="0" algn="l" rtl="0">
              <a:lnSpc>
                <a:spcPct val="150000"/>
              </a:lnSpc>
              <a:spcBef>
                <a:spcPts val="1800"/>
              </a:spcBef>
              <a:spcAft>
                <a:spcPts val="0"/>
              </a:spcAft>
              <a:buNone/>
            </a:pPr>
            <a:r>
              <a:rPr lang="en-US" sz="1200">
                <a:solidFill>
                  <a:srgbClr val="161616"/>
                </a:solidFill>
                <a:highlight>
                  <a:srgbClr val="FFFFFF"/>
                </a:highlight>
              </a:rPr>
              <a:t>Feature extraction is another possible transformation for data—one that changes original data into numeric features and works in conjunction with machine learning. It differs from principal component analysis (PCA), another means of reducing the dimensionality of large data sets, in which a sizable set of variables is transformed into a smaller set while retaining most of the data from the large set.</a:t>
            </a:r>
            <a:endParaRPr sz="1200">
              <a:solidFill>
                <a:srgbClr val="161616"/>
              </a:solidFill>
              <a:highlight>
                <a:srgbClr val="FFFFFF"/>
              </a:highlight>
            </a:endParaRPr>
          </a:p>
          <a:p>
            <a:pPr marL="0" lvl="0" indent="0" algn="l" rtl="0">
              <a:lnSpc>
                <a:spcPct val="117000"/>
              </a:lnSpc>
              <a:spcBef>
                <a:spcPts val="0"/>
              </a:spcBef>
              <a:spcAft>
                <a:spcPts val="0"/>
              </a:spcAft>
              <a:buNone/>
            </a:pPr>
            <a:endParaRPr sz="1700" b="1">
              <a:solidFill>
                <a:srgbClr val="161616"/>
              </a:solidFill>
              <a:highlight>
                <a:srgbClr val="FFFFFF"/>
              </a:highlight>
            </a:endParaRPr>
          </a:p>
          <a:p>
            <a:pPr marL="0" lvl="0" indent="0" algn="l" rtl="0">
              <a:lnSpc>
                <a:spcPct val="125000"/>
              </a:lnSpc>
              <a:spcBef>
                <a:spcPts val="0"/>
              </a:spcBef>
              <a:spcAft>
                <a:spcPts val="0"/>
              </a:spcAft>
              <a:buNone/>
            </a:pPr>
            <a:r>
              <a:rPr lang="en-US" b="1">
                <a:solidFill>
                  <a:srgbClr val="161616"/>
                </a:solidFill>
                <a:highlight>
                  <a:srgbClr val="FFFFFF"/>
                </a:highlight>
              </a:rPr>
              <a:t>Numerosity reduction</a:t>
            </a:r>
            <a:endParaRPr b="1">
              <a:solidFill>
                <a:srgbClr val="161616"/>
              </a:solidFill>
              <a:highlight>
                <a:srgbClr val="FFFFFF"/>
              </a:highlight>
            </a:endParaRPr>
          </a:p>
          <a:p>
            <a:pPr marL="0" lvl="0" indent="0" algn="l" rtl="0">
              <a:lnSpc>
                <a:spcPct val="150000"/>
              </a:lnSpc>
              <a:spcBef>
                <a:spcPts val="0"/>
              </a:spcBef>
              <a:spcAft>
                <a:spcPts val="0"/>
              </a:spcAft>
              <a:buNone/>
            </a:pPr>
            <a:r>
              <a:rPr lang="en-US" sz="1200">
                <a:solidFill>
                  <a:srgbClr val="161616"/>
                </a:solidFill>
                <a:highlight>
                  <a:srgbClr val="FFFFFF"/>
                </a:highlight>
              </a:rPr>
              <a:t>The other method involves selecting a smaller, less data-intensive format for representing data. There are two types of numerosity reduction—that which is based on parametric methods and that which is based on non-parametric methods. Parametric methods like regression concentrate on model parameters, to the exclusion of the data itself. Similarly, a log-linear model might be employed that focuses on subspaces within data. Meanwhile, non-parametric methods (like histograms, which show the way numerical data is distributed) don’t rely upon models at all.</a:t>
            </a:r>
            <a:endParaRPr sz="1200">
              <a:solidFill>
                <a:srgbClr val="161616"/>
              </a:solidFill>
              <a:highlight>
                <a:srgbClr val="FFFFFF"/>
              </a:highlight>
            </a:endParaRPr>
          </a:p>
          <a:p>
            <a:pPr marL="0" lvl="0" indent="0" algn="l" rtl="0">
              <a:lnSpc>
                <a:spcPct val="117000"/>
              </a:lnSpc>
              <a:spcBef>
                <a:spcPts val="0"/>
              </a:spcBef>
              <a:spcAft>
                <a:spcPts val="0"/>
              </a:spcAft>
              <a:buNone/>
            </a:pPr>
            <a:endParaRPr sz="1700">
              <a:solidFill>
                <a:srgbClr val="161616"/>
              </a:solidFill>
              <a:highlight>
                <a:srgbClr val="FFFFFF"/>
              </a:highlight>
            </a:endParaRPr>
          </a:p>
          <a:p>
            <a:pPr marL="0" lvl="0" indent="0" algn="l" rtl="0">
              <a:lnSpc>
                <a:spcPct val="117000"/>
              </a:lnSpc>
              <a:spcBef>
                <a:spcPts val="0"/>
              </a:spcBef>
              <a:spcAft>
                <a:spcPts val="0"/>
              </a:spcAft>
              <a:buNone/>
            </a:pPr>
            <a:endParaRPr sz="1700">
              <a:solidFill>
                <a:srgbClr val="161616"/>
              </a:solidFill>
              <a:highlight>
                <a:srgbClr val="FFFFFF"/>
              </a:highlight>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373de618263_0_9"/>
          <p:cNvSpPr txBox="1"/>
          <p:nvPr/>
        </p:nvSpPr>
        <p:spPr>
          <a:xfrm>
            <a:off x="0" y="0"/>
            <a:ext cx="9144000" cy="6426300"/>
          </a:xfrm>
          <a:prstGeom prst="rect">
            <a:avLst/>
          </a:prstGeom>
          <a:noFill/>
          <a:ln>
            <a:noFill/>
          </a:ln>
        </p:spPr>
        <p:txBody>
          <a:bodyPr spcFirstLastPara="1" wrap="square" lIns="91425" tIns="91425" rIns="91425" bIns="91425" anchor="t" anchorCtr="0">
            <a:spAutoFit/>
          </a:bodyPr>
          <a:lstStyle/>
          <a:p>
            <a:pPr marL="0" lvl="0" indent="0" algn="l" rtl="0">
              <a:lnSpc>
                <a:spcPct val="125000"/>
              </a:lnSpc>
              <a:spcBef>
                <a:spcPts val="0"/>
              </a:spcBef>
              <a:spcAft>
                <a:spcPts val="0"/>
              </a:spcAft>
              <a:buNone/>
            </a:pPr>
            <a:r>
              <a:rPr lang="en-US" b="1">
                <a:solidFill>
                  <a:srgbClr val="161616"/>
                </a:solidFill>
                <a:highlight>
                  <a:srgbClr val="FFFFFF"/>
                </a:highlight>
              </a:rPr>
              <a:t>Data cube aggregation</a:t>
            </a:r>
            <a:endParaRPr b="1">
              <a:solidFill>
                <a:srgbClr val="161616"/>
              </a:solidFill>
              <a:highlight>
                <a:srgbClr val="FFFFFF"/>
              </a:highlight>
            </a:endParaRPr>
          </a:p>
          <a:p>
            <a:pPr marL="0" lvl="0" indent="0" algn="l" rtl="0">
              <a:lnSpc>
                <a:spcPct val="150000"/>
              </a:lnSpc>
              <a:spcBef>
                <a:spcPts val="0"/>
              </a:spcBef>
              <a:spcAft>
                <a:spcPts val="0"/>
              </a:spcAft>
              <a:buNone/>
            </a:pPr>
            <a:r>
              <a:rPr lang="en-US" sz="1200">
                <a:solidFill>
                  <a:srgbClr val="161616"/>
                </a:solidFill>
                <a:highlight>
                  <a:srgbClr val="FFFFFF"/>
                </a:highlight>
              </a:rPr>
              <a:t>Data cubes are a visual way to store data. The term “data cube” is actually almost misleading in its implied singularity, because it’s really describing a large, multidimensional cube that’s composed of smaller, organized cuboids. Each of the cuboids represents some aspect of the total data within that data cube, specifically pieces of data concerning measurements and dimensions. Data cube aggregation, therefore, is the consolidation of data into the multidimensional cube visual format, which reduces data size by giving it a unique container specifically built for that purpose.</a:t>
            </a:r>
            <a:endParaRPr sz="1200">
              <a:solidFill>
                <a:srgbClr val="161616"/>
              </a:solidFill>
              <a:highlight>
                <a:srgbClr val="FFFFFF"/>
              </a:highlight>
            </a:endParaRPr>
          </a:p>
          <a:p>
            <a:pPr marL="0" lvl="0" indent="0" algn="l" rtl="0">
              <a:lnSpc>
                <a:spcPct val="150000"/>
              </a:lnSpc>
              <a:spcBef>
                <a:spcPts val="0"/>
              </a:spcBef>
              <a:spcAft>
                <a:spcPts val="0"/>
              </a:spcAft>
              <a:buNone/>
            </a:pPr>
            <a:endParaRPr sz="1200" b="1">
              <a:solidFill>
                <a:srgbClr val="161616"/>
              </a:solidFill>
              <a:highlight>
                <a:srgbClr val="FFFFFF"/>
              </a:highlight>
            </a:endParaRPr>
          </a:p>
          <a:p>
            <a:pPr marL="0" lvl="0" indent="0" algn="l" rtl="0">
              <a:lnSpc>
                <a:spcPct val="125000"/>
              </a:lnSpc>
              <a:spcBef>
                <a:spcPts val="0"/>
              </a:spcBef>
              <a:spcAft>
                <a:spcPts val="0"/>
              </a:spcAft>
              <a:buNone/>
            </a:pPr>
            <a:r>
              <a:rPr lang="en-US" b="1">
                <a:solidFill>
                  <a:srgbClr val="161616"/>
                </a:solidFill>
                <a:highlight>
                  <a:srgbClr val="FFFFFF"/>
                </a:highlight>
              </a:rPr>
              <a:t>Data discretization</a:t>
            </a:r>
            <a:endParaRPr b="1">
              <a:solidFill>
                <a:srgbClr val="161616"/>
              </a:solidFill>
              <a:highlight>
                <a:srgbClr val="FFFFFF"/>
              </a:highlight>
            </a:endParaRPr>
          </a:p>
          <a:p>
            <a:pPr marL="0" lvl="0" indent="0" algn="l" rtl="0">
              <a:lnSpc>
                <a:spcPct val="150000"/>
              </a:lnSpc>
              <a:spcBef>
                <a:spcPts val="0"/>
              </a:spcBef>
              <a:spcAft>
                <a:spcPts val="0"/>
              </a:spcAft>
              <a:buNone/>
            </a:pPr>
            <a:r>
              <a:rPr lang="en-US" sz="1200">
                <a:solidFill>
                  <a:srgbClr val="161616"/>
                </a:solidFill>
                <a:highlight>
                  <a:srgbClr val="FFFFFF"/>
                </a:highlight>
              </a:rPr>
              <a:t>Another method enlisted for data reduction is data discretization, in which a linear set of data values is created based around a defined set of intervals that each correspond to a determined data value.</a:t>
            </a:r>
            <a:endParaRPr sz="1200">
              <a:solidFill>
                <a:srgbClr val="161616"/>
              </a:solidFill>
              <a:highlight>
                <a:srgbClr val="FFFFFF"/>
              </a:highlight>
            </a:endParaRPr>
          </a:p>
          <a:p>
            <a:pPr marL="0" lvl="0" indent="0" algn="l" rtl="0">
              <a:lnSpc>
                <a:spcPct val="150000"/>
              </a:lnSpc>
              <a:spcBef>
                <a:spcPts val="0"/>
              </a:spcBef>
              <a:spcAft>
                <a:spcPts val="0"/>
              </a:spcAft>
              <a:buNone/>
            </a:pPr>
            <a:endParaRPr sz="1200">
              <a:solidFill>
                <a:srgbClr val="161616"/>
              </a:solidFill>
              <a:highlight>
                <a:srgbClr val="FFFFFF"/>
              </a:highlight>
            </a:endParaRPr>
          </a:p>
          <a:p>
            <a:pPr marL="0" lvl="0" indent="0" algn="l" rtl="0">
              <a:lnSpc>
                <a:spcPct val="125000"/>
              </a:lnSpc>
              <a:spcBef>
                <a:spcPts val="0"/>
              </a:spcBef>
              <a:spcAft>
                <a:spcPts val="0"/>
              </a:spcAft>
              <a:buNone/>
            </a:pPr>
            <a:r>
              <a:rPr lang="en-US" b="1">
                <a:solidFill>
                  <a:srgbClr val="161616"/>
                </a:solidFill>
                <a:highlight>
                  <a:srgbClr val="FFFFFF"/>
                </a:highlight>
              </a:rPr>
              <a:t>Data compression</a:t>
            </a:r>
            <a:endParaRPr b="1">
              <a:solidFill>
                <a:srgbClr val="161616"/>
              </a:solidFill>
              <a:highlight>
                <a:srgbClr val="FFFFFF"/>
              </a:highlight>
            </a:endParaRPr>
          </a:p>
          <a:p>
            <a:pPr marL="0" lvl="0" indent="0" algn="l" rtl="0">
              <a:lnSpc>
                <a:spcPct val="150000"/>
              </a:lnSpc>
              <a:spcBef>
                <a:spcPts val="0"/>
              </a:spcBef>
              <a:spcAft>
                <a:spcPts val="0"/>
              </a:spcAft>
              <a:buNone/>
            </a:pPr>
            <a:r>
              <a:rPr lang="en-US" sz="1200">
                <a:solidFill>
                  <a:srgbClr val="161616"/>
                </a:solidFill>
                <a:highlight>
                  <a:srgbClr val="FFFFFF"/>
                </a:highlight>
              </a:rPr>
              <a:t>In order to limit file size and achieve successful data compression, various types of encoding can be used. In general, data compression techniques are considered as either using lossless compression or lossy compression, and they are grouped according to those two types. In lossless compression, data size is reduced through encoding techniques and algorithms, and the complete original data can be restored if needed. Lossy compression, on the other hand, uses other methods to perform its compression, and although its processed data may be worth retaining, it will not be an exact copy, as you would get with lossless compression.</a:t>
            </a:r>
            <a:endParaRPr sz="1200">
              <a:solidFill>
                <a:srgbClr val="161616"/>
              </a:solidFill>
              <a:highlight>
                <a:srgbClr val="FFFFFF"/>
              </a:highlight>
            </a:endParaRPr>
          </a:p>
          <a:p>
            <a:pPr marL="0" lvl="0" indent="0" algn="l" rtl="0">
              <a:lnSpc>
                <a:spcPct val="125000"/>
              </a:lnSpc>
              <a:spcBef>
                <a:spcPts val="0"/>
              </a:spcBef>
              <a:spcAft>
                <a:spcPts val="0"/>
              </a:spcAft>
              <a:buNone/>
            </a:pPr>
            <a:endParaRPr>
              <a:solidFill>
                <a:srgbClr val="161616"/>
              </a:solidFill>
              <a:highlight>
                <a:srgbClr val="FFFFFF"/>
              </a:highlight>
            </a:endParaRPr>
          </a:p>
          <a:p>
            <a:pPr marL="0" lvl="0" indent="0" algn="l" rtl="0">
              <a:lnSpc>
                <a:spcPct val="125000"/>
              </a:lnSpc>
              <a:spcBef>
                <a:spcPts val="0"/>
              </a:spcBef>
              <a:spcAft>
                <a:spcPts val="0"/>
              </a:spcAft>
              <a:buNone/>
            </a:pPr>
            <a:r>
              <a:rPr lang="en-US" b="1">
                <a:solidFill>
                  <a:srgbClr val="161616"/>
                </a:solidFill>
                <a:highlight>
                  <a:srgbClr val="FFFFFF"/>
                </a:highlight>
              </a:rPr>
              <a:t>Data preprocessing</a:t>
            </a:r>
            <a:endParaRPr b="1">
              <a:solidFill>
                <a:srgbClr val="161616"/>
              </a:solidFill>
              <a:highlight>
                <a:srgbClr val="FFFFFF"/>
              </a:highlight>
            </a:endParaRPr>
          </a:p>
          <a:p>
            <a:pPr marL="0" lvl="0" indent="0" algn="l" rtl="0">
              <a:lnSpc>
                <a:spcPct val="150000"/>
              </a:lnSpc>
              <a:spcBef>
                <a:spcPts val="0"/>
              </a:spcBef>
              <a:spcAft>
                <a:spcPts val="0"/>
              </a:spcAft>
              <a:buNone/>
            </a:pPr>
            <a:r>
              <a:rPr lang="en-US" sz="1200">
                <a:solidFill>
                  <a:srgbClr val="161616"/>
                </a:solidFill>
                <a:highlight>
                  <a:srgbClr val="FFFFFF"/>
                </a:highlight>
              </a:rPr>
              <a:t>Some data needs to be cleaned, treated and processed before it undergoes the data analysis and data reduction processes. Part of that transformation may involve changing the data from analog in nature to digital. Binning is another example of data preprocessing, one in which median values are utilized to normalize various types of data and ensure data integrity across the board.</a:t>
            </a:r>
            <a:endParaRPr sz="1200">
              <a:solidFill>
                <a:srgbClr val="161616"/>
              </a:solidFill>
              <a:highlight>
                <a:srgbClr val="FFFFFF"/>
              </a:highlight>
            </a:endParaRPr>
          </a:p>
          <a:p>
            <a:pPr marL="0" lvl="0" indent="0" algn="l" rtl="0">
              <a:lnSpc>
                <a:spcPct val="150000"/>
              </a:lnSpc>
              <a:spcBef>
                <a:spcPts val="0"/>
              </a:spcBef>
              <a:spcAft>
                <a:spcPts val="0"/>
              </a:spcAft>
              <a:buNone/>
            </a:pPr>
            <a:endParaRPr sz="1200" b="1">
              <a:solidFill>
                <a:srgbClr val="161616"/>
              </a:solidFill>
              <a:highlight>
                <a:srgbClr val="FFFFFF"/>
              </a:highlight>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373de618263_0_21"/>
          <p:cNvSpPr txBox="1"/>
          <p:nvPr/>
        </p:nvSpPr>
        <p:spPr>
          <a:xfrm>
            <a:off x="0" y="0"/>
            <a:ext cx="9100800" cy="6218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t>Uses of Data Preprocessing</a:t>
            </a:r>
            <a:endParaRPr b="1"/>
          </a:p>
          <a:p>
            <a:pPr marL="0" lvl="0" indent="0" algn="l" rtl="0">
              <a:spcBef>
                <a:spcPts val="0"/>
              </a:spcBef>
              <a:spcAft>
                <a:spcPts val="0"/>
              </a:spcAft>
              <a:buNone/>
            </a:pPr>
            <a:endParaRPr b="1"/>
          </a:p>
          <a:p>
            <a:pPr marL="0" lvl="0" indent="0" algn="l" rtl="0">
              <a:spcBef>
                <a:spcPts val="0"/>
              </a:spcBef>
              <a:spcAft>
                <a:spcPts val="0"/>
              </a:spcAft>
              <a:buNone/>
            </a:pPr>
            <a:r>
              <a:rPr lang="en-US"/>
              <a:t>Data preprocessing is utilized across various fields to ensure that raw data is transformed into a usable format for analysis and decision-making. Here are some key areas where data preprocessing is applied:</a:t>
            </a:r>
            <a:endParaRPr/>
          </a:p>
          <a:p>
            <a:pPr marL="0" lvl="0" indent="0" algn="l" rtl="0">
              <a:spcBef>
                <a:spcPts val="0"/>
              </a:spcBef>
              <a:spcAft>
                <a:spcPts val="0"/>
              </a:spcAft>
              <a:buNone/>
            </a:pPr>
            <a:r>
              <a:rPr lang="en-US"/>
              <a:t>1. Data Warehousing: In data warehousing, preprocessing is essential for cleaning, integrating, and structuring data before it is stored in a centralized repository. This ensures the data is consistent and reliable for future queries and reporting.</a:t>
            </a:r>
            <a:endParaRPr/>
          </a:p>
          <a:p>
            <a:pPr marL="0" lvl="0" indent="0" algn="l" rtl="0">
              <a:spcBef>
                <a:spcPts val="0"/>
              </a:spcBef>
              <a:spcAft>
                <a:spcPts val="0"/>
              </a:spcAft>
              <a:buNone/>
            </a:pPr>
            <a:endParaRPr/>
          </a:p>
          <a:p>
            <a:pPr marL="0" lvl="0" indent="0" algn="l" rtl="0">
              <a:spcBef>
                <a:spcPts val="0"/>
              </a:spcBef>
              <a:spcAft>
                <a:spcPts val="0"/>
              </a:spcAft>
              <a:buNone/>
            </a:pPr>
            <a:r>
              <a:rPr lang="en-US"/>
              <a:t>2. Data Mining: Data preprocessing in data mining involves cleaning and transforming raw data to make it suitable for analysis. This step is crucial for identifying patterns and extracting insights from large datasets.</a:t>
            </a:r>
            <a:endParaRPr/>
          </a:p>
          <a:p>
            <a:pPr marL="0" lvl="0" indent="0" algn="l" rtl="0">
              <a:spcBef>
                <a:spcPts val="0"/>
              </a:spcBef>
              <a:spcAft>
                <a:spcPts val="0"/>
              </a:spcAft>
              <a:buNone/>
            </a:pPr>
            <a:endParaRPr/>
          </a:p>
          <a:p>
            <a:pPr marL="0" lvl="0" indent="0" algn="l" rtl="0">
              <a:spcBef>
                <a:spcPts val="0"/>
              </a:spcBef>
              <a:spcAft>
                <a:spcPts val="0"/>
              </a:spcAft>
              <a:buNone/>
            </a:pPr>
            <a:r>
              <a:rPr lang="en-US"/>
              <a:t>3. Machine Learning: In machine learning, preprocessing prepares raw data for model training. This includes handling missing values, normalizing features, encoding categorical variables, and splitting datasets into training and testing sets to improve model performance and accuracy.</a:t>
            </a:r>
            <a:endParaRPr/>
          </a:p>
          <a:p>
            <a:pPr marL="0" lvl="0" indent="0" algn="l" rtl="0">
              <a:spcBef>
                <a:spcPts val="0"/>
              </a:spcBef>
              <a:spcAft>
                <a:spcPts val="0"/>
              </a:spcAft>
              <a:buNone/>
            </a:pPr>
            <a:endParaRPr/>
          </a:p>
          <a:p>
            <a:pPr marL="0" lvl="0" indent="0" algn="l" rtl="0">
              <a:spcBef>
                <a:spcPts val="0"/>
              </a:spcBef>
              <a:spcAft>
                <a:spcPts val="0"/>
              </a:spcAft>
              <a:buNone/>
            </a:pPr>
            <a:r>
              <a:rPr lang="en-US"/>
              <a:t>4. Data Science: Data preprocessing is a fundamental step in data science projects, ensuring that the data used for analysis or building predictive models is clean, structured, and relevant. It enhances the overall quality of insights derived from the data.</a:t>
            </a:r>
            <a:endParaRPr/>
          </a:p>
          <a:p>
            <a:pPr marL="0" lvl="0" indent="0" algn="l" rtl="0">
              <a:spcBef>
                <a:spcPts val="0"/>
              </a:spcBef>
              <a:spcAft>
                <a:spcPts val="0"/>
              </a:spcAft>
              <a:buNone/>
            </a:pPr>
            <a:endParaRPr/>
          </a:p>
          <a:p>
            <a:pPr marL="0" lvl="0" indent="0" algn="l" rtl="0">
              <a:spcBef>
                <a:spcPts val="0"/>
              </a:spcBef>
              <a:spcAft>
                <a:spcPts val="0"/>
              </a:spcAft>
              <a:buNone/>
            </a:pPr>
            <a:r>
              <a:rPr lang="en-US"/>
              <a:t>5. Web Mining: In web mining, preprocessing helps analyze web usage logs to extract meaningful user behavior patterns. This can inform marketing strategies and improve user experience through personalized recommendations.</a:t>
            </a:r>
            <a:endParaRPr/>
          </a:p>
          <a:p>
            <a:pPr marL="0" lvl="0" indent="0" algn="l" rtl="0">
              <a:spcBef>
                <a:spcPts val="0"/>
              </a:spcBef>
              <a:spcAft>
                <a:spcPts val="0"/>
              </a:spcAft>
              <a:buNone/>
            </a:pPr>
            <a:endParaRPr/>
          </a:p>
          <a:p>
            <a:pPr marL="0" lvl="0" indent="0" algn="l" rtl="0">
              <a:spcBef>
                <a:spcPts val="0"/>
              </a:spcBef>
              <a:spcAft>
                <a:spcPts val="0"/>
              </a:spcAft>
              <a:buNone/>
            </a:pPr>
            <a:r>
              <a:rPr lang="en-US"/>
              <a:t>6. Business Intelligence (BI): Preprocessing supports BI by organizing and cleaning data to create dashboards and reports that provide actionable insights for decision-makers.</a:t>
            </a:r>
            <a:endParaRPr/>
          </a:p>
          <a:p>
            <a:pPr marL="0" lvl="0" indent="0" algn="l" rtl="0">
              <a:spcBef>
                <a:spcPts val="0"/>
              </a:spcBef>
              <a:spcAft>
                <a:spcPts val="0"/>
              </a:spcAft>
              <a:buNone/>
            </a:pPr>
            <a:endParaRPr/>
          </a:p>
          <a:p>
            <a:pPr marL="0" lvl="0" indent="0" algn="l" rtl="0">
              <a:spcBef>
                <a:spcPts val="0"/>
              </a:spcBef>
              <a:spcAft>
                <a:spcPts val="0"/>
              </a:spcAft>
              <a:buNone/>
            </a:pPr>
            <a:r>
              <a:rPr lang="en-US"/>
              <a:t>7. Deep Learning Purpose: Similar to machine learning, deep learning applications require preprocessing to normalize or enhance features of the input data, optimizing model training processes.</a:t>
            </a:r>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373de618263_0_27"/>
          <p:cNvSpPr txBox="1"/>
          <p:nvPr/>
        </p:nvSpPr>
        <p:spPr>
          <a:xfrm>
            <a:off x="0" y="0"/>
            <a:ext cx="91440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t>Advantages of Data Preprocessing</a:t>
            </a:r>
            <a:endParaRPr b="1"/>
          </a:p>
          <a:p>
            <a:pPr marL="457200" lvl="0" indent="-317500" algn="l" rtl="0">
              <a:spcBef>
                <a:spcPts val="0"/>
              </a:spcBef>
              <a:spcAft>
                <a:spcPts val="0"/>
              </a:spcAft>
              <a:buSzPts val="1400"/>
              <a:buChar char="●"/>
            </a:pPr>
            <a:r>
              <a:rPr lang="en-US"/>
              <a:t>Improved Data Quality: Ensures data is clean, consistent, and reliable for analysis.</a:t>
            </a:r>
            <a:endParaRPr/>
          </a:p>
          <a:p>
            <a:pPr marL="457200" lvl="0" indent="-317500" algn="l" rtl="0">
              <a:spcBef>
                <a:spcPts val="0"/>
              </a:spcBef>
              <a:spcAft>
                <a:spcPts val="0"/>
              </a:spcAft>
              <a:buSzPts val="1400"/>
              <a:buChar char="●"/>
            </a:pPr>
            <a:r>
              <a:rPr lang="en-US"/>
              <a:t>Better Model Performance: Reduces noise and irrelevant data, leading to more accurate predictions and insights.</a:t>
            </a:r>
            <a:endParaRPr/>
          </a:p>
          <a:p>
            <a:pPr marL="457200" lvl="0" indent="-317500" algn="l" rtl="0">
              <a:spcBef>
                <a:spcPts val="0"/>
              </a:spcBef>
              <a:spcAft>
                <a:spcPts val="0"/>
              </a:spcAft>
              <a:buSzPts val="1400"/>
              <a:buChar char="●"/>
            </a:pPr>
            <a:r>
              <a:rPr lang="en-US"/>
              <a:t>Efficient Data Analysis: Streamlines data for faster and easier processing.</a:t>
            </a:r>
            <a:endParaRPr/>
          </a:p>
          <a:p>
            <a:pPr marL="457200" lvl="0" indent="-317500" algn="l" rtl="0">
              <a:spcBef>
                <a:spcPts val="0"/>
              </a:spcBef>
              <a:spcAft>
                <a:spcPts val="0"/>
              </a:spcAft>
              <a:buSzPts val="1400"/>
              <a:buChar char="●"/>
            </a:pPr>
            <a:r>
              <a:rPr lang="en-US"/>
              <a:t>Enhanced Decision-Making: Provides clear and well-organized data for better business decisions.</a:t>
            </a:r>
            <a:endParaRPr/>
          </a:p>
          <a:p>
            <a:pPr marL="457200" lvl="0" indent="0" algn="l" rtl="0">
              <a:spcBef>
                <a:spcPts val="0"/>
              </a:spcBef>
              <a:spcAft>
                <a:spcPts val="0"/>
              </a:spcAft>
              <a:buNone/>
            </a:pPr>
            <a:endParaRPr/>
          </a:p>
          <a:p>
            <a:pPr marL="0" lvl="0" indent="0" algn="l" rtl="0">
              <a:spcBef>
                <a:spcPts val="0"/>
              </a:spcBef>
              <a:spcAft>
                <a:spcPts val="0"/>
              </a:spcAft>
              <a:buNone/>
            </a:pPr>
            <a:r>
              <a:rPr lang="en-US" b="1"/>
              <a:t>Disadvantages of Data Preprocessing</a:t>
            </a:r>
            <a:endParaRPr b="1"/>
          </a:p>
          <a:p>
            <a:pPr marL="457200" lvl="0" indent="-317500" algn="l" rtl="0">
              <a:spcBef>
                <a:spcPts val="0"/>
              </a:spcBef>
              <a:spcAft>
                <a:spcPts val="0"/>
              </a:spcAft>
              <a:buSzPts val="1400"/>
              <a:buChar char="●"/>
            </a:pPr>
            <a:r>
              <a:rPr lang="en-US"/>
              <a:t>Time-Consuming: Requires significant time and effort to clean, transform, and organize data.</a:t>
            </a:r>
            <a:endParaRPr/>
          </a:p>
          <a:p>
            <a:pPr marL="457200" lvl="0" indent="-317500" algn="l" rtl="0">
              <a:spcBef>
                <a:spcPts val="0"/>
              </a:spcBef>
              <a:spcAft>
                <a:spcPts val="0"/>
              </a:spcAft>
              <a:buSzPts val="1400"/>
              <a:buChar char="●"/>
            </a:pPr>
            <a:r>
              <a:rPr lang="en-US"/>
              <a:t>Resource-Intensive: Demands computational power and skilled personnel for complex preprocessing tasks.</a:t>
            </a:r>
            <a:endParaRPr/>
          </a:p>
          <a:p>
            <a:pPr marL="457200" lvl="0" indent="-317500" algn="l" rtl="0">
              <a:spcBef>
                <a:spcPts val="0"/>
              </a:spcBef>
              <a:spcAft>
                <a:spcPts val="0"/>
              </a:spcAft>
              <a:buSzPts val="1400"/>
              <a:buChar char="●"/>
            </a:pPr>
            <a:r>
              <a:rPr lang="en-US"/>
              <a:t>Potential Data Loss: Incorrect handling may result in losing valuable information.</a:t>
            </a:r>
            <a:endParaRPr/>
          </a:p>
          <a:p>
            <a:pPr marL="457200" lvl="0" indent="-317500" algn="l" rtl="0">
              <a:spcBef>
                <a:spcPts val="0"/>
              </a:spcBef>
              <a:spcAft>
                <a:spcPts val="0"/>
              </a:spcAft>
              <a:buSzPts val="1400"/>
              <a:buChar char="●"/>
            </a:pPr>
            <a:r>
              <a:rPr lang="en-US"/>
              <a:t>Complexity: Handling large datasets or diverse formats can be challenging.</a:t>
            </a:r>
            <a:endParaRPr/>
          </a:p>
        </p:txBody>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Slate</Template>
  <TotalTime>0</TotalTime>
  <Words>6622</Words>
  <Application>Microsoft Office PowerPoint</Application>
  <PresentationFormat>On-screen Show (4:3)</PresentationFormat>
  <Paragraphs>417</Paragraphs>
  <Slides>36</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Wingdings 2</vt:lpstr>
      <vt:lpstr>Times New Roman</vt:lpstr>
      <vt:lpstr>Nunito</vt:lpstr>
      <vt:lpstr>Georgia</vt:lpstr>
      <vt:lpstr>Calisto MT</vt:lpstr>
      <vt:lpstr>Calibri</vt:lpstr>
      <vt:lpstr>Courier New</vt:lpstr>
      <vt:lpstr>Slate</vt:lpstr>
      <vt:lpstr>Subject:Foundations of Data Science  Unit 3:Data Collection and Preprocessing Ms.Ashwini M. Patil Dr.D.Y.Patil Arts,Commerce and Science College,Pimpri,Pune 18</vt:lpstr>
      <vt:lpstr>Structured data</vt:lpstr>
      <vt:lpstr>Semi-structured data</vt:lpstr>
      <vt:lpstr>Unstructured data</vt:lpstr>
      <vt:lpstr>Data Sources</vt:lpstr>
      <vt:lpstr>PowerPoint Presentation</vt:lpstr>
      <vt:lpstr>Standard Datasets</vt:lpstr>
      <vt:lpstr>PowerPoint Presentation</vt:lpstr>
      <vt:lpstr>Data Formats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Animation-2</dc:creator>
  <cp:lastModifiedBy>Paras Dangi</cp:lastModifiedBy>
  <cp:revision>1</cp:revision>
  <dcterms:created xsi:type="dcterms:W3CDTF">2025-07-09T08:16:50Z</dcterms:created>
  <dcterms:modified xsi:type="dcterms:W3CDTF">2025-08-03T10:16:36Z</dcterms:modified>
</cp:coreProperties>
</file>